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EE0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6032" y="896112"/>
            <a:ext cx="44074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CCCC"/>
                </a:solidFill>
                <a:latin typeface="Calibri"/>
              </a:rPr>
              <a:t>ENTERPRISE AI GOVERNANCE OPERATING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1572768"/>
            <a:ext cx="44074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 Light"/>
              </a:rPr>
              <a:t>OrchestrAI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084831"/>
            <a:ext cx="440740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Calibri Light"/>
              </a:rPr>
              <a:t>OMG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3328416"/>
            <a:ext cx="4297680" cy="19050"/>
          </a:xfrm>
          <a:prstGeom prst="rect">
            <a:avLst/>
          </a:prstGeom>
          <a:solidFill>
            <a:srgbClr val="FF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3474720"/>
            <a:ext cx="4407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EEEE"/>
                </a:solidFill>
                <a:latin typeface="Calibri"/>
              </a:rPr>
              <a:t>OrchestrAI Model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3895344"/>
            <a:ext cx="4407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DDD"/>
                </a:solidFill>
                <a:latin typeface="Calibri"/>
              </a:rPr>
              <a:t>Executive Briefing  |  v1.0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4187952"/>
            <a:ext cx="4407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As of 7 September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687568"/>
            <a:ext cx="4901184" cy="1170432"/>
          </a:xfrm>
          <a:prstGeom prst="rect">
            <a:avLst/>
          </a:prstGeom>
          <a:solidFill>
            <a:srgbClr val="CC0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6071616"/>
            <a:ext cx="4407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Calibri"/>
              </a:rPr>
              <a:t>Built Once. Configured Together. Governed Continuously.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877824"/>
            <a:ext cx="6812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1F1F"/>
                </a:solidFill>
                <a:latin typeface="Calibri Light"/>
              </a:rPr>
              <a:t>Know Your AI.
Govern Your AI.
Control Your AI.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231136"/>
            <a:ext cx="6812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4A"/>
                </a:solidFill>
                <a:latin typeface="Calibri"/>
              </a:rPr>
              <a:t>A single enterprise system where every AI asset is registered, owned,
risk-classified, validated, governed, monitored, and audited — end to end.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2962656"/>
            <a:ext cx="681228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3090672"/>
            <a:ext cx="63500" cy="56692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30906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F51B5"/>
                </a:solidFill>
                <a:latin typeface="Calibri Light"/>
              </a:rPr>
              <a:t>85+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314553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Modules Built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3785615"/>
            <a:ext cx="63500" cy="56692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21808" y="378561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A0ED"/>
                </a:solidFill>
                <a:latin typeface="Calibri Light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840479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Governance Domains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4480560"/>
            <a:ext cx="63500" cy="56692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21808" y="44805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BAD48"/>
                </a:solidFill>
                <a:latin typeface="Calibri Light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453542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AI Asset Types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5175504"/>
            <a:ext cx="63500" cy="566928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21808" y="51755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D00ED"/>
                </a:solidFill>
                <a:latin typeface="Calibri Light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523036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RBAC Roles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5870448"/>
            <a:ext cx="63500" cy="56692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21808" y="58704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334A"/>
                </a:solidFill>
                <a:latin typeface="Calibri Light"/>
              </a:rPr>
              <a:t>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592531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Release Workstreams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6473952"/>
            <a:ext cx="6812280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6501384"/>
            <a:ext cx="6629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0B0"/>
                </a:solidFill>
                <a:latin typeface="Calibri"/>
              </a:rPr>
              <a:t>Sithanandham Radhakrishnan  |  Founder, OrchestrAI  |  vThink Global Technologies Pvt Ltd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02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AI Adoption Is Outpacing AI 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Six questions every regulator, board member, and AI risk officer will ask. Most enterprises cannot answer them today.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627632"/>
            <a:ext cx="3749039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63500" cy="2340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3749039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1755648"/>
            <a:ext cx="35112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Unknown 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2139696"/>
            <a:ext cx="3511295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No single list of every AI system, agent, model, copilot, and third-party service the organisation runs.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28515" y="1627632"/>
            <a:ext cx="3749039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28515" y="1627632"/>
            <a:ext cx="63500" cy="2340864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28515" y="1627632"/>
            <a:ext cx="3749039" cy="54864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3107" y="1755648"/>
            <a:ext cx="35112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No Named Ownership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3107" y="2139696"/>
            <a:ext cx="3511295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AI assets exist with no accountable human. When one fails, no one owns the outcome.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0998" y="1627632"/>
            <a:ext cx="3749039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0998" y="1627632"/>
            <a:ext cx="63500" cy="2340864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998" y="1627632"/>
            <a:ext cx="3749039" cy="54864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0" y="1755648"/>
            <a:ext cx="35112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No Formal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0" y="2139696"/>
            <a:ext cx="3511295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AI was deployed without a structured governance review or signed decision record.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4151376"/>
            <a:ext cx="3749039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4151376"/>
            <a:ext cx="63500" cy="2340864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" y="4151376"/>
            <a:ext cx="3749039" cy="54864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4279392"/>
            <a:ext cx="35112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No Risk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" y="4663440"/>
            <a:ext cx="3511295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Risk is assumed, not assessed. No tier, no evidence, no audit trail.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28515" y="4151376"/>
            <a:ext cx="3749039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8515" y="4151376"/>
            <a:ext cx="63500" cy="2340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28515" y="4151376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3107" y="4279392"/>
            <a:ext cx="35112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No Kill Switch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3107" y="4663440"/>
            <a:ext cx="3511295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If an AI system behaves unexpectedly, there is no formal mechanism to halt it immediately.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0998" y="4151376"/>
            <a:ext cx="3749039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00998" y="4151376"/>
            <a:ext cx="63500" cy="2340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00998" y="4151376"/>
            <a:ext cx="3749039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5590" y="4279392"/>
            <a:ext cx="35112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Not Audit Ready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5590" y="4663440"/>
            <a:ext cx="3511295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Regulators and boards ask governance questions. Most organisations cannot answer them.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" y="6437376"/>
            <a:ext cx="11676888" cy="6400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WHAT IS OMG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03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One Configurable System — Start to Finish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OMG is a single web application where an organisation records, governs, and audits every AI system it runs.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32" y="1665732"/>
            <a:ext cx="3803904" cy="44622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3803904" cy="4462272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63500" cy="446227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627632"/>
            <a:ext cx="3803904" cy="47548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673352"/>
            <a:ext cx="3803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 Light"/>
              </a:rPr>
              <a:t>REGISTER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212848"/>
            <a:ext cx="3547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 Light"/>
              </a:rPr>
              <a:t>Every AI asset enters one central inventory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706624"/>
            <a:ext cx="3438144" cy="127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798064"/>
            <a:ext cx="35478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Every application, agent, LLM, model, copilot, RAG system, workflow, multi-agent system, and third-party AI service — registered, owned, and tracked in one system of record.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0624" y="1665732"/>
            <a:ext cx="3803904" cy="44622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2524" y="1627632"/>
            <a:ext cx="3803904" cy="4462272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2524" y="1627632"/>
            <a:ext cx="63500" cy="4462272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92524" y="1627632"/>
            <a:ext cx="3803904" cy="47548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92524" y="1673352"/>
            <a:ext cx="3803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 Light"/>
              </a:rPr>
              <a:t>GOVERN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5404" y="2212848"/>
            <a:ext cx="3547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 Light"/>
              </a:rPr>
              <a:t>Risk classified. Validated. Reviewed. Formally approved.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5404" y="2706624"/>
            <a:ext cx="3438144" cy="1270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5404" y="2798064"/>
            <a:ext cx="35478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No AI asset reaches production without a structured governance path: ownership assigned, risk tiered, evidence uploaded, decision recorded, and approval signed by a named human.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67116" y="1665732"/>
            <a:ext cx="3803904" cy="44622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9016" y="1627632"/>
            <a:ext cx="3803904" cy="4462272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9016" y="1627632"/>
            <a:ext cx="63500" cy="4462272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29016" y="1627632"/>
            <a:ext cx="3803904" cy="47548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9016" y="1673352"/>
            <a:ext cx="3803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 Light"/>
              </a:rPr>
              <a:t>MONITOR &amp;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2212848"/>
            <a:ext cx="3547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 Light"/>
              </a:rPr>
              <a:t>Continuous oversight after every deployment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11896" y="2706624"/>
            <a:ext cx="3438144" cy="127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1896" y="2798064"/>
            <a:ext cx="35478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OMG does not stop at approval. Ongoing health scoring, drift detection, review calendars, kill switch capability, and immutable audit trails — every asset, always.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" y="6144768"/>
            <a:ext cx="11676888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199632"/>
            <a:ext cx="11311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A4A4A"/>
                </a:solidFill>
                <a:latin typeface="Calibri"/>
              </a:rPr>
              <a:t>Think of OMG as the system of record for AI accountability — a general ledger, but for AI governance.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WHAT OMG GOVERNS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04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Nine AI Asset Categories — Governed Identically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OMG does not govern only ML models. Every form of AI the enterprise operates follows the same 8-stage governance lifecycle.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627632"/>
            <a:ext cx="1225296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63500" cy="157276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1225296" cy="402336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1673352"/>
            <a:ext cx="1225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2084832"/>
            <a:ext cx="1152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1F1F"/>
                </a:solidFill>
                <a:latin typeface="Calibri"/>
              </a:rPr>
              <a:t>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450592"/>
            <a:ext cx="1152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A"/>
                </a:solidFill>
                <a:latin typeface="Calibri"/>
              </a:rPr>
              <a:t>AI-infused enterprise apps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47164" y="1627632"/>
            <a:ext cx="1225296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47164" y="1627632"/>
            <a:ext cx="63500" cy="157276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7164" y="1627632"/>
            <a:ext cx="1225296" cy="402336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47164" y="1673352"/>
            <a:ext cx="1225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3740" y="2084832"/>
            <a:ext cx="1152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1F1F"/>
                </a:solidFill>
                <a:latin typeface="Calibri"/>
              </a:rPr>
              <a:t>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3740" y="2450592"/>
            <a:ext cx="1152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A"/>
                </a:solidFill>
                <a:latin typeface="Calibri"/>
              </a:rPr>
              <a:t>Autonomous AI agents &amp; bots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8296" y="1627632"/>
            <a:ext cx="1225296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38296" y="1627632"/>
            <a:ext cx="63500" cy="1572768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38296" y="1627632"/>
            <a:ext cx="1225296" cy="402336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8296" y="1673352"/>
            <a:ext cx="1225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74872" y="2084832"/>
            <a:ext cx="1152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1F1F"/>
                </a:solidFill>
                <a:latin typeface="Calibri"/>
              </a:rPr>
              <a:t>LLMs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74872" y="2450592"/>
            <a:ext cx="1152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A"/>
                </a:solidFill>
                <a:latin typeface="Calibri"/>
              </a:rPr>
              <a:t>Large Language Models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29428" y="1627632"/>
            <a:ext cx="1225296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29428" y="1627632"/>
            <a:ext cx="63500" cy="157276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29428" y="1627632"/>
            <a:ext cx="1225296" cy="402336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29428" y="1673352"/>
            <a:ext cx="1225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6004" y="2084832"/>
            <a:ext cx="1152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1F1F"/>
                </a:solidFill>
                <a:latin typeface="Calibri"/>
              </a:rPr>
              <a:t>AI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6004" y="2450592"/>
            <a:ext cx="1152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A"/>
                </a:solidFill>
                <a:latin typeface="Calibri"/>
              </a:rPr>
              <a:t>Predictive &amp; scoring models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20560" y="1627632"/>
            <a:ext cx="1225296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20560" y="1627632"/>
            <a:ext cx="63500" cy="15727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20560" y="1627632"/>
            <a:ext cx="1225296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20560" y="1673352"/>
            <a:ext cx="1225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57136" y="2084832"/>
            <a:ext cx="1152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1F1F"/>
                </a:solidFill>
                <a:latin typeface="Calibri"/>
              </a:rPr>
              <a:t>Copilots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7136" y="2450592"/>
            <a:ext cx="1152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A"/>
                </a:solidFill>
                <a:latin typeface="Calibri"/>
              </a:rPr>
              <a:t>AI assistants in enterprise tools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11692" y="1627632"/>
            <a:ext cx="1225296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11692" y="1627632"/>
            <a:ext cx="63500" cy="15727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11692" y="1627632"/>
            <a:ext cx="1225296" cy="40233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11692" y="1673352"/>
            <a:ext cx="1225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8268" y="2084832"/>
            <a:ext cx="1152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1F1F"/>
                </a:solidFill>
                <a:latin typeface="Calibri"/>
              </a:rPr>
              <a:t>RAG Systems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68" y="2450592"/>
            <a:ext cx="1152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A"/>
                </a:solidFill>
                <a:latin typeface="Calibri"/>
              </a:rPr>
              <a:t>Retrieval-Augmented Generation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02824" y="1627632"/>
            <a:ext cx="1225296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02824" y="1627632"/>
            <a:ext cx="63500" cy="157276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02824" y="1627632"/>
            <a:ext cx="1225296" cy="402336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2824" y="1673352"/>
            <a:ext cx="1225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39400" y="2084832"/>
            <a:ext cx="1152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1F1F"/>
                </a:solidFill>
                <a:latin typeface="Calibri"/>
              </a:rPr>
              <a:t>AI Workflows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39400" y="2450592"/>
            <a:ext cx="1152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A"/>
                </a:solidFill>
                <a:latin typeface="Calibri"/>
              </a:rPr>
              <a:t>AI-driven business processes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93956" y="1627632"/>
            <a:ext cx="1225296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293956" y="1627632"/>
            <a:ext cx="63500" cy="15727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93956" y="1627632"/>
            <a:ext cx="1225296" cy="40233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93956" y="1673352"/>
            <a:ext cx="1225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30532" y="2084832"/>
            <a:ext cx="1152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1F1F"/>
                </a:solidFill>
                <a:latin typeface="Calibri"/>
              </a:rPr>
              <a:t>Multi-Agent Systems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30532" y="2450592"/>
            <a:ext cx="1152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A"/>
                </a:solidFill>
                <a:latin typeface="Calibri"/>
              </a:rPr>
              <a:t>Cooperating agent networks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585088" y="1627632"/>
            <a:ext cx="1225296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585088" y="1627632"/>
            <a:ext cx="63500" cy="1572768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585088" y="1627632"/>
            <a:ext cx="1225296" cy="402336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85088" y="1673352"/>
            <a:ext cx="1225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09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21664" y="2084832"/>
            <a:ext cx="1152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1F1F"/>
                </a:solidFill>
                <a:latin typeface="Calibri"/>
              </a:rPr>
              <a:t>Third-Party 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21664" y="2450592"/>
            <a:ext cx="1152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A"/>
                </a:solidFill>
                <a:latin typeface="Calibri"/>
              </a:rPr>
              <a:t>External AI APIs &amp; services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6032" y="3364992"/>
            <a:ext cx="11676888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56032" y="3364992"/>
            <a:ext cx="11676888" cy="5486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8912" y="3493008"/>
            <a:ext cx="11311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334A"/>
                </a:solidFill>
                <a:latin typeface="Calibri"/>
              </a:rPr>
              <a:t>THE GOVERNANCE PRINCIPLE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8912" y="3840480"/>
            <a:ext cx="11311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1F1F"/>
                </a:solidFill>
                <a:latin typeface="Calibri Light"/>
              </a:rPr>
              <a:t>Every asset type follows the same 8-stage governance lifecycle:
Registered  →  Owned  →  Risk-Classified  →  Validated  →  Reviewed  →  Approved  →  Monitored  →  Retired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0352" y="4480560"/>
            <a:ext cx="111282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  <a:latin typeface="Calibri"/>
              </a:rPr>
              <a:t>A fraud detection model, a Microsoft Copilot deployment, a RAG-based customer service agent, and an autonomous procurement workflow — all governed through the same OMG lifecycle. Consistently. Evidentially. Permanently. This uniformity is what makes OMG enterprise-grade.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CAPABILITY OVERVIEW — AS OF 7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05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12 Governance Domains  |  85+ Modules  |  23 Release Workstreams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A complete, end-to-end Enterprise AI Governance Operating Platform.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627632"/>
            <a:ext cx="2816352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63500" cy="1499616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2816352" cy="54864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9424" y="170078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3F51B5"/>
                </a:solidFill>
                <a:latin typeface="Calibri"/>
              </a:rPr>
              <a:t>7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1700784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Executive
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2139696"/>
            <a:ext cx="26151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Hub, Scorecards, Heatmaps
Board Reporting, Insights
Value, Drift &amp; Health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6800" y="1627632"/>
            <a:ext cx="2816352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6800" y="1627632"/>
            <a:ext cx="63500" cy="1499616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6800" y="1627632"/>
            <a:ext cx="2816352" cy="54864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00192" y="170078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5D00ED"/>
                </a:solidFill>
                <a:latin typeface="Calibri"/>
              </a:rPr>
              <a:t>3 modules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3104" y="1700784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Policy
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3104" y="2139696"/>
            <a:ext cx="26151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Policy Registry &amp; Mapping
Policy Violations
5 Policy Categories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7568" y="1627632"/>
            <a:ext cx="2816352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7568" y="1627632"/>
            <a:ext cx="63500" cy="1499616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7568" y="1627632"/>
            <a:ext cx="28163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0960" y="170078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1334A"/>
                </a:solidFill>
                <a:latin typeface="Calibri"/>
              </a:rPr>
              <a:t>5 modules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3872" y="1700784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Change
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3872" y="2139696"/>
            <a:ext cx="26151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Change Requests &amp; Impact
Reassessment Rules
Triggers &amp; Dashboard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08336" y="1627632"/>
            <a:ext cx="2816352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08336" y="1627632"/>
            <a:ext cx="63500" cy="1499616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08336" y="1627632"/>
            <a:ext cx="2816352" cy="54864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01728" y="170078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3F51B5"/>
                </a:solidFill>
                <a:latin typeface="Calibri"/>
              </a:rPr>
              <a:t>6 modules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4640" y="1700784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AI Governance
Registry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4640" y="2139696"/>
            <a:ext cx="26151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Asset Registry &amp; Ownership
Lifecycle &amp; Retirement
Governance Readiness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" y="3282696"/>
            <a:ext cx="2816352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6032" y="3282696"/>
            <a:ext cx="63500" cy="14996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3282696"/>
            <a:ext cx="28163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49424" y="335584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59E0B"/>
                </a:solidFill>
                <a:latin typeface="Calibri"/>
              </a:rPr>
              <a:t>12 modules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" y="3355848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Risk &amp;
Compliance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" y="3794760"/>
            <a:ext cx="26151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Risk Center &amp; Validation
Evidence &amp; Findings
Compliance Pack Engine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6800" y="3282696"/>
            <a:ext cx="2816352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6800" y="3282696"/>
            <a:ext cx="63500" cy="1499616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6800" y="3282696"/>
            <a:ext cx="2816352" cy="54864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00192" y="335584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5D00ED"/>
                </a:solidFill>
                <a:latin typeface="Calibri"/>
              </a:rPr>
              <a:t>5 modules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3104" y="3355848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Decision
Governance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53104" y="3794760"/>
            <a:ext cx="26151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Decision Workbench
Review Calendar
Decision Intelligence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57568" y="3282696"/>
            <a:ext cx="2816352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57568" y="3282696"/>
            <a:ext cx="63500" cy="1499616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57568" y="3282696"/>
            <a:ext cx="2816352" cy="54864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50960" y="335584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2BAD48"/>
                </a:solidFill>
                <a:latin typeface="Calibri"/>
              </a:rPr>
              <a:t>5 modules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3872" y="3355848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Governance
Effectiveness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3872" y="3794760"/>
            <a:ext cx="26151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Effectiveness Score &amp; ROI
Maturity &amp; Benchmarking
Outcomes Engine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08336" y="3282696"/>
            <a:ext cx="2816352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08336" y="3282696"/>
            <a:ext cx="63500" cy="1499616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08336" y="3282696"/>
            <a:ext cx="2816352" cy="54864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01728" y="335584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00A0ED"/>
                </a:solidFill>
                <a:latin typeface="Calibri"/>
              </a:rPr>
              <a:t>5 modules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54640" y="3355848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Regulatory
Intelligence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54640" y="3794760"/>
            <a:ext cx="26151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Applicability Engine
Cross-Framework Mapping
Audit Readiness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6032" y="4937760"/>
            <a:ext cx="2816352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56032" y="4937760"/>
            <a:ext cx="63500" cy="149961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56032" y="4937760"/>
            <a:ext cx="2816352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49424" y="501091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A855F7"/>
                </a:solidFill>
                <a:latin typeface="Calibri"/>
              </a:rPr>
              <a:t>8 modules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2336" y="5010912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Assessment
Calibration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2336" y="5449824"/>
            <a:ext cx="26151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Assessment Center
Playbooks &amp; Calibration
Certification &amp; Consensus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6800" y="4937760"/>
            <a:ext cx="2816352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06800" y="4937760"/>
            <a:ext cx="63500" cy="149961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06800" y="4937760"/>
            <a:ext cx="28163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00192" y="501091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14B8A6"/>
                </a:solidFill>
                <a:latin typeface="Calibri"/>
              </a:rPr>
              <a:t>7 modules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53104" y="5010912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Operations &amp;
Monitoring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53104" y="5449824"/>
            <a:ext cx="26151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Kill Switch &amp; Override
Incident Management
Alerts &amp; Corrective Actions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57568" y="4937760"/>
            <a:ext cx="2816352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57568" y="4937760"/>
            <a:ext cx="63500" cy="1499616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57568" y="4937760"/>
            <a:ext cx="2816352" cy="54864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50960" y="501091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7A59"/>
                </a:solidFill>
                <a:latin typeface="Calibri"/>
              </a:rPr>
              <a:t>4 modules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3872" y="5010912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Audit &amp;
Oversight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3872" y="5449824"/>
            <a:ext cx="26151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Audit Logs &amp; Evidence
Governance Timeline
Immutable Audit Trail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08336" y="4937760"/>
            <a:ext cx="2816352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108336" y="4937760"/>
            <a:ext cx="63500" cy="149961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108336" y="4937760"/>
            <a:ext cx="2816352" cy="54864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101728" y="501091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1F1F1F"/>
                </a:solidFill>
                <a:latin typeface="Calibri"/>
              </a:rPr>
              <a:t>3 modules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54640" y="5010912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Administration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54640" y="5449824"/>
            <a:ext cx="26151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User Management &amp; RBAC
Tenant Configuration
Permission Matrix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AI GOVERNANCE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06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One Eight-Stage Path for Every AI Asset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Every AI asset follows the same sequential, evidenced, and permanently recorded governance path.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627632"/>
            <a:ext cx="137160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63500" cy="486460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1371600" cy="43891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16733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2121408"/>
            <a:ext cx="1261872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296" y="2121408"/>
            <a:ext cx="1211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F51B5"/>
                </a:solidFill>
                <a:latin typeface="Calibri"/>
              </a:rPr>
              <a:t>DRAFT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2414016"/>
            <a:ext cx="12618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1F1F"/>
                </a:solidFill>
                <a:latin typeface="Calibri"/>
              </a:rPr>
              <a:t>Asset
Registration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" y="2962656"/>
            <a:ext cx="1225296" cy="127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" y="3054096"/>
            <a:ext cx="12618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alibri"/>
              </a:rPr>
              <a:t>Name, categorise, assign owners, record tech stack.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373075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0B0B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28216" y="1627632"/>
            <a:ext cx="137160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28216" y="1627632"/>
            <a:ext cx="63500" cy="4864608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28216" y="1627632"/>
            <a:ext cx="1371600" cy="438912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28216" y="16733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83080" y="2121408"/>
            <a:ext cx="1261872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5D0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8480" y="2121408"/>
            <a:ext cx="1211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5D00ED"/>
                </a:solidFill>
                <a:latin typeface="Calibri"/>
              </a:rPr>
              <a:t>OWNED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2414016"/>
            <a:ext cx="12618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1F1F"/>
                </a:solidFill>
                <a:latin typeface="Calibri"/>
              </a:rPr>
              <a:t>Ownership
Assignment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01368" y="2962656"/>
            <a:ext cx="1225296" cy="12700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83080" y="3054096"/>
            <a:ext cx="12618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alibri"/>
              </a:rPr>
              <a:t>5 named owners: Accountable, Sponsor, Risk, Technical, Compliance.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73075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0B0B0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1627632"/>
            <a:ext cx="137160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1627632"/>
            <a:ext cx="63500" cy="4864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1627632"/>
            <a:ext cx="137160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16733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55264" y="2121408"/>
            <a:ext cx="1261872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80664" y="2121408"/>
            <a:ext cx="1211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59E0B"/>
                </a:solidFill>
                <a:latin typeface="Calibri"/>
              </a:rPr>
              <a:t>TIERED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5264" y="2414016"/>
            <a:ext cx="12618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1F1F"/>
                </a:solidFill>
                <a:latin typeface="Calibri"/>
              </a:rPr>
              <a:t>Risk
Assessment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73552" y="2962656"/>
            <a:ext cx="1225296" cy="12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55264" y="3054096"/>
            <a:ext cx="12618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alibri"/>
              </a:rPr>
              <a:t>Classify by data sensitivity, decision impact, oversight level.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5424" y="373075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0B0B0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72584" y="1627632"/>
            <a:ext cx="137160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672584" y="1627632"/>
            <a:ext cx="63500" cy="486460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72584" y="1627632"/>
            <a:ext cx="1371600" cy="438912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2584" y="16733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27448" y="2121408"/>
            <a:ext cx="1261872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00A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2848" y="2121408"/>
            <a:ext cx="1211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A0ED"/>
                </a:solidFill>
                <a:latin typeface="Calibri"/>
              </a:rPr>
              <a:t>VALIDATED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27448" y="2414016"/>
            <a:ext cx="12618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1F1F"/>
                </a:solidFill>
                <a:latin typeface="Calibri"/>
              </a:rPr>
              <a:t>Validation
Activities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45736" y="2962656"/>
            <a:ext cx="1225296" cy="1270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27448" y="3054096"/>
            <a:ext cx="12618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alibri"/>
              </a:rPr>
              <a:t>6 discipline scorecards: Business, Tech, Security, Compliance, Ops, Model.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07608" y="373075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0B0B0"/>
                </a:solidFill>
                <a:latin typeface="Calibri"/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44768" y="1627632"/>
            <a:ext cx="137160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44768" y="1627632"/>
            <a:ext cx="63500" cy="4864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44768" y="1627632"/>
            <a:ext cx="1371600" cy="43891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44768" y="16733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99632" y="2121408"/>
            <a:ext cx="1261872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25032" y="2121408"/>
            <a:ext cx="1211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A855F7"/>
                </a:solidFill>
                <a:latin typeface="Calibri"/>
              </a:rPr>
              <a:t>REVIEWED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99632" y="2414016"/>
            <a:ext cx="12618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1F1F"/>
                </a:solidFill>
                <a:latin typeface="Calibri"/>
              </a:rPr>
              <a:t>Governance
Review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2962656"/>
            <a:ext cx="1225296" cy="127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99632" y="3054096"/>
            <a:ext cx="12618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alibri"/>
              </a:rPr>
              <a:t>5-pillar decision engine produces a scored recommendation.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79792" y="373075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0B0B0"/>
                </a:solidFill>
                <a:latin typeface="Calibri"/>
              </a:rPr>
              <a:t>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16952" y="1627632"/>
            <a:ext cx="137160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616952" y="1627632"/>
            <a:ext cx="63500" cy="486460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616952" y="1627632"/>
            <a:ext cx="1371600" cy="438912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16952" y="16733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71816" y="2121408"/>
            <a:ext cx="1261872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2B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97216" y="2121408"/>
            <a:ext cx="1211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BAD48"/>
                </a:solidFill>
                <a:latin typeface="Calibri"/>
              </a:rPr>
              <a:t>APPROVED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71816" y="2414016"/>
            <a:ext cx="12618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1F1F"/>
                </a:solidFill>
                <a:latin typeface="Calibri"/>
              </a:rPr>
              <a:t>Decision &amp;
Approval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90104" y="2962656"/>
            <a:ext cx="1225296" cy="127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71816" y="3054096"/>
            <a:ext cx="12618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alibri"/>
              </a:rPr>
              <a:t>Signed GO / Conditional GO / No Go. Named approver. Timestamped.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51976" y="373075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0B0B0"/>
                </a:solidFill>
                <a:latin typeface="Calibri"/>
              </a:rPr>
              <a:t>→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89136" y="1627632"/>
            <a:ext cx="137160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089136" y="1627632"/>
            <a:ext cx="63500" cy="486460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089136" y="1627632"/>
            <a:ext cx="1371600" cy="438912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89136" y="16733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00" y="2121408"/>
            <a:ext cx="1261872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F1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69400" y="2121408"/>
            <a:ext cx="1211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1334A"/>
                </a:solidFill>
                <a:latin typeface="Calibri"/>
              </a:rPr>
              <a:t>MONITORED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2414016"/>
            <a:ext cx="12618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1F1F"/>
                </a:solidFill>
                <a:latin typeface="Calibri"/>
              </a:rPr>
              <a:t>Production
Monitoring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62288" y="2962656"/>
            <a:ext cx="1225296" cy="1270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44000" y="3054096"/>
            <a:ext cx="12618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alibri"/>
              </a:rPr>
              <a:t>Health scoring, alerts, review calendar, drift detection.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424160" y="373075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0B0B0"/>
                </a:solidFill>
                <a:latin typeface="Calibri"/>
              </a:rPr>
              <a:t>→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561320" y="1627632"/>
            <a:ext cx="137160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561320" y="1627632"/>
            <a:ext cx="63500" cy="4864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561320" y="1627632"/>
            <a:ext cx="1371600" cy="438912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561320" y="16733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616184" y="2121408"/>
            <a:ext cx="1261872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641584" y="2121408"/>
            <a:ext cx="1211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1F1F"/>
                </a:solidFill>
                <a:latin typeface="Calibri"/>
              </a:rPr>
              <a:t>RETIRED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16184" y="2414016"/>
            <a:ext cx="12618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1F1F"/>
                </a:solidFill>
                <a:latin typeface="Calibri"/>
              </a:rPr>
              <a:t>Retirement
&amp; Archive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634472" y="2962656"/>
            <a:ext cx="1225296" cy="127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616184" y="3054096"/>
            <a:ext cx="12618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alibri"/>
              </a:rPr>
              <a:t>Managed exit with full traceability. 10-year record retention.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56032" y="6437376"/>
            <a:ext cx="11676888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OWNERSHIP &amp;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07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Five Named Owners on Every AI Asset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An AI asset with no named owner cannot be escalated, reviewed, or defended. OMG enforces named ownership at the API level.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32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63500" cy="486460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627632"/>
            <a:ext cx="2203704" cy="4572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673352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2139696"/>
            <a:ext cx="2020824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872" y="2139696"/>
            <a:ext cx="1970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F51B5"/>
                </a:solidFill>
                <a:latin typeface="Calibri"/>
              </a:rPr>
              <a:t>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450592"/>
            <a:ext cx="20208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1F1F"/>
                </a:solidFill>
                <a:latin typeface="Calibri Light"/>
              </a:rPr>
              <a:t>Accountable
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17520"/>
            <a:ext cx="1984248" cy="127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3108960"/>
            <a:ext cx="20208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Owns the business outcome and residual risk. Signs the final GO decision. Accountable to the board.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7856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19756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19756" y="1627632"/>
            <a:ext cx="63500" cy="4864608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19756" y="1627632"/>
            <a:ext cx="2203704" cy="457200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19756" y="1673352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11196" y="2139696"/>
            <a:ext cx="2020824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5D0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36596" y="2139696"/>
            <a:ext cx="1970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5D00ED"/>
                </a:solidFill>
                <a:latin typeface="Calibri"/>
              </a:rPr>
              <a:t>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1196" y="2450592"/>
            <a:ext cx="20208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1F1F"/>
                </a:solidFill>
                <a:latin typeface="Calibri Light"/>
              </a:rPr>
              <a:t>Governance
Sponsor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29484" y="3017520"/>
            <a:ext cx="1984248" cy="12700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11196" y="3108960"/>
            <a:ext cx="20208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Champions governance compliance. Ensures business obligations are understood and met.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1580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3480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83480" y="1627632"/>
            <a:ext cx="63500" cy="4864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83480" y="1627632"/>
            <a:ext cx="220370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80" y="1673352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4920" y="2139696"/>
            <a:ext cx="2020824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00320" y="2139696"/>
            <a:ext cx="1970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59E0B"/>
                </a:solidFill>
                <a:latin typeface="Calibri"/>
              </a:rPr>
              <a:t>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2450592"/>
            <a:ext cx="20208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1F1F"/>
                </a:solidFill>
                <a:latin typeface="Calibri Light"/>
              </a:rPr>
              <a:t>Risk
Owner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93208" y="3017520"/>
            <a:ext cx="1984248" cy="12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108960"/>
            <a:ext cx="20208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Owns the formal risk profile. Accountable for tier accuracy, escalation, and mitigation actions.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85304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47204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47204" y="1627632"/>
            <a:ext cx="63500" cy="486460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47204" y="1627632"/>
            <a:ext cx="2203704" cy="45720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47204" y="1673352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38644" y="2139696"/>
            <a:ext cx="2020824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00A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64044" y="2139696"/>
            <a:ext cx="1970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A0ED"/>
                </a:solidFill>
                <a:latin typeface="Calibri"/>
              </a:rPr>
              <a:t>TECHNICAL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38644" y="2450592"/>
            <a:ext cx="20208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1F1F"/>
                </a:solidFill>
                <a:latin typeface="Calibri Light"/>
              </a:rPr>
              <a:t>Technical
Owner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56932" y="3017520"/>
            <a:ext cx="1984248" cy="1270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38644" y="3108960"/>
            <a:ext cx="20208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Owns architecture, integrations, model performance, and all technical controls.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49028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10928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710928" y="1627632"/>
            <a:ext cx="63500" cy="486460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710928" y="1627632"/>
            <a:ext cx="2203704" cy="4572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10928" y="1673352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02368" y="2139696"/>
            <a:ext cx="2020824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2B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27768" y="2139696"/>
            <a:ext cx="1970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BAD48"/>
                </a:solidFill>
                <a:latin typeface="Calibri"/>
              </a:rPr>
              <a:t>COMPLIANCE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02368" y="2450592"/>
            <a:ext cx="20208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1F1F"/>
                </a:solidFill>
                <a:latin typeface="Calibri Light"/>
              </a:rPr>
              <a:t>Compliance
Owner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20656" y="3017520"/>
            <a:ext cx="1984248" cy="127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02368" y="3108960"/>
            <a:ext cx="20208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Ensures alignment to regulations, evidence standards, and audit readiness.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" y="6437376"/>
            <a:ext cx="11676888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8912" y="6455664"/>
            <a:ext cx="11311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334A"/>
                </a:solidFill>
                <a:latin typeface="Calibri"/>
              </a:rPr>
              <a:t>API Enforcement: An AI asset cannot be saved unless all governance owners are named. This is a hard backend constraint — not a UI suggestion.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RISK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08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Risk Classified. Validation Evidenced. Not Assumed.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Risk is not a label applied after the fact. It is a tiered assessment across sensitivity, impact, and control — with six validation disciplines.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32" y="1665732"/>
            <a:ext cx="5440680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544068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63500" cy="486460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627632"/>
            <a:ext cx="5440680" cy="402336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691640"/>
            <a:ext cx="5440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FOUR RISK TIERS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" y="2139696"/>
            <a:ext cx="63500" cy="84124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2194560"/>
            <a:ext cx="5001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Tier 1 — 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2523744"/>
            <a:ext cx="5001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Advisory AI. Recommendations only. Minimal regulatory exposure.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" y="3218688"/>
            <a:ext cx="63500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3273552"/>
            <a:ext cx="5001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Tier 2 — 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3602736"/>
            <a:ext cx="5001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Business automation. Decisions affect individuals. Validation required.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" y="4297680"/>
            <a:ext cx="63500" cy="841248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4352544"/>
            <a:ext cx="5001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Tier 3 — 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4681728"/>
            <a:ext cx="5001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Financial or HR decisions. Regulatory scrutiny. Independent validation.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" y="5376671"/>
            <a:ext cx="63500" cy="84124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5431535"/>
            <a:ext cx="5001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Tier 4 — Critical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5760719"/>
            <a:ext cx="5001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Core banking, fraud, AML. Executive approval only. Full lifecycle.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9404" y="1665732"/>
            <a:ext cx="6071616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61304" y="1627632"/>
            <a:ext cx="6071616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61304" y="1627632"/>
            <a:ext cx="63500" cy="486460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61304" y="1627632"/>
            <a:ext cx="6071616" cy="402336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61304" y="1691640"/>
            <a:ext cx="6071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SIX VALIDATION CATEGORIES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25896" y="2231136"/>
            <a:ext cx="63500" cy="493776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0488" y="2194560"/>
            <a:ext cx="5632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Business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0488" y="2468880"/>
            <a:ext cx="5632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Outcome quality, accuracy, and value for the intended use case.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25896" y="2944368"/>
            <a:ext cx="63500" cy="493776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0488" y="2907792"/>
            <a:ext cx="5632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Technical 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0488" y="3182112"/>
            <a:ext cx="5632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Code quality, architecture, API integrity, and technical controls.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25896" y="3657600"/>
            <a:ext cx="63500" cy="493776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0488" y="3621024"/>
            <a:ext cx="5632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Security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0488" y="3895344"/>
            <a:ext cx="5632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Penetration testing, data protection, access controls, threat model.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25896" y="4370832"/>
            <a:ext cx="63500" cy="493776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90488" y="4334256"/>
            <a:ext cx="5632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Compliance Validation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0488" y="4608576"/>
            <a:ext cx="5632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Regulatory alignment, evidence standards, audit readiness.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25896" y="5084064"/>
            <a:ext cx="63500" cy="493776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0488" y="5047488"/>
            <a:ext cx="5632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Operational Validation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0488" y="5321808"/>
            <a:ext cx="5632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Runtime stability, monitoring setup, and operational procedures.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25896" y="5797296"/>
            <a:ext cx="63500" cy="493776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0488" y="5760720"/>
            <a:ext cx="5632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Model Validation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0488" y="6035040"/>
            <a:ext cx="5632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Statistical performance, bias, drift, and explainability evidence.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DECISION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09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No Production Without a Recorded Decision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Every governance review produces a signed, timestamped, traceable decision record. No verbal approvals. No implicit go-aheads.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32" y="1665732"/>
            <a:ext cx="3749039" cy="28346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3749039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63500" cy="283464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627632"/>
            <a:ext cx="3749039" cy="4572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6916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2176272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Approved for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" y="2542032"/>
            <a:ext cx="3419855" cy="127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" y="2651760"/>
            <a:ext cx="349300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All five governance pillars passed. Asset approved under defined conditions. Signed by named approver.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6615" y="1665732"/>
            <a:ext cx="3749039" cy="28346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8515" y="1627632"/>
            <a:ext cx="3749039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28515" y="1627632"/>
            <a:ext cx="63500" cy="2834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28515" y="1627632"/>
            <a:ext cx="3749039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28515" y="16916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CONDITIONAL 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107" y="2176272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Approved with Conditions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3107" y="2542032"/>
            <a:ext cx="3419855" cy="12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3107" y="2651760"/>
            <a:ext cx="349300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One or more pillars have open actions. Conditions attached, tracked, and reapproval triggered on completion.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9098" y="1665732"/>
            <a:ext cx="3749039" cy="28346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998" y="1627632"/>
            <a:ext cx="3749039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0998" y="1627632"/>
            <a:ext cx="63500" cy="283464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0998" y="1627632"/>
            <a:ext cx="3749039" cy="45720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0998" y="16916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NO 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0" y="2176272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Not Approved — Remediation Required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65590" y="2542032"/>
            <a:ext cx="3419855" cy="1270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0" y="2651760"/>
            <a:ext cx="349300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Critical pillar failure. Asset returns to validation. Cannot proceed without full governance re-review.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" y="4626864"/>
            <a:ext cx="11676888" cy="1865376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6032" y="4626864"/>
            <a:ext cx="11676888" cy="5486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4736592"/>
            <a:ext cx="11676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334A"/>
                </a:solidFill>
                <a:latin typeface="Calibri"/>
              </a:rPr>
              <a:t>THE FIVE GOVERNANCE PILLARS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" y="5065776"/>
            <a:ext cx="63500" cy="12984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508406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 Light"/>
              </a:rPr>
              <a:t>Risk Readiness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5468112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Risk tier validated &amp; controls evidenced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65476" y="5065776"/>
            <a:ext cx="63500" cy="129844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93492" y="508406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0ED"/>
                </a:solidFill>
                <a:latin typeface="Calibri Light"/>
              </a:rPr>
              <a:t>Validation Completeness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93492" y="5468112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All 6 scorecards assessed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83480" y="5065776"/>
            <a:ext cx="63500" cy="1298448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11496" y="508406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D00ED"/>
                </a:solidFill>
                <a:latin typeface="Calibri Light"/>
              </a:rPr>
              <a:t>Policy Alignment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1496" y="5468112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Obligations mapped &amp; compliant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01484" y="5065776"/>
            <a:ext cx="63500" cy="129844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29500" y="508406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AD48"/>
                </a:solidFill>
                <a:latin typeface="Calibri Light"/>
              </a:rPr>
              <a:t>Evidence Quality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29500" y="5468112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Evidence uploaded, typed &amp; attributed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19488" y="5065776"/>
            <a:ext cx="63500" cy="129844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47504" y="508406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51B5"/>
                </a:solidFill>
                <a:latin typeface="Calibri Light"/>
              </a:rPr>
              <a:t>Ownership Completeness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47504" y="5468112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All 5 named owners confirmed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RELEASES 5 &amp; 6 — COMPLIANCE PACK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10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A Reusable Foundation Every Regulation Plugs Into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Two layers built one release apart — both structured identically so a new regulation is a configuration, not a rebuild.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32" y="1665732"/>
            <a:ext cx="5440680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544068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63500" cy="4864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627632"/>
            <a:ext cx="544068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1691640"/>
            <a:ext cx="5202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RELEASE 5 — COMPLIANCE PACK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2103120"/>
            <a:ext cx="5202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 Light"/>
              </a:rPr>
              <a:t>Pack  →  Requirement  →  Control  → 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2395728"/>
            <a:ext cx="52029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Coverage is computed from real linkage — Full, Partial or None — never a fabricated percentage.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2889504"/>
            <a:ext cx="508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889504"/>
            <a:ext cx="5001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Every regulation is a named Compliance Pack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3438144"/>
            <a:ext cx="508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3438144"/>
            <a:ext cx="5001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Each pack contains discrete, auditable Requirements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3986784"/>
            <a:ext cx="508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986784"/>
            <a:ext cx="5001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Each requirement maps to one or more Controls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4535423"/>
            <a:ext cx="508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4535423"/>
            <a:ext cx="5001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Each control links to real Evidence records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" y="5084064"/>
            <a:ext cx="508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5084064"/>
            <a:ext cx="5001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Coverage = evidence-backed, not self-assessed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5632704"/>
            <a:ext cx="508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5632704"/>
            <a:ext cx="5001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Pre-loaded: RBI AI Controls RBI-001 to RBI-008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99404" y="1665732"/>
            <a:ext cx="6071616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61304" y="1627632"/>
            <a:ext cx="6071616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61304" y="1627632"/>
            <a:ext cx="63500" cy="486460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61304" y="1627632"/>
            <a:ext cx="6071616" cy="402336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25896" y="1691640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RELEASE 6 — REGULATORY OBLIGATION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25896" y="2103120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51B5"/>
                </a:solidFill>
                <a:latin typeface="Calibri Light"/>
              </a:rPr>
              <a:t>Regulation  →  Obligation  →  Asset Mapping  →  Compliance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25896" y="2395728"/>
            <a:ext cx="5833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Universal regulatory knowledge base. Every obligation mapped to governed AI assets.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44184" y="2889504"/>
            <a:ext cx="50800" cy="38404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8776" y="2889504"/>
            <a:ext cx="56327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Regulatory Library — structured knowledge base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44184" y="3438144"/>
            <a:ext cx="50800" cy="38404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08776" y="3438144"/>
            <a:ext cx="56327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Requirement Registry — discrete testable obligations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44184" y="3986784"/>
            <a:ext cx="50800" cy="38404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08776" y="3986784"/>
            <a:ext cx="56327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Obligation Library — reusable obligation catalogue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44184" y="4535423"/>
            <a:ext cx="50800" cy="38404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08776" y="4535423"/>
            <a:ext cx="56327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Mapping Workspace — asset-to-obligation linkage engine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44184" y="5084064"/>
            <a:ext cx="50800" cy="38404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08776" y="5084064"/>
            <a:ext cx="56327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Gap analysis: covered vs. missing obligations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44184" y="5632704"/>
            <a:ext cx="50800" cy="38404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08776" y="5632704"/>
            <a:ext cx="56327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Ready: RBI, ISO 42001, EU AI Act, NIST AI RMF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RELEASES 7–10 — GOVERNANCE INTELLIGENCE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11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From Governance Records to Governance Reasoning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A four-release stack that transforms raw governance data into traceable, actionable, configurable intelligence.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32" y="1665732"/>
            <a:ext cx="2816352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2816352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63500" cy="4864608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627632"/>
            <a:ext cx="2816352" cy="402336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691640"/>
            <a:ext cx="2816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RELEASE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2121408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 Light"/>
              </a:rPr>
              <a:t>Governance Intelligence Foundation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" y="2560320"/>
            <a:ext cx="2487168" cy="12700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" y="2651760"/>
            <a:ext cx="257860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A five-step reasoning chain — Policy → Condition → Outcome → Reasoning → Explainability — runs live for every asset. Every outcome cites its exact source policy.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4900" y="1665732"/>
            <a:ext cx="2816352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6800" y="1627632"/>
            <a:ext cx="2816352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6800" y="1627632"/>
            <a:ext cx="63500" cy="4864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6800" y="1627632"/>
            <a:ext cx="2816352" cy="40233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6800" y="1691640"/>
            <a:ext cx="2816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RELEASE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1392" y="2121408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 Light"/>
              </a:rPr>
              <a:t>Governance Actions Edition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71392" y="2560320"/>
            <a:ext cx="2487168" cy="127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71392" y="2651760"/>
            <a:ext cx="257860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Every outcome can raise a Recommended Action. A human always decides what happens next. Recommendation-driven, not automation-driven. No AI autopilot.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5668" y="1665732"/>
            <a:ext cx="2816352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7568" y="1627632"/>
            <a:ext cx="2816352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7568" y="1627632"/>
            <a:ext cx="63500" cy="486460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7568" y="1627632"/>
            <a:ext cx="2816352" cy="402336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57568" y="1691640"/>
            <a:ext cx="2816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RELEASE 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2160" y="2121408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 Light"/>
              </a:rPr>
              <a:t>Decision Traceability Engine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2160" y="2560320"/>
            <a:ext cx="2487168" cy="1270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2160" y="2651760"/>
            <a:ext cx="257860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Reconstruct any governance decision end-to-end. Every decision can be replayed from the regulatory obligation that triggered it to the signed approval that resulted.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6436" y="1665732"/>
            <a:ext cx="2816352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08336" y="1627632"/>
            <a:ext cx="2816352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08336" y="1627632"/>
            <a:ext cx="63500" cy="486460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08336" y="1627632"/>
            <a:ext cx="2816352" cy="402336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8336" y="1691640"/>
            <a:ext cx="2816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RELEASE 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72928" y="2121408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 Light"/>
              </a:rPr>
              <a:t>Governance Intelligence Studio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72928" y="2560320"/>
            <a:ext cx="2487168" cy="127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72928" y="2651760"/>
            <a:ext cx="257860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Configure governance logic without code changes. Condition Designer + Outcome Designer + Rule Builder. Customer-specific governance — zero engineering effort.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MONITORING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12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Approval Is the Start, Not the 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Once an AI asset is live, OMG tracks its ongoing governance health and gives the organisation the tools to act immediately.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627632"/>
            <a:ext cx="3749039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63500" cy="2340864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3749039" cy="54864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1755648"/>
            <a:ext cx="35112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 Light"/>
              </a:rPr>
              <a:t>Governance
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2286000"/>
            <a:ext cx="3511295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Continuous health scoring — Healthy, Watchlist, or Attention Required. Every asset scored daily against its obligations.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28515" y="1627632"/>
            <a:ext cx="3749039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28515" y="1627632"/>
            <a:ext cx="63500" cy="2340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28515" y="1627632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3107" y="1755648"/>
            <a:ext cx="35112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 Light"/>
              </a:rPr>
              <a:t>Governance
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3107" y="2286000"/>
            <a:ext cx="3511295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Automated alerts when health degrades — missed reviews, expired evidence, open findings, or drift detected.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0998" y="1627632"/>
            <a:ext cx="3749039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0998" y="1627632"/>
            <a:ext cx="63500" cy="2340864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998" y="1627632"/>
            <a:ext cx="3749039" cy="54864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0" y="1755648"/>
            <a:ext cx="35112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 Light"/>
              </a:rPr>
              <a:t>Review
Calendar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0" y="2286000"/>
            <a:ext cx="3511295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Scheduled governance reviews — never missed, always recorded. Review cadence determined by risk tier.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4151376"/>
            <a:ext cx="3749039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4151376"/>
            <a:ext cx="63500" cy="2340864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" y="4151376"/>
            <a:ext cx="3749039" cy="54864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4279392"/>
            <a:ext cx="35112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 Light"/>
              </a:rPr>
              <a:t>Corrective
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" y="4809744"/>
            <a:ext cx="3511295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Structured remediation for every governance gap. Owner assigned. Deadline set. Completion evidenced.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28515" y="4151376"/>
            <a:ext cx="3749039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8515" y="4151376"/>
            <a:ext cx="63500" cy="2340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28515" y="4151376"/>
            <a:ext cx="3749039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3107" y="4279392"/>
            <a:ext cx="35112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 Light"/>
              </a:rPr>
              <a:t>Governance
Drift Center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3107" y="4809744"/>
            <a:ext cx="3511295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Detect when asset governance degrades from its approved state. Drift score, root cause, and recommended action.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0998" y="4151376"/>
            <a:ext cx="3749039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00998" y="4151376"/>
            <a:ext cx="63500" cy="2340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00998" y="4151376"/>
            <a:ext cx="3749039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5590" y="4279392"/>
            <a:ext cx="35112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 Light"/>
              </a:rPr>
              <a:t>Kill Switch
Center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5590" y="4809744"/>
            <a:ext cx="3511295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Emergency halt — pause, suspend, or disable any AI asset. Signed, timestamped, immutable record.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" y="6437376"/>
            <a:ext cx="11676888" cy="6400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AUDIT &amp;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13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Everything Is Written Down, Permanently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The hardest regulatory question is not "do you govern AI" — it is "prove it". OMG answers that question.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32" y="1665732"/>
            <a:ext cx="5440680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544068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63500" cy="4864608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627632"/>
            <a:ext cx="5440680" cy="402336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1691640"/>
            <a:ext cx="5202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EVIDENCE 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2103120"/>
            <a:ext cx="52029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Ten mandatory governance deliverable types per asset — each versioned, attributed to a named author, and permanently stored.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688336"/>
            <a:ext cx="63500" cy="45720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6700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Risk Assessment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2944368"/>
            <a:ext cx="4910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Formal tier classification with rationale and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3291840"/>
            <a:ext cx="63500" cy="45720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32735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Validation Scorecards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3547872"/>
            <a:ext cx="4910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All six discipline scores with linked evidence references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3895344"/>
            <a:ext cx="63500" cy="45720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38770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Decision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4151376"/>
            <a:ext cx="4910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Signed GO/Conditional GO/No Go with full conditions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" y="4498848"/>
            <a:ext cx="63500" cy="45720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480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Approval Certificates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4754880"/>
            <a:ext cx="4910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Named approver, timestamp, scope, and attached conditions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" y="5102352"/>
            <a:ext cx="63500" cy="45720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508406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Monitoring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" y="5358384"/>
            <a:ext cx="4910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Operational health snapshots and alert resolution records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" y="5705856"/>
            <a:ext cx="63500" cy="45720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6875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Audit Trail Package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" y="5961888"/>
            <a:ext cx="4910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Complete chronological event log for regulatory inspection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99404" y="1665732"/>
            <a:ext cx="6071616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61304" y="1627632"/>
            <a:ext cx="6071616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61304" y="1627632"/>
            <a:ext cx="63500" cy="486460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61304" y="1627632"/>
            <a:ext cx="6071616" cy="402336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25896" y="1691640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IMMUTABLE AUDIT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25896" y="2103120"/>
            <a:ext cx="5833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Every action on every asset is permanently recorded — who, what, when, and why.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44184" y="2596896"/>
            <a:ext cx="50800" cy="25603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08776" y="2578608"/>
            <a:ext cx="5632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Asset created, modified, or archived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44184" y="2962656"/>
            <a:ext cx="50800" cy="25603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08776" y="2944368"/>
            <a:ext cx="5632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Owner assigned or changed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44184" y="3328416"/>
            <a:ext cx="50800" cy="25603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08776" y="3310128"/>
            <a:ext cx="5632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Risk tier assessed or reassessed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44184" y="3694176"/>
            <a:ext cx="50800" cy="25603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08776" y="3675888"/>
            <a:ext cx="5632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Validation evidence uploaded or revised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44184" y="4059936"/>
            <a:ext cx="50800" cy="25603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08776" y="4041648"/>
            <a:ext cx="5632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Decision recorded and signed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4184" y="4425696"/>
            <a:ext cx="50800" cy="25603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08776" y="4407408"/>
            <a:ext cx="5632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Production status changed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44184" y="4791456"/>
            <a:ext cx="50800" cy="25603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08776" y="4773168"/>
            <a:ext cx="5632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Alert raised and resolved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44184" y="5157216"/>
            <a:ext cx="50800" cy="25603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08776" y="5138928"/>
            <a:ext cx="5632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Kill switch activated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44184" y="5522976"/>
            <a:ext cx="50800" cy="25603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08776" y="5504688"/>
            <a:ext cx="5632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Change request submitted and approved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44184" y="5888736"/>
            <a:ext cx="50800" cy="25603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08776" y="5870448"/>
            <a:ext cx="5632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Compliance assessment recorded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ROLE-BASED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14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Seven Roles, Each Scoped to Its Mandate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Access is enforced at the route boundary. A role not authorised for a module cannot navigate to it, regardless of URL.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627632"/>
            <a:ext cx="1581912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63500" cy="486460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1581912" cy="45720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1682496"/>
            <a:ext cx="1581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" y="2139696"/>
            <a:ext cx="143560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F1F"/>
                </a:solidFill>
                <a:latin typeface="Calibri Light"/>
              </a:rPr>
              <a:t>Super
Admin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2688336"/>
            <a:ext cx="1399032" cy="1270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2779776"/>
            <a:ext cx="143560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alibri"/>
              </a:rPr>
              <a:t>Full platform administration. Configure roles, tenants, compliance packs, and system settings.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43100" y="1627632"/>
            <a:ext cx="1581912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43100" y="1627632"/>
            <a:ext cx="63500" cy="486460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43100" y="1627632"/>
            <a:ext cx="1581912" cy="4572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43100" y="1682496"/>
            <a:ext cx="1581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6252" y="2139696"/>
            <a:ext cx="143560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F1F"/>
                </a:solidFill>
                <a:latin typeface="Calibri Light"/>
              </a:rPr>
              <a:t>Governance
Admin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34540" y="2688336"/>
            <a:ext cx="1399032" cy="127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6252" y="2779776"/>
            <a:ext cx="143560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alibri"/>
              </a:rPr>
              <a:t>Manage assets, run reviews, configure governance rules, administer workflows.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30168" y="1627632"/>
            <a:ext cx="1581912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30168" y="1627632"/>
            <a:ext cx="63500" cy="4864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30168" y="1627632"/>
            <a:ext cx="158191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0168" y="1682496"/>
            <a:ext cx="1581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2139696"/>
            <a:ext cx="143560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F1F"/>
                </a:solidFill>
                <a:latin typeface="Calibri Light"/>
              </a:rPr>
              <a:t>Risk
Officer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21608" y="2688336"/>
            <a:ext cx="1399032" cy="12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2779776"/>
            <a:ext cx="143560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alibri"/>
              </a:rPr>
              <a:t>Access all risk assessments, tier classifications, and risk evidence across the portfolio.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17236" y="1627632"/>
            <a:ext cx="1581912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17236" y="1627632"/>
            <a:ext cx="63500" cy="4864608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17236" y="1627632"/>
            <a:ext cx="1581912" cy="457200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17236" y="1682496"/>
            <a:ext cx="1581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0388" y="2139696"/>
            <a:ext cx="143560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F1F"/>
                </a:solidFill>
                <a:latin typeface="Calibri Light"/>
              </a:rPr>
              <a:t>Business
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8676" y="2688336"/>
            <a:ext cx="1399032" cy="12700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0388" y="2779776"/>
            <a:ext cx="143560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alibri"/>
              </a:rPr>
              <a:t>View owned assets, participate in reviews, sign approvals within their scope.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04304" y="1627632"/>
            <a:ext cx="1581912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04304" y="1627632"/>
            <a:ext cx="63500" cy="486460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04304" y="1627632"/>
            <a:ext cx="1581912" cy="45720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04304" y="1682496"/>
            <a:ext cx="1581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77456" y="2139696"/>
            <a:ext cx="143560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F1F"/>
                </a:solidFill>
                <a:latin typeface="Calibri Light"/>
              </a:rPr>
              <a:t>Validator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95744" y="2688336"/>
            <a:ext cx="1399032" cy="1270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77456" y="2779776"/>
            <a:ext cx="143560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alibri"/>
              </a:rPr>
              <a:t>Record validation scorecards, upload evidence, conduct compliance assessments.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91372" y="1627632"/>
            <a:ext cx="1581912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91372" y="1627632"/>
            <a:ext cx="63500" cy="486460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691372" y="1627632"/>
            <a:ext cx="1581912" cy="4572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91372" y="1682496"/>
            <a:ext cx="1581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64524" y="2139696"/>
            <a:ext cx="143560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F1F"/>
                </a:solidFill>
                <a:latin typeface="Calibri Light"/>
              </a:rPr>
              <a:t>Auditor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82812" y="2688336"/>
            <a:ext cx="1399032" cy="127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64524" y="2779776"/>
            <a:ext cx="143560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alibri"/>
              </a:rPr>
              <a:t>Read-only: all governance records, evidence, audit logs, and decision trails.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78440" y="1627632"/>
            <a:ext cx="1581912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378440" y="1627632"/>
            <a:ext cx="63500" cy="4864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378440" y="1627632"/>
            <a:ext cx="1581912" cy="4572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78440" y="1682496"/>
            <a:ext cx="1581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51592" y="2139696"/>
            <a:ext cx="143560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F1F"/>
                </a:solidFill>
                <a:latin typeface="Calibri Light"/>
              </a:rPr>
              <a:t>Viewer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469880" y="2688336"/>
            <a:ext cx="1399032" cy="127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51592" y="2779776"/>
            <a:ext cx="143560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alibri"/>
              </a:rPr>
              <a:t>Read-only: dashboards, scorecards, and governance summaries.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032" y="6437376"/>
            <a:ext cx="11676888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" y="6455664"/>
            <a:ext cx="11311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334A"/>
                </a:solidFill>
                <a:latin typeface="Calibri"/>
              </a:rPr>
              <a:t>Backend-enforced RBAC: role claims are validated server-side on every API call. No module is accessible outside declared role boundaries.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NEW — PHASE 9: EXECUTIVE GOVERNANCE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15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Complete C-Suite AI Governance Visibility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A dedicated executive command surface. From per-asset governance scores to board-ready reports — one place, always live.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32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63500" cy="486460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627632"/>
            <a:ext cx="2203704" cy="43891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682496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Executive
Governance Hub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121408"/>
            <a:ext cx="1947672" cy="127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212848"/>
            <a:ext cx="1947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Central command surface for CTO, CRO, CCO, and the Board. Real-time view of the entire AI portfolio — risk exposure, pending decisions, and critical alerts.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7856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19756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19756" y="1627632"/>
            <a:ext cx="63500" cy="4864608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19756" y="1627632"/>
            <a:ext cx="2203704" cy="438912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19756" y="1682496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Governance
Scorecards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7772" y="2121408"/>
            <a:ext cx="1947672" cy="12700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7772" y="2212848"/>
            <a:ext cx="1947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Per-asset governance health scores (0–100) across all five pillars. Red, Amber, Green at a glance. Drill-down to root cause.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1580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83480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3480" y="1627632"/>
            <a:ext cx="63500" cy="4864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3480" y="1627632"/>
            <a:ext cx="2203704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1682496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Executive
Heatmaps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11496" y="2121408"/>
            <a:ext cx="1947672" cy="12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11496" y="2212848"/>
            <a:ext cx="1947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Portfolio-level risk and governance heatmaps. Identify which domains, asset types, or business units carry the highest governance exposure.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5304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7204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7204" y="1627632"/>
            <a:ext cx="63500" cy="486460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47204" y="1627632"/>
            <a:ext cx="2203704" cy="438912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47204" y="1682496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Governance
Insights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5220" y="2121408"/>
            <a:ext cx="1947672" cy="1270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5220" y="2212848"/>
            <a:ext cx="1947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Cross-portfolio analytics. Trends, patterns, and anomalies across all governed AI assets. Early warning signals for the executive team.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49028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10928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10928" y="1627632"/>
            <a:ext cx="63500" cy="486460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10928" y="1627632"/>
            <a:ext cx="2203704" cy="438912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10928" y="1682496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Board
Reporting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38944" y="2121408"/>
            <a:ext cx="1947672" cy="127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38944" y="2212848"/>
            <a:ext cx="1947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Auto-generated, formatted board governance reports. AI governance narrative, KPIs, outstanding decisions, and regulatory status — export-ready on demand.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6437376"/>
            <a:ext cx="11676888" cy="2743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" y="6455664"/>
            <a:ext cx="11311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FFFFFF"/>
                </a:solidFill>
                <a:latin typeface="Calibri"/>
              </a:rPr>
              <a:t>"The board asks: Is our AI governed? OMG answers: Yes — and here is the evidence."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NEW — PHASE 9: POLICY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16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Every AI Asset Governed Against Every Applicable Enterprise Policy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Policy is not a document in OMG. Every policy is a structured governance object — owned, mapped, monitored, and enforced.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32" y="1665732"/>
            <a:ext cx="3639312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3639312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63500" cy="4864608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627632"/>
            <a:ext cx="3639312" cy="402336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1691640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POLICY REGISTRY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2121408"/>
            <a:ext cx="3364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Five policy categories — every enterprise AI policy registered, versioned, and maintained: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633472"/>
            <a:ext cx="63500" cy="329184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651760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Governance Policies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3108960"/>
            <a:ext cx="6350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3127248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Risk Policies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3584448"/>
            <a:ext cx="63500" cy="329184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602736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Security Policies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4059936"/>
            <a:ext cx="63500" cy="329184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4078224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Privacy Policies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4535424"/>
            <a:ext cx="63500" cy="329184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4553712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Vendor Policies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" y="5193792"/>
            <a:ext cx="3364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Each policy: Reference, Owner, Effective Date, Review Date, Status, Mandatory flag, and Description.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6324" y="1665732"/>
            <a:ext cx="3675887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78224" y="1627632"/>
            <a:ext cx="3675887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78224" y="1627632"/>
            <a:ext cx="63500" cy="4864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78224" y="1627632"/>
            <a:ext cx="3675887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2816" y="1691640"/>
            <a:ext cx="3401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POLICY MAPPING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42816" y="212140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Asset-to-policy linkage engine. Every AI asset mapped to every applicable policy.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42816" y="2560320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8" y="2560320"/>
            <a:ext cx="3218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Map any asset to any policy (any category)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42816" y="3127248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07408" y="3127248"/>
            <a:ext cx="3218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Linkage typed: Direct, Inherited, or Applicable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42816" y="3694175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07408" y="3694175"/>
            <a:ext cx="3218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Coverage computed from actual linkage — not guessed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42816" y="4261104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408" y="4261104"/>
            <a:ext cx="3218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Gaps identified: policies without asset coverage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42816" y="482803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07408" y="4828032"/>
            <a:ext cx="3218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Review cadence enforced per policy category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42816" y="5394960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07408" y="5394960"/>
            <a:ext cx="3218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Cross-asset policy coverage analysis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6804" y="1665732"/>
            <a:ext cx="4014215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918704" y="1627632"/>
            <a:ext cx="4014215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18704" y="1627632"/>
            <a:ext cx="63500" cy="486460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18704" y="1627632"/>
            <a:ext cx="4014215" cy="402336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83296" y="1691640"/>
            <a:ext cx="3730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POLICY VIOLATIONS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83296" y="2121408"/>
            <a:ext cx="3730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Detected violations surfaced, categorised by severity, and assigned for remediation.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83296" y="2578608"/>
            <a:ext cx="63500" cy="65836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66175" y="2633472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334A"/>
                </a:solidFill>
                <a:latin typeface="Calibri Light"/>
              </a:rPr>
              <a:t>Critical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66175" y="2907792"/>
            <a:ext cx="3511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Policy breach with immediate regulatory consequence.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83296" y="3419856"/>
            <a:ext cx="63500" cy="658368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66175" y="3474720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A59"/>
                </a:solidFill>
                <a:latin typeface="Calibri Light"/>
              </a:rPr>
              <a:t>High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66175" y="3749040"/>
            <a:ext cx="3511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Significant gap requiring priority remediation.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83296" y="4261104"/>
            <a:ext cx="6350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66175" y="4315968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 Light"/>
              </a:rPr>
              <a:t>Medium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66175" y="4590288"/>
            <a:ext cx="3511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Gap to be addressed within the review cycle.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83296" y="5102352"/>
            <a:ext cx="63500" cy="65836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66175" y="5157216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AD48"/>
                </a:solidFill>
                <a:latin typeface="Calibri Light"/>
              </a:rPr>
              <a:t>Low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66175" y="5431536"/>
            <a:ext cx="3511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Minor deviation — monitored for resolution.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NEW — PHASE 10: GOVERNANCE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17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Approval Is Not Permanent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Any significant change to a live AI asset must be classified, assessed for impact, routed, and re-approved before it proceeds.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627632"/>
            <a:ext cx="11676888" cy="310896"/>
          </a:xfrm>
          <a:prstGeom prst="rect">
            <a:avLst/>
          </a:prstGeom>
          <a:solidFill>
            <a:srgbClr val="FFF0F2"/>
          </a:solidFill>
          <a:ln w="6350">
            <a:solidFill>
              <a:srgbClr val="F1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1682496"/>
            <a:ext cx="11347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334A"/>
                </a:solidFill>
                <a:latin typeface="Calibri"/>
              </a:rPr>
              <a:t>CORE PRINCIPLE: Governance of AI Assets does not end at approval. It extends to every subsequent change.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2029968"/>
            <a:ext cx="3749039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2029968"/>
            <a:ext cx="63500" cy="212140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029968"/>
            <a:ext cx="3749039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2121408"/>
            <a:ext cx="351129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Change Request
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2578608"/>
            <a:ext cx="3511295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Every AI change — model upgrade, vendor swap, data addition, prompt revision, policy update, or operational change — creates a governed record: ID, title, asset, requester, category, justification, and status.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28515" y="2029968"/>
            <a:ext cx="3749039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28515" y="2029968"/>
            <a:ext cx="63500" cy="21214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8515" y="2029968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3107" y="2121408"/>
            <a:ext cx="351129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Change Classification
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3107" y="2578608"/>
            <a:ext cx="3511295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Six categories: Model Change (upgrade/replace/fine-tune), Vendor Change, Data Change, Prompt Change, Policy Change, Operational Change. Every change classified before impact assessment begins.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0998" y="2029968"/>
            <a:ext cx="3749039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00998" y="2029968"/>
            <a:ext cx="63500" cy="2121408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0998" y="2029968"/>
            <a:ext cx="3749039" cy="54864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5590" y="2121408"/>
            <a:ext cx="351129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Change Impact
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0" y="2578608"/>
            <a:ext cx="3511295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Seven impact dimensions: Ownership, Risk, Validation, Evidence, Policy, Compliance, Monitoring. Outcome: No Impact, Low, Medium, High, or Critical.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4297680"/>
            <a:ext cx="3749039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4297680"/>
            <a:ext cx="63500" cy="212140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4297680"/>
            <a:ext cx="3749039" cy="54864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" y="4389120"/>
            <a:ext cx="351129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Reassessment
Rules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" y="4846320"/>
            <a:ext cx="3511295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Auto-routing: Minor Change → No Reassessment. Moderate → Risk Review. Major → Full Governance Review. Critical → Executive Approval Required.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28515" y="4297680"/>
            <a:ext cx="3749039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28515" y="4297680"/>
            <a:ext cx="63500" cy="212140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28515" y="4297680"/>
            <a:ext cx="3749039" cy="54864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3107" y="4389120"/>
            <a:ext cx="351129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Change Governance
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3107" y="4846320"/>
            <a:ext cx="3511295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Executive visibility: Open Changes, Approved, Rejected, Pending Reviews, High-Risk Changes, Bottlenecks, and Reapproval Queue.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0998" y="4297680"/>
            <a:ext cx="3749039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00998" y="4297680"/>
            <a:ext cx="63500" cy="21214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00998" y="4297680"/>
            <a:ext cx="3749039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65590" y="4389120"/>
            <a:ext cx="351129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F1F"/>
                </a:solidFill>
                <a:latin typeface="Calibri Light"/>
              </a:rPr>
              <a:t>Change History
&amp; Governance Triggers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65590" y="4846320"/>
            <a:ext cx="3511295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Immutable history: what changed, who changed it, when, why, who approved. Automated triggers: vendor change → create review. Policy update → identify affected assets.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NEW — RELEASE 11: GOVERNANCE EFFECTIVENESS &amp; ROI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18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Governance That Measures Itself — and Proves It Is Working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The first release to ask not ‘is governance in place?’ but ‘is governance improving?’ — with quantified, snapshot-compared evidence.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32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63500" cy="486460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627632"/>
            <a:ext cx="2203704" cy="438912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682496"/>
            <a:ext cx="2203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Governance
Effectiveness
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2176272"/>
            <a:ext cx="2020824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2B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872" y="2176272"/>
            <a:ext cx="1970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BAD48"/>
                </a:solidFill>
                <a:latin typeface="Calibri"/>
              </a:rPr>
              <a:t>6 sub-factors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450592"/>
            <a:ext cx="1947672" cy="127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542032"/>
            <a:ext cx="194767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Measures overall governance quality across 6 sub-factors. Compares against a previous snapshot to show improvement or regression. Trend, Previous Score, Delta — all evidenced.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7856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19756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19756" y="1627632"/>
            <a:ext cx="63500" cy="4864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19756" y="1627632"/>
            <a:ext cx="2203704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19756" y="1682496"/>
            <a:ext cx="2203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Governance
ROI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1196" y="2176272"/>
            <a:ext cx="2020824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36596" y="2176272"/>
            <a:ext cx="1970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59E0B"/>
                </a:solidFill>
                <a:latin typeface="Calibri"/>
              </a:rPr>
              <a:t>Quantified value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7772" y="2450592"/>
            <a:ext cx="1947672" cy="12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7772" y="2542032"/>
            <a:ext cx="194767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Quantifies the return on governance investment. Cost of governance vs. value delivered — incidents avoided, decisions accelerated, regulatory fines prevented.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1580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3480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83480" y="1627632"/>
            <a:ext cx="63500" cy="4864608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3480" y="1627632"/>
            <a:ext cx="2203704" cy="438912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1682496"/>
            <a:ext cx="2203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Governance
Maturity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2176272"/>
            <a:ext cx="2020824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5D0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00320" y="2176272"/>
            <a:ext cx="1970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5D00ED"/>
                </a:solidFill>
                <a:latin typeface="Calibri"/>
              </a:rPr>
              <a:t>Levels 1–5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11496" y="2450592"/>
            <a:ext cx="1947672" cy="12700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11496" y="2542032"/>
            <a:ext cx="194767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5-level maturity model assessment. Level 1 (Initial) through Level 5 (Optimising). Asset-by-asset and portfolio-wide maturity scoring.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85304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47204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47204" y="1627632"/>
            <a:ext cx="63500" cy="486460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47204" y="1627632"/>
            <a:ext cx="2203704" cy="438912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47204" y="1682496"/>
            <a:ext cx="2203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Governance
Benchmarking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8644" y="2176272"/>
            <a:ext cx="2020824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00A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64044" y="2176272"/>
            <a:ext cx="1970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A0ED"/>
                </a:solidFill>
                <a:latin typeface="Calibri"/>
              </a:rPr>
              <a:t>Peer comparison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5220" y="2450592"/>
            <a:ext cx="1947672" cy="1270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5220" y="2542032"/>
            <a:ext cx="194767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Compare governance posture against industry benchmarks and peer organisations. Identify where governance leads — and where it lags.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49028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710928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710928" y="1627632"/>
            <a:ext cx="63500" cy="4864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10928" y="1627632"/>
            <a:ext cx="2203704" cy="43891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10928" y="1682496"/>
            <a:ext cx="2203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Governance
Outcomes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02368" y="2176272"/>
            <a:ext cx="2020824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27768" y="2176272"/>
            <a:ext cx="1970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A855F7"/>
                </a:solidFill>
                <a:latin typeface="Calibri"/>
              </a:rPr>
              <a:t>Business outcomes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38944" y="2450592"/>
            <a:ext cx="1947672" cy="127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38944" y="2542032"/>
            <a:ext cx="194767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Measurable business outcomes delivered by governance: risk incidents avoided, compliance gaps closed, decisions accelerated, audit findings resolved.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" y="6437376"/>
            <a:ext cx="11676888" cy="27432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6455664"/>
            <a:ext cx="11311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FFFFFF"/>
                </a:solidFill>
                <a:latin typeface="Calibri"/>
              </a:rPr>
              <a:t>"OMG does not just record governance. Release 11 proves governance is working — with scores, trends, ROI, and maturity evidence."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NEW — RELEASE 12: REGULATORY INTELLIGENCE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19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From Static Compliance Checklists to Dynamic Regulatory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Regulations change. AI assets change. Release 12 keeps both in sync — automatically, evidentially, and audit-ready.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32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63500" cy="486460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627632"/>
            <a:ext cx="2203704" cy="438912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682496"/>
            <a:ext cx="22037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Regulatory
Applicability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139696"/>
            <a:ext cx="1947672" cy="1270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231136"/>
            <a:ext cx="1947672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Automatically determine which regulations apply to each AI asset based on type, domain, risk tier, and data sensitivity. Applicability is computed — not manually tagged.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7856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19756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19756" y="1627632"/>
            <a:ext cx="63500" cy="4864608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19756" y="1627632"/>
            <a:ext cx="2203704" cy="438912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19756" y="1682496"/>
            <a:ext cx="22037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Cross-Framework
Mapping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7772" y="2139696"/>
            <a:ext cx="1947672" cy="12700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7772" y="2231136"/>
            <a:ext cx="1947672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Map obligations across multiple regulatory frameworks simultaneously. ISO 42001, EU AI Act, NIST AI RMF, RBI — common controls identified and evidence shared across frameworks.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1580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83480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3480" y="1627632"/>
            <a:ext cx="63500" cy="4864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3480" y="1627632"/>
            <a:ext cx="2203704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1682496"/>
            <a:ext cx="22037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Compliance
Impact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11496" y="2139696"/>
            <a:ext cx="1947672" cy="12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11496" y="2231136"/>
            <a:ext cx="1947672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When a regulation changes, immediately identify which assets are affected, which controls need revision, and what evidence must be refreshed. Impact before it becomes a finding.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5304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7204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7204" y="1627632"/>
            <a:ext cx="63500" cy="486460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47204" y="1627632"/>
            <a:ext cx="2203704" cy="43891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47204" y="1682496"/>
            <a:ext cx="22037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Regulatory Change
Readiness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5220" y="2139696"/>
            <a:ext cx="1947672" cy="127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5220" y="2231136"/>
            <a:ext cx="1947672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Readiness score for upcoming regulatory changes. How prepared is the organisation for new or amended AI regulations? Gap analysis, remediation roadmap, deadline tracking.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49028" y="1665732"/>
            <a:ext cx="22037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10928" y="1627632"/>
            <a:ext cx="22037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10928" y="1627632"/>
            <a:ext cx="63500" cy="486460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10928" y="1627632"/>
            <a:ext cx="2203704" cy="438912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10928" y="1682496"/>
            <a:ext cx="22037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Audit Readiness
Intelligence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38944" y="2139696"/>
            <a:ext cx="1947672" cy="1270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38944" y="2231136"/>
            <a:ext cx="1947672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Predictive audit readiness engine. Before a regulator arrives, OMG surfaces every governance gap, every missing evidence item, and every open finding — with remediation priority.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6437376"/>
            <a:ext cx="11676888" cy="27432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" y="6455664"/>
            <a:ext cx="11311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Frameworks ready: RBI AI Governance  |  ISO 42001  |  EU AI Act  |  NIST AI RMF  |  SEBI  |  IRDAI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NEW — RELEASE 13: GACF — GOVERNANCE ASSESSMENT CALIBRATION &amp; CONSISTENCY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20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Assessment Consistency Is Not an Opinion — It Is a Governed Standard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Eight capabilities ensuring governance assessments are calibrated, consistent, certified, and defensible across all assessors.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627632"/>
            <a:ext cx="137160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63500" cy="4864608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1371600" cy="438912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16824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Assessment
Center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2103120"/>
            <a:ext cx="1261872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5D0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296" y="2103120"/>
            <a:ext cx="1211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5D00ED"/>
                </a:solidFill>
                <a:latin typeface="Calibri"/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2377440"/>
            <a:ext cx="1261872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A"/>
                </a:solidFill>
                <a:latin typeface="Calibri"/>
              </a:rPr>
              <a:t>Five assessment types in one workspace: Effectiveness, Maturity, ROI, Benchmarking, Regulatory Readiness. Structured scoring against governance categories.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28216" y="1627632"/>
            <a:ext cx="137160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28216" y="1627632"/>
            <a:ext cx="63500" cy="4864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28216" y="1627632"/>
            <a:ext cx="1371600" cy="43891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28216" y="16824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Assessment
Playbooks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2103120"/>
            <a:ext cx="1261872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8480" y="2103120"/>
            <a:ext cx="1211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A855F7"/>
                </a:solidFill>
                <a:latin typeface="Calibri"/>
              </a:rPr>
              <a:t>Phase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2377440"/>
            <a:ext cx="1261872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A"/>
                </a:solidFill>
                <a:latin typeface="Calibri"/>
              </a:rPr>
              <a:t>Structured assessment playbooks per type — guiding questions, scoring criteria, and expected evidence for each governance category.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1627632"/>
            <a:ext cx="137160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1627632"/>
            <a:ext cx="63500" cy="4864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1627632"/>
            <a:ext cx="137160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16824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Calibration
Library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5264" y="2103120"/>
            <a:ext cx="1261872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80664" y="2103120"/>
            <a:ext cx="1211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59E0B"/>
                </a:solidFill>
                <a:latin typeface="Calibri"/>
              </a:rPr>
              <a:t>Phase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55264" y="2377440"/>
            <a:ext cx="1261872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A"/>
                </a:solidFill>
                <a:latin typeface="Calibri"/>
              </a:rPr>
              <a:t>Scoring calibration standards defining what a 1, 3, and 5 means for each governance category — consistently across all assessors.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72584" y="1627632"/>
            <a:ext cx="137160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72584" y="1627632"/>
            <a:ext cx="63500" cy="486460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72584" y="1627632"/>
            <a:ext cx="1371600" cy="438912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72584" y="16824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Variance
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27448" y="2103120"/>
            <a:ext cx="1261872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00A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2848" y="2103120"/>
            <a:ext cx="1211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A0ED"/>
                </a:solidFill>
                <a:latin typeface="Calibri"/>
              </a:rPr>
              <a:t>Phase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7448" y="2377440"/>
            <a:ext cx="1261872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A"/>
                </a:solidFill>
                <a:latin typeface="Calibri"/>
              </a:rPr>
              <a:t>Measures consistency across assessors for the same asset. High variance signals governance assessment unreliability. Surfaces calibration gaps.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8" y="1627632"/>
            <a:ext cx="137160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44768" y="1627632"/>
            <a:ext cx="63500" cy="486460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1627632"/>
            <a:ext cx="1371600" cy="438912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4768" y="16824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Assessor
Certification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9632" y="2103120"/>
            <a:ext cx="1261872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2B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5032" y="2103120"/>
            <a:ext cx="1211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BAD48"/>
                </a:solidFill>
                <a:latin typeface="Calibri"/>
              </a:rPr>
              <a:t>Phase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2377440"/>
            <a:ext cx="1261872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A"/>
                </a:solidFill>
                <a:latin typeface="Calibri"/>
              </a:rPr>
              <a:t>Certify assessors to governance assessment standards. Certification earned through demonstrated calibration — not self-declaration.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16952" y="1627632"/>
            <a:ext cx="137160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616952" y="1627632"/>
            <a:ext cx="63500" cy="486460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16952" y="1627632"/>
            <a:ext cx="1371600" cy="43891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16952" y="16824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Consensus
Assessments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71816" y="2103120"/>
            <a:ext cx="1261872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97216" y="2103120"/>
            <a:ext cx="1211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F51B5"/>
                </a:solidFill>
                <a:latin typeface="Calibri"/>
              </a:rPr>
              <a:t>Phase 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71816" y="2377440"/>
            <a:ext cx="1261872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A"/>
                </a:solidFill>
                <a:latin typeface="Calibri"/>
              </a:rPr>
              <a:t>Multi-assessor consensus scoring. Where assessors disagree, a structured consensus process resolves variance before the assessment is recorded.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89136" y="1627632"/>
            <a:ext cx="137160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89136" y="1627632"/>
            <a:ext cx="63500" cy="4864608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89136" y="1627632"/>
            <a:ext cx="1371600" cy="438912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89136" y="16824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Benchmark
Recommendations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0" y="2103120"/>
            <a:ext cx="1261872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69400" y="2103120"/>
            <a:ext cx="1211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7A59"/>
                </a:solidFill>
                <a:latin typeface="Calibri"/>
              </a:rPr>
              <a:t>Phase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2377440"/>
            <a:ext cx="1261872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A"/>
                </a:solidFill>
                <a:latin typeface="Calibri"/>
              </a:rPr>
              <a:t>Recommendations generated from benchmarking comparisons. Specific, actionable, and evidence-backed — not generic advice.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61320" y="1627632"/>
            <a:ext cx="137160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561320" y="1627632"/>
            <a:ext cx="63500" cy="4864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561320" y="1627632"/>
            <a:ext cx="1371600" cy="43891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61320" y="16824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Assessment
Academy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16184" y="2103120"/>
            <a:ext cx="1261872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641584" y="2103120"/>
            <a:ext cx="1211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4B8A6"/>
                </a:solidFill>
                <a:latin typeface="Calibri"/>
              </a:rPr>
              <a:t>Phase 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16184" y="2377440"/>
            <a:ext cx="1261872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A"/>
                </a:solidFill>
                <a:latin typeface="Calibri"/>
              </a:rPr>
              <a:t>Knowledge library for governance assessors. Concepts, standards, examples, and calibration exercises accessible within the platform.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6032" y="6437376"/>
            <a:ext cx="11676888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" y="6455664"/>
            <a:ext cx="11311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D00ED"/>
                </a:solidFill>
                <a:latin typeface="Calibri"/>
              </a:rPr>
              <a:t>GACF answers: Are your governance assessments consistent? Are your assessors calibrated? Can you defend the score?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NEW — OMG vNEXT: GOVERNANCE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21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From Governance Records to Governance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Three intelligence capabilities that answer the one question every executive asks: ‘Is our governance actually working?’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32" y="1665732"/>
            <a:ext cx="38039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38039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63500" cy="486460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627632"/>
            <a:ext cx="3803904" cy="4572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682496"/>
            <a:ext cx="3803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Governance
Value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139696"/>
            <a:ext cx="3547872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2B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448" y="2139696"/>
            <a:ext cx="3497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BAD48"/>
                </a:solidFill>
                <a:latin typeface="Calibri"/>
              </a:rPr>
              <a:t>GOVERNANCE ROI &amp;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" y="2432304"/>
            <a:ext cx="3511296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Quantifies the business value delivered by the governance programme.
Value-at-risk protected, compliance costs reduced, incidents prevented, and decisions accelerated — all expressed in measurable business terms.
Governance is no longer a cost centre. It is a risk management investment with a measurable return.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" y="4370832"/>
            <a:ext cx="3511296" cy="127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50800" cy="27432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4480560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  <a:latin typeface="Calibri"/>
              </a:rPr>
              <a:t>Value-at-risk protected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64608"/>
            <a:ext cx="50800" cy="27432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4864608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  <a:latin typeface="Calibri"/>
              </a:rPr>
              <a:t>Incidents prevented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48656"/>
            <a:ext cx="50800" cy="27432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5248656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  <a:latin typeface="Calibri"/>
              </a:rPr>
              <a:t>Compliance costs reduced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32704"/>
            <a:ext cx="50800" cy="27432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5632704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  <a:latin typeface="Calibri"/>
              </a:rPr>
              <a:t>Decisions accelerated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016752"/>
            <a:ext cx="50800" cy="27432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6016752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  <a:latin typeface="Calibri"/>
              </a:rPr>
              <a:t>Regulatory fines avoided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30624" y="1665732"/>
            <a:ext cx="38039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92524" y="1627632"/>
            <a:ext cx="38039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92524" y="1627632"/>
            <a:ext cx="63500" cy="4864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92524" y="1627632"/>
            <a:ext cx="3803904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92524" y="1682496"/>
            <a:ext cx="3803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Governance
Drift Center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540" y="2139696"/>
            <a:ext cx="3547872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5940" y="2139696"/>
            <a:ext cx="3497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A855F7"/>
                </a:solidFill>
                <a:latin typeface="Calibri"/>
              </a:rPr>
              <a:t>CONTINUOUS DRIFT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8828" y="2432304"/>
            <a:ext cx="3511296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Detects when an AI asset's governance health degrades from its approved and governed state.
Drift is scored, root-caused, and triaged — before it becomes a regulatory finding. Drift resolution is tracked as a governance action with a named owner and deadline.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38828" y="4370832"/>
            <a:ext cx="3511296" cy="127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93692" y="4480560"/>
            <a:ext cx="50800" cy="274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39996" y="4480560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  <a:latin typeface="Calibri"/>
              </a:rPr>
              <a:t>Drift score per asset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93692" y="4864608"/>
            <a:ext cx="50800" cy="274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39996" y="4864608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  <a:latin typeface="Calibri"/>
              </a:rPr>
              <a:t>Root cause identification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93692" y="5248656"/>
            <a:ext cx="50800" cy="274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39996" y="5248656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  <a:latin typeface="Calibri"/>
              </a:rPr>
              <a:t>Severity: Low/Medium/High/Critical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93692" y="5632704"/>
            <a:ext cx="50800" cy="274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39996" y="5632704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  <a:latin typeface="Calibri"/>
              </a:rPr>
              <a:t>Recommended resolution action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93692" y="6016752"/>
            <a:ext cx="50800" cy="274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39996" y="6016752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  <a:latin typeface="Calibri"/>
              </a:rPr>
              <a:t>Drift resolution tracking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67116" y="1665732"/>
            <a:ext cx="3803904" cy="486460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29016" y="1627632"/>
            <a:ext cx="3803904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9016" y="1627632"/>
            <a:ext cx="63500" cy="486460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9016" y="1627632"/>
            <a:ext cx="3803904" cy="45720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29016" y="1682496"/>
            <a:ext cx="3803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Governance
Health Center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57032" y="2139696"/>
            <a:ext cx="3547872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00A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82432" y="2139696"/>
            <a:ext cx="3497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A0ED"/>
                </a:solidFill>
                <a:latin typeface="Calibri"/>
              </a:rPr>
              <a:t>5-PILLAR HEALTH ENGINE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2432304"/>
            <a:ext cx="3511296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Continuous 5-pillar governance health scoring for every live AI asset.
Healthy, Watchlist, or Attention Required — updated continuously. Each pillar scored independently so the root cause of degradation is immediately visible, not buried in an aggregate.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20" y="4370832"/>
            <a:ext cx="3511296" cy="1270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330184" y="4480560"/>
            <a:ext cx="50800" cy="27432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76488" y="4480560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  <a:latin typeface="Calibri"/>
              </a:rPr>
              <a:t>Risk pillar health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30184" y="4864608"/>
            <a:ext cx="50800" cy="27432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76488" y="4864608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  <a:latin typeface="Calibri"/>
              </a:rPr>
              <a:t>Validation pillar health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30184" y="5248656"/>
            <a:ext cx="50800" cy="27432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76488" y="5248656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  <a:latin typeface="Calibri"/>
              </a:rPr>
              <a:t>Policy pillar health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30184" y="5632704"/>
            <a:ext cx="50800" cy="27432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76488" y="5632704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  <a:latin typeface="Calibri"/>
              </a:rPr>
              <a:t>Evidence pillar health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30184" y="6016752"/>
            <a:ext cx="50800" cy="27432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76488" y="6016752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  <a:latin typeface="Calibri"/>
              </a:rPr>
              <a:t>Ownership pillar health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PLATFORM STRENGTHS — AS OF 7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22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What Is Genuinely Built and Working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25296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Every module described in this briefing is live, navigable, and operating on real production persistence.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627632"/>
            <a:ext cx="3749039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63500" cy="2340864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3749039" cy="54864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36391" y="1719072"/>
            <a:ext cx="804672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1791" y="1719072"/>
            <a:ext cx="75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F51B5"/>
                </a:solidFill>
                <a:latin typeface="Calibri"/>
              </a:rPr>
              <a:t>FULLY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1719072"/>
            <a:ext cx="267004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85+ Modules
Across 12 Domains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2194560"/>
            <a:ext cx="3511295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A working end-to-end application covering every stage of the AI governance lifecycle — from initial registration through board reporting and change governance.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28515" y="1627632"/>
            <a:ext cx="3749039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28515" y="1627632"/>
            <a:ext cx="63500" cy="2340864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8515" y="1627632"/>
            <a:ext cx="3749039" cy="54864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08874" y="1719072"/>
            <a:ext cx="804672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2B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34274" y="1719072"/>
            <a:ext cx="75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BAD48"/>
                </a:solidFill>
                <a:latin typeface="Calibri"/>
              </a:rPr>
              <a:t>PRODUCTION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3107" y="1719072"/>
            <a:ext cx="267004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Real Production
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107" y="2194560"/>
            <a:ext cx="3511295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Every domain reads and writes live to Neon PostgreSQL. Not browser storage. Not mock data. Real database persistence with referential integrity.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998" y="1627632"/>
            <a:ext cx="3749039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0998" y="1627632"/>
            <a:ext cx="63500" cy="2340864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00998" y="1627632"/>
            <a:ext cx="3749039" cy="54864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881357" y="1719072"/>
            <a:ext cx="804672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5D0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06757" y="1719072"/>
            <a:ext cx="75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5D00ED"/>
                </a:solidFill>
                <a:latin typeface="Calibri"/>
              </a:rPr>
              <a:t>AI-NATIVE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0" y="1719072"/>
            <a:ext cx="267004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Governance Intelligence
Engine (Releases 7–10)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0" y="2194560"/>
            <a:ext cx="3511295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Four-release reasoning stack — policy-to-outcome chains, recommended actions, full decision traceability, and customer-configurable rules without code changes.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4151376"/>
            <a:ext cx="3749039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" y="4151376"/>
            <a:ext cx="63500" cy="2340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" y="4151376"/>
            <a:ext cx="3749039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36391" y="4242816"/>
            <a:ext cx="804672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F1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61791" y="4242816"/>
            <a:ext cx="75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1334A"/>
                </a:solidFill>
                <a:latin typeface="Calibri"/>
              </a:rPr>
              <a:t>ENFORCED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" y="4242816"/>
            <a:ext cx="267004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Backend-Enforced
RBAC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4718304"/>
            <a:ext cx="3511295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7 roles with server-side enforcement on every API endpoint. No asset can be saved without four named governance owners. Hard constraints, not soft UI suggestions.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28515" y="4151376"/>
            <a:ext cx="3749039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28515" y="4151376"/>
            <a:ext cx="63500" cy="2340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28515" y="4151376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08874" y="4242816"/>
            <a:ext cx="804672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34274" y="4242816"/>
            <a:ext cx="75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59E0B"/>
                </a:solidFill>
                <a:latin typeface="Calibri"/>
              </a:rPr>
              <a:t>REGULATORY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3107" y="4242816"/>
            <a:ext cx="267004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Compliance Pack
Framework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3107" y="4718304"/>
            <a:ext cx="3511295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Reusable regulatory framework. RBI-001 to RBI-008 pre-loaded. ISO 42001, EU AI Act, NIST AI RMF ready for configuration. Evidence-backed coverage, not self-assessed.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00998" y="4151376"/>
            <a:ext cx="3749039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00998" y="4151376"/>
            <a:ext cx="63500" cy="2340864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00998" y="4151376"/>
            <a:ext cx="3749039" cy="54864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881357" y="4242816"/>
            <a:ext cx="804672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06757" y="4242816"/>
            <a:ext cx="75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7A59"/>
                </a:solidFill>
                <a:latin typeface="Calibri"/>
              </a:rPr>
              <a:t>COMPLETE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5590" y="4242816"/>
            <a:ext cx="267004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 Light"/>
              </a:rPr>
              <a:t>Governance Change
Management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65590" y="4718304"/>
            <a:ext cx="3511295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Phase 10 complete — every AI change classified, impact-assessed, routed for approval, and permanently recorded. AI governance does not stop at first approval.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" y="6437376"/>
            <a:ext cx="11676888" cy="6400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23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548640"/>
            <a:ext cx="1167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F1F"/>
                </a:solidFill>
                <a:latin typeface="Calibri Light"/>
              </a:rPr>
              <a:t>Why an Organisation Would Use OMG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170432"/>
            <a:ext cx="11676888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225296"/>
            <a:ext cx="11676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EXECUTIVE SUMMARY  —  OrchestrAI Model Governance  |  v1.0  |  As of 7 September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627632"/>
            <a:ext cx="3749039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627632"/>
            <a:ext cx="63500" cy="7315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3749039" cy="54864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17190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51B5"/>
                </a:solidFill>
                <a:latin typeface="Calibri Light"/>
              </a:rPr>
              <a:t>One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1719072"/>
            <a:ext cx="21396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Every AI system the organisation runs — one register.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28515" y="1627632"/>
            <a:ext cx="3749039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28515" y="1627632"/>
            <a:ext cx="63500" cy="731520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28515" y="1627632"/>
            <a:ext cx="3749039" cy="54864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3107" y="17190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D00ED"/>
                </a:solidFill>
                <a:latin typeface="Calibri Light"/>
              </a:rPr>
              <a:t>Clear Accountability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8131" y="1719072"/>
            <a:ext cx="21396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Five named owners on every asset. No orphaned AI.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0998" y="1627632"/>
            <a:ext cx="3749039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0998" y="1627632"/>
            <a:ext cx="6350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0998" y="1627632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5590" y="17190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 Light"/>
              </a:rPr>
              <a:t>Evidenced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614" y="1719072"/>
            <a:ext cx="21396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Four tiers. Six validation disciplines. All recorded.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2468880"/>
            <a:ext cx="3749039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2468880"/>
            <a:ext cx="63500" cy="73152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2468880"/>
            <a:ext cx="3749039" cy="54864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" y="2560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0ED"/>
                </a:solidFill>
                <a:latin typeface="Calibri Light"/>
              </a:rPr>
              <a:t>Governed 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5648" y="2560320"/>
            <a:ext cx="21396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Signed GO/Conditional GO/No Go. Always traceable.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28515" y="2468880"/>
            <a:ext cx="3749039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28515" y="2468880"/>
            <a:ext cx="63500" cy="73152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8515" y="2468880"/>
            <a:ext cx="3749039" cy="54864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3107" y="2560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AD48"/>
                </a:solidFill>
                <a:latin typeface="Calibri Light"/>
              </a:rPr>
              <a:t>Policy-Aligned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8131" y="2560320"/>
            <a:ext cx="21396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Every asset mapped to every applicable policy.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0998" y="2468880"/>
            <a:ext cx="3749039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0998" y="2468880"/>
            <a:ext cx="63500" cy="73152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00998" y="2468880"/>
            <a:ext cx="3749039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65590" y="2560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334A"/>
                </a:solidFill>
                <a:latin typeface="Calibri Light"/>
              </a:rPr>
              <a:t>Change Governed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0614" y="2560320"/>
            <a:ext cx="21396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Every AI change classified, assessed, and re-approved.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310128"/>
            <a:ext cx="3749039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6032" y="3310128"/>
            <a:ext cx="63500" cy="7315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6032" y="3310128"/>
            <a:ext cx="3749039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34015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 Light"/>
              </a:rPr>
              <a:t>Continuously Monitored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55648" y="3401568"/>
            <a:ext cx="21396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Health scored daily. Drift detected. Kill switch ready.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28515" y="3310128"/>
            <a:ext cx="3749039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28515" y="3310128"/>
            <a:ext cx="63500" cy="7315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28515" y="3310128"/>
            <a:ext cx="3749039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3107" y="34015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55F7"/>
                </a:solidFill>
                <a:latin typeface="Calibri Light"/>
              </a:rPr>
              <a:t>Regulatory Ready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8131" y="3401568"/>
            <a:ext cx="21396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RBI, ISO 42001, EU AI Act, NIST AI RMF pre-loaded.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00998" y="3310128"/>
            <a:ext cx="3749039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00998" y="3310128"/>
            <a:ext cx="63500" cy="73152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00998" y="3310128"/>
            <a:ext cx="3749039" cy="54864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65590" y="34015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A59"/>
                </a:solidFill>
                <a:latin typeface="Calibri Light"/>
              </a:rPr>
              <a:t>Board Reportable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0614" y="3401568"/>
            <a:ext cx="21396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Auto-generated board-ready AI governance reports.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6032" y="4151376"/>
            <a:ext cx="3749039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56032" y="4151376"/>
            <a:ext cx="63500" cy="73152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6032" y="4151376"/>
            <a:ext cx="3749039" cy="54864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0624" y="42428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AD48"/>
                </a:solidFill>
                <a:latin typeface="Calibri Light"/>
              </a:rPr>
              <a:t>Effectiveness Measured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55648" y="4242816"/>
            <a:ext cx="21396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Score, ROI, Maturity, and Outcomes — governance proves its worth.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28515" y="4151376"/>
            <a:ext cx="3749039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128515" y="4151376"/>
            <a:ext cx="63500" cy="731520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28515" y="4151376"/>
            <a:ext cx="3749039" cy="54864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93107" y="42428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D00ED"/>
                </a:solidFill>
                <a:latin typeface="Calibri Light"/>
              </a:rPr>
              <a:t>Assessment Consistent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28131" y="4242816"/>
            <a:ext cx="21396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GACF: calibrated, certified, defensible assessments.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00998" y="4151376"/>
            <a:ext cx="3749039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00998" y="4151376"/>
            <a:ext cx="63500" cy="7315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00998" y="4151376"/>
            <a:ext cx="3749039" cy="54864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65590" y="42428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51B5"/>
                </a:solidFill>
                <a:latin typeface="Calibri Light"/>
              </a:rPr>
              <a:t>Intelligence-Driven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00614" y="4242816"/>
            <a:ext cx="21396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Reasoning chains, traceability, configurable governance logic.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032" y="6437376"/>
            <a:ext cx="11676888" cy="27432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8912" y="6455664"/>
            <a:ext cx="11311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OrchestrAI OMG  |  Enterprise AI Governance  |  vThink Global Technologies Pvt Ltd  |  vthinkorchestrai@gmail.com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65836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Know Your AI.  Govern Your AI.  Control Your AI.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65836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OMG  -  Enterprise AI Governance Operating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