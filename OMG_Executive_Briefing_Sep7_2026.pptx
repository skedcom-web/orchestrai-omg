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9" r:id="rId30"/>
    <p:sldId id="280" r:id="rId31"/>
    <p:sldId id="281" r:id="rId32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46320" cy="6858000"/>
          </a:xfrm>
          <a:prstGeom prst="rect">
            <a:avLst/>
          </a:prstGeom>
          <a:solidFill>
            <a:srgbClr val="EE00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6032" y="896112"/>
            <a:ext cx="44074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CCCC"/>
                </a:solidFill>
                <a:latin typeface="Calibri"/>
              </a:rPr>
              <a:t>ENTERPRISE AI GOVERNANCE OPERATING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72768"/>
            <a:ext cx="44074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 Light"/>
              </a:rPr>
              <a:t>OrchestrAI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2084831"/>
            <a:ext cx="4407408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Calibri Light"/>
              </a:rPr>
              <a:t>OMG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3328416"/>
            <a:ext cx="4297680" cy="19050"/>
          </a:xfrm>
          <a:prstGeom prst="rect">
            <a:avLst/>
          </a:prstGeom>
          <a:solidFill>
            <a:srgbClr val="FF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3474720"/>
            <a:ext cx="44074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EEEE"/>
                </a:solidFill>
                <a:latin typeface="Calibri"/>
              </a:rPr>
              <a:t>OrchestrAI Model 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" y="3895344"/>
            <a:ext cx="44074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DDD"/>
                </a:solidFill>
                <a:latin typeface="Calibri"/>
              </a:rPr>
              <a:t>Executive Briefing  |  v1.0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4187952"/>
            <a:ext cx="44074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As of 8 September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687568"/>
            <a:ext cx="4901184" cy="1170432"/>
          </a:xfrm>
          <a:prstGeom prst="rect">
            <a:avLst/>
          </a:prstGeom>
          <a:solidFill>
            <a:srgbClr val="CC0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6071616"/>
            <a:ext cx="44074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FFFFFF"/>
                </a:solidFill>
                <a:latin typeface="Calibri"/>
              </a:rPr>
              <a:t>Built Once. Configured Together. Governed Continuously.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877824"/>
            <a:ext cx="6812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1F1F"/>
                </a:solidFill>
                <a:latin typeface="Calibri Light"/>
              </a:rPr>
              <a:t>Know Your AI.
Govern Your AI.
Control Your 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231136"/>
            <a:ext cx="6812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A4A4A"/>
                </a:solidFill>
                <a:latin typeface="Calibri"/>
              </a:rPr>
              <a:t>A single enterprise system where every AI asset is registered, owned,
risk-classified, validated, governed, monitored, and audited — end to end.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962656"/>
            <a:ext cx="6812280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640" y="3090672"/>
            <a:ext cx="63500" cy="5669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21808" y="30906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3F51B5"/>
                </a:solidFill>
                <a:latin typeface="Calibri Light"/>
              </a:rPr>
              <a:t>103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31455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Modules Built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3785615"/>
            <a:ext cx="63500" cy="566928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21808" y="3785615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A0ED"/>
                </a:solidFill>
                <a:latin typeface="Calibri Light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3840479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Governance Domains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4480560"/>
            <a:ext cx="63500" cy="566928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21808" y="44805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BAD48"/>
                </a:solidFill>
                <a:latin typeface="Calibri Light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45354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AI Asset Types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5175504"/>
            <a:ext cx="63500" cy="566928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21808" y="51755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5D00ED"/>
                </a:solidFill>
                <a:latin typeface="Calibri Light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4848" y="523036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RBAC Roles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20640" y="5870448"/>
            <a:ext cx="63500" cy="566928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21808" y="58704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1334A"/>
                </a:solidFill>
                <a:latin typeface="Calibri Light"/>
              </a:rP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4848" y="592531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Release Workstreams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6307648"/>
            <a:ext cx="6812280" cy="237744"/>
          </a:xfrm>
          <a:prstGeom prst="rect">
            <a:avLst/>
          </a:prstGeom>
          <a:solidFill>
            <a:srgbClr val="F5F5F5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80" y="6335080"/>
            <a:ext cx="6629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0B0B0"/>
                </a:solidFill>
                <a:latin typeface="Calibri"/>
              </a:rPr>
              <a:t>Sithanandham Radhakrishnan  |  Founder, OrchestrAI  |  vThink Global Technologies Pvt Ltd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THE BUSINESS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02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AI Adoption Is Outpacing AI Control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Six questions every regulator, board member, and AI risk officer will ask. Most enterprises cannot answer them today.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63500" cy="2340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3749039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1755648"/>
            <a:ext cx="35112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Unknown 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2139696"/>
            <a:ext cx="3511295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No single list of every AI system, agent, model, copilot, and third-party service the organisation runs.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28515" y="1627632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28515" y="1627632"/>
            <a:ext cx="63500" cy="2340864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28515" y="1627632"/>
            <a:ext cx="3749039" cy="54864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3107" y="1755648"/>
            <a:ext cx="35112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No Named Ownership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3107" y="2139696"/>
            <a:ext cx="3511295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AI assets exist with no accountable human. When one fails, no one owns the outcome.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0998" y="1627632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0998" y="1627632"/>
            <a:ext cx="63500" cy="2340864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998" y="1627632"/>
            <a:ext cx="3749039" cy="54864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65590" y="1755648"/>
            <a:ext cx="35112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No Formal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0" y="2139696"/>
            <a:ext cx="3511295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AI was deployed without a structured governance review or signed decision record.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4151376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4151376"/>
            <a:ext cx="63500" cy="2340864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" y="4151376"/>
            <a:ext cx="3749039" cy="54864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4279392"/>
            <a:ext cx="35112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No Risk 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" y="4663440"/>
            <a:ext cx="3511295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Risk is assumed, not assessed. No tier, no evidence, no audit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28515" y="4151376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28515" y="4151376"/>
            <a:ext cx="63500" cy="2340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28515" y="4151376"/>
            <a:ext cx="3749039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3107" y="4279392"/>
            <a:ext cx="35112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No Kill Switch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3107" y="4663440"/>
            <a:ext cx="3511295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If an AI system behaves unexpectedly, there is no formal mechanism to halt it immediately.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0998" y="4151376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0998" y="4151376"/>
            <a:ext cx="63500" cy="2340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0998" y="4151376"/>
            <a:ext cx="3749039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65590" y="4279392"/>
            <a:ext cx="35112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Not Audit Ready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5590" y="4663440"/>
            <a:ext cx="3511295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Regulators and boards ask governance questions. Most organisations cannot answer them.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" y="6437376"/>
            <a:ext cx="11676888" cy="64008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WHAT IS OMG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03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One Configurable System — Start to Finish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OMG is a single web application where an organisation records, governs, and audits every AI system it runs.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3803904" cy="44622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3803904" cy="4462272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46227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3803904" cy="47548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73352"/>
            <a:ext cx="38039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 Light"/>
              </a:rPr>
              <a:t>REGISTER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212848"/>
            <a:ext cx="35478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Every AI asset enters one central inventory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706624"/>
            <a:ext cx="3438144" cy="127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798064"/>
            <a:ext cx="35478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Every application, agent, LLM, model, copilot, RAG system, workflow, multi-agent system, and third-party AI service — registered, owned, and tracked in one system of record.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30624" y="1665732"/>
            <a:ext cx="3803904" cy="44622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92524" y="1627632"/>
            <a:ext cx="3803904" cy="4462272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92524" y="1627632"/>
            <a:ext cx="63500" cy="4462272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2524" y="1627632"/>
            <a:ext cx="3803904" cy="475488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2524" y="1673352"/>
            <a:ext cx="38039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 Light"/>
              </a:rPr>
              <a:t>GOVERN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404" y="2212848"/>
            <a:ext cx="35478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Risk classified. Validated. Reviewed. Formally approved.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5404" y="2706624"/>
            <a:ext cx="3438144" cy="1270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5404" y="2798064"/>
            <a:ext cx="35478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No AI asset reaches production without a structured governance path: ownership assigned, risk tiered, evidence uploaded, decision recorded, and approval signed by a named human.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67116" y="1665732"/>
            <a:ext cx="3803904" cy="446227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9016" y="1627632"/>
            <a:ext cx="3803904" cy="4462272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9016" y="1627632"/>
            <a:ext cx="63500" cy="4462272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29016" y="1627632"/>
            <a:ext cx="3803904" cy="475488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29016" y="1673352"/>
            <a:ext cx="38039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 Light"/>
              </a:rPr>
              <a:t>MONITOR &amp; 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2212848"/>
            <a:ext cx="35478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Continuous oversight after every deployment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11896" y="2706624"/>
            <a:ext cx="3438144" cy="127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1896" y="2798064"/>
            <a:ext cx="35478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OMG does not stop at approval. Ongoing health scoring, drift detection, review calendars, kill switch capability, and immutable audit trails — every asset, always.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6032" y="6144768"/>
            <a:ext cx="11676888" cy="292608"/>
          </a:xfrm>
          <a:prstGeom prst="rect">
            <a:avLst/>
          </a:prstGeom>
          <a:solidFill>
            <a:srgbClr val="F5F5F5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199632"/>
            <a:ext cx="113111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A4A4A"/>
                </a:solidFill>
                <a:latin typeface="Calibri"/>
              </a:rPr>
              <a:t>Think of OMG as the system of record for AI accountability — a general ledger, but for AI governance.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WHAT OMG GOVERNS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04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Nine AI Asset Categories — Governed Identically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OMG does not govern only ML models. Every form of AI the enterprise operates follows the same 8-stage governance lifecycle.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1225296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63500" cy="1572768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1225296" cy="402336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1673352"/>
            <a:ext cx="12252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 Light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2084832"/>
            <a:ext cx="11521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F1F1F"/>
                </a:solidFill>
                <a:latin typeface="Calibri"/>
              </a:rPr>
              <a:t>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450592"/>
            <a:ext cx="11521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AI-infused enterprise apps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47164" y="1627632"/>
            <a:ext cx="1225296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47164" y="1627632"/>
            <a:ext cx="63500" cy="157276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47164" y="1627632"/>
            <a:ext cx="1225296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47164" y="1673352"/>
            <a:ext cx="12252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 Light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3740" y="2084832"/>
            <a:ext cx="11521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F1F1F"/>
                </a:solidFill>
                <a:latin typeface="Calibri"/>
              </a:rPr>
              <a:t>Agents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3740" y="2450592"/>
            <a:ext cx="11521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Autonomous AI agents &amp; bots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38296" y="1627632"/>
            <a:ext cx="1225296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38296" y="1627632"/>
            <a:ext cx="63500" cy="1572768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38296" y="1627632"/>
            <a:ext cx="1225296" cy="402336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8296" y="1673352"/>
            <a:ext cx="12252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74872" y="2084832"/>
            <a:ext cx="11521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F1F1F"/>
                </a:solidFill>
                <a:latin typeface="Calibri"/>
              </a:rPr>
              <a:t>LLMs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74872" y="2450592"/>
            <a:ext cx="11521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Large Language Models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9428" y="1627632"/>
            <a:ext cx="1225296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9428" y="1627632"/>
            <a:ext cx="63500" cy="1572768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29428" y="1627632"/>
            <a:ext cx="1225296" cy="402336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29428" y="1673352"/>
            <a:ext cx="12252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 Ligh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6004" y="2084832"/>
            <a:ext cx="11521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F1F1F"/>
                </a:solidFill>
                <a:latin typeface="Calibri"/>
              </a:rPr>
              <a:t>AI Models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6004" y="2450592"/>
            <a:ext cx="11521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Predictive &amp; scoring models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20560" y="1627632"/>
            <a:ext cx="1225296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20560" y="1627632"/>
            <a:ext cx="63500" cy="15727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20560" y="1627632"/>
            <a:ext cx="1225296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20560" y="1673352"/>
            <a:ext cx="12252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 Light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7136" y="2084832"/>
            <a:ext cx="11521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F1F1F"/>
                </a:solidFill>
                <a:latin typeface="Calibri"/>
              </a:rPr>
              <a:t>Copilots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7136" y="2450592"/>
            <a:ext cx="11521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AI assistants in enterprise tools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11692" y="1627632"/>
            <a:ext cx="1225296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11692" y="1627632"/>
            <a:ext cx="63500" cy="15727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711692" y="1627632"/>
            <a:ext cx="1225296" cy="40233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11692" y="1673352"/>
            <a:ext cx="12252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 Light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48268" y="2084832"/>
            <a:ext cx="11521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F1F1F"/>
                </a:solidFill>
                <a:latin typeface="Calibri"/>
              </a:rPr>
              <a:t>RAG 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8268" y="2450592"/>
            <a:ext cx="11521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Retrieval-Augmented Generation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02824" y="1627632"/>
            <a:ext cx="1225296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02824" y="1627632"/>
            <a:ext cx="63500" cy="1572768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02824" y="1627632"/>
            <a:ext cx="1225296" cy="402336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2824" y="1673352"/>
            <a:ext cx="12252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 Light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39400" y="2084832"/>
            <a:ext cx="11521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F1F1F"/>
                </a:solidFill>
                <a:latin typeface="Calibri"/>
              </a:rPr>
              <a:t>AI Workflows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39400" y="2450592"/>
            <a:ext cx="11521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AI-driven business processes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93956" y="1627632"/>
            <a:ext cx="1225296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293956" y="1627632"/>
            <a:ext cx="63500" cy="15727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293956" y="1627632"/>
            <a:ext cx="1225296" cy="40233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93956" y="1673352"/>
            <a:ext cx="12252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 Light"/>
              </a:rPr>
              <a:t>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30532" y="2084832"/>
            <a:ext cx="11521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F1F1F"/>
                </a:solidFill>
                <a:latin typeface="Calibri"/>
              </a:rPr>
              <a:t>Multi-Agent Systems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30532" y="2450592"/>
            <a:ext cx="11521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Cooperating agent networks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585088" y="1627632"/>
            <a:ext cx="1225296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585088" y="1627632"/>
            <a:ext cx="63500" cy="1572768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85088" y="1627632"/>
            <a:ext cx="1225296" cy="402336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85088" y="1673352"/>
            <a:ext cx="12252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 Light"/>
              </a:rPr>
              <a:t>09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21664" y="2084832"/>
            <a:ext cx="11521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F1F1F"/>
                </a:solidFill>
                <a:latin typeface="Calibri"/>
              </a:rPr>
              <a:t>Third-Party AI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21664" y="2450592"/>
            <a:ext cx="11521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External AI APIs &amp; services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56032" y="3364992"/>
            <a:ext cx="11676888" cy="312724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56032" y="3364992"/>
            <a:ext cx="11676888" cy="5486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8912" y="3493008"/>
            <a:ext cx="11311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1334A"/>
                </a:solidFill>
                <a:latin typeface="Calibri"/>
              </a:rPr>
              <a:t>THE GOVERNANCE PRINCIPLE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8912" y="3840480"/>
            <a:ext cx="113111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1F1F"/>
                </a:solidFill>
                <a:latin typeface="Calibri Light"/>
              </a:rPr>
              <a:t>Every asset type follows the same 8-stage governance lifecycle:
Registered  →  Owned  →  Risk-Classified  →  Validated  →  Reviewed  →  Approved  →  Monitored  →  Retired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0352" y="4480560"/>
            <a:ext cx="111282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4A4A"/>
                </a:solidFill>
                <a:latin typeface="Calibri"/>
              </a:rPr>
              <a:t>A fraud detection model, a Microsoft Copilot deployment, a RAG-based customer service agent, and an autonomous procurement workflow — all governed through the same OMG lifecycle. Consistently. Evidentially. Permanently. This uniformity is what makes OMG enterprise-grade.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CAPABILITY OVERVIEW — AS OF 8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05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9 Governance Domains  |  103 Modules  |  23 Release Workstreams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A complete, end-to-end Enterprise AI Governance Operating Platform.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56032" y="1627632"/>
            <a:ext cx="2816352" cy="1499616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56032" y="1627632"/>
            <a:ext cx="63500" cy="1499616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56032" y="1627632"/>
            <a:ext cx="2816352" cy="54864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172384" y="1700784"/>
            <a:ext cx="850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00" b="1">
                <a:solidFill>
                  <a:srgbClr val="3F51B5"/>
                </a:solidFill>
                <a:latin typeface="Calibri"/>
              </a:rPr>
              <a:t>19 modules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2336" y="1700784"/>
            <a:ext cx="177004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Governance</a:t>
            </a:r>
          </a:p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Foundation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" y="2139696"/>
            <a:ext cx="2523744" cy="94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AI Asset, Model, Agent, Tool,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Prompt &amp; Knowledge Registries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Lifecycle, Retirement &amp; Analytics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06800" y="1627632"/>
            <a:ext cx="2816352" cy="1499616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206800" y="1627632"/>
            <a:ext cx="63500" cy="1499616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206800" y="1627632"/>
            <a:ext cx="2816352" cy="54864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3152" y="1700784"/>
            <a:ext cx="850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00" b="1">
                <a:solidFill>
                  <a:srgbClr val="5D00ED"/>
                </a:solidFill>
                <a:latin typeface="Calibri"/>
              </a:rPr>
              <a:t>11 modules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53104" y="1700784"/>
            <a:ext cx="177004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Governance</a:t>
            </a:r>
          </a:p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Operations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53104" y="2139696"/>
            <a:ext cx="2523744" cy="94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Ownership Matrix, Risk Center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Decision Authority, Validation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Control Library &amp; Effectiveness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57568" y="1627632"/>
            <a:ext cx="2816352" cy="1499616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157568" y="1627632"/>
            <a:ext cx="63500" cy="14996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157568" y="1627632"/>
            <a:ext cx="2816352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73920" y="1700784"/>
            <a:ext cx="850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00" b="1">
                <a:solidFill>
                  <a:srgbClr val="F59E0B"/>
                </a:solidFill>
                <a:latin typeface="Calibri"/>
              </a:rPr>
              <a:t>8 modules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03872" y="1700784"/>
            <a:ext cx="177004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Governance</a:t>
            </a:r>
          </a:p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Assurance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3872" y="2139696"/>
            <a:ext cx="2523744" cy="94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Evidence Registry, Findings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Corrective Actions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Certification &amp; Readiness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56032" y="3282696"/>
            <a:ext cx="2816352" cy="1499616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56032" y="3282696"/>
            <a:ext cx="63500" cy="1499616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6032" y="3282696"/>
            <a:ext cx="2816352" cy="54864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172384" y="3355848"/>
            <a:ext cx="850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00" b="1">
                <a:solidFill>
                  <a:srgbClr val="00A0ED"/>
                </a:solidFill>
                <a:latin typeface="Calibri"/>
              </a:rPr>
              <a:t>20 modules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2336" y="3355848"/>
            <a:ext cx="177004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Governance</a:t>
            </a:r>
          </a:p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Intelligence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2336" y="3794760"/>
            <a:ext cx="2523744" cy="94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Governance Reports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Compliance Packs &amp; Regulatory Library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Reasoning Engine &amp; Actions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06800" y="3282696"/>
            <a:ext cx="2816352" cy="1499616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206800" y="3282696"/>
            <a:ext cx="63500" cy="1499616"/>
          </a:xfrm>
          <a:prstGeom prst="rect">
            <a:avLst/>
          </a:prstGeom>
          <a:solidFill>
            <a:srgbClr val="2BA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206800" y="3282696"/>
            <a:ext cx="2816352" cy="54864"/>
          </a:xfrm>
          <a:prstGeom prst="rect">
            <a:avLst/>
          </a:prstGeom>
          <a:solidFill>
            <a:srgbClr val="2BA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123152" y="3355848"/>
            <a:ext cx="850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00" b="1">
                <a:solidFill>
                  <a:srgbClr val="2BAD48"/>
                </a:solidFill>
                <a:latin typeface="Calibri"/>
              </a:rPr>
              <a:t>6 modules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353104" y="3355848"/>
            <a:ext cx="177004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Audit &amp;</a:t>
            </a:r>
          </a:p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Oversight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353104" y="3794760"/>
            <a:ext cx="2523744" cy="94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Audit Logs, Governance Timeline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Universal Lifecycle Console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Decision Traceability, Trends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157568" y="3282696"/>
            <a:ext cx="2816352" cy="1499616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157568" y="3282696"/>
            <a:ext cx="63500" cy="1499616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57568" y="3282696"/>
            <a:ext cx="2816352" cy="54864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073920" y="3355848"/>
            <a:ext cx="850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00" b="1">
                <a:solidFill>
                  <a:srgbClr val="3F51B5"/>
                </a:solidFill>
                <a:latin typeface="Calibri"/>
              </a:rPr>
              <a:t>13 modules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03872" y="3355848"/>
            <a:ext cx="177004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Executive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303872" y="3794760"/>
            <a:ext cx="2523744" cy="94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Executive Hub, Scorecards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Value, Maturity &amp; Benchmarking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Drift, Health &amp; Board Reporting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56032" y="4937760"/>
            <a:ext cx="2816352" cy="1499616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56032" y="4937760"/>
            <a:ext cx="63500" cy="1499616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56032" y="4937760"/>
            <a:ext cx="2816352" cy="54864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172384" y="5010912"/>
            <a:ext cx="850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00" b="1">
                <a:solidFill>
                  <a:srgbClr val="5D00ED"/>
                </a:solidFill>
                <a:latin typeface="Calibri"/>
              </a:rPr>
              <a:t>10 modules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5010912"/>
            <a:ext cx="177004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Assessments &amp;</a:t>
            </a:r>
          </a:p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Reviews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2336" y="5449824"/>
            <a:ext cx="2523744" cy="94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Assessment Center &amp; Playbooks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Calibration &amp; Consensus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Review Workbench &amp; Academy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206800" y="4937760"/>
            <a:ext cx="2816352" cy="1499616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206800" y="4937760"/>
            <a:ext cx="63500" cy="14996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206800" y="4937760"/>
            <a:ext cx="2816352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123152" y="5010912"/>
            <a:ext cx="850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00" b="1">
                <a:solidFill>
                  <a:srgbClr val="F59E0B"/>
                </a:solidFill>
                <a:latin typeface="Calibri"/>
              </a:rPr>
              <a:t>12 modules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53104" y="5010912"/>
            <a:ext cx="177004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Operations &amp;</a:t>
            </a:r>
          </a:p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Response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3104" y="5449824"/>
            <a:ext cx="2523744" cy="94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Operations Dashboard &amp; Center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Kill Switch, Human Override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Incident &amp; Change Management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57568" y="4937760"/>
            <a:ext cx="2816352" cy="1499616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57568" y="4937760"/>
            <a:ext cx="63500" cy="1499616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157568" y="4937760"/>
            <a:ext cx="2816352" cy="54864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073920" y="5010912"/>
            <a:ext cx="850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00" b="1">
                <a:solidFill>
                  <a:srgbClr val="00A0ED"/>
                </a:solidFill>
                <a:latin typeface="Calibri"/>
              </a:rPr>
              <a:t>4 modules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3872" y="5010912"/>
            <a:ext cx="177004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1F1F"/>
                </a:solidFill>
                <a:latin typeface="Calibri"/>
              </a:rPr>
              <a:t>Administration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303872" y="5449824"/>
            <a:ext cx="2523744" cy="94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User Management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RBAC Administration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4A4A4A"/>
                </a:solidFill>
                <a:latin typeface="Calibri"/>
              </a:rPr>
              <a:t>Tenant Settings &amp; Release Notes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AI GOVERNANCE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06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One Eight-Stage Path for Every AI Asset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Every AI asset follows the same sequential, evidenced, and permanently recorded governance path.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1371600" cy="43891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16733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121408"/>
            <a:ext cx="1261872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296" y="2121408"/>
            <a:ext cx="1211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F51B5"/>
                </a:solidFill>
                <a:latin typeface="Calibri"/>
              </a:rPr>
              <a:t>DRAFT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241401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1F1F"/>
                </a:solidFill>
                <a:latin typeface="Calibri"/>
              </a:rPr>
              <a:t>Asset
Registration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" y="2962656"/>
            <a:ext cx="1225296" cy="127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" y="3054096"/>
            <a:ext cx="126187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Name, categorise, assign owners, record tech stack.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3730752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0B0B0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28216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28216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28216" y="1627632"/>
            <a:ext cx="1371600" cy="438912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28216" y="16733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83080" y="2121408"/>
            <a:ext cx="1261872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5D0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8480" y="2121408"/>
            <a:ext cx="1211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5D00ED"/>
                </a:solidFill>
                <a:latin typeface="Calibri"/>
              </a:rPr>
              <a:t>OWNED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241401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1F1F"/>
                </a:solidFill>
                <a:latin typeface="Calibri"/>
              </a:rPr>
              <a:t>Ownership
Assignment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01368" y="2962656"/>
            <a:ext cx="1225296" cy="1270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83080" y="3054096"/>
            <a:ext cx="126187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5 named owners: Accountable, Sponsor, Risk, Technical, Compliance.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3730752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0B0B0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0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1627632"/>
            <a:ext cx="1371600" cy="4389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0" y="16733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55264" y="2121408"/>
            <a:ext cx="1261872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80664" y="2121408"/>
            <a:ext cx="1211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  <a:latin typeface="Calibri"/>
              </a:rPr>
              <a:t>TIERED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55264" y="241401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1F1F"/>
                </a:solidFill>
                <a:latin typeface="Calibri"/>
              </a:rPr>
              <a:t>Risk
Assessment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3552" y="2962656"/>
            <a:ext cx="1225296" cy="127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55264" y="3054096"/>
            <a:ext cx="126187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Classify by data sensitivity, decision impact, oversight level.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5424" y="3730752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0B0B0"/>
                </a:solidFill>
                <a:latin typeface="Calibri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72584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72584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72584" y="1627632"/>
            <a:ext cx="1371600" cy="438912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72584" y="16733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27448" y="2121408"/>
            <a:ext cx="1261872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00A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2848" y="2121408"/>
            <a:ext cx="1211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0ED"/>
                </a:solidFill>
                <a:latin typeface="Calibri"/>
              </a:rPr>
              <a:t>VALIDATED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7448" y="241401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1F1F"/>
                </a:solidFill>
                <a:latin typeface="Calibri"/>
              </a:rPr>
              <a:t>Validation
Activities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45736" y="2962656"/>
            <a:ext cx="1225296" cy="1270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27448" y="3054096"/>
            <a:ext cx="126187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6 discipline scorecards: Business, Tech, Security, Compliance, Ops, Model.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07608" y="3730752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0B0B0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44768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44768" y="1627632"/>
            <a:ext cx="63500" cy="45834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4768" y="1627632"/>
            <a:ext cx="1371600" cy="43891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44768" y="16733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99632" y="2121408"/>
            <a:ext cx="1261872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25032" y="2121408"/>
            <a:ext cx="1211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A855F7"/>
                </a:solidFill>
                <a:latin typeface="Calibri"/>
              </a:rPr>
              <a:t>REVIEWED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99632" y="241401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1F1F"/>
                </a:solidFill>
                <a:latin typeface="Calibri"/>
              </a:rPr>
              <a:t>Governance
Review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2962656"/>
            <a:ext cx="1225296" cy="127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99632" y="3054096"/>
            <a:ext cx="126187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5-pillar decision engine produces a scored recommendation.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79792" y="3730752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0B0B0"/>
                </a:solidFill>
                <a:latin typeface="Calibri"/>
              </a:rPr>
              <a:t>→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16952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616952" y="1627632"/>
            <a:ext cx="63500" cy="458344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16952" y="1627632"/>
            <a:ext cx="1371600" cy="438912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16952" y="16733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671816" y="2121408"/>
            <a:ext cx="1261872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2BA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97216" y="2121408"/>
            <a:ext cx="1211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2BAD48"/>
                </a:solidFill>
                <a:latin typeface="Calibri"/>
              </a:rPr>
              <a:t>APPROVED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71816" y="241401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1F1F"/>
                </a:solidFill>
                <a:latin typeface="Calibri"/>
              </a:rPr>
              <a:t>Decision &amp;
Approval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90104" y="2962656"/>
            <a:ext cx="1225296" cy="127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71816" y="3054096"/>
            <a:ext cx="126187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Signed GO / Conditional GO / No Go. Named approver. Timestamped.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51976" y="3730752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0B0B0"/>
                </a:solidFill>
                <a:latin typeface="Calibri"/>
              </a:rPr>
              <a:t>→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089136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089136" y="1627632"/>
            <a:ext cx="63500" cy="458344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089136" y="1627632"/>
            <a:ext cx="1371600" cy="438912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89136" y="16733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44000" y="2121408"/>
            <a:ext cx="1261872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F1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169400" y="2121408"/>
            <a:ext cx="1211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1334A"/>
                </a:solidFill>
                <a:latin typeface="Calibri"/>
              </a:rPr>
              <a:t>MONITORED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0" y="241401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1F1F"/>
                </a:solidFill>
                <a:latin typeface="Calibri"/>
              </a:rPr>
              <a:t>Production
Monitoring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62288" y="2962656"/>
            <a:ext cx="1225296" cy="1270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44000" y="3054096"/>
            <a:ext cx="126187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Health scoring, alerts, review calendar, drift detection.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424160" y="3730752"/>
            <a:ext cx="164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0B0B0"/>
                </a:solidFill>
                <a:latin typeface="Calibri"/>
              </a:rPr>
              <a:t>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561320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561320" y="1627632"/>
            <a:ext cx="63500" cy="45834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1320" y="1627632"/>
            <a:ext cx="1371600" cy="438912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561320" y="16733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8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16184" y="2121408"/>
            <a:ext cx="1261872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1F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41584" y="2121408"/>
            <a:ext cx="1211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F1F1F"/>
                </a:solidFill>
                <a:latin typeface="Calibri"/>
              </a:rPr>
              <a:t>RETIRED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16184" y="241401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1F1F"/>
                </a:solidFill>
                <a:latin typeface="Calibri"/>
              </a:rPr>
              <a:t>Retirement
&amp; Archive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634472" y="2962656"/>
            <a:ext cx="1225296" cy="127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16184" y="3054096"/>
            <a:ext cx="126187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Managed exit with full traceability. 10-year record retention.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56032" y="6437376"/>
            <a:ext cx="11676888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OWNERSHIP &amp;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07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Five Named Owners on Every AI Asset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An AI asset with no named owner cannot be escalated, reviewed, or defended. OMG enforces named ownership at the API level.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2203704" cy="4572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73352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139696"/>
            <a:ext cx="2020824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2872" y="2139696"/>
            <a:ext cx="1970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F51B5"/>
                </a:solidFill>
                <a:latin typeface="Calibri"/>
              </a:rPr>
              <a:t>BUSINESS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2450592"/>
            <a:ext cx="20208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1F1F"/>
                </a:solidFill>
                <a:latin typeface="Calibri Light"/>
              </a:rPr>
              <a:t>Accountable
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17520"/>
            <a:ext cx="1984248" cy="127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108960"/>
            <a:ext cx="2020824" cy="282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A4A4A"/>
                </a:solidFill>
                <a:latin typeface="Calibri"/>
              </a:rPr>
              <a:t>Owns the business outcome and residual risk. Signs the final GO decision. Accountable to the board.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7856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19756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19756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19756" y="1627632"/>
            <a:ext cx="2203704" cy="45720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19756" y="1673352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1196" y="2139696"/>
            <a:ext cx="2020824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5D0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36596" y="2139696"/>
            <a:ext cx="1970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5D00ED"/>
                </a:solidFill>
                <a:latin typeface="Calibri"/>
              </a:rPr>
              <a:t>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11196" y="2450592"/>
            <a:ext cx="20208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1F1F"/>
                </a:solidFill>
                <a:latin typeface="Calibri Light"/>
              </a:rPr>
              <a:t>Governance
Sponsor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29484" y="3017520"/>
            <a:ext cx="1984248" cy="1270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11196" y="3108960"/>
            <a:ext cx="2020824" cy="282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A4A4A"/>
                </a:solidFill>
                <a:latin typeface="Calibri"/>
              </a:rPr>
              <a:t>Champions governance compliance. Ensures business obligations are understood and met.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1580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83480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83480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983480" y="1627632"/>
            <a:ext cx="220370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1673352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2139696"/>
            <a:ext cx="2020824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00320" y="2139696"/>
            <a:ext cx="1970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  <a:latin typeface="Calibri"/>
              </a:rPr>
              <a:t>RISK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2450592"/>
            <a:ext cx="20208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1F1F"/>
                </a:solidFill>
                <a:latin typeface="Calibri Light"/>
              </a:rPr>
              <a:t>Risk
Owner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93208" y="3017520"/>
            <a:ext cx="1984248" cy="127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74920" y="3108960"/>
            <a:ext cx="2020824" cy="282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A4A4A"/>
                </a:solidFill>
                <a:latin typeface="Calibri"/>
              </a:rPr>
              <a:t>Owns the formal risk profile. Accountable for tier accuracy, escalation, and mitigation actions.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85304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347204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47204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47204" y="1627632"/>
            <a:ext cx="2203704" cy="45720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47204" y="1673352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38644" y="2139696"/>
            <a:ext cx="2020824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00A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64044" y="2139696"/>
            <a:ext cx="1970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0ED"/>
                </a:solidFill>
                <a:latin typeface="Calibri"/>
              </a:rPr>
              <a:t>TECHNICAL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38644" y="2450592"/>
            <a:ext cx="20208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1F1F"/>
                </a:solidFill>
                <a:latin typeface="Calibri Light"/>
              </a:rPr>
              <a:t>Technical
Owner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56932" y="3017520"/>
            <a:ext cx="1984248" cy="1270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38644" y="3108960"/>
            <a:ext cx="2020824" cy="282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A4A4A"/>
                </a:solidFill>
                <a:latin typeface="Calibri"/>
              </a:rPr>
              <a:t>Owns architecture, integrations, model performance, and all technical controls.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49028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710928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710928" y="1627632"/>
            <a:ext cx="63500" cy="458344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710928" y="1627632"/>
            <a:ext cx="2203704" cy="4572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10928" y="1673352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02368" y="2139696"/>
            <a:ext cx="2020824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2BA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27768" y="2139696"/>
            <a:ext cx="1970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2BAD48"/>
                </a:solidFill>
                <a:latin typeface="Calibri"/>
              </a:rPr>
              <a:t>COMPLIANCE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2368" y="2450592"/>
            <a:ext cx="20208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1F1F"/>
                </a:solidFill>
                <a:latin typeface="Calibri Light"/>
              </a:rPr>
              <a:t>Compliance
Owner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20656" y="3017520"/>
            <a:ext cx="1984248" cy="127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02368" y="3108960"/>
            <a:ext cx="2020824" cy="282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A4A4A"/>
                </a:solidFill>
                <a:latin typeface="Calibri"/>
              </a:rPr>
              <a:t>Ensures alignment to regulations, evidence standards, and audit readiness.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" y="6251072"/>
            <a:ext cx="11676888" cy="274320"/>
          </a:xfrm>
          <a:prstGeom prst="rect">
            <a:avLst/>
          </a:prstGeom>
          <a:solidFill>
            <a:srgbClr val="F5F5F5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8912" y="6269360"/>
            <a:ext cx="113111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1334A"/>
                </a:solidFill>
                <a:latin typeface="Calibri"/>
              </a:rPr>
              <a:t>API Enforcement: An AI asset cannot be saved unless all governance owners are named. This is a hard backend constraint — not a UI suggestion.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RISK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08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Risk Classified. Validation Evidenced. Not Assumed.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Risk is not a label applied after the fact. It is a tiered assessment across sensitivity, impact, and control — with six validation disciplines.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5440680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544068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5440680" cy="402336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91640"/>
            <a:ext cx="5440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FOUR RISK TIERS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" y="2139696"/>
            <a:ext cx="63500" cy="841248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194560"/>
            <a:ext cx="50017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Tier 1 — 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2523744"/>
            <a:ext cx="5001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Advisory AI. Recommendations only. Minimal regulatory exposure.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" y="3218688"/>
            <a:ext cx="63500" cy="8412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3273552"/>
            <a:ext cx="50017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Tier 2 — 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602736"/>
            <a:ext cx="5001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Business automation. Decisions affect individuals. Validation required.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" y="4297680"/>
            <a:ext cx="63500" cy="841248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4352544"/>
            <a:ext cx="50017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Tier 3 — High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" y="4681728"/>
            <a:ext cx="5001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Financial or HR decisions. Regulatory scrutiny. Independent validation.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" y="5376671"/>
            <a:ext cx="63500" cy="841248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5431535"/>
            <a:ext cx="50017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Tier 4 — Critical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5760719"/>
            <a:ext cx="5001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Core banking, fraud, AML. Executive approval only. Full lifecycle.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99404" y="1665732"/>
            <a:ext cx="6071616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61304" y="1627632"/>
            <a:ext cx="6071616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61304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61304" y="1627632"/>
            <a:ext cx="6071616" cy="402336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61304" y="1691640"/>
            <a:ext cx="60716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SIX VALIDATION CATEGORIES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25896" y="2231136"/>
            <a:ext cx="63500" cy="493776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0488" y="2194560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Business Validation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0488" y="2468880"/>
            <a:ext cx="5632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Outcome quality, accuracy, and value for the intended use case.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25896" y="2944368"/>
            <a:ext cx="63500" cy="493776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0488" y="2907792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Technical Validation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0488" y="3182112"/>
            <a:ext cx="5632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Code quality, architecture, API integrity, and technical controls.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25896" y="3657600"/>
            <a:ext cx="63500" cy="493776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0488" y="3621024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Security Validation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0488" y="3895344"/>
            <a:ext cx="5632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Penetration testing, data protection, access controls, threat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25896" y="4370832"/>
            <a:ext cx="63500" cy="493776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0488" y="4334256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Compliance Validation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0488" y="4608576"/>
            <a:ext cx="5632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Regulatory alignment, evidence standards, audit readiness.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25896" y="5084064"/>
            <a:ext cx="63500" cy="493776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0488" y="5047488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Operational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5321808"/>
            <a:ext cx="5632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Runtime stability, monitoring setup, and operational procedures.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25896" y="5797296"/>
            <a:ext cx="63500" cy="493776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90488" y="5760720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Model Validation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90488" y="6035040"/>
            <a:ext cx="56327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Statistical performance, bias, drift, and explainability evidence.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DECISION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09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No Production Without a Recorded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Every governance review produces a signed, timestamped, traceable decision record. No verbal approvals. No implicit go-aheads.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3749039" cy="28346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3749039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283464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3749039" cy="4572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9164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176272"/>
            <a:ext cx="349300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Approved for Production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" y="2542032"/>
            <a:ext cx="3419855" cy="127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" y="2651760"/>
            <a:ext cx="349300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All five governance pillars passed. Asset approved under defined conditions. Signed by named approver.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6615" y="1665732"/>
            <a:ext cx="3749039" cy="28346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8515" y="1627632"/>
            <a:ext cx="3749039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28515" y="1627632"/>
            <a:ext cx="63500" cy="2834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28515" y="1627632"/>
            <a:ext cx="3749039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28515" y="169164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CONDITIONAL 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3107" y="2176272"/>
            <a:ext cx="349300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Approved with Conditions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3107" y="2542032"/>
            <a:ext cx="3419855" cy="127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3107" y="2651760"/>
            <a:ext cx="349300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One or more pillars have open actions. Conditions attached, tracked, and reapproval triggered on completion.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9098" y="1665732"/>
            <a:ext cx="3749039" cy="28346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998" y="1627632"/>
            <a:ext cx="3749039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0998" y="1627632"/>
            <a:ext cx="63500" cy="283464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00998" y="1627632"/>
            <a:ext cx="3749039" cy="45720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0998" y="169164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NO 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0" y="2176272"/>
            <a:ext cx="3493007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Not Approved — Remediation Required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65590" y="2542032"/>
            <a:ext cx="3419855" cy="1270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65590" y="2651760"/>
            <a:ext cx="349300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Critical pillar failure. Asset returns to validation. Cannot proceed without full governance re-review.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6032" y="4626864"/>
            <a:ext cx="11676888" cy="1865376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56032" y="4626864"/>
            <a:ext cx="11676888" cy="5486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4736592"/>
            <a:ext cx="116768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1334A"/>
                </a:solidFill>
                <a:latin typeface="Calibri"/>
              </a:rPr>
              <a:t>THE FIVE GOVERNANCE PILLARS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5065776"/>
            <a:ext cx="63500" cy="12984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5084064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 Light"/>
              </a:rPr>
              <a:t>Risk Readiness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5468112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Risk tier validated &amp; controls evidenced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65476" y="5065776"/>
            <a:ext cx="63500" cy="1298448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93492" y="5084064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0ED"/>
                </a:solidFill>
                <a:latin typeface="Calibri Light"/>
              </a:rPr>
              <a:t>Validation Completeness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93492" y="5468112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All 6 scorecards assessed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83480" y="5065776"/>
            <a:ext cx="63500" cy="1298448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1496" y="5084064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D00ED"/>
                </a:solidFill>
                <a:latin typeface="Calibri Light"/>
              </a:rPr>
              <a:t>Policy Alignment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11496" y="5468112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Obligations mapped &amp; compliant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01484" y="5065776"/>
            <a:ext cx="63500" cy="1298448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29500" y="5084064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AD48"/>
                </a:solidFill>
                <a:latin typeface="Calibri Light"/>
              </a:rPr>
              <a:t>Evidence Quality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29500" y="5468112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Evidence uploaded, typed &amp; attributed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619488" y="5065776"/>
            <a:ext cx="63500" cy="12984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47504" y="5084064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51B5"/>
                </a:solidFill>
                <a:latin typeface="Calibri Light"/>
              </a:rPr>
              <a:t>Ownership Completeness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47504" y="5468112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All 5 named owners confirmed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RELEASES 5 &amp; 6 — COMPLIANCE PACK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10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A Reusable Foundation Every Regulation Plugs Into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Two layers built one release apart — both structured identically so a new regulation is a configuration, not a rebuild.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5440680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544068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5440680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1691640"/>
            <a:ext cx="52029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RELEASE 5 — COMPLIANCE PACK 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103120"/>
            <a:ext cx="5202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 Light"/>
              </a:rPr>
              <a:t>Pack  →  Requirement  →  Control  → 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" y="2395728"/>
            <a:ext cx="5202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Coverage is computed from real linkage — Full, Partial or None — never a fabricated percentage.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889504"/>
            <a:ext cx="508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889504"/>
            <a:ext cx="5001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Every regulation is a named Compliance Pack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3438144"/>
            <a:ext cx="508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3438144"/>
            <a:ext cx="5001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Each pack contains discrete, auditable Requirements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3986784"/>
            <a:ext cx="508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986784"/>
            <a:ext cx="5001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Each requirement maps to one or more Controls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" y="4535423"/>
            <a:ext cx="508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4535423"/>
            <a:ext cx="5001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Each control links to real Evidence records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" y="5084064"/>
            <a:ext cx="508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5084064"/>
            <a:ext cx="5001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Coverage = evidence-backed, not self-assessed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632704"/>
            <a:ext cx="508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5632704"/>
            <a:ext cx="5001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Pre-loaded: RBI AI Controls RBI-001 to RBI-008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99404" y="1665732"/>
            <a:ext cx="6071616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61304" y="1627632"/>
            <a:ext cx="6071616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61304" y="1627632"/>
            <a:ext cx="63500" cy="45834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1304" y="1627632"/>
            <a:ext cx="6071616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25896" y="1691640"/>
            <a:ext cx="58338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RELEASE 6 — REGULATORY OBLIGATION 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25896" y="2103120"/>
            <a:ext cx="5833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51B5"/>
                </a:solidFill>
                <a:latin typeface="Calibri Light"/>
              </a:rPr>
              <a:t>Regulation  →  Obligation  →  Asset Mapping  →  Compliance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25896" y="2395728"/>
            <a:ext cx="58338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Universal regulatory knowledge base. Every obligation mapped to governed AI assets.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44184" y="2889504"/>
            <a:ext cx="5080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8776" y="2889504"/>
            <a:ext cx="5632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Regulatory Library — structured knowledge base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44184" y="3438144"/>
            <a:ext cx="5080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08776" y="3438144"/>
            <a:ext cx="5632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Requirement Registry — discrete testable obligations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44184" y="3986784"/>
            <a:ext cx="5080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8776" y="3986784"/>
            <a:ext cx="5632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Obligation Library — reusable obligation catalogue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44184" y="4535423"/>
            <a:ext cx="5080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08776" y="4535423"/>
            <a:ext cx="5632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Mapping Workspace — asset-to-obligation linkage engine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44184" y="5084064"/>
            <a:ext cx="5080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08776" y="5084064"/>
            <a:ext cx="5632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Gap analysis: covered vs. missing obligations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44184" y="5632704"/>
            <a:ext cx="5080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08776" y="5632704"/>
            <a:ext cx="5632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Ready: RBI, ISO 42001, EU AI Act, NIST AI RMF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RELEASES 7–10 — GOVERNANCE INTELLIGENCE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11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From Governance Records to Governance Reasoning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A four-release stack that transforms raw governance data into traceable, actionable, configurable intelligence.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2816352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281635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2816352" cy="402336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91640"/>
            <a:ext cx="2816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RELEASE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121408"/>
            <a:ext cx="25786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Governance Intelligence Foundation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" y="2560320"/>
            <a:ext cx="2487168" cy="1270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" y="2651760"/>
            <a:ext cx="257860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A five-step reasoning chain — Policy → Condition → Outcome → Reasoning → Explainability — runs live for every asset. Every outcome cites its exact source policy.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4900" y="1665732"/>
            <a:ext cx="2816352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6800" y="1627632"/>
            <a:ext cx="281635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6800" y="1627632"/>
            <a:ext cx="63500" cy="45834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6800" y="1627632"/>
            <a:ext cx="2816352" cy="40233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6800" y="1691640"/>
            <a:ext cx="2816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RELEASE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392" y="2121408"/>
            <a:ext cx="25786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Governance Actions Edition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71392" y="2560320"/>
            <a:ext cx="2487168" cy="127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71392" y="2651760"/>
            <a:ext cx="257860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Every outcome can raise a Recommended Action. A human always decides what happens next. Recommendation-driven, not automation-driven. No AI autopilot.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668" y="1665732"/>
            <a:ext cx="2816352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7568" y="1627632"/>
            <a:ext cx="281635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7568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7568" y="1627632"/>
            <a:ext cx="2816352" cy="402336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57568" y="1691640"/>
            <a:ext cx="2816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RELEASE 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2160" y="2121408"/>
            <a:ext cx="25786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Decision Traceability Engine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2160" y="2560320"/>
            <a:ext cx="2487168" cy="1270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2160" y="2651760"/>
            <a:ext cx="257860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Reconstruct any governance decision end-to-end. Every decision can be replayed from the regulatory obligation that triggered it to the signed approval that resulted.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6436" y="1665732"/>
            <a:ext cx="2816352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08336" y="1627632"/>
            <a:ext cx="281635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08336" y="1627632"/>
            <a:ext cx="63500" cy="458344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08336" y="1627632"/>
            <a:ext cx="2816352" cy="402336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8336" y="1691640"/>
            <a:ext cx="2816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RELEASE 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2928" y="2121408"/>
            <a:ext cx="25786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Governance Intelligence Studio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72928" y="2560320"/>
            <a:ext cx="2487168" cy="127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72928" y="2651760"/>
            <a:ext cx="257860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Configure governance logic without code changes. Condition Designer + Outcome Designer + Rule Builder. Customer-specific governance — zero engineering effort.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MONITORING &amp;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12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Approval Is the Start, Not the 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Once an AI asset is live, OMG tracks its ongoing governance health and gives the organisation the tools to act immediately.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63500" cy="2340864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3749039" cy="54864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" y="1755648"/>
            <a:ext cx="351129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Governance
Monitoring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2286000"/>
            <a:ext cx="3511295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Continuous health scoring — Healthy, Watchlist, or Attention Required. Every asset scored daily against its obligations.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28515" y="1627632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28515" y="1627632"/>
            <a:ext cx="63500" cy="2340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28515" y="1627632"/>
            <a:ext cx="3749039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3107" y="1755648"/>
            <a:ext cx="351129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Governance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3107" y="2286000"/>
            <a:ext cx="3511295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Automated alerts when health degrades — missed reviews, expired evidence, open findings, or drift detected.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0998" y="1627632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0998" y="1627632"/>
            <a:ext cx="63500" cy="2340864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998" y="1627632"/>
            <a:ext cx="3749039" cy="54864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65590" y="1755648"/>
            <a:ext cx="351129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Review
Calendar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0" y="2286000"/>
            <a:ext cx="3511295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Scheduled governance reviews — never missed, always recorded. Review cadence determined by risk tier.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4151376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4151376"/>
            <a:ext cx="63500" cy="2340864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" y="4151376"/>
            <a:ext cx="3749039" cy="54864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4279392"/>
            <a:ext cx="351129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Corrective
Actions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" y="4809744"/>
            <a:ext cx="3511295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Structured remediation for every governance gap. Owner assigned. Deadline set. Completion evidenced.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28515" y="4151376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28515" y="4151376"/>
            <a:ext cx="63500" cy="2340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28515" y="4151376"/>
            <a:ext cx="3749039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3107" y="4279392"/>
            <a:ext cx="351129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Governance
Drift Center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3107" y="4809744"/>
            <a:ext cx="3511295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Detect when asset governance degrades from its approved state. Drift score, root cause, and recommended action.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0998" y="4151376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0998" y="4151376"/>
            <a:ext cx="63500" cy="2340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0998" y="4151376"/>
            <a:ext cx="3749039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65590" y="4279392"/>
            <a:ext cx="351129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 Light"/>
              </a:rPr>
              <a:t>Kill Switch
Center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5590" y="4809744"/>
            <a:ext cx="3511295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Emergency halt — pause, suspend, or disable any AI asset. Signed, timestamped, immutable record.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" y="6437376"/>
            <a:ext cx="11676888" cy="64008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AUDIT &amp; TRACEABILITY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13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Everything Is Written Down, Permanently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The hardest regulatory question is not "do you govern AI" — it is "prove it". OMG answers that question.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5440680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544068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5440680" cy="402336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1691640"/>
            <a:ext cx="52029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EVIDENCE CENTER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103120"/>
            <a:ext cx="5202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Ten mandatory governance deliverable types per asset — each versioned, attributed to a named author, and permanently stored.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688336"/>
            <a:ext cx="63500" cy="457200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67004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Risk Assessment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2944368"/>
            <a:ext cx="4910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Formal tier classification with rationale and 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3291840"/>
            <a:ext cx="63500" cy="457200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32735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Validation Scorecards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3547872"/>
            <a:ext cx="4910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All six discipline scores with linked evidence references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3895344"/>
            <a:ext cx="63500" cy="457200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87705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Decision Records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151376"/>
            <a:ext cx="4910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Signed GO/Conditional GO/No Go with full conditions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" y="4498848"/>
            <a:ext cx="63500" cy="457200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4805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Approval Certificates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754880"/>
            <a:ext cx="4910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Named approver, timestamp, scope, and attached conditions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102352"/>
            <a:ext cx="63500" cy="457200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08406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Monitoring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5358384"/>
            <a:ext cx="4910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Operational health snapshots and alert resolution records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5705856"/>
            <a:ext cx="63500" cy="457200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68756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Audit Trail Package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" y="5961888"/>
            <a:ext cx="4910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Complete chronological event log for regulatory inspection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99404" y="1665732"/>
            <a:ext cx="6071616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61304" y="1627632"/>
            <a:ext cx="6071616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61304" y="1627632"/>
            <a:ext cx="63500" cy="45834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61304" y="1627632"/>
            <a:ext cx="6071616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25896" y="1691640"/>
            <a:ext cx="58338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IMMUTABLE AUDIT 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25896" y="2103120"/>
            <a:ext cx="5833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Every action on every asset is permanently recorded — who, what, when, and why.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44184" y="2596896"/>
            <a:ext cx="50800" cy="25603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8776" y="2578608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Asset created, modified, or archived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44184" y="2962656"/>
            <a:ext cx="50800" cy="25603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08776" y="2944368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Owner assigned or changed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44184" y="3328416"/>
            <a:ext cx="50800" cy="25603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08776" y="3310128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Risk tier assessed or reassessed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44184" y="3694176"/>
            <a:ext cx="50800" cy="25603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08776" y="3675888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Validation evidence uploaded or revised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44184" y="4059936"/>
            <a:ext cx="50800" cy="25603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08776" y="4041648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Decision recorded and signed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4184" y="4425696"/>
            <a:ext cx="50800" cy="25603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08776" y="4407408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Production status changed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44184" y="4791456"/>
            <a:ext cx="50800" cy="25603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08776" y="4773168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Alert raised and resolved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44184" y="5157216"/>
            <a:ext cx="50800" cy="25603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08776" y="5138928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Kill switch activated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44184" y="5522976"/>
            <a:ext cx="50800" cy="25603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08776" y="5504688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Change request submitted and approved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44184" y="5888736"/>
            <a:ext cx="50800" cy="25603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08776" y="5870448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Compliance assessment recorded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ROLE-BASED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14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Seven Roles, Each Scoped to Its Mandate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Access is enforced at the route boundary. A role not authorised for a module cannot navigate to it, regardless of URL.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158191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1581912" cy="45720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1682496"/>
            <a:ext cx="1581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139696"/>
            <a:ext cx="143560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1F1F"/>
                </a:solidFill>
                <a:latin typeface="Calibri Light"/>
              </a:rPr>
              <a:t>Super
Admin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688336"/>
            <a:ext cx="1399032" cy="1270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" y="2779776"/>
            <a:ext cx="1435608" cy="3193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Full platform administration. Configure roles, tenants, compliance packs, and system settings.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43100" y="1627632"/>
            <a:ext cx="158191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43100" y="1627632"/>
            <a:ext cx="63500" cy="45834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43100" y="1627632"/>
            <a:ext cx="1581912" cy="4572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3100" y="1682496"/>
            <a:ext cx="1581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6252" y="2139696"/>
            <a:ext cx="143560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1F1F"/>
                </a:solidFill>
                <a:latin typeface="Calibri Light"/>
              </a:rPr>
              <a:t>Governance
Admin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34540" y="2688336"/>
            <a:ext cx="1399032" cy="127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6252" y="2779776"/>
            <a:ext cx="1435608" cy="3193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Manage assets, run reviews, configure governance rules, administer workflows.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0168" y="1627632"/>
            <a:ext cx="158191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30168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30168" y="1627632"/>
            <a:ext cx="1581912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0168" y="1682496"/>
            <a:ext cx="1581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2139696"/>
            <a:ext cx="143560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1F1F"/>
                </a:solidFill>
                <a:latin typeface="Calibri Light"/>
              </a:rPr>
              <a:t>Risk
Officer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21608" y="2688336"/>
            <a:ext cx="1399032" cy="127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2779776"/>
            <a:ext cx="1435608" cy="3193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Access all risk assessments, tier classifications, and risk evidence across the portfolio.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7236" y="1627632"/>
            <a:ext cx="158191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17236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17236" y="1627632"/>
            <a:ext cx="1581912" cy="45720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17236" y="1682496"/>
            <a:ext cx="1581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0388" y="2139696"/>
            <a:ext cx="143560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1F1F"/>
                </a:solidFill>
                <a:latin typeface="Calibri Light"/>
              </a:rPr>
              <a:t>Business
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08676" y="2688336"/>
            <a:ext cx="1399032" cy="1270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0388" y="2779776"/>
            <a:ext cx="1435608" cy="3193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View owned assets, participate in reviews, sign approvals within their scope.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04304" y="1627632"/>
            <a:ext cx="158191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04304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04304" y="1627632"/>
            <a:ext cx="1581912" cy="45720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04304" y="1682496"/>
            <a:ext cx="1581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77456" y="2139696"/>
            <a:ext cx="143560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1F1F"/>
                </a:solidFill>
                <a:latin typeface="Calibri Light"/>
              </a:rPr>
              <a:t>Validator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95744" y="2688336"/>
            <a:ext cx="1399032" cy="1270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77456" y="2779776"/>
            <a:ext cx="1435608" cy="3193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Record validation scorecards, upload evidence, conduct compliance assessments.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91372" y="1627632"/>
            <a:ext cx="158191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91372" y="1627632"/>
            <a:ext cx="63500" cy="458344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91372" y="1627632"/>
            <a:ext cx="1581912" cy="4572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91372" y="1682496"/>
            <a:ext cx="1581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64524" y="2139696"/>
            <a:ext cx="143560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1F1F"/>
                </a:solidFill>
                <a:latin typeface="Calibri Light"/>
              </a:rPr>
              <a:t>Auditor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82812" y="2688336"/>
            <a:ext cx="1399032" cy="127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64524" y="2779776"/>
            <a:ext cx="1435608" cy="3193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Read-only: all governance records, evidence, audit logs, and decision trails.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378440" y="1627632"/>
            <a:ext cx="158191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378440" y="1627632"/>
            <a:ext cx="63500" cy="45834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378440" y="1627632"/>
            <a:ext cx="1581912" cy="4572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78440" y="1682496"/>
            <a:ext cx="1581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 Light"/>
              </a:rPr>
              <a:t>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51592" y="2139696"/>
            <a:ext cx="143560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1F1F"/>
                </a:solidFill>
                <a:latin typeface="Calibri Light"/>
              </a:rPr>
              <a:t>Viewer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69880" y="2688336"/>
            <a:ext cx="1399032" cy="127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51592" y="2779776"/>
            <a:ext cx="1435608" cy="3193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4A4A"/>
                </a:solidFill>
                <a:latin typeface="Calibri"/>
              </a:rPr>
              <a:t>Read-only: dashboards, scorecards, and governance summaries.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6032" y="6251072"/>
            <a:ext cx="11676888" cy="274320"/>
          </a:xfrm>
          <a:prstGeom prst="rect">
            <a:avLst/>
          </a:prstGeom>
          <a:solidFill>
            <a:srgbClr val="F5F5F5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" y="6269360"/>
            <a:ext cx="11311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1334A"/>
                </a:solidFill>
                <a:latin typeface="Calibri"/>
              </a:rPr>
              <a:t>Backend-enforced RBAC: role claims are validated server-side on every API call. No module is accessible outside declared role boundaries.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NEW — PHASE 9: EXECUTIVE GOVERNANCE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15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Complete C-Suite AI Governance Visibility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A dedicated executive command surface. From per-asset governance scores to board-ready reports — one place, always live.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2203704" cy="43891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82496"/>
            <a:ext cx="2203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Executive
Governance Hub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121408"/>
            <a:ext cx="1947672" cy="127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212848"/>
            <a:ext cx="1947672" cy="3833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Central command surface for CTO, CRO, CCO, and the Board. Real-time view of the entire AI portfolio — risk exposure, pending decisions, and critical alerts.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7856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19756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19756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19756" y="1627632"/>
            <a:ext cx="2203704" cy="438912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19756" y="1682496"/>
            <a:ext cx="2203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Governance
Scorecards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7772" y="2121408"/>
            <a:ext cx="1947672" cy="1270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7772" y="2212848"/>
            <a:ext cx="1947672" cy="3833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Per-asset governance health scores (0–100) across all five pillars. Red, Amber, Green at a glance. Drill-down to root cause.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1580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83480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83480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83480" y="1627632"/>
            <a:ext cx="2203704" cy="4389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83480" y="1682496"/>
            <a:ext cx="2203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Executive
Heatmaps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11496" y="2121408"/>
            <a:ext cx="1947672" cy="127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1496" y="2212848"/>
            <a:ext cx="1947672" cy="3833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Portfolio-level risk and governance heatmaps. Identify which domains, asset types, or business units carry the highest governance exposure.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85304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7204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7204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47204" y="1627632"/>
            <a:ext cx="2203704" cy="438912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47204" y="1682496"/>
            <a:ext cx="2203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Governance
Insights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5220" y="2121408"/>
            <a:ext cx="1947672" cy="1270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75220" y="2212848"/>
            <a:ext cx="1947672" cy="3833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Cross-portfolio analytics. Trends, patterns, and anomalies across all governed AI assets. Early warning signals for the executive team.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49028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10928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10928" y="1627632"/>
            <a:ext cx="63500" cy="458344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10928" y="1627632"/>
            <a:ext cx="2203704" cy="438912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10928" y="1682496"/>
            <a:ext cx="22037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Board
Reporting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38944" y="2121408"/>
            <a:ext cx="1947672" cy="127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38944" y="2212848"/>
            <a:ext cx="1947672" cy="3833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Auto-generated, formatted board governance reports. AI governance narrative, KPIs, outstanding decisions, and regulatory status — export-ready on demand.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" y="6251072"/>
            <a:ext cx="11676888" cy="274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" y="6269360"/>
            <a:ext cx="11311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1">
                <a:solidFill>
                  <a:srgbClr val="FFFFFF"/>
                </a:solidFill>
                <a:latin typeface="Calibri"/>
              </a:rPr>
              <a:t>"The board asks: Is our AI governed? OMG answers: Yes — and here is the evidence."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NEW — PHASE 9: POLICY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16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Every AI Asset Governed Against Every Applicable Enterprise Policy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Policy is not a document in OMG. Every policy is a structured governance object — owned, mapped, monitored, and enforced.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3639312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3639312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3639312" cy="402336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1691640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POLICY REGISTRY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121408"/>
            <a:ext cx="33649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Five policy categories — every enterprise AI policy registered, versioned, and maintained: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633472"/>
            <a:ext cx="63500" cy="329184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651760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Governance Policies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108960"/>
            <a:ext cx="63500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3127248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Risk Policies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584448"/>
            <a:ext cx="63500" cy="329184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602736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Security Policies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059936"/>
            <a:ext cx="63500" cy="329184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078224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Privacy Policies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535424"/>
            <a:ext cx="63500" cy="329184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4553712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Vendor Policies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" y="5193792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Each policy: Reference, Owner, Effective Date, Review Date, Status, Mandatory flag, and Description.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6324" y="1665732"/>
            <a:ext cx="3675887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78224" y="1627632"/>
            <a:ext cx="3675887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78224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78224" y="1627632"/>
            <a:ext cx="3675887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42816" y="1691640"/>
            <a:ext cx="34015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POLICY MAPPING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42816" y="2121408"/>
            <a:ext cx="3401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Asset-to-policy linkage engine. Every AI asset mapped to every applicable policy.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42816" y="2560320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7408" y="2560320"/>
            <a:ext cx="32186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Map any asset to any policy (any category)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42816" y="3127248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07408" y="3127248"/>
            <a:ext cx="32186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Linkage typed: Direct, Inherited, or Applicable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2816" y="3694175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07408" y="3694175"/>
            <a:ext cx="32186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Coverage computed from actual linkage — not guessed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42816" y="4261104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07408" y="4261104"/>
            <a:ext cx="32186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Gaps identified: policies without asset coverage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42816" y="482803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07408" y="4828032"/>
            <a:ext cx="32186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Review cadence enforced per policy category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42816" y="5394960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07408" y="5394960"/>
            <a:ext cx="32186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Calibri"/>
              </a:rPr>
              <a:t>Cross-asset policy coverage analysis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6804" y="1665732"/>
            <a:ext cx="4014215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18704" y="1627632"/>
            <a:ext cx="4014215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18704" y="1627632"/>
            <a:ext cx="63500" cy="458344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18704" y="1627632"/>
            <a:ext cx="4014215" cy="402336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83296" y="1691640"/>
            <a:ext cx="37307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POLICY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3296" y="2121408"/>
            <a:ext cx="3730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Detected violations surfaced, categorised by severity, and assigned for remediation.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83296" y="2578608"/>
            <a:ext cx="63500" cy="658368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6175" y="2633472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334A"/>
                </a:solidFill>
                <a:latin typeface="Calibri Light"/>
              </a:rPr>
              <a:t>Critical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5" y="2907792"/>
            <a:ext cx="3511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Policy breach with immediate regulatory consequence.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83296" y="3419856"/>
            <a:ext cx="63500" cy="658368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66175" y="3474720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A59"/>
                </a:solidFill>
                <a:latin typeface="Calibri Light"/>
              </a:rPr>
              <a:t>High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6175" y="3749040"/>
            <a:ext cx="3511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Significant gap requiring priority remediation.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83296" y="4261104"/>
            <a:ext cx="6350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66175" y="4315968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 Light"/>
              </a:rPr>
              <a:t>Medium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5" y="4590288"/>
            <a:ext cx="3511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Gap to be addressed within the review cycle.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83296" y="5102352"/>
            <a:ext cx="63500" cy="658368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66175" y="5157216"/>
            <a:ext cx="3511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AD48"/>
                </a:solidFill>
                <a:latin typeface="Calibri Light"/>
              </a:rPr>
              <a:t>Low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5" y="5431536"/>
            <a:ext cx="3511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Minor deviation — monitored for resolution.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NEW — PHASE 10: GOVERNANCE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17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Approval Is Not Permanent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Any significant change to a live AI asset must be classified, assessed for impact, routed, and re-approved before it proceeds.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11676888" cy="310896"/>
          </a:xfrm>
          <a:prstGeom prst="rect">
            <a:avLst/>
          </a:prstGeom>
          <a:solidFill>
            <a:srgbClr val="FFF0F2"/>
          </a:solidFill>
          <a:ln w="6350">
            <a:solidFill>
              <a:srgbClr val="F1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1682496"/>
            <a:ext cx="113477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1334A"/>
                </a:solidFill>
                <a:latin typeface="Calibri"/>
              </a:rPr>
              <a:t>CORE PRINCIPLE: Governance of AI Assets does not end at approval. It extends to every subsequent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2029968"/>
            <a:ext cx="3749039" cy="212140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2029968"/>
            <a:ext cx="63500" cy="2121408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029968"/>
            <a:ext cx="3749039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" y="2121408"/>
            <a:ext cx="3511295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Change Request
Center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" y="2578608"/>
            <a:ext cx="3511295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Every AI change — model upgrade, vendor swap, data addition, prompt revision, policy update, or operational change — creates a governed record: ID, title, asset, requester, category, justification, and status.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28515" y="2029968"/>
            <a:ext cx="3749039" cy="212140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28515" y="2029968"/>
            <a:ext cx="63500" cy="21214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8515" y="2029968"/>
            <a:ext cx="3749039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3107" y="2121408"/>
            <a:ext cx="3511295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Change Classification
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3107" y="2578608"/>
            <a:ext cx="3511295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Six categories: Model Change (upgrade/replace/fine-tune), Vendor Change, Data Change, Prompt Change, Policy Change, Operational Change. Every change classified before impact assessment begins.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0998" y="2029968"/>
            <a:ext cx="3749039" cy="212140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0998" y="2029968"/>
            <a:ext cx="63500" cy="2121408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0998" y="2029968"/>
            <a:ext cx="3749039" cy="54864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5590" y="2121408"/>
            <a:ext cx="3511295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Change Impact
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5590" y="2578608"/>
            <a:ext cx="3511295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Seven impact dimensions: Ownership, Risk, Validation, Evidence, Policy, Compliance, Monitoring. Outcome: No Impact, Low, Medium, High, or Critical.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4297680"/>
            <a:ext cx="3749039" cy="212140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4297680"/>
            <a:ext cx="63500" cy="2121408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6032" y="4297680"/>
            <a:ext cx="3749039" cy="54864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" y="4389120"/>
            <a:ext cx="3511295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Reassessment
Rules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" y="4846320"/>
            <a:ext cx="3511295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Auto-routing: Minor Change → No Reassessment. Moderate → Risk Review. Major → Full Governance Review. Critical → Executive Approval Required.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28515" y="4297680"/>
            <a:ext cx="3749039" cy="212140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28515" y="4297680"/>
            <a:ext cx="63500" cy="2121408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28515" y="4297680"/>
            <a:ext cx="3749039" cy="54864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3107" y="4389120"/>
            <a:ext cx="3511295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Change Governance
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3107" y="4846320"/>
            <a:ext cx="3511295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Executive visibility: Open Changes, Approved, Rejected, Pending Reviews, High-Risk Changes, Bottlenecks, and Reapproval Queue.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0998" y="4297680"/>
            <a:ext cx="3749039" cy="2121408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0998" y="4297680"/>
            <a:ext cx="63500" cy="21214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00998" y="4297680"/>
            <a:ext cx="3749039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65590" y="4389120"/>
            <a:ext cx="3511295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1F1F"/>
                </a:solidFill>
                <a:latin typeface="Calibri Light"/>
              </a:rPr>
              <a:t>Change History
&amp; Governance Triggers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65590" y="4846320"/>
            <a:ext cx="3511295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Immutable history: what changed, who changed it, when, why, who approved. Automated triggers: vendor change → create review. Policy update → identify affected assets.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NEW — RELEASE 11: GOVERNANCE EFFECTIVENESS &amp; ROI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18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Governance That Measures Itself — and Proves It Is Working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The first release to ask not ‘is governance in place?’ but ‘is governance improving?’ — with quantified, snapshot-compared evidence.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2203704" cy="438912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82496"/>
            <a:ext cx="22037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Governance
Effectiveness
Score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176272"/>
            <a:ext cx="2020824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2BA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2872" y="2176272"/>
            <a:ext cx="1970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2BAD48"/>
                </a:solidFill>
                <a:latin typeface="Calibri"/>
              </a:rPr>
              <a:t>6 sub-factors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2450592"/>
            <a:ext cx="1947672" cy="127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542032"/>
            <a:ext cx="1947672" cy="346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Measures overall governance quality across 6 sub-factors. Compares against a previous snapshot to show improvement or regression. Trend, Previous Score, Delta — all evidenced.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7856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19756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19756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19756" y="1627632"/>
            <a:ext cx="2203704" cy="4389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19756" y="1682496"/>
            <a:ext cx="22037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Governance
ROI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11196" y="2176272"/>
            <a:ext cx="2020824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36596" y="2176272"/>
            <a:ext cx="1970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  <a:latin typeface="Calibri"/>
              </a:rPr>
              <a:t>Quantified value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7772" y="2450592"/>
            <a:ext cx="1947672" cy="127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7772" y="2542032"/>
            <a:ext cx="1947672" cy="346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Quantifies the return on governance investment. Cost of governance vs. value delivered — incidents avoided, decisions accelerated, regulatory fines prevented.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1580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83480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83480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83480" y="1627632"/>
            <a:ext cx="2203704" cy="438912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83480" y="1682496"/>
            <a:ext cx="22037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Governance
Maturity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2176272"/>
            <a:ext cx="2020824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5D0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00320" y="2176272"/>
            <a:ext cx="1970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5D00ED"/>
                </a:solidFill>
                <a:latin typeface="Calibri"/>
              </a:rPr>
              <a:t>Levels 1–5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11496" y="2450592"/>
            <a:ext cx="1947672" cy="1270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1496" y="2542032"/>
            <a:ext cx="1947672" cy="346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5-level maturity model assessment. Level 1 (Initial) through Level 5 (Optimising). Asset-by-asset and portfolio-wide maturity scoring.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85304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47204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7204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47204" y="1627632"/>
            <a:ext cx="2203704" cy="438912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47204" y="1682496"/>
            <a:ext cx="22037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Governance
Benchmarking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38644" y="2176272"/>
            <a:ext cx="2020824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00A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64044" y="2176272"/>
            <a:ext cx="1970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0ED"/>
                </a:solidFill>
                <a:latin typeface="Calibri"/>
              </a:rPr>
              <a:t>Peer comparison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5220" y="2450592"/>
            <a:ext cx="1947672" cy="1270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5220" y="2542032"/>
            <a:ext cx="1947672" cy="346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Compare governance posture against industry benchmarks and peer organisations. Identify where governance leads — and where it lags.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49028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10928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10928" y="1627632"/>
            <a:ext cx="63500" cy="45834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710928" y="1627632"/>
            <a:ext cx="2203704" cy="43891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10928" y="1682496"/>
            <a:ext cx="22037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Governance
Outcomes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02368" y="2176272"/>
            <a:ext cx="2020824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27768" y="2176272"/>
            <a:ext cx="1970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A855F7"/>
                </a:solidFill>
                <a:latin typeface="Calibri"/>
              </a:rPr>
              <a:t>Business outcomes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38944" y="2450592"/>
            <a:ext cx="1947672" cy="127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38944" y="2542032"/>
            <a:ext cx="1947672" cy="346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Measurable business outcomes delivered by governance: risk incidents avoided, compliance gaps closed, decisions accelerated, audit findings resolved.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6032" y="6251072"/>
            <a:ext cx="11676888" cy="27432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2" y="6269360"/>
            <a:ext cx="11311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1">
                <a:solidFill>
                  <a:srgbClr val="FFFFFF"/>
                </a:solidFill>
                <a:latin typeface="Calibri"/>
              </a:rPr>
              <a:t>"OMG does not just record governance. Release 11 proves governance is working — with scores, trends, ROI, and maturity evidence."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NEW — RELEASE 12: REGULATORY INTELLIGENCE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19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From Static Compliance Checklists to Dynamic Regulatory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Regulations change. AI assets change. Release 12 keeps both in sync — automatically, evidentially, and audit-ready.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2203704" cy="438912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82496"/>
            <a:ext cx="2203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Regulatory
Applicability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139696"/>
            <a:ext cx="1947672" cy="1270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231136"/>
            <a:ext cx="1947672" cy="377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Automatically determine which regulations apply to each AI asset based on type, domain, risk tier, and data sensitivity. Applicability is computed — not manually tagged.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7856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19756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19756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19756" y="1627632"/>
            <a:ext cx="2203704" cy="438912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19756" y="1682496"/>
            <a:ext cx="2203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Cross-Framework
Mapping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7772" y="2139696"/>
            <a:ext cx="1947672" cy="1270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7772" y="2231136"/>
            <a:ext cx="1947672" cy="377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Map obligations across multiple regulatory frameworks simultaneously. ISO 42001, EU AI Act, NIST AI RMF, RBI — common controls identified and evidence shared across frameworks.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1580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83480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83480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83480" y="1627632"/>
            <a:ext cx="2203704" cy="4389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83480" y="1682496"/>
            <a:ext cx="2203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Compliance
Impact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11496" y="2139696"/>
            <a:ext cx="1947672" cy="127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1496" y="2231136"/>
            <a:ext cx="1947672" cy="377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When a regulation changes, immediately identify which assets are affected, which controls need revision, and what evidence must be refreshed. Impact before it becomes a finding.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85304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7204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7204" y="1627632"/>
            <a:ext cx="63500" cy="45834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47204" y="1627632"/>
            <a:ext cx="2203704" cy="43891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47204" y="1682496"/>
            <a:ext cx="2203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Regulatory Change
Readiness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5220" y="2139696"/>
            <a:ext cx="1947672" cy="127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75220" y="2231136"/>
            <a:ext cx="1947672" cy="377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Readiness score for upcoming regulatory changes. How prepared is the organisation for new or amended AI regulations? Gap analysis, remediation roadmap, deadline tracking.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49028" y="1665732"/>
            <a:ext cx="22037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10928" y="1627632"/>
            <a:ext cx="22037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10928" y="1627632"/>
            <a:ext cx="63500" cy="458344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10928" y="1627632"/>
            <a:ext cx="2203704" cy="438912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10928" y="1682496"/>
            <a:ext cx="2203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Audit Readiness
Intelligence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38944" y="2139696"/>
            <a:ext cx="1947672" cy="1270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38944" y="2231136"/>
            <a:ext cx="1947672" cy="377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Predictive audit readiness engine. Before a regulator arrives, OMG surfaces every governance gap, every missing evidence item, and every open finding — with remediation priority.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" y="6251072"/>
            <a:ext cx="11676888" cy="27432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" y="6269360"/>
            <a:ext cx="11311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Frameworks ready: RBI AI Governance  |  ISO 42001  |  EU AI Act  |  NIST AI RMF  |  SEBI  |  IRDAI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NEW — RELEASE 13: GACF — GOVERNANCE ASSESSMENT CALIBRATION &amp; CONSISTENCY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20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Assessment Consistency Is Not an Opinion — It Is a Governed Standard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Eight capabilities ensuring governance assessments are calibrated, consistent, certified, and defensible across all assessors.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1371600" cy="438912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16824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Assessment
Center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" y="2103120"/>
            <a:ext cx="12618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5D0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296" y="2103120"/>
            <a:ext cx="1211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5D00ED"/>
                </a:solidFill>
                <a:latin typeface="Calibri"/>
              </a:rPr>
              <a:t>Phase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2377440"/>
            <a:ext cx="1261872" cy="3595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Five assessment types in one workspace: Effectiveness, Maturity, ROI, Benchmarking, Regulatory Readiness. Structured scoring against governance categories.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28216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28216" y="1627632"/>
            <a:ext cx="63500" cy="45834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28216" y="1627632"/>
            <a:ext cx="1371600" cy="43891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28216" y="16824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Assessment
Playbooks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2103120"/>
            <a:ext cx="12618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8480" y="2103120"/>
            <a:ext cx="1211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A855F7"/>
                </a:solidFill>
                <a:latin typeface="Calibri"/>
              </a:rPr>
              <a:t>Phase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377440"/>
            <a:ext cx="1261872" cy="3595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Structured assessment playbooks per type — guiding questions, scoring criteria, and expected evidence for each governance category.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1627632"/>
            <a:ext cx="1371600" cy="4389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16824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Calibration
Library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5264" y="2103120"/>
            <a:ext cx="12618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80664" y="2103120"/>
            <a:ext cx="1211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  <a:latin typeface="Calibri"/>
              </a:rPr>
              <a:t>Phase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55264" y="2377440"/>
            <a:ext cx="1261872" cy="3595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Scoring calibration standards defining what a 1, 3, and 5 means for each governance category — consistently across all assessors.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72584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72584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72584" y="1627632"/>
            <a:ext cx="1371600" cy="438912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2584" y="16824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Variance
Analysis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27448" y="2103120"/>
            <a:ext cx="12618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00A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2848" y="2103120"/>
            <a:ext cx="1211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0ED"/>
                </a:solidFill>
                <a:latin typeface="Calibri"/>
              </a:rPr>
              <a:t>Phase 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7448" y="2377440"/>
            <a:ext cx="1261872" cy="3595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Measures consistency across assessors for the same asset. High variance signals governance assessment unreliability. Surfaces calibration gaps.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1627632"/>
            <a:ext cx="63500" cy="458344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1627632"/>
            <a:ext cx="1371600" cy="438912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44768" y="16824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Assessor
Certification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9632" y="2103120"/>
            <a:ext cx="12618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2BA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25032" y="2103120"/>
            <a:ext cx="1211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2BAD48"/>
                </a:solidFill>
                <a:latin typeface="Calibri"/>
              </a:rPr>
              <a:t>Phase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2377440"/>
            <a:ext cx="1261872" cy="3595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Certify assessors to governance assessment standards. Certification earned through demonstrated calibration — not self-declaration.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16952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616952" y="1627632"/>
            <a:ext cx="63500" cy="45834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16952" y="1627632"/>
            <a:ext cx="1371600" cy="43891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16952" y="16824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Consensus
Assessments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71816" y="2103120"/>
            <a:ext cx="12618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7216" y="2103120"/>
            <a:ext cx="1211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F51B5"/>
                </a:solidFill>
                <a:latin typeface="Calibri"/>
              </a:rPr>
              <a:t>Phase 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71816" y="2377440"/>
            <a:ext cx="1261872" cy="3595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Multi-assessor consensus scoring. Where assessors disagree, a structured consensus process resolves variance before the assessment is recorded.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89136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89136" y="1627632"/>
            <a:ext cx="63500" cy="4583440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89136" y="1627632"/>
            <a:ext cx="1371600" cy="438912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89136" y="16824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Benchmark
Recommendations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0" y="2103120"/>
            <a:ext cx="12618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69400" y="2103120"/>
            <a:ext cx="1211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7A59"/>
                </a:solidFill>
                <a:latin typeface="Calibri"/>
              </a:rPr>
              <a:t>Phase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2377440"/>
            <a:ext cx="1261872" cy="3595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Recommendations generated from benchmarking comparisons. Specific, actionable, and evidence-backed — not generic advice.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561320" y="1627632"/>
            <a:ext cx="1371600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61320" y="1627632"/>
            <a:ext cx="63500" cy="4583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561320" y="1627632"/>
            <a:ext cx="1371600" cy="43891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61320" y="16824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Assessment
Academy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616184" y="2103120"/>
            <a:ext cx="12618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641584" y="2103120"/>
            <a:ext cx="1211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4B8A6"/>
                </a:solidFill>
                <a:latin typeface="Calibri"/>
              </a:rPr>
              <a:t>Phase 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16184" y="2377440"/>
            <a:ext cx="1261872" cy="3595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A4A4A"/>
                </a:solidFill>
                <a:latin typeface="Calibri"/>
              </a:rPr>
              <a:t>Knowledge library for governance assessors. Concepts, standards, examples, and calibration exercises accessible within the platform.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6032" y="6251072"/>
            <a:ext cx="11676888" cy="274320"/>
          </a:xfrm>
          <a:prstGeom prst="rect">
            <a:avLst/>
          </a:prstGeom>
          <a:solidFill>
            <a:srgbClr val="F5F5F5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" y="6269360"/>
            <a:ext cx="11311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5D00ED"/>
                </a:solidFill>
                <a:latin typeface="Calibri"/>
              </a:rPr>
              <a:t>GACF answers: Are your governance assessments consistent? Are your assessors calibrated? Can you defend the score?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NEW — OMG vNEXT: GOVERNANCE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21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From Governance Records to Governance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Three intelligence capabilities that answer the one question every executive asks: ‘Is our governance actually working?’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38039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38039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3803904" cy="4572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82496"/>
            <a:ext cx="3803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 Light"/>
              </a:rPr>
              <a:t>Governance
Value Dashboard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139696"/>
            <a:ext cx="35478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2BA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9448" y="2139696"/>
            <a:ext cx="3497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2BAD48"/>
                </a:solidFill>
                <a:latin typeface="Calibri"/>
              </a:rPr>
              <a:t>GOVERNANCE ROI &amp;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" y="2432304"/>
            <a:ext cx="3511296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Quantifies the business value delivered by the governance programme.
Value-at-risk protected, compliance costs reduced, incidents prevented, and decisions accelerated — all expressed in measurable business terms.
Governance is no longer a cost centre. It is a risk management investment with a measurable return.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3511296" cy="1270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0800" cy="27432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4480560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Value-at-risk protected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64608"/>
            <a:ext cx="50800" cy="27432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864608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Incidents prevented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48656"/>
            <a:ext cx="50800" cy="27432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5248656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Compliance costs reduced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32704"/>
            <a:ext cx="50800" cy="27432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5632704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Decisions accelerated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016752"/>
            <a:ext cx="50800" cy="27432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601675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Regulatory fines avoided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30624" y="1665732"/>
            <a:ext cx="38039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92524" y="1627632"/>
            <a:ext cx="38039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92524" y="1627632"/>
            <a:ext cx="63500" cy="45834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92524" y="1627632"/>
            <a:ext cx="3803904" cy="457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92524" y="1682496"/>
            <a:ext cx="3803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 Light"/>
              </a:rPr>
              <a:t>Governance
Drift Center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540" y="2139696"/>
            <a:ext cx="35478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5940" y="2139696"/>
            <a:ext cx="3497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A855F7"/>
                </a:solidFill>
                <a:latin typeface="Calibri"/>
              </a:rPr>
              <a:t>CONTINUOUS DRIFT DETECTION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8828" y="2432304"/>
            <a:ext cx="3511296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Detects when an AI asset's governance health degrades from its approved and governed state.
Drift is scored, root-caused, and triaged — before it becomes a regulatory finding. Drift resolution is tracked as a governance action with a named owner and deadline.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38828" y="4370832"/>
            <a:ext cx="3511296" cy="127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93692" y="4480560"/>
            <a:ext cx="50800" cy="2743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39996" y="4480560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Drift score per asset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93692" y="4864608"/>
            <a:ext cx="50800" cy="2743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39996" y="4864608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Root cause identification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93692" y="5248656"/>
            <a:ext cx="50800" cy="2743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9996" y="5248656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Severity: Low/Medium/High/Critical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93692" y="5632704"/>
            <a:ext cx="50800" cy="2743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39996" y="5632704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Recommended resolution action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93692" y="6016752"/>
            <a:ext cx="50800" cy="2743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9996" y="601675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Drift resolution tracking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67116" y="1665732"/>
            <a:ext cx="3803904" cy="4583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29016" y="1627632"/>
            <a:ext cx="3803904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29016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29016" y="1627632"/>
            <a:ext cx="3803904" cy="45720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29016" y="1682496"/>
            <a:ext cx="3803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 Light"/>
              </a:rPr>
              <a:t>Governance
Health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57032" y="2139696"/>
            <a:ext cx="35478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00A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82432" y="2139696"/>
            <a:ext cx="34970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A0ED"/>
                </a:solidFill>
                <a:latin typeface="Calibri"/>
              </a:rPr>
              <a:t>5-PILLAR HEALTH ENGINE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2432304"/>
            <a:ext cx="3511296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Continuous 5-pillar governance health scoring for every live AI asset.
Healthy, Watchlist, or Attention Required — updated continuously. Each pillar scored independently so the root cause of degradation is immediately visible, not buried in an aggregate.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75320" y="4370832"/>
            <a:ext cx="3511296" cy="1270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0184" y="4480560"/>
            <a:ext cx="50800" cy="27432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76488" y="4480560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Risk pillar health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30184" y="4864608"/>
            <a:ext cx="50800" cy="27432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76488" y="4864608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Validation pillar health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330184" y="5248656"/>
            <a:ext cx="50800" cy="27432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76488" y="5248656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Policy pillar health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30184" y="5632704"/>
            <a:ext cx="50800" cy="27432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76488" y="5632704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Evidence pillar health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0184" y="6016752"/>
            <a:ext cx="50800" cy="27432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76488" y="6016752"/>
            <a:ext cx="3310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1F1F"/>
                </a:solidFill>
                <a:latin typeface="Calibri"/>
              </a:rPr>
              <a:t>Ownership pillar health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F1334A"/>
                </a:solidFill>
                <a:latin typeface="Calibri"/>
              </a:rPr>
              <a:t>NEW — AGENT GOVERNANCE &amp; TOOL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B0B0B0"/>
                </a:solidFill>
                <a:latin typeface="Calibri"/>
              </a:rPr>
              <a:t>22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1F1F"/>
                </a:solidFill>
                <a:latin typeface="Calibri Light"/>
              </a:rPr>
              <a:t>Autonomous Agents Held to the Same Governance 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Agents and the tools they invoke are not governed as an exception. They follow the identical ownership, approval, and evidence model as every other AI asset.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2207361" cy="438912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Accountability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Mapping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121408"/>
            <a:ext cx="1951329" cy="12700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Business, Technical, Risk and Compliance Owner and Approver assigned to every agent, the same five-role model used platform-wide, so agent accountability is never a special case.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61513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23413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23413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23413" y="1627632"/>
            <a:ext cx="2207361" cy="438912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23413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Reauthorization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51429" y="2121408"/>
            <a:ext cx="1951329" cy="12700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51429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Every agent authorization carries an approval date, a review cadence, and a live status — Active, Due Soon, Overdue, or Expired — so a past approval is never mistaken for a current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8894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90794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0794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90794" y="1627632"/>
            <a:ext cx="2207361" cy="4389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90794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Decision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Traceability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18810" y="2121408"/>
            <a:ext cx="1951329" cy="12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8810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Any agent action can be reconstructed end-to-end: Agent → Tool Used → Action Performed → Evidence Generated → Outcome, assembled from the real record, not a scripted summary.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96275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58175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58175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58175" y="1627632"/>
            <a:ext cx="2207361" cy="438912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58175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Tool Registry &amp;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Classification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86191" y="2121408"/>
            <a:ext cx="1951329" cy="12700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86191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Every capability an agent can call is registered and classified — from Read-Only to Destructive — before it is ever considered for approval.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63656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25556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25556" y="1627632"/>
            <a:ext cx="63500" cy="4583440"/>
          </a:xfrm>
          <a:prstGeom prst="rect">
            <a:avLst/>
          </a:prstGeom>
          <a:solidFill>
            <a:srgbClr val="2BA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25556" y="1627632"/>
            <a:ext cx="2207361" cy="438912"/>
          </a:xfrm>
          <a:prstGeom prst="rect">
            <a:avLst/>
          </a:prstGeom>
          <a:solidFill>
            <a:srgbClr val="2BA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25556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Tool Approval &amp;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Monitoring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53572" y="2121408"/>
            <a:ext cx="1951329" cy="12700"/>
          </a:xfrm>
          <a:prstGeom prst="rect">
            <a:avLst/>
          </a:prstGeom>
          <a:solidFill>
            <a:srgbClr val="2BA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53572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No agent is granted a tool without a recorded decision and a named owner. Tool usage is monitored on an ongoing basis, not only at the point of approval.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" y="6251072"/>
            <a:ext cx="11676888" cy="274320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" y="6269360"/>
            <a:ext cx="113111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An agent acts with delegated authority. OMG holds it to the same accountability, currency, and evidence standard as any human decision-maker.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F1334A"/>
                </a:solidFill>
                <a:latin typeface="Calibri"/>
              </a:rPr>
              <a:t>NEW — CERTIFICATION, CONTROL &amp; READINESS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B0B0B0"/>
                </a:solidFill>
                <a:latin typeface="Calibri"/>
              </a:rPr>
              <a:t>23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1F1F"/>
                </a:solidFill>
                <a:latin typeface="Calibri Light"/>
              </a:rPr>
              <a:t>Formal Credentials, Tested Controls, Honest Readiness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Three governance layers that turn compliance claims into evidence-backed, continuously verified positions.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2207361" cy="438912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Control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Library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121408"/>
            <a:ext cx="1951329" cy="12700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One reusable library of governance controls, preventive and detective, attachable to any Asset, Model, Knowledge Asset, Prompt, Agent, or Tool. One control, many attachments.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61513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23413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23413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23413" y="1627632"/>
            <a:ext cx="2207361" cy="438912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23413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Control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Effectiveness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51429" y="2121408"/>
            <a:ext cx="1951329" cy="12700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51429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Controls are tested, not just declared. Real pass or fail results drive each control's rating — Effective, Partially Effective, or Ineffective.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8894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90794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0794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90794" y="1627632"/>
            <a:ext cx="2207361" cy="4389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90794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Certification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18810" y="2121408"/>
            <a:ext cx="1951329" cy="12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8810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Formal certifications issued, renewed, or revoked against any Asset, Model, or Tool, each backed by linked assessment evidence, not a self-declared badge.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96275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58175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58175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58175" y="1627632"/>
            <a:ext cx="2207361" cy="438912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58175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Certification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86191" y="2121408"/>
            <a:ext cx="1951329" cy="12700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86191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Every certification's status — Active, Expiring Soon, Expired, or Revoked — is computed live against its expiry date, so nothing goes stale unnoticed.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63656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25556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25556" y="1627632"/>
            <a:ext cx="63500" cy="4583440"/>
          </a:xfrm>
          <a:prstGeom prst="rect">
            <a:avLst/>
          </a:prstGeom>
          <a:solidFill>
            <a:srgbClr val="2BA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25556" y="1627632"/>
            <a:ext cx="2207361" cy="438912"/>
          </a:xfrm>
          <a:prstGeom prst="rect">
            <a:avLst/>
          </a:prstGeom>
          <a:solidFill>
            <a:srgbClr val="2BA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25556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Governance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Readiness Scoring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53572" y="2121408"/>
            <a:ext cx="1951329" cy="12700"/>
          </a:xfrm>
          <a:prstGeom prst="rect">
            <a:avLst/>
          </a:prstGeom>
          <a:solidFill>
            <a:srgbClr val="2BA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53572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One honest signal — Ready, Partially Ready, or Not Ready — now extended across assets, models, tools, and certification decisions.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" y="6251072"/>
            <a:ext cx="11676888" cy="274320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" y="6269360"/>
            <a:ext cx="113111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Readiness is not a score to game. It tells you exactly what governance work remains, nothing more, nothing less.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F1334A"/>
                </a:solidFill>
                <a:latin typeface="Calibri"/>
              </a:rPr>
              <a:t>NEW — GOVERNANCE CONTINUITY &amp; EXECUTIVE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B0B0B0"/>
                </a:solidFill>
                <a:latin typeface="Calibri"/>
              </a:rPr>
              <a:t>24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1F1F"/>
                </a:solidFill>
                <a:latin typeface="Calibri Light"/>
              </a:rPr>
              <a:t>One Command Center. Governance That Never Goes Stale.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Approvals are re-validated on a schedule, evidence spans every governed entity, and the full portfolio rolls up into a single executive 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132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63500" cy="4583440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627632"/>
            <a:ext cx="2207361" cy="438912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Governance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Continuity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121408"/>
            <a:ext cx="1951329" cy="12700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Scheduled reauthorization keeps every approval current. Governance State moves through Monitoring, Reassessment Required, or Retired — never a frozen, point-in-time snapshot.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61513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23413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23413" y="1627632"/>
            <a:ext cx="63500" cy="4583440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23413" y="1627632"/>
            <a:ext cx="2207361" cy="438912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23413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Universal Evidence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Registry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51429" y="2121408"/>
            <a:ext cx="1951329" cy="12700"/>
          </a:xfrm>
          <a:prstGeom prst="rect">
            <a:avLst/>
          </a:prstGeom>
          <a:solidFill>
            <a:srgbClr val="5D0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51429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One evidence model spans every governed entity — Assets, Models, Knowledge Assets, Prompts, Tools, and Agents — each record owned, dated, and tracked to expiry.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8894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90794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0794" y="1627632"/>
            <a:ext cx="63500" cy="4583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90794" y="1627632"/>
            <a:ext cx="2207361" cy="43891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90794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Universal Lifecycle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Console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18810" y="2121408"/>
            <a:ext cx="1951329" cy="12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18810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A single portfolio-wide view of where every Model, Knowledge Asset, Prompt, and Tool sits in its governance journey, from registration through retirement.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96275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58175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58175" y="1627632"/>
            <a:ext cx="63500" cy="4583440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58175" y="1627632"/>
            <a:ext cx="2207361" cy="438912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58175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Cross-Domain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Governance Reports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86191" y="2121408"/>
            <a:ext cx="1951329" cy="12700"/>
          </a:xfrm>
          <a:prstGeom prst="rect">
            <a:avLst/>
          </a:prstGeom>
          <a:solidFill>
            <a:srgbClr val="00A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86191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Executive report views spanning coverage, readiness, evidence, control effectiveness, certification, continuity, and accountability, from one underlying dataset.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63656" y="1665732"/>
            <a:ext cx="2207361" cy="458344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25556" y="1627632"/>
            <a:ext cx="2207361" cy="458344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25556" y="1627632"/>
            <a:ext cx="63500" cy="4583440"/>
          </a:xfrm>
          <a:prstGeom prst="rect">
            <a:avLst/>
          </a:prstGeom>
          <a:solidFill>
            <a:srgbClr val="2BA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25556" y="1627632"/>
            <a:ext cx="2207361" cy="438912"/>
          </a:xfrm>
          <a:prstGeom prst="rect">
            <a:avLst/>
          </a:prstGeom>
          <a:solidFill>
            <a:srgbClr val="2BA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25556" y="1682496"/>
            <a:ext cx="220736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Executive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53572" y="2121408"/>
            <a:ext cx="1951329" cy="12700"/>
          </a:xfrm>
          <a:prstGeom prst="rect">
            <a:avLst/>
          </a:prstGeom>
          <a:solidFill>
            <a:srgbClr val="2BA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53572" y="2211960"/>
            <a:ext cx="1951329" cy="384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4A4A"/>
                </a:solidFill>
                <a:latin typeface="Calibri"/>
              </a:rPr>
              <a:t>A single command-center view of risk, readiness, evidence, certifications, accountability, and open findings across the entire AI portfolio.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" y="6251072"/>
            <a:ext cx="11676888" cy="274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" y="6269360"/>
            <a:ext cx="113111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The board asks: is our AI governed, right now? OMG's Executive Dashboard answers that in one screen.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20240" y="16459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PLATFORM STRENGTHS — AS OF 7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25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What Is Genuinely Built and Working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225296"/>
            <a:ext cx="11676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4A4A"/>
                </a:solidFill>
                <a:latin typeface="Calibri"/>
              </a:rPr>
              <a:t>Every module described in this briefing is live, navigable, and operating on real production persistence.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63500" cy="2340864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1627632"/>
            <a:ext cx="3749039" cy="54864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36391" y="1719072"/>
            <a:ext cx="8046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61791" y="1719072"/>
            <a:ext cx="753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3F51B5"/>
                </a:solidFill>
                <a:latin typeface="Calibri"/>
              </a:rPr>
              <a:t>FULLY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1719072"/>
            <a:ext cx="2670047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85+ Modules
Across 12 Domains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" y="2194560"/>
            <a:ext cx="3511295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A working end-to-end application covering every stage of the AI governance lifecycle — from initial registration through board reporting and change governance.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28515" y="1627632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28515" y="1627632"/>
            <a:ext cx="63500" cy="2340864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28515" y="1627632"/>
            <a:ext cx="3749039" cy="54864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08874" y="1719072"/>
            <a:ext cx="8046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2BA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34274" y="1719072"/>
            <a:ext cx="753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2BAD48"/>
                </a:solidFill>
                <a:latin typeface="Calibri"/>
              </a:rPr>
              <a:t>PRODUCTION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3107" y="1719072"/>
            <a:ext cx="2670047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Real Production
Persistence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3107" y="2194560"/>
            <a:ext cx="3511295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Every domain reads and writes live to Neon PostgreSQL. Not browser storage. Not mock data. Real database persistence with referential integrity.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998" y="1627632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00998" y="1627632"/>
            <a:ext cx="63500" cy="2340864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00998" y="1627632"/>
            <a:ext cx="3749039" cy="54864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357" y="1719072"/>
            <a:ext cx="8046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5D0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06757" y="1719072"/>
            <a:ext cx="753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5D00ED"/>
                </a:solidFill>
                <a:latin typeface="Calibri"/>
              </a:rPr>
              <a:t>AI-NATIVE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0" y="1719072"/>
            <a:ext cx="2670047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Governance Intelligence
Engine (Releases 7–10)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0" y="2194560"/>
            <a:ext cx="3511295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Four-release reasoning stack — policy-to-outcome chains, recommended actions, full decision traceability, and customer-configurable rules without code changes.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4151376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" y="4151376"/>
            <a:ext cx="63500" cy="2340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" y="4151376"/>
            <a:ext cx="3749039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36391" y="4242816"/>
            <a:ext cx="8046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F13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61791" y="4242816"/>
            <a:ext cx="753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1334A"/>
                </a:solidFill>
                <a:latin typeface="Calibri"/>
              </a:rPr>
              <a:t>ENFORCED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" y="4242816"/>
            <a:ext cx="2670047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Backend-Enforced
RBAC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" y="4718304"/>
            <a:ext cx="3511295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7 roles with server-side enforcement on every API endpoint. No asset can be saved without four named governance owners. Hard constraints, not soft UI suggestions.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28515" y="4151376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28515" y="4151376"/>
            <a:ext cx="63500" cy="2340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28515" y="4151376"/>
            <a:ext cx="3749039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008874" y="4242816"/>
            <a:ext cx="8046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34274" y="4242816"/>
            <a:ext cx="753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59E0B"/>
                </a:solidFill>
                <a:latin typeface="Calibri"/>
              </a:rPr>
              <a:t>REGULATORY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3107" y="4242816"/>
            <a:ext cx="2670047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Compliance Pack
Framework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3107" y="4718304"/>
            <a:ext cx="3511295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Reusable regulatory framework. RBI-001 to RBI-008 pre-loaded. ISO 42001, EU AI Act, NIST AI RMF ready for configuration. Evidence-backed coverage, not self-assessed.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0998" y="4151376"/>
            <a:ext cx="3749039" cy="2340864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00998" y="4151376"/>
            <a:ext cx="63500" cy="2340864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00998" y="4151376"/>
            <a:ext cx="3749039" cy="54864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881357" y="4242816"/>
            <a:ext cx="804672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06757" y="4242816"/>
            <a:ext cx="753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7A59"/>
                </a:solidFill>
                <a:latin typeface="Calibri"/>
              </a:rPr>
              <a:t>COMPLETE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5590" y="4242816"/>
            <a:ext cx="2670047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1F1F"/>
                </a:solidFill>
                <a:latin typeface="Calibri Light"/>
              </a:rPr>
              <a:t>Governance Change
Management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65590" y="4718304"/>
            <a:ext cx="3511295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  <a:latin typeface="Calibri"/>
              </a:rPr>
              <a:t>Phase 10 complete — every AI change classified, impact-assessed, routed for approval, and permanently recorded. AI governance does not stop at first approval.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" y="6437376"/>
            <a:ext cx="11676888" cy="64008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edia_1787327977594.png"/>
          <p:cNvPicPr>
            <a:picLocks noChangeAspect="1"/>
          </p:cNvPicPr>
          <p:nvPr/>
        </p:nvPicPr>
        <p:blipFill>
          <a:blip r:embed="rId2"/>
          <a:srcRect l="800" t="800" r="75200" b="75200"/>
          <a:stretch>
            <a:fillRect/>
          </a:stretch>
        </p:blipFill>
        <p:spPr>
          <a:xfrm>
            <a:off x="256032" y="91440"/>
            <a:ext cx="146304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64240" y="1645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26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48640"/>
            <a:ext cx="1167688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1F1F"/>
                </a:solidFill>
                <a:latin typeface="Calibri Light"/>
              </a:rPr>
              <a:t>Why an Organisation Would Use OMG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1170432"/>
            <a:ext cx="11676888" cy="1905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225296"/>
            <a:ext cx="11676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1334A"/>
                </a:solidFill>
                <a:latin typeface="Calibri"/>
              </a:rPr>
              <a:t>EXECUTIVE SUMMARY  —  OrchestrAI Model Governance  |  v1.0  |  As of 8 September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627632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63500" cy="7315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627632"/>
            <a:ext cx="3749039" cy="54864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1907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51B5"/>
                </a:solidFill>
                <a:latin typeface="Calibri Light"/>
              </a:rPr>
              <a:t>One 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5648" y="1719072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Every AI system the organisation runs — one register.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28515" y="1627632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28515" y="1627632"/>
            <a:ext cx="63500" cy="73152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28515" y="1627632"/>
            <a:ext cx="3749039" cy="54864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3107" y="171907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D00ED"/>
                </a:solidFill>
                <a:latin typeface="Calibri Light"/>
              </a:rPr>
              <a:t>Clear Accountability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8131" y="1719072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Five named owners on every asset. No orphaned AI.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998" y="1627632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0998" y="1627632"/>
            <a:ext cx="63500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0998" y="1627632"/>
            <a:ext cx="3749039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0" y="171907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 Light"/>
              </a:rPr>
              <a:t>Evidenced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0614" y="1719072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Four tiers. Six validation disciplines. All recorded.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" y="2468880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2468880"/>
            <a:ext cx="63500" cy="731520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2468880"/>
            <a:ext cx="3749039" cy="54864"/>
          </a:xfrm>
          <a:prstGeom prst="rect">
            <a:avLst/>
          </a:prstGeom>
          <a:solidFill>
            <a:srgbClr val="00A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" y="25603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0ED"/>
                </a:solidFill>
                <a:latin typeface="Calibri Light"/>
              </a:rPr>
              <a:t>Governed Decisions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2560320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Signed GO/Conditional GO/No Go. Always traceable.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28515" y="2468880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28515" y="2468880"/>
            <a:ext cx="63500" cy="73152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28515" y="2468880"/>
            <a:ext cx="3749039" cy="54864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3107" y="25603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AD48"/>
                </a:solidFill>
                <a:latin typeface="Calibri Light"/>
              </a:rPr>
              <a:t>Policy-Aligned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8131" y="2560320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Every asset mapped to every applicable policy.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0998" y="2468880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00998" y="2468880"/>
            <a:ext cx="63500" cy="73152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0998" y="2468880"/>
            <a:ext cx="3749039" cy="54864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65590" y="25603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1334A"/>
                </a:solidFill>
                <a:latin typeface="Calibri Light"/>
              </a:rPr>
              <a:t>Change Governed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0614" y="2560320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Every AI change classified, assessed, and re-approved.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310128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6032" y="3310128"/>
            <a:ext cx="63500" cy="7315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56032" y="3310128"/>
            <a:ext cx="3749039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4" y="34015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B8A6"/>
                </a:solidFill>
                <a:latin typeface="Calibri Light"/>
              </a:rPr>
              <a:t>Continuously Monitored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55648" y="3401568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Health scored daily. Drift detected. Kill switch ready.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28515" y="3310128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28515" y="3310128"/>
            <a:ext cx="63500" cy="7315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28515" y="3310128"/>
            <a:ext cx="3749039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3107" y="34015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855F7"/>
                </a:solidFill>
                <a:latin typeface="Calibri Light"/>
              </a:rPr>
              <a:t>Regulatory Ready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8131" y="3401568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RBI, ISO 42001, EU AI Act, NIST AI RMF pre-loaded.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00998" y="3310128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00998" y="3310128"/>
            <a:ext cx="63500" cy="731520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00998" y="3310128"/>
            <a:ext cx="3749039" cy="54864"/>
          </a:xfrm>
          <a:prstGeom prst="rect">
            <a:avLst/>
          </a:prstGeom>
          <a:solidFill>
            <a:srgbClr val="FF7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65590" y="34015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7A59"/>
                </a:solidFill>
                <a:latin typeface="Calibri Light"/>
              </a:rPr>
              <a:t>Board Reportable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00614" y="3401568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Auto-generated board-ready AI governance reports.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56032" y="4151376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56032" y="4151376"/>
            <a:ext cx="63500" cy="731520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6032" y="4151376"/>
            <a:ext cx="3749039" cy="54864"/>
          </a:xfrm>
          <a:prstGeom prst="rect">
            <a:avLst/>
          </a:prstGeom>
          <a:solidFill>
            <a:srgbClr val="2BA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624" y="42428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AD48"/>
                </a:solidFill>
                <a:latin typeface="Calibri Light"/>
              </a:rPr>
              <a:t>Effectiveness Measured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55648" y="4242816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Score, ROI, Maturity, and Outcomes — governance proves its worth.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28515" y="4151376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128515" y="4151376"/>
            <a:ext cx="63500" cy="731520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28515" y="4151376"/>
            <a:ext cx="3749039" cy="54864"/>
          </a:xfrm>
          <a:prstGeom prst="rect">
            <a:avLst/>
          </a:prstGeom>
          <a:solidFill>
            <a:srgbClr val="5D0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93107" y="42428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D00ED"/>
                </a:solidFill>
                <a:latin typeface="Calibri Light"/>
              </a:rPr>
              <a:t>Assessment Consistent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8131" y="4242816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GACF: calibrated, certified, defensible assessments.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00998" y="4151376"/>
            <a:ext cx="3749039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00998" y="4151376"/>
            <a:ext cx="63500" cy="7315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00998" y="4151376"/>
            <a:ext cx="3749039" cy="54864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65590" y="42428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F51B5"/>
                </a:solidFill>
                <a:latin typeface="Calibri Light"/>
              </a:rPr>
              <a:t>Intelligence-Driven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00614" y="4242816"/>
            <a:ext cx="2139695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A4A4A"/>
                </a:solidFill>
                <a:latin typeface="Calibri"/>
              </a:rPr>
              <a:t>Reasoning chains, traceability, configurable governance logic.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56032" y="6251072"/>
            <a:ext cx="11676888" cy="274320"/>
          </a:xfrm>
          <a:prstGeom prst="rect">
            <a:avLst/>
          </a:prstGeom>
          <a:solidFill>
            <a:srgbClr val="F1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8912" y="6269360"/>
            <a:ext cx="11311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OrchestrAI OMG  |  Enterprise AI Governance  |  vThink Global Technologies Pvt Ltd  |  vthinkorchestrai@gmail.com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6583680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Know Your AI.  Govern Your AI.  Control Your AI.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6583680"/>
            <a:ext cx="6035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B0B0"/>
                </a:solidFill>
                <a:latin typeface="Calibri"/>
              </a:rPr>
              <a:t>OrchestrAI OMG  -  Enterprise AI Governance Operating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