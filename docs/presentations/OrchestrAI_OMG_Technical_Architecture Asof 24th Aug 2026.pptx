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2303C"/>
        </a:solidFill>
        <a:effectLst/>
      </p:bgPr>
    </p:bg>
    <p:spTree>
      <p:nvGrpSpPr>
        <p:cNvPr id="1" name=""/>
        <p:cNvGrpSpPr/>
        <p:nvPr/>
      </p:nvGrpSpPr>
      <p:grpSpPr/>
      <p:sp>
        <p:nvSpPr>
          <p:cNvPr id="2" name="Rectangle 1"/>
          <p:cNvSpPr/>
          <p:nvPr/>
        </p:nvSpPr>
        <p:spPr>
          <a:xfrm>
            <a:off x="8138160" y="2331720"/>
            <a:ext cx="3291840" cy="9144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0" y="2907792"/>
            <a:ext cx="3291840" cy="9144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38160" y="3483864"/>
            <a:ext cx="3291840" cy="9144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7315200" cy="274320"/>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TECHNICAL ARCHITECTURE BRIEFING</a:t>
            </a:r>
          </a:p>
        </p:txBody>
      </p:sp>
      <p:sp>
        <p:nvSpPr>
          <p:cNvPr id="6" name="TextBox 5"/>
          <p:cNvSpPr txBox="1"/>
          <p:nvPr/>
        </p:nvSpPr>
        <p:spPr>
          <a:xfrm>
            <a:off x="548640" y="1783080"/>
            <a:ext cx="7315200" cy="960120"/>
          </a:xfrm>
          <a:prstGeom prst="rect">
            <a:avLst/>
          </a:prstGeom>
          <a:noFill/>
        </p:spPr>
        <p:txBody>
          <a:bodyPr wrap="square" anchor="t" lIns="0" rIns="0" tIns="0" bIns="0">
            <a:spAutoFit/>
          </a:bodyPr>
          <a:lstStyle/>
          <a:p>
            <a:pPr algn="l">
              <a:lnSpc>
                <a:spcPct val="108000"/>
              </a:lnSpc>
            </a:pPr>
            <a:r>
              <a:rPr sz="5400" b="1" i="0">
                <a:solidFill>
                  <a:srgbClr val="FFFFFF"/>
                </a:solidFill>
                <a:latin typeface="Cambria"/>
              </a:rPr>
              <a:t>OrchestrAI OMG</a:t>
            </a:r>
          </a:p>
        </p:txBody>
      </p:sp>
      <p:sp>
        <p:nvSpPr>
          <p:cNvPr id="7" name="TextBox 6"/>
          <p:cNvSpPr txBox="1"/>
          <p:nvPr/>
        </p:nvSpPr>
        <p:spPr>
          <a:xfrm>
            <a:off x="548640" y="2788920"/>
            <a:ext cx="7315200" cy="411480"/>
          </a:xfrm>
          <a:prstGeom prst="rect">
            <a:avLst/>
          </a:prstGeom>
          <a:noFill/>
        </p:spPr>
        <p:txBody>
          <a:bodyPr wrap="square" anchor="t" lIns="0" rIns="0" tIns="0" bIns="0">
            <a:spAutoFit/>
          </a:bodyPr>
          <a:lstStyle/>
          <a:p>
            <a:pPr algn="l">
              <a:lnSpc>
                <a:spcPct val="108000"/>
              </a:lnSpc>
            </a:pPr>
            <a:r>
              <a:rPr sz="2100" b="0" i="0">
                <a:solidFill>
                  <a:srgbClr val="E8EDF2"/>
                </a:solidFill>
                <a:latin typeface="Cambria"/>
              </a:rPr>
              <a:t>Enterprise AI Governance Operating Platform</a:t>
            </a:r>
          </a:p>
        </p:txBody>
      </p:sp>
      <p:sp>
        <p:nvSpPr>
          <p:cNvPr id="8" name="TextBox 7"/>
          <p:cNvSpPr txBox="1"/>
          <p:nvPr/>
        </p:nvSpPr>
        <p:spPr>
          <a:xfrm>
            <a:off x="548640" y="3401568"/>
            <a:ext cx="7315200" cy="731520"/>
          </a:xfrm>
          <a:prstGeom prst="rect">
            <a:avLst/>
          </a:prstGeom>
          <a:noFill/>
        </p:spPr>
        <p:txBody>
          <a:bodyPr wrap="square" anchor="t" lIns="0" rIns="0" tIns="0" bIns="0">
            <a:spAutoFit/>
          </a:bodyPr>
          <a:lstStyle/>
          <a:p>
            <a:pPr algn="l">
              <a:lnSpc>
                <a:spcPct val="120000"/>
              </a:lnSpc>
            </a:pPr>
            <a:r>
              <a:rPr sz="1250" b="0" i="0">
                <a:solidFill>
                  <a:srgbClr val="B9C6D1"/>
                </a:solidFill>
                <a:latin typeface="Calibri"/>
              </a:rPr>
              <a:t>Source of truth: codebase. Every figure in this deck is traceable to a file, and capability that is incomplete is labelled as such.</a:t>
            </a:r>
          </a:p>
        </p:txBody>
      </p:sp>
      <p:sp>
        <p:nvSpPr>
          <p:cNvPr id="9" name="Rectangle 8"/>
          <p:cNvSpPr/>
          <p:nvPr/>
        </p:nvSpPr>
        <p:spPr>
          <a:xfrm>
            <a:off x="548640" y="4343400"/>
            <a:ext cx="7315200" cy="566928"/>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343400"/>
            <a:ext cx="6949440" cy="566928"/>
          </a:xfrm>
          <a:prstGeom prst="rect">
            <a:avLst/>
          </a:prstGeom>
          <a:noFill/>
        </p:spPr>
        <p:txBody>
          <a:bodyPr wrap="square" anchor="ctr" lIns="0" rIns="0" tIns="0" bIns="0">
            <a:spAutoFit/>
          </a:bodyPr>
          <a:lstStyle/>
          <a:p>
            <a:pPr algn="l">
              <a:lnSpc>
                <a:spcPct val="108000"/>
              </a:lnSpc>
            </a:pPr>
            <a:r>
              <a:rPr sz="1100" b="0" i="0">
                <a:solidFill>
                  <a:srgbClr val="E8EDF2"/>
                </a:solidFill>
                <a:latin typeface="Calibri"/>
              </a:rPr>
              <a:t>Audience:  CTO  ·  Enterprise &amp; Solution Architects  ·  Governance Architects  ·  Engineering Leaders</a:t>
            </a:r>
          </a:p>
        </p:txBody>
      </p:sp>
      <p:sp>
        <p:nvSpPr>
          <p:cNvPr id="11" name="TextBox 10"/>
          <p:cNvSpPr txBox="1"/>
          <p:nvPr/>
        </p:nvSpPr>
        <p:spPr>
          <a:xfrm>
            <a:off x="548640" y="5943600"/>
            <a:ext cx="10515600" cy="274320"/>
          </a:xfrm>
          <a:prstGeom prst="rect">
            <a:avLst/>
          </a:prstGeom>
          <a:noFill/>
        </p:spPr>
        <p:txBody>
          <a:bodyPr wrap="square" anchor="t" lIns="0" rIns="0" tIns="0" bIns="0">
            <a:spAutoFit/>
          </a:bodyPr>
          <a:lstStyle/>
          <a:p>
            <a:pPr algn="l">
              <a:lnSpc>
                <a:spcPct val="108000"/>
              </a:lnSpc>
            </a:pPr>
            <a:r>
              <a:rPr sz="1050" b="0" i="0">
                <a:solidFill>
                  <a:srgbClr val="1F8A82"/>
                </a:solidFill>
                <a:latin typeface="Courier New"/>
              </a:rPr>
              <a:t>62 pages  ·  244 service functions  ·  44 data models  ·  85 API endpoints  ·  7 roles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 · PRODUCT OVERVIEW</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A governance system of record for enterprise AI</a:t>
            </a:r>
          </a:p>
        </p:txBody>
      </p:sp>
      <p:sp>
        <p:nvSpPr>
          <p:cNvPr id="4" name="TextBox 3"/>
          <p:cNvSpPr txBox="1"/>
          <p:nvPr/>
        </p:nvSpPr>
        <p:spPr>
          <a:xfrm>
            <a:off x="548640" y="1481328"/>
            <a:ext cx="6949440" cy="960120"/>
          </a:xfrm>
          <a:prstGeom prst="rect">
            <a:avLst/>
          </a:prstGeom>
          <a:noFill/>
        </p:spPr>
        <p:txBody>
          <a:bodyPr wrap="square" anchor="t" lIns="0" rIns="0" tIns="0" bIns="0">
            <a:spAutoFit/>
          </a:bodyPr>
          <a:lstStyle/>
          <a:p>
            <a:pPr algn="l">
              <a:lnSpc>
                <a:spcPct val="118000"/>
              </a:lnSpc>
            </a:pPr>
            <a:r>
              <a:rPr sz="1300" b="0" i="0">
                <a:solidFill>
                  <a:srgbClr val="2E3B47"/>
                </a:solidFill>
                <a:latin typeface="Calibri"/>
              </a:rPr>
              <a:t>OMG registers every AI asset an organisation runs, assigns accountable ownership, classifies risk, runs validation, captures evidence, records formal GO / NO GO decisions, governs subsequent change, reasons over governance state, monitors operational health, and writes an audit trail.</a:t>
            </a:r>
          </a:p>
        </p:txBody>
      </p:sp>
      <p:sp>
        <p:nvSpPr>
          <p:cNvPr id="5" name="TextBox 4"/>
          <p:cNvSpPr txBox="1"/>
          <p:nvPr/>
        </p:nvSpPr>
        <p:spPr>
          <a:xfrm>
            <a:off x="548640" y="2560320"/>
            <a:ext cx="6949440" cy="640080"/>
          </a:xfrm>
          <a:prstGeom prst="rect">
            <a:avLst/>
          </a:prstGeom>
          <a:noFill/>
        </p:spPr>
        <p:txBody>
          <a:bodyPr wrap="square" anchor="t" lIns="0" rIns="0" tIns="0" bIns="0">
            <a:spAutoFit/>
          </a:bodyPr>
          <a:lstStyle/>
          <a:p>
            <a:pPr algn="l">
              <a:lnSpc>
                <a:spcPct val="118000"/>
              </a:lnSpc>
            </a:pPr>
            <a:r>
              <a:rPr sz="1250" b="1" i="0">
                <a:solidFill>
                  <a:srgbClr val="1F8A82"/>
                </a:solidFill>
                <a:latin typeface="Calibri"/>
              </a:rPr>
              <a:t>Architecturally it is a config-driven React SPA with a derivation-layered domain engine, backed since Release 4 by a genuinely server-persisted NestJS + Prisma + Neon API — Repository Pattern, cache-then-network.</a:t>
            </a:r>
          </a:p>
        </p:txBody>
      </p:sp>
      <p:sp>
        <p:nvSpPr>
          <p:cNvPr id="6" name="TextBox 5"/>
          <p:cNvSpPr txBox="1"/>
          <p:nvPr/>
        </p:nvSpPr>
        <p:spPr>
          <a:xfrm>
            <a:off x="7772400" y="1481328"/>
            <a:ext cx="38404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CODEBASE SCALE</a:t>
            </a:r>
          </a:p>
        </p:txBody>
      </p:sp>
      <p:sp>
        <p:nvSpPr>
          <p:cNvPr id="7" name="Rectangle 6"/>
          <p:cNvSpPr/>
          <p:nvPr/>
        </p:nvSpPr>
        <p:spPr>
          <a:xfrm>
            <a:off x="7772400" y="1783080"/>
            <a:ext cx="3840480" cy="34747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783080"/>
            <a:ext cx="1920240" cy="347472"/>
          </a:xfrm>
          <a:prstGeom prst="rect">
            <a:avLst/>
          </a:prstGeom>
          <a:noFill/>
        </p:spPr>
        <p:txBody>
          <a:bodyPr wrap="square" anchor="ctr" lIns="0" rIns="0" tIns="0" bIns="0">
            <a:spAutoFit/>
          </a:bodyPr>
          <a:lstStyle/>
          <a:p>
            <a:pPr algn="l">
              <a:lnSpc>
                <a:spcPct val="108000"/>
              </a:lnSpc>
            </a:pPr>
            <a:r>
              <a:rPr sz="850" b="0" i="0">
                <a:solidFill>
                  <a:srgbClr val="22303C"/>
                </a:solidFill>
                <a:latin typeface="Courier New"/>
              </a:rPr>
              <a:t>frontend/src/pages</a:t>
            </a:r>
          </a:p>
        </p:txBody>
      </p:sp>
      <p:sp>
        <p:nvSpPr>
          <p:cNvPr id="9" name="TextBox 8"/>
          <p:cNvSpPr txBox="1"/>
          <p:nvPr/>
        </p:nvSpPr>
        <p:spPr>
          <a:xfrm>
            <a:off x="9784080" y="1783080"/>
            <a:ext cx="822960" cy="347472"/>
          </a:xfrm>
          <a:prstGeom prst="rect">
            <a:avLst/>
          </a:prstGeom>
          <a:noFill/>
        </p:spPr>
        <p:txBody>
          <a:bodyPr wrap="square" anchor="ctr" lIns="0" rIns="0" tIns="0" bIns="0">
            <a:spAutoFit/>
          </a:bodyPr>
          <a:lstStyle/>
          <a:p>
            <a:pPr algn="l">
              <a:lnSpc>
                <a:spcPct val="108000"/>
              </a:lnSpc>
            </a:pPr>
            <a:r>
              <a:rPr sz="900" b="0" i="0">
                <a:solidFill>
                  <a:srgbClr val="76858F"/>
                </a:solidFill>
                <a:latin typeface="Calibri"/>
              </a:rPr>
              <a:t>62 files</a:t>
            </a:r>
          </a:p>
        </p:txBody>
      </p:sp>
      <p:sp>
        <p:nvSpPr>
          <p:cNvPr id="10" name="TextBox 9"/>
          <p:cNvSpPr txBox="1"/>
          <p:nvPr/>
        </p:nvSpPr>
        <p:spPr>
          <a:xfrm>
            <a:off x="10607040" y="1783080"/>
            <a:ext cx="914400" cy="347472"/>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17,419</a:t>
            </a:r>
          </a:p>
        </p:txBody>
      </p:sp>
      <p:sp>
        <p:nvSpPr>
          <p:cNvPr id="11" name="Rectangle 10"/>
          <p:cNvSpPr/>
          <p:nvPr/>
        </p:nvSpPr>
        <p:spPr>
          <a:xfrm>
            <a:off x="7772400" y="2167128"/>
            <a:ext cx="384048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2167128"/>
            <a:ext cx="1920240" cy="347472"/>
          </a:xfrm>
          <a:prstGeom prst="rect">
            <a:avLst/>
          </a:prstGeom>
          <a:noFill/>
        </p:spPr>
        <p:txBody>
          <a:bodyPr wrap="square" anchor="ctr" lIns="0" rIns="0" tIns="0" bIns="0">
            <a:spAutoFit/>
          </a:bodyPr>
          <a:lstStyle/>
          <a:p>
            <a:pPr algn="l">
              <a:lnSpc>
                <a:spcPct val="108000"/>
              </a:lnSpc>
            </a:pPr>
            <a:r>
              <a:rPr sz="850" b="0" i="0">
                <a:solidFill>
                  <a:srgbClr val="22303C"/>
                </a:solidFill>
                <a:latin typeface="Courier New"/>
              </a:rPr>
              <a:t>frontend/src/services</a:t>
            </a:r>
          </a:p>
        </p:txBody>
      </p:sp>
      <p:sp>
        <p:nvSpPr>
          <p:cNvPr id="13" name="TextBox 12"/>
          <p:cNvSpPr txBox="1"/>
          <p:nvPr/>
        </p:nvSpPr>
        <p:spPr>
          <a:xfrm>
            <a:off x="9784080" y="2167128"/>
            <a:ext cx="822960" cy="347472"/>
          </a:xfrm>
          <a:prstGeom prst="rect">
            <a:avLst/>
          </a:prstGeom>
          <a:noFill/>
        </p:spPr>
        <p:txBody>
          <a:bodyPr wrap="square" anchor="ctr" lIns="0" rIns="0" tIns="0" bIns="0">
            <a:spAutoFit/>
          </a:bodyPr>
          <a:lstStyle/>
          <a:p>
            <a:pPr algn="l">
              <a:lnSpc>
                <a:spcPct val="108000"/>
              </a:lnSpc>
            </a:pPr>
            <a:r>
              <a:rPr sz="900" b="0" i="0">
                <a:solidFill>
                  <a:srgbClr val="76858F"/>
                </a:solidFill>
                <a:latin typeface="Calibri"/>
              </a:rPr>
              <a:t>10 files</a:t>
            </a:r>
          </a:p>
        </p:txBody>
      </p:sp>
      <p:sp>
        <p:nvSpPr>
          <p:cNvPr id="14" name="TextBox 13"/>
          <p:cNvSpPr txBox="1"/>
          <p:nvPr/>
        </p:nvSpPr>
        <p:spPr>
          <a:xfrm>
            <a:off x="10607040" y="2167128"/>
            <a:ext cx="914400" cy="347472"/>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8,804</a:t>
            </a:r>
          </a:p>
        </p:txBody>
      </p:sp>
      <p:sp>
        <p:nvSpPr>
          <p:cNvPr id="15" name="Rectangle 14"/>
          <p:cNvSpPr/>
          <p:nvPr/>
        </p:nvSpPr>
        <p:spPr>
          <a:xfrm>
            <a:off x="7772400" y="2551176"/>
            <a:ext cx="3840480" cy="34747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551176"/>
            <a:ext cx="1920240" cy="347472"/>
          </a:xfrm>
          <a:prstGeom prst="rect">
            <a:avLst/>
          </a:prstGeom>
          <a:noFill/>
        </p:spPr>
        <p:txBody>
          <a:bodyPr wrap="square" anchor="ctr" lIns="0" rIns="0" tIns="0" bIns="0">
            <a:spAutoFit/>
          </a:bodyPr>
          <a:lstStyle/>
          <a:p>
            <a:pPr algn="l">
              <a:lnSpc>
                <a:spcPct val="108000"/>
              </a:lnSpc>
            </a:pPr>
            <a:r>
              <a:rPr sz="850" b="0" i="0">
                <a:solidFill>
                  <a:srgbClr val="22303C"/>
                </a:solidFill>
                <a:latin typeface="Courier New"/>
              </a:rPr>
              <a:t>frontend/src/repositories</a:t>
            </a:r>
          </a:p>
        </p:txBody>
      </p:sp>
      <p:sp>
        <p:nvSpPr>
          <p:cNvPr id="17" name="TextBox 16"/>
          <p:cNvSpPr txBox="1"/>
          <p:nvPr/>
        </p:nvSpPr>
        <p:spPr>
          <a:xfrm>
            <a:off x="9784080" y="2551176"/>
            <a:ext cx="822960" cy="347472"/>
          </a:xfrm>
          <a:prstGeom prst="rect">
            <a:avLst/>
          </a:prstGeom>
          <a:noFill/>
        </p:spPr>
        <p:txBody>
          <a:bodyPr wrap="square" anchor="ctr" lIns="0" rIns="0" tIns="0" bIns="0">
            <a:spAutoFit/>
          </a:bodyPr>
          <a:lstStyle/>
          <a:p>
            <a:pPr algn="l">
              <a:lnSpc>
                <a:spcPct val="108000"/>
              </a:lnSpc>
            </a:pPr>
            <a:r>
              <a:rPr sz="900" b="0" i="0">
                <a:solidFill>
                  <a:srgbClr val="76858F"/>
                </a:solidFill>
                <a:latin typeface="Calibri"/>
              </a:rPr>
              <a:t>8 files</a:t>
            </a:r>
          </a:p>
        </p:txBody>
      </p:sp>
      <p:sp>
        <p:nvSpPr>
          <p:cNvPr id="18" name="TextBox 17"/>
          <p:cNvSpPr txBox="1"/>
          <p:nvPr/>
        </p:nvSpPr>
        <p:spPr>
          <a:xfrm>
            <a:off x="10607040" y="2551176"/>
            <a:ext cx="914400" cy="347472"/>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2,050</a:t>
            </a:r>
          </a:p>
        </p:txBody>
      </p:sp>
      <p:sp>
        <p:nvSpPr>
          <p:cNvPr id="19" name="Rectangle 18"/>
          <p:cNvSpPr/>
          <p:nvPr/>
        </p:nvSpPr>
        <p:spPr>
          <a:xfrm>
            <a:off x="7772400" y="2935224"/>
            <a:ext cx="384048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2935224"/>
            <a:ext cx="1920240" cy="347472"/>
          </a:xfrm>
          <a:prstGeom prst="rect">
            <a:avLst/>
          </a:prstGeom>
          <a:noFill/>
        </p:spPr>
        <p:txBody>
          <a:bodyPr wrap="square" anchor="ctr" lIns="0" rIns="0" tIns="0" bIns="0">
            <a:spAutoFit/>
          </a:bodyPr>
          <a:lstStyle/>
          <a:p>
            <a:pPr algn="l">
              <a:lnSpc>
                <a:spcPct val="108000"/>
              </a:lnSpc>
            </a:pPr>
            <a:r>
              <a:rPr sz="850" b="0" i="0">
                <a:solidFill>
                  <a:srgbClr val="22303C"/>
                </a:solidFill>
                <a:latin typeface="Courier New"/>
              </a:rPr>
              <a:t>frontend/src/components</a:t>
            </a:r>
          </a:p>
        </p:txBody>
      </p:sp>
      <p:sp>
        <p:nvSpPr>
          <p:cNvPr id="21" name="TextBox 20"/>
          <p:cNvSpPr txBox="1"/>
          <p:nvPr/>
        </p:nvSpPr>
        <p:spPr>
          <a:xfrm>
            <a:off x="9784080" y="2935224"/>
            <a:ext cx="822960" cy="347472"/>
          </a:xfrm>
          <a:prstGeom prst="rect">
            <a:avLst/>
          </a:prstGeom>
          <a:noFill/>
        </p:spPr>
        <p:txBody>
          <a:bodyPr wrap="square" anchor="ctr" lIns="0" rIns="0" tIns="0" bIns="0">
            <a:spAutoFit/>
          </a:bodyPr>
          <a:lstStyle/>
          <a:p>
            <a:pPr algn="l">
              <a:lnSpc>
                <a:spcPct val="108000"/>
              </a:lnSpc>
            </a:pPr>
            <a:r>
              <a:rPr sz="900" b="0" i="0">
                <a:solidFill>
                  <a:srgbClr val="76858F"/>
                </a:solidFill>
                <a:latin typeface="Calibri"/>
              </a:rPr>
              <a:t>35 files</a:t>
            </a:r>
          </a:p>
        </p:txBody>
      </p:sp>
      <p:sp>
        <p:nvSpPr>
          <p:cNvPr id="22" name="TextBox 21"/>
          <p:cNvSpPr txBox="1"/>
          <p:nvPr/>
        </p:nvSpPr>
        <p:spPr>
          <a:xfrm>
            <a:off x="10607040" y="2935224"/>
            <a:ext cx="914400" cy="347472"/>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4,179</a:t>
            </a:r>
          </a:p>
        </p:txBody>
      </p:sp>
      <p:sp>
        <p:nvSpPr>
          <p:cNvPr id="23" name="Rectangle 22"/>
          <p:cNvSpPr/>
          <p:nvPr/>
        </p:nvSpPr>
        <p:spPr>
          <a:xfrm>
            <a:off x="7772400" y="3319272"/>
            <a:ext cx="3840480" cy="34747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3319272"/>
            <a:ext cx="1920240" cy="347472"/>
          </a:xfrm>
          <a:prstGeom prst="rect">
            <a:avLst/>
          </a:prstGeom>
          <a:noFill/>
        </p:spPr>
        <p:txBody>
          <a:bodyPr wrap="square" anchor="ctr" lIns="0" rIns="0" tIns="0" bIns="0">
            <a:spAutoFit/>
          </a:bodyPr>
          <a:lstStyle/>
          <a:p>
            <a:pPr algn="l">
              <a:lnSpc>
                <a:spcPct val="108000"/>
              </a:lnSpc>
            </a:pPr>
            <a:r>
              <a:rPr sz="850" b="0" i="0">
                <a:solidFill>
                  <a:srgbClr val="22303C"/>
                </a:solidFill>
                <a:latin typeface="Courier New"/>
              </a:rPr>
              <a:t>frontend/src/config</a:t>
            </a:r>
          </a:p>
        </p:txBody>
      </p:sp>
      <p:sp>
        <p:nvSpPr>
          <p:cNvPr id="25" name="TextBox 24"/>
          <p:cNvSpPr txBox="1"/>
          <p:nvPr/>
        </p:nvSpPr>
        <p:spPr>
          <a:xfrm>
            <a:off x="9784080" y="3319272"/>
            <a:ext cx="822960" cy="347472"/>
          </a:xfrm>
          <a:prstGeom prst="rect">
            <a:avLst/>
          </a:prstGeom>
          <a:noFill/>
        </p:spPr>
        <p:txBody>
          <a:bodyPr wrap="square" anchor="ctr" lIns="0" rIns="0" tIns="0" bIns="0">
            <a:spAutoFit/>
          </a:bodyPr>
          <a:lstStyle/>
          <a:p>
            <a:pPr algn="l">
              <a:lnSpc>
                <a:spcPct val="108000"/>
              </a:lnSpc>
            </a:pPr>
            <a:r>
              <a:rPr sz="900" b="0" i="0">
                <a:solidFill>
                  <a:srgbClr val="76858F"/>
                </a:solidFill>
                <a:latin typeface="Calibri"/>
              </a:rPr>
              <a:t>11 files</a:t>
            </a:r>
          </a:p>
        </p:txBody>
      </p:sp>
      <p:sp>
        <p:nvSpPr>
          <p:cNvPr id="26" name="TextBox 25"/>
          <p:cNvSpPr txBox="1"/>
          <p:nvPr/>
        </p:nvSpPr>
        <p:spPr>
          <a:xfrm>
            <a:off x="10607040" y="3319272"/>
            <a:ext cx="914400" cy="347472"/>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2,758</a:t>
            </a:r>
          </a:p>
        </p:txBody>
      </p:sp>
      <p:sp>
        <p:nvSpPr>
          <p:cNvPr id="27" name="Rectangle 26"/>
          <p:cNvSpPr/>
          <p:nvPr/>
        </p:nvSpPr>
        <p:spPr>
          <a:xfrm>
            <a:off x="7772400" y="3703320"/>
            <a:ext cx="384048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0" y="3703320"/>
            <a:ext cx="1920240" cy="347472"/>
          </a:xfrm>
          <a:prstGeom prst="rect">
            <a:avLst/>
          </a:prstGeom>
          <a:noFill/>
        </p:spPr>
        <p:txBody>
          <a:bodyPr wrap="square" anchor="ctr" lIns="0" rIns="0" tIns="0" bIns="0">
            <a:spAutoFit/>
          </a:bodyPr>
          <a:lstStyle/>
          <a:p>
            <a:pPr algn="l">
              <a:lnSpc>
                <a:spcPct val="108000"/>
              </a:lnSpc>
            </a:pPr>
            <a:r>
              <a:rPr sz="850" b="0" i="0">
                <a:solidFill>
                  <a:srgbClr val="22303C"/>
                </a:solidFill>
                <a:latin typeface="Courier New"/>
              </a:rPr>
              <a:t>backend/prisma</a:t>
            </a:r>
          </a:p>
        </p:txBody>
      </p:sp>
      <p:sp>
        <p:nvSpPr>
          <p:cNvPr id="29" name="TextBox 28"/>
          <p:cNvSpPr txBox="1"/>
          <p:nvPr/>
        </p:nvSpPr>
        <p:spPr>
          <a:xfrm>
            <a:off x="9784080" y="3703320"/>
            <a:ext cx="822960" cy="347472"/>
          </a:xfrm>
          <a:prstGeom prst="rect">
            <a:avLst/>
          </a:prstGeom>
          <a:noFill/>
        </p:spPr>
        <p:txBody>
          <a:bodyPr wrap="square" anchor="ctr" lIns="0" rIns="0" tIns="0" bIns="0">
            <a:spAutoFit/>
          </a:bodyPr>
          <a:lstStyle/>
          <a:p>
            <a:pPr algn="l">
              <a:lnSpc>
                <a:spcPct val="108000"/>
              </a:lnSpc>
            </a:pPr>
            <a:r>
              <a:rPr sz="900" b="0" i="0">
                <a:solidFill>
                  <a:srgbClr val="76858F"/>
                </a:solidFill>
                <a:latin typeface="Calibri"/>
              </a:rPr>
              <a:t>1 file</a:t>
            </a:r>
          </a:p>
        </p:txBody>
      </p:sp>
      <p:sp>
        <p:nvSpPr>
          <p:cNvPr id="30" name="TextBox 29"/>
          <p:cNvSpPr txBox="1"/>
          <p:nvPr/>
        </p:nvSpPr>
        <p:spPr>
          <a:xfrm>
            <a:off x="10607040" y="3703320"/>
            <a:ext cx="914400" cy="347472"/>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1,345</a:t>
            </a:r>
          </a:p>
        </p:txBody>
      </p:sp>
      <p:sp>
        <p:nvSpPr>
          <p:cNvPr id="31" name="Rectangle 30"/>
          <p:cNvSpPr/>
          <p:nvPr/>
        </p:nvSpPr>
        <p:spPr>
          <a:xfrm>
            <a:off x="7772400" y="4087368"/>
            <a:ext cx="3840480" cy="347472"/>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0" y="4087368"/>
            <a:ext cx="1920240" cy="347472"/>
          </a:xfrm>
          <a:prstGeom prst="rect">
            <a:avLst/>
          </a:prstGeom>
          <a:noFill/>
        </p:spPr>
        <p:txBody>
          <a:bodyPr wrap="square" anchor="ctr" lIns="0" rIns="0" tIns="0" bIns="0">
            <a:spAutoFit/>
          </a:bodyPr>
          <a:lstStyle/>
          <a:p>
            <a:pPr algn="l">
              <a:lnSpc>
                <a:spcPct val="108000"/>
              </a:lnSpc>
            </a:pPr>
            <a:r>
              <a:rPr sz="850" b="0" i="0">
                <a:solidFill>
                  <a:srgbClr val="8A5A12"/>
                </a:solidFill>
                <a:latin typeface="Courier New"/>
              </a:rPr>
              <a:t>backend/src</a:t>
            </a:r>
          </a:p>
        </p:txBody>
      </p:sp>
      <p:sp>
        <p:nvSpPr>
          <p:cNvPr id="33" name="TextBox 32"/>
          <p:cNvSpPr txBox="1"/>
          <p:nvPr/>
        </p:nvSpPr>
        <p:spPr>
          <a:xfrm>
            <a:off x="9784080" y="4087368"/>
            <a:ext cx="822960" cy="347472"/>
          </a:xfrm>
          <a:prstGeom prst="rect">
            <a:avLst/>
          </a:prstGeom>
          <a:noFill/>
        </p:spPr>
        <p:txBody>
          <a:bodyPr wrap="square" anchor="ctr" lIns="0" rIns="0" tIns="0" bIns="0">
            <a:spAutoFit/>
          </a:bodyPr>
          <a:lstStyle/>
          <a:p>
            <a:pPr algn="l">
              <a:lnSpc>
                <a:spcPct val="108000"/>
              </a:lnSpc>
            </a:pPr>
            <a:r>
              <a:rPr sz="900" b="0" i="0">
                <a:solidFill>
                  <a:srgbClr val="76858F"/>
                </a:solidFill>
                <a:latin typeface="Calibri"/>
              </a:rPr>
              <a:t>6 files</a:t>
            </a:r>
          </a:p>
        </p:txBody>
      </p:sp>
      <p:sp>
        <p:nvSpPr>
          <p:cNvPr id="34" name="TextBox 33"/>
          <p:cNvSpPr txBox="1"/>
          <p:nvPr/>
        </p:nvSpPr>
        <p:spPr>
          <a:xfrm>
            <a:off x="10607040" y="4087368"/>
            <a:ext cx="914400" cy="347472"/>
          </a:xfrm>
          <a:prstGeom prst="rect">
            <a:avLst/>
          </a:prstGeom>
          <a:noFill/>
        </p:spPr>
        <p:txBody>
          <a:bodyPr wrap="square" anchor="ctr" lIns="0" rIns="0" tIns="0" bIns="0">
            <a:spAutoFit/>
          </a:bodyPr>
          <a:lstStyle/>
          <a:p>
            <a:pPr algn="l">
              <a:lnSpc>
                <a:spcPct val="108000"/>
              </a:lnSpc>
            </a:pPr>
            <a:r>
              <a:rPr sz="950" b="1" i="0">
                <a:solidFill>
                  <a:srgbClr val="8A5A12"/>
                </a:solidFill>
                <a:latin typeface="Calibri"/>
              </a:rPr>
              <a:t>946</a:t>
            </a:r>
          </a:p>
        </p:txBody>
      </p:sp>
      <p:sp>
        <p:nvSpPr>
          <p:cNvPr id="35" name="TextBox 34"/>
          <p:cNvSpPr txBox="1"/>
          <p:nvPr/>
        </p:nvSpPr>
        <p:spPr>
          <a:xfrm>
            <a:off x="7772400" y="4516416"/>
            <a:ext cx="3840480" cy="274320"/>
          </a:xfrm>
          <a:prstGeom prst="rect">
            <a:avLst/>
          </a:prstGeom>
          <a:noFill/>
        </p:spPr>
        <p:txBody>
          <a:bodyPr wrap="square" anchor="t" lIns="0" rIns="0" tIns="0" bIns="0">
            <a:spAutoFit/>
          </a:bodyPr>
          <a:lstStyle/>
          <a:p>
            <a:pPr algn="l">
              <a:lnSpc>
                <a:spcPct val="108000"/>
              </a:lnSpc>
            </a:pPr>
            <a:r>
              <a:rPr sz="1000" b="1" i="0">
                <a:solidFill>
                  <a:srgbClr val="C8871B"/>
                </a:solidFill>
                <a:latin typeface="Calibri"/>
              </a:rPr>
              <a:t>Frontend : backend ≈ 39 : 1</a:t>
            </a:r>
          </a:p>
        </p:txBody>
      </p:sp>
      <p:sp>
        <p:nvSpPr>
          <p:cNvPr id="36" name="Rectangle 35"/>
          <p:cNvSpPr/>
          <p:nvPr/>
        </p:nvSpPr>
        <p:spPr>
          <a:xfrm>
            <a:off x="548640" y="3401568"/>
            <a:ext cx="6949440" cy="22860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3566160"/>
            <a:ext cx="6400800" cy="256032"/>
          </a:xfrm>
          <a:prstGeom prst="rect">
            <a:avLst/>
          </a:prstGeom>
          <a:noFill/>
        </p:spPr>
        <p:txBody>
          <a:bodyPr wrap="square" anchor="t" lIns="0" rIns="0" tIns="0" bIns="0">
            <a:spAutoFit/>
          </a:bodyPr>
          <a:lstStyle/>
          <a:p>
            <a:pPr algn="l">
              <a:lnSpc>
                <a:spcPct val="108000"/>
              </a:lnSpc>
            </a:pPr>
            <a:r>
              <a:rPr sz="1000" b="1" i="0">
                <a:solidFill>
                  <a:srgbClr val="1F8A82"/>
                </a:solidFill>
                <a:latin typeface="Calibri"/>
              </a:rPr>
              <a:t>WHAT THE APPLICATION CONTAINS</a:t>
            </a:r>
          </a:p>
        </p:txBody>
      </p:sp>
      <p:sp>
        <p:nvSpPr>
          <p:cNvPr id="38" name="TextBox 37"/>
          <p:cNvSpPr txBox="1"/>
          <p:nvPr/>
        </p:nvSpPr>
        <p:spPr>
          <a:xfrm>
            <a:off x="822960" y="393192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9</a:t>
            </a:r>
          </a:p>
        </p:txBody>
      </p:sp>
      <p:sp>
        <p:nvSpPr>
          <p:cNvPr id="39" name="TextBox 38"/>
          <p:cNvSpPr txBox="1"/>
          <p:nvPr/>
        </p:nvSpPr>
        <p:spPr>
          <a:xfrm>
            <a:off x="822960" y="431596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governance domains</a:t>
            </a:r>
          </a:p>
        </p:txBody>
      </p:sp>
      <p:sp>
        <p:nvSpPr>
          <p:cNvPr id="40" name="TextBox 39"/>
          <p:cNvSpPr txBox="1"/>
          <p:nvPr/>
        </p:nvSpPr>
        <p:spPr>
          <a:xfrm>
            <a:off x="2468880" y="393192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56</a:t>
            </a:r>
          </a:p>
        </p:txBody>
      </p:sp>
      <p:sp>
        <p:nvSpPr>
          <p:cNvPr id="41" name="TextBox 40"/>
          <p:cNvSpPr txBox="1"/>
          <p:nvPr/>
        </p:nvSpPr>
        <p:spPr>
          <a:xfrm>
            <a:off x="2468880" y="431596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modules</a:t>
            </a:r>
          </a:p>
        </p:txBody>
      </p:sp>
      <p:sp>
        <p:nvSpPr>
          <p:cNvPr id="42" name="TextBox 41"/>
          <p:cNvSpPr txBox="1"/>
          <p:nvPr/>
        </p:nvSpPr>
        <p:spPr>
          <a:xfrm>
            <a:off x="4114800" y="393192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59</a:t>
            </a:r>
          </a:p>
        </p:txBody>
      </p:sp>
      <p:sp>
        <p:nvSpPr>
          <p:cNvPr id="43" name="TextBox 42"/>
          <p:cNvSpPr txBox="1"/>
          <p:nvPr/>
        </p:nvSpPr>
        <p:spPr>
          <a:xfrm>
            <a:off x="4114800" y="431596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governed routes</a:t>
            </a:r>
          </a:p>
        </p:txBody>
      </p:sp>
      <p:sp>
        <p:nvSpPr>
          <p:cNvPr id="44" name="TextBox 43"/>
          <p:cNvSpPr txBox="1"/>
          <p:nvPr/>
        </p:nvSpPr>
        <p:spPr>
          <a:xfrm>
            <a:off x="5760720" y="393192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244</a:t>
            </a:r>
          </a:p>
        </p:txBody>
      </p:sp>
      <p:sp>
        <p:nvSpPr>
          <p:cNvPr id="45" name="TextBox 44"/>
          <p:cNvSpPr txBox="1"/>
          <p:nvPr/>
        </p:nvSpPr>
        <p:spPr>
          <a:xfrm>
            <a:off x="5760720" y="431596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service functions</a:t>
            </a:r>
          </a:p>
        </p:txBody>
      </p:sp>
      <p:sp>
        <p:nvSpPr>
          <p:cNvPr id="46" name="TextBox 45"/>
          <p:cNvSpPr txBox="1"/>
          <p:nvPr/>
        </p:nvSpPr>
        <p:spPr>
          <a:xfrm>
            <a:off x="822960" y="475488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44</a:t>
            </a:r>
          </a:p>
        </p:txBody>
      </p:sp>
      <p:sp>
        <p:nvSpPr>
          <p:cNvPr id="47" name="TextBox 46"/>
          <p:cNvSpPr txBox="1"/>
          <p:nvPr/>
        </p:nvSpPr>
        <p:spPr>
          <a:xfrm>
            <a:off x="822960" y="513892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data models</a:t>
            </a:r>
          </a:p>
        </p:txBody>
      </p:sp>
      <p:sp>
        <p:nvSpPr>
          <p:cNvPr id="48" name="TextBox 47"/>
          <p:cNvSpPr txBox="1"/>
          <p:nvPr/>
        </p:nvSpPr>
        <p:spPr>
          <a:xfrm>
            <a:off x="2468880" y="475488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42</a:t>
            </a:r>
          </a:p>
        </p:txBody>
      </p:sp>
      <p:sp>
        <p:nvSpPr>
          <p:cNvPr id="49" name="TextBox 48"/>
          <p:cNvSpPr txBox="1"/>
          <p:nvPr/>
        </p:nvSpPr>
        <p:spPr>
          <a:xfrm>
            <a:off x="2468880" y="513892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schema enums</a:t>
            </a:r>
          </a:p>
        </p:txBody>
      </p:sp>
      <p:sp>
        <p:nvSpPr>
          <p:cNvPr id="50" name="TextBox 49"/>
          <p:cNvSpPr txBox="1"/>
          <p:nvPr/>
        </p:nvSpPr>
        <p:spPr>
          <a:xfrm>
            <a:off x="4114800" y="475488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7</a:t>
            </a:r>
          </a:p>
        </p:txBody>
      </p:sp>
      <p:sp>
        <p:nvSpPr>
          <p:cNvPr id="51" name="TextBox 50"/>
          <p:cNvSpPr txBox="1"/>
          <p:nvPr/>
        </p:nvSpPr>
        <p:spPr>
          <a:xfrm>
            <a:off x="4114800" y="513892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RBAC roles</a:t>
            </a:r>
          </a:p>
        </p:txBody>
      </p:sp>
      <p:sp>
        <p:nvSpPr>
          <p:cNvPr id="52" name="TextBox 51"/>
          <p:cNvSpPr txBox="1"/>
          <p:nvPr/>
        </p:nvSpPr>
        <p:spPr>
          <a:xfrm>
            <a:off x="5760720" y="4754880"/>
            <a:ext cx="1554480" cy="411480"/>
          </a:xfrm>
          <a:prstGeom prst="rect">
            <a:avLst/>
          </a:prstGeom>
          <a:noFill/>
        </p:spPr>
        <p:txBody>
          <a:bodyPr wrap="square" anchor="t" lIns="0" rIns="0" tIns="0" bIns="0">
            <a:spAutoFit/>
          </a:bodyPr>
          <a:lstStyle/>
          <a:p>
            <a:pPr algn="l">
              <a:lnSpc>
                <a:spcPct val="108000"/>
              </a:lnSpc>
            </a:pPr>
            <a:r>
              <a:rPr sz="2200" b="1" i="0">
                <a:solidFill>
                  <a:srgbClr val="FFFFFF"/>
                </a:solidFill>
                <a:latin typeface="Cambria"/>
              </a:rPr>
              <a:t>85</a:t>
            </a:r>
          </a:p>
        </p:txBody>
      </p:sp>
      <p:sp>
        <p:nvSpPr>
          <p:cNvPr id="53" name="TextBox 52"/>
          <p:cNvSpPr txBox="1"/>
          <p:nvPr/>
        </p:nvSpPr>
        <p:spPr>
          <a:xfrm>
            <a:off x="5760720" y="5138928"/>
            <a:ext cx="1554480" cy="274320"/>
          </a:xfrm>
          <a:prstGeom prst="rect">
            <a:avLst/>
          </a:prstGeom>
          <a:noFill/>
        </p:spPr>
        <p:txBody>
          <a:bodyPr wrap="square" anchor="t" lIns="0" rIns="0" tIns="0" bIns="0">
            <a:spAutoFit/>
          </a:bodyPr>
          <a:lstStyle/>
          <a:p>
            <a:pPr algn="l">
              <a:lnSpc>
                <a:spcPct val="108000"/>
              </a:lnSpc>
            </a:pPr>
            <a:r>
              <a:rPr sz="950" b="0" i="0">
                <a:solidFill>
                  <a:srgbClr val="B9C6D1"/>
                </a:solidFill>
                <a:latin typeface="Calibri"/>
              </a:rPr>
              <a:t>API endpoints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2 · APPLICATION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Nearly every domain is joined — one exception remains</a:t>
            </a:r>
          </a:p>
        </p:txBody>
      </p:sp>
      <p:sp>
        <p:nvSpPr>
          <p:cNvPr id="4" name="Rectangle 3"/>
          <p:cNvSpPr/>
          <p:nvPr/>
        </p:nvSpPr>
        <p:spPr>
          <a:xfrm>
            <a:off x="548640" y="1417320"/>
            <a:ext cx="5029200" cy="35661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4572000" cy="274320"/>
          </a:xfrm>
          <a:prstGeom prst="rect">
            <a:avLst/>
          </a:prstGeom>
          <a:noFill/>
        </p:spPr>
        <p:txBody>
          <a:bodyPr wrap="square" anchor="t" lIns="0" rIns="0" tIns="0" bIns="0">
            <a:spAutoFit/>
          </a:bodyPr>
          <a:lstStyle/>
          <a:p>
            <a:pPr algn="l">
              <a:lnSpc>
                <a:spcPct val="108000"/>
              </a:lnSpc>
            </a:pPr>
            <a:r>
              <a:rPr sz="1000" b="1" i="0">
                <a:solidFill>
                  <a:srgbClr val="1F8A82"/>
                </a:solidFill>
                <a:latin typeface="Calibri"/>
              </a:rPr>
              <a:t>BROWSER TIER  —  presentation + cache</a:t>
            </a:r>
          </a:p>
        </p:txBody>
      </p:sp>
      <p:sp>
        <p:nvSpPr>
          <p:cNvPr id="6" name="Rectangle 5"/>
          <p:cNvSpPr/>
          <p:nvPr/>
        </p:nvSpPr>
        <p:spPr>
          <a:xfrm>
            <a:off x="777240" y="1920240"/>
            <a:ext cx="457200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93392"/>
            <a:ext cx="4297680" cy="256032"/>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React 19 SPA</a:t>
            </a:r>
          </a:p>
        </p:txBody>
      </p:sp>
      <p:sp>
        <p:nvSpPr>
          <p:cNvPr id="8" name="TextBox 7"/>
          <p:cNvSpPr txBox="1"/>
          <p:nvPr/>
        </p:nvSpPr>
        <p:spPr>
          <a:xfrm>
            <a:off x="932688" y="2240280"/>
            <a:ext cx="4297680" cy="237744"/>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62 pages · 35 components · 3 contexts</a:t>
            </a:r>
          </a:p>
        </p:txBody>
      </p:sp>
      <p:sp>
        <p:nvSpPr>
          <p:cNvPr id="9" name="TextBox 8"/>
          <p:cNvSpPr txBox="1"/>
          <p:nvPr/>
        </p:nvSpPr>
        <p:spPr>
          <a:xfrm>
            <a:off x="777240" y="2542032"/>
            <a:ext cx="4572000" cy="128016"/>
          </a:xfrm>
          <a:prstGeom prst="rect">
            <a:avLst/>
          </a:prstGeom>
          <a:noFill/>
        </p:spPr>
        <p:txBody>
          <a:bodyPr wrap="square" anchor="t" lIns="0" rIns="0" tIns="0" bIns="0">
            <a:spAutoFit/>
          </a:bodyPr>
          <a:lstStyle/>
          <a:p>
            <a:pPr algn="ctr">
              <a:lnSpc>
                <a:spcPct val="108000"/>
              </a:lnSpc>
            </a:pPr>
            <a:r>
              <a:rPr sz="900" b="0" i="0">
                <a:solidFill>
                  <a:srgbClr val="76858F"/>
                </a:solidFill>
                <a:latin typeface="Calibri"/>
              </a:rPr>
              <a:t>↓</a:t>
            </a:r>
          </a:p>
        </p:txBody>
      </p:sp>
      <p:sp>
        <p:nvSpPr>
          <p:cNvPr id="10" name="Rectangle 9"/>
          <p:cNvSpPr/>
          <p:nvPr/>
        </p:nvSpPr>
        <p:spPr>
          <a:xfrm>
            <a:off x="777240" y="2670048"/>
            <a:ext cx="457200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743200"/>
            <a:ext cx="4297680" cy="256032"/>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Navigation config</a:t>
            </a:r>
          </a:p>
        </p:txBody>
      </p:sp>
      <p:sp>
        <p:nvSpPr>
          <p:cNvPr id="12" name="TextBox 11"/>
          <p:cNvSpPr txBox="1"/>
          <p:nvPr/>
        </p:nvSpPr>
        <p:spPr>
          <a:xfrm>
            <a:off x="932688" y="2990088"/>
            <a:ext cx="4297680" cy="237744"/>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navigation.ts — 9 domains, 56 modules, RBAC keys</a:t>
            </a:r>
          </a:p>
        </p:txBody>
      </p:sp>
      <p:sp>
        <p:nvSpPr>
          <p:cNvPr id="13" name="TextBox 12"/>
          <p:cNvSpPr txBox="1"/>
          <p:nvPr/>
        </p:nvSpPr>
        <p:spPr>
          <a:xfrm>
            <a:off x="777240" y="3291840"/>
            <a:ext cx="4572000" cy="128016"/>
          </a:xfrm>
          <a:prstGeom prst="rect">
            <a:avLst/>
          </a:prstGeom>
          <a:noFill/>
        </p:spPr>
        <p:txBody>
          <a:bodyPr wrap="square" anchor="t" lIns="0" rIns="0" tIns="0" bIns="0">
            <a:spAutoFit/>
          </a:bodyPr>
          <a:lstStyle/>
          <a:p>
            <a:pPr algn="ctr">
              <a:lnSpc>
                <a:spcPct val="108000"/>
              </a:lnSpc>
            </a:pPr>
            <a:r>
              <a:rPr sz="900" b="0" i="0">
                <a:solidFill>
                  <a:srgbClr val="76858F"/>
                </a:solidFill>
                <a:latin typeface="Calibri"/>
              </a:rPr>
              <a:t>↓</a:t>
            </a:r>
          </a:p>
        </p:txBody>
      </p:sp>
      <p:sp>
        <p:nvSpPr>
          <p:cNvPr id="14" name="Rectangle 13"/>
          <p:cNvSpPr/>
          <p:nvPr/>
        </p:nvSpPr>
        <p:spPr>
          <a:xfrm>
            <a:off x="777240" y="3419856"/>
            <a:ext cx="457200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493008"/>
            <a:ext cx="4297680" cy="256032"/>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Repository factory</a:t>
            </a:r>
          </a:p>
        </p:txBody>
      </p:sp>
      <p:sp>
        <p:nvSpPr>
          <p:cNvPr id="16" name="TextBox 15"/>
          <p:cNvSpPr txBox="1"/>
          <p:nvPr/>
        </p:nvSpPr>
        <p:spPr>
          <a:xfrm>
            <a:off x="932688" y="3739896"/>
            <a:ext cx="4297680" cy="237744"/>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20 factories — Api-first for every domain since Release 6</a:t>
            </a:r>
          </a:p>
        </p:txBody>
      </p:sp>
      <p:sp>
        <p:nvSpPr>
          <p:cNvPr id="17" name="TextBox 16"/>
          <p:cNvSpPr txBox="1"/>
          <p:nvPr/>
        </p:nvSpPr>
        <p:spPr>
          <a:xfrm>
            <a:off x="777240" y="4041648"/>
            <a:ext cx="4572000" cy="128016"/>
          </a:xfrm>
          <a:prstGeom prst="rect">
            <a:avLst/>
          </a:prstGeom>
          <a:noFill/>
        </p:spPr>
        <p:txBody>
          <a:bodyPr wrap="square" anchor="t" lIns="0" rIns="0" tIns="0" bIns="0">
            <a:spAutoFit/>
          </a:bodyPr>
          <a:lstStyle/>
          <a:p>
            <a:pPr algn="ctr">
              <a:lnSpc>
                <a:spcPct val="108000"/>
              </a:lnSpc>
            </a:pPr>
            <a:r>
              <a:rPr sz="900" b="0" i="0">
                <a:solidFill>
                  <a:srgbClr val="76858F"/>
                </a:solidFill>
                <a:latin typeface="Calibri"/>
              </a:rPr>
              <a:t>↓</a:t>
            </a:r>
          </a:p>
        </p:txBody>
      </p:sp>
      <p:sp>
        <p:nvSpPr>
          <p:cNvPr id="18" name="Rectangle 17"/>
          <p:cNvSpPr/>
          <p:nvPr/>
        </p:nvSpPr>
        <p:spPr>
          <a:xfrm>
            <a:off x="777240" y="4169664"/>
            <a:ext cx="4572000" cy="621792"/>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242816"/>
            <a:ext cx="4297680" cy="256032"/>
          </a:xfrm>
          <a:prstGeom prst="rect">
            <a:avLst/>
          </a:prstGeom>
          <a:noFill/>
        </p:spPr>
        <p:txBody>
          <a:bodyPr wrap="square" anchor="t" lIns="0" rIns="0" tIns="0" bIns="0">
            <a:spAutoFit/>
          </a:bodyPr>
          <a:lstStyle/>
          <a:p>
            <a:pPr algn="l">
              <a:lnSpc>
                <a:spcPct val="108000"/>
              </a:lnSpc>
            </a:pPr>
            <a:r>
              <a:rPr sz="1150" b="1" i="0">
                <a:solidFill>
                  <a:srgbClr val="FFFFFF"/>
                </a:solidFill>
                <a:latin typeface="Calibri"/>
              </a:rPr>
              <a:t>localStorage cache</a:t>
            </a:r>
          </a:p>
        </p:txBody>
      </p:sp>
      <p:sp>
        <p:nvSpPr>
          <p:cNvPr id="20" name="TextBox 19"/>
          <p:cNvSpPr txBox="1"/>
          <p:nvPr/>
        </p:nvSpPr>
        <p:spPr>
          <a:xfrm>
            <a:off x="932688" y="4489704"/>
            <a:ext cx="4297680" cy="237744"/>
          </a:xfrm>
          <a:prstGeom prst="rect">
            <a:avLst/>
          </a:prstGeom>
          <a:noFill/>
        </p:spPr>
        <p:txBody>
          <a:bodyPr wrap="square" anchor="t" lIns="0" rIns="0" tIns="0" bIns="0">
            <a:spAutoFit/>
          </a:bodyPr>
          <a:lstStyle/>
          <a:p>
            <a:pPr algn="l">
              <a:lnSpc>
                <a:spcPct val="108000"/>
              </a:lnSpc>
            </a:pPr>
            <a:r>
              <a:rPr sz="800" b="0" i="0">
                <a:solidFill>
                  <a:srgbClr val="B9C6D1"/>
                </a:solidFill>
                <a:latin typeface="Courier New"/>
              </a:rPr>
              <a:t>38 keys — paint-fast cache + offline fallback, not the record</a:t>
            </a:r>
          </a:p>
        </p:txBody>
      </p:sp>
      <p:sp>
        <p:nvSpPr>
          <p:cNvPr id="21" name="Rectangle 20"/>
          <p:cNvSpPr/>
          <p:nvPr/>
        </p:nvSpPr>
        <p:spPr>
          <a:xfrm>
            <a:off x="7132320" y="1417320"/>
            <a:ext cx="4480560" cy="35661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554480"/>
            <a:ext cx="4114800" cy="274320"/>
          </a:xfrm>
          <a:prstGeom prst="rect">
            <a:avLst/>
          </a:prstGeom>
          <a:noFill/>
        </p:spPr>
        <p:txBody>
          <a:bodyPr wrap="square" anchor="t" lIns="0" rIns="0" tIns="0" bIns="0">
            <a:spAutoFit/>
          </a:bodyPr>
          <a:lstStyle/>
          <a:p>
            <a:pPr algn="l">
              <a:lnSpc>
                <a:spcPct val="108000"/>
              </a:lnSpc>
            </a:pPr>
            <a:r>
              <a:rPr sz="1000" b="1" i="0">
                <a:solidFill>
                  <a:srgbClr val="2E7D64"/>
                </a:solidFill>
                <a:latin typeface="Calibri"/>
              </a:rPr>
              <a:t>SERVER TIER  —  live system of record</a:t>
            </a:r>
          </a:p>
        </p:txBody>
      </p:sp>
      <p:sp>
        <p:nvSpPr>
          <p:cNvPr id="23" name="Rectangle 22"/>
          <p:cNvSpPr/>
          <p:nvPr/>
        </p:nvSpPr>
        <p:spPr>
          <a:xfrm>
            <a:off x="7315200" y="1920240"/>
            <a:ext cx="411480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0648" y="1993392"/>
            <a:ext cx="3840480" cy="256032"/>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NestJS 11 API</a:t>
            </a:r>
          </a:p>
        </p:txBody>
      </p:sp>
      <p:sp>
        <p:nvSpPr>
          <p:cNvPr id="25" name="TextBox 24"/>
          <p:cNvSpPr txBox="1"/>
          <p:nvPr/>
        </p:nvSpPr>
        <p:spPr>
          <a:xfrm>
            <a:off x="7470648" y="2240280"/>
            <a:ext cx="3840480" cy="237744"/>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1 controller · 85 endpoints · 785 lines</a:t>
            </a:r>
          </a:p>
        </p:txBody>
      </p:sp>
      <p:sp>
        <p:nvSpPr>
          <p:cNvPr id="26" name="TextBox 25"/>
          <p:cNvSpPr txBox="1"/>
          <p:nvPr/>
        </p:nvSpPr>
        <p:spPr>
          <a:xfrm>
            <a:off x="7315200" y="2542032"/>
            <a:ext cx="4114800" cy="128016"/>
          </a:xfrm>
          <a:prstGeom prst="rect">
            <a:avLst/>
          </a:prstGeom>
          <a:noFill/>
        </p:spPr>
        <p:txBody>
          <a:bodyPr wrap="square" anchor="t" lIns="0" rIns="0" tIns="0" bIns="0">
            <a:spAutoFit/>
          </a:bodyPr>
          <a:lstStyle/>
          <a:p>
            <a:pPr algn="ctr">
              <a:lnSpc>
                <a:spcPct val="108000"/>
              </a:lnSpc>
            </a:pPr>
            <a:r>
              <a:rPr sz="900" b="0" i="0">
                <a:solidFill>
                  <a:srgbClr val="76858F"/>
                </a:solidFill>
                <a:latin typeface="Calibri"/>
              </a:rPr>
              <a:t>↓</a:t>
            </a:r>
          </a:p>
        </p:txBody>
      </p:sp>
      <p:sp>
        <p:nvSpPr>
          <p:cNvPr id="27" name="Rectangle 26"/>
          <p:cNvSpPr/>
          <p:nvPr/>
        </p:nvSpPr>
        <p:spPr>
          <a:xfrm>
            <a:off x="7315200" y="2670048"/>
            <a:ext cx="411480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0648" y="2743200"/>
            <a:ext cx="3840480" cy="256032"/>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RolesGuard</a:t>
            </a:r>
          </a:p>
        </p:txBody>
      </p:sp>
      <p:sp>
        <p:nvSpPr>
          <p:cNvPr id="29" name="TextBox 28"/>
          <p:cNvSpPr txBox="1"/>
          <p:nvPr/>
        </p:nvSpPr>
        <p:spPr>
          <a:xfrm>
            <a:off x="7470648" y="2990088"/>
            <a:ext cx="3840480" cy="237744"/>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fails closed · role claim unverified</a:t>
            </a:r>
          </a:p>
        </p:txBody>
      </p:sp>
      <p:sp>
        <p:nvSpPr>
          <p:cNvPr id="30" name="TextBox 29"/>
          <p:cNvSpPr txBox="1"/>
          <p:nvPr/>
        </p:nvSpPr>
        <p:spPr>
          <a:xfrm>
            <a:off x="7315200" y="3291840"/>
            <a:ext cx="4114800" cy="128016"/>
          </a:xfrm>
          <a:prstGeom prst="rect">
            <a:avLst/>
          </a:prstGeom>
          <a:noFill/>
        </p:spPr>
        <p:txBody>
          <a:bodyPr wrap="square" anchor="t" lIns="0" rIns="0" tIns="0" bIns="0">
            <a:spAutoFit/>
          </a:bodyPr>
          <a:lstStyle/>
          <a:p>
            <a:pPr algn="ctr">
              <a:lnSpc>
                <a:spcPct val="108000"/>
              </a:lnSpc>
            </a:pPr>
            <a:r>
              <a:rPr sz="900" b="0" i="0">
                <a:solidFill>
                  <a:srgbClr val="76858F"/>
                </a:solidFill>
                <a:latin typeface="Calibri"/>
              </a:rPr>
              <a:t>↓</a:t>
            </a:r>
          </a:p>
        </p:txBody>
      </p:sp>
      <p:sp>
        <p:nvSpPr>
          <p:cNvPr id="31" name="Rectangle 30"/>
          <p:cNvSpPr/>
          <p:nvPr/>
        </p:nvSpPr>
        <p:spPr>
          <a:xfrm>
            <a:off x="7315200" y="3419856"/>
            <a:ext cx="411480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70648" y="3493008"/>
            <a:ext cx="3840480" cy="256032"/>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Prisma 6.19 ORM</a:t>
            </a:r>
          </a:p>
        </p:txBody>
      </p:sp>
      <p:sp>
        <p:nvSpPr>
          <p:cNvPr id="33" name="TextBox 32"/>
          <p:cNvSpPr txBox="1"/>
          <p:nvPr/>
        </p:nvSpPr>
        <p:spPr>
          <a:xfrm>
            <a:off x="7470648" y="3739896"/>
            <a:ext cx="3840480" cy="237744"/>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44 models · 42 enums · 51 relations</a:t>
            </a:r>
          </a:p>
        </p:txBody>
      </p:sp>
      <p:sp>
        <p:nvSpPr>
          <p:cNvPr id="34" name="TextBox 33"/>
          <p:cNvSpPr txBox="1"/>
          <p:nvPr/>
        </p:nvSpPr>
        <p:spPr>
          <a:xfrm>
            <a:off x="7315200" y="4041648"/>
            <a:ext cx="4114800" cy="128016"/>
          </a:xfrm>
          <a:prstGeom prst="rect">
            <a:avLst/>
          </a:prstGeom>
          <a:noFill/>
        </p:spPr>
        <p:txBody>
          <a:bodyPr wrap="square" anchor="t" lIns="0" rIns="0" tIns="0" bIns="0">
            <a:spAutoFit/>
          </a:bodyPr>
          <a:lstStyle/>
          <a:p>
            <a:pPr algn="ctr">
              <a:lnSpc>
                <a:spcPct val="108000"/>
              </a:lnSpc>
            </a:pPr>
            <a:r>
              <a:rPr sz="900" b="0" i="0">
                <a:solidFill>
                  <a:srgbClr val="76858F"/>
                </a:solidFill>
                <a:latin typeface="Calibri"/>
              </a:rPr>
              <a:t>↓</a:t>
            </a:r>
          </a:p>
        </p:txBody>
      </p:sp>
      <p:sp>
        <p:nvSpPr>
          <p:cNvPr id="35" name="Rectangle 34"/>
          <p:cNvSpPr/>
          <p:nvPr/>
        </p:nvSpPr>
        <p:spPr>
          <a:xfrm>
            <a:off x="7315200" y="4169664"/>
            <a:ext cx="4114800"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70648" y="4242816"/>
            <a:ext cx="3840480" cy="256032"/>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Neon PostgreSQL</a:t>
            </a:r>
          </a:p>
        </p:txBody>
      </p:sp>
      <p:sp>
        <p:nvSpPr>
          <p:cNvPr id="37" name="TextBox 36"/>
          <p:cNvSpPr txBox="1"/>
          <p:nvPr/>
        </p:nvSpPr>
        <p:spPr>
          <a:xfrm>
            <a:off x="7470648" y="4489704"/>
            <a:ext cx="3840480" cy="237744"/>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schema in sync · 0 secondary indexes</a:t>
            </a:r>
          </a:p>
        </p:txBody>
      </p:sp>
      <p:sp>
        <p:nvSpPr>
          <p:cNvPr id="38" name="Rectangle 37"/>
          <p:cNvSpPr/>
          <p:nvPr/>
        </p:nvSpPr>
        <p:spPr>
          <a:xfrm>
            <a:off x="5669280" y="2788920"/>
            <a:ext cx="1325880" cy="868680"/>
          </a:xfrm>
          <a:prstGeom prst="rect">
            <a:avLst/>
          </a:prstGeom>
          <a:solidFill>
            <a:srgbClr val="E7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0" y="2788920"/>
            <a:ext cx="1325880" cy="868680"/>
          </a:xfrm>
          <a:prstGeom prst="rect">
            <a:avLst/>
          </a:prstGeom>
          <a:noFill/>
        </p:spPr>
        <p:txBody>
          <a:bodyPr wrap="square" anchor="ctr" lIns="0" rIns="0" tIns="0" bIns="0">
            <a:spAutoFit/>
          </a:bodyPr>
          <a:lstStyle/>
          <a:p>
            <a:pPr algn="ctr">
              <a:lnSpc>
                <a:spcPct val="110000"/>
              </a:lnSpc>
            </a:pPr>
            <a:r>
              <a:rPr sz="1050" b="1" i="0">
                <a:solidFill>
                  <a:srgbClr val="155F59"/>
                </a:solidFill>
                <a:latin typeface="Calibri"/>
              </a:rPr>
              <a:t>JOINED</a:t>
            </a:r>
          </a:p>
          <a:p>
            <a:pPr algn="ctr">
              <a:lnSpc>
                <a:spcPct val="110000"/>
              </a:lnSpc>
            </a:pPr>
            <a:r>
              <a:rPr sz="1050" b="1" i="0">
                <a:solidFill>
                  <a:srgbClr val="155F59"/>
                </a:solidFill>
                <a:latin typeface="Calibri"/>
              </a:rPr>
              <a:t>SINCE R4</a:t>
            </a:r>
          </a:p>
        </p:txBody>
      </p:sp>
      <p:sp>
        <p:nvSpPr>
          <p:cNvPr id="40" name="Rectangle 39"/>
          <p:cNvSpPr/>
          <p:nvPr/>
        </p:nvSpPr>
        <p:spPr>
          <a:xfrm>
            <a:off x="548640" y="5138928"/>
            <a:ext cx="11064240" cy="914400"/>
          </a:xfrm>
          <a:prstGeom prst="rect">
            <a:avLst/>
          </a:prstGeom>
          <a:solidFill>
            <a:srgbClr val="E7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248656"/>
            <a:ext cx="3657600" cy="256032"/>
          </a:xfrm>
          <a:prstGeom prst="rect">
            <a:avLst/>
          </a:prstGeom>
          <a:noFill/>
        </p:spPr>
        <p:txBody>
          <a:bodyPr wrap="square" anchor="t" lIns="0" rIns="0" tIns="0" bIns="0">
            <a:spAutoFit/>
          </a:bodyPr>
          <a:lstStyle/>
          <a:p>
            <a:pPr algn="l">
              <a:lnSpc>
                <a:spcPct val="108000"/>
              </a:lnSpc>
            </a:pPr>
            <a:r>
              <a:rPr sz="1200" b="1" i="0">
                <a:solidFill>
                  <a:srgbClr val="155F59"/>
                </a:solidFill>
                <a:latin typeface="Calibri"/>
              </a:rPr>
              <a:t>Central architectural finding</a:t>
            </a:r>
          </a:p>
        </p:txBody>
      </p:sp>
      <p:sp>
        <p:nvSpPr>
          <p:cNvPr id="42" name="TextBox 41"/>
          <p:cNvSpPr txBox="1"/>
          <p:nvPr/>
        </p:nvSpPr>
        <p:spPr>
          <a:xfrm>
            <a:off x="822960" y="5522976"/>
            <a:ext cx="10515600" cy="457200"/>
          </a:xfrm>
          <a:prstGeom prst="rect">
            <a:avLst/>
          </a:prstGeom>
          <a:noFill/>
        </p:spPr>
        <p:txBody>
          <a:bodyPr wrap="square" anchor="t" lIns="0" rIns="0" tIns="0" bIns="0">
            <a:spAutoFit/>
          </a:bodyPr>
          <a:lstStyle/>
          <a:p>
            <a:pPr algn="l">
              <a:lnSpc>
                <a:spcPct val="115000"/>
              </a:lnSpc>
            </a:pPr>
            <a:r>
              <a:rPr sz="1050" b="0" i="0">
                <a:solidFill>
                  <a:srgbClr val="2E3B47"/>
                </a:solidFill>
                <a:latin typeface="Calibri"/>
              </a:rPr>
              <a:t>Every domain from Release 4 onward — assets, evidence, compliance, regulatory knowledge, governance intelligence, actions, the Studio — reads and writes live to Neon via the Repository Pattern (cache-then-network). The one exception: the audit log itself is still written client-side only, to localStorage.</a:t>
            </a:r>
          </a:p>
        </p:txBody>
      </p:sp>
      <p:sp>
        <p:nvSpPr>
          <p:cNvPr id="43" name="TextBox 42"/>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19 apiXxxRepository objects wired Api-first in repositories/index.ts; addAuditLog() in storageService.ts still calls only setItem(), no repository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3 · FRONTEND TECHNOLOGY STACK</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Deliberately small dependency surface</a:t>
            </a:r>
          </a:p>
        </p:txBody>
      </p:sp>
      <p:sp>
        <p:nvSpPr>
          <p:cNvPr id="4" name="TextBox 3"/>
          <p:cNvSpPr txBox="1"/>
          <p:nvPr/>
        </p:nvSpPr>
        <p:spPr>
          <a:xfrm>
            <a:off x="548640" y="1463040"/>
            <a:ext cx="548640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RUNTIME AND BUILD</a:t>
            </a:r>
          </a:p>
        </p:txBody>
      </p:sp>
      <p:sp>
        <p:nvSpPr>
          <p:cNvPr id="5" name="Rectangle 4"/>
          <p:cNvSpPr/>
          <p:nvPr/>
        </p:nvSpPr>
        <p:spPr>
          <a:xfrm>
            <a:off x="548640" y="1773936"/>
            <a:ext cx="54864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73936"/>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React</a:t>
            </a:r>
          </a:p>
        </p:txBody>
      </p:sp>
      <p:sp>
        <p:nvSpPr>
          <p:cNvPr id="7" name="TextBox 6"/>
          <p:cNvSpPr txBox="1"/>
          <p:nvPr/>
        </p:nvSpPr>
        <p:spPr>
          <a:xfrm>
            <a:off x="2240280" y="1773936"/>
            <a:ext cx="64008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19.2</a:t>
            </a:r>
          </a:p>
        </p:txBody>
      </p:sp>
      <p:sp>
        <p:nvSpPr>
          <p:cNvPr id="8" name="TextBox 7"/>
          <p:cNvSpPr txBox="1"/>
          <p:nvPr/>
        </p:nvSpPr>
        <p:spPr>
          <a:xfrm>
            <a:off x="2926080" y="1773936"/>
            <a:ext cx="30175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UI runtime</a:t>
            </a:r>
          </a:p>
        </p:txBody>
      </p:sp>
      <p:sp>
        <p:nvSpPr>
          <p:cNvPr id="9" name="Rectangle 8"/>
          <p:cNvSpPr/>
          <p:nvPr/>
        </p:nvSpPr>
        <p:spPr>
          <a:xfrm>
            <a:off x="548640" y="2194560"/>
            <a:ext cx="54864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94560"/>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TypeScript</a:t>
            </a:r>
          </a:p>
        </p:txBody>
      </p:sp>
      <p:sp>
        <p:nvSpPr>
          <p:cNvPr id="11" name="TextBox 10"/>
          <p:cNvSpPr txBox="1"/>
          <p:nvPr/>
        </p:nvSpPr>
        <p:spPr>
          <a:xfrm>
            <a:off x="2240280" y="2194560"/>
            <a:ext cx="64008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6.0</a:t>
            </a:r>
          </a:p>
        </p:txBody>
      </p:sp>
      <p:sp>
        <p:nvSpPr>
          <p:cNvPr id="12" name="TextBox 11"/>
          <p:cNvSpPr txBox="1"/>
          <p:nvPr/>
        </p:nvSpPr>
        <p:spPr>
          <a:xfrm>
            <a:off x="2926080" y="2194560"/>
            <a:ext cx="30175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Strict typing across 1,718 lines of domain types</a:t>
            </a:r>
          </a:p>
        </p:txBody>
      </p:sp>
      <p:sp>
        <p:nvSpPr>
          <p:cNvPr id="13" name="Rectangle 12"/>
          <p:cNvSpPr/>
          <p:nvPr/>
        </p:nvSpPr>
        <p:spPr>
          <a:xfrm>
            <a:off x="548640" y="2615184"/>
            <a:ext cx="54864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615184"/>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Vite</a:t>
            </a:r>
          </a:p>
        </p:txBody>
      </p:sp>
      <p:sp>
        <p:nvSpPr>
          <p:cNvPr id="15" name="TextBox 14"/>
          <p:cNvSpPr txBox="1"/>
          <p:nvPr/>
        </p:nvSpPr>
        <p:spPr>
          <a:xfrm>
            <a:off x="2240280" y="2615184"/>
            <a:ext cx="64008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8.2</a:t>
            </a:r>
          </a:p>
        </p:txBody>
      </p:sp>
      <p:sp>
        <p:nvSpPr>
          <p:cNvPr id="16" name="TextBox 15"/>
          <p:cNvSpPr txBox="1"/>
          <p:nvPr/>
        </p:nvSpPr>
        <p:spPr>
          <a:xfrm>
            <a:off x="2926080" y="2615184"/>
            <a:ext cx="30175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Build and dev server</a:t>
            </a:r>
          </a:p>
        </p:txBody>
      </p:sp>
      <p:sp>
        <p:nvSpPr>
          <p:cNvPr id="17" name="Rectangle 16"/>
          <p:cNvSpPr/>
          <p:nvPr/>
        </p:nvSpPr>
        <p:spPr>
          <a:xfrm>
            <a:off x="548640" y="3035808"/>
            <a:ext cx="54864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35808"/>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React Router</a:t>
            </a:r>
          </a:p>
        </p:txBody>
      </p:sp>
      <p:sp>
        <p:nvSpPr>
          <p:cNvPr id="19" name="TextBox 18"/>
          <p:cNvSpPr txBox="1"/>
          <p:nvPr/>
        </p:nvSpPr>
        <p:spPr>
          <a:xfrm>
            <a:off x="2240280" y="3035808"/>
            <a:ext cx="64008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7.18</a:t>
            </a:r>
          </a:p>
        </p:txBody>
      </p:sp>
      <p:sp>
        <p:nvSpPr>
          <p:cNvPr id="20" name="TextBox 19"/>
          <p:cNvSpPr txBox="1"/>
          <p:nvPr/>
        </p:nvSpPr>
        <p:spPr>
          <a:xfrm>
            <a:off x="2926080" y="3035808"/>
            <a:ext cx="30175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Client-side routing, 59 governed routes</a:t>
            </a:r>
          </a:p>
        </p:txBody>
      </p:sp>
      <p:sp>
        <p:nvSpPr>
          <p:cNvPr id="21" name="Rectangle 20"/>
          <p:cNvSpPr/>
          <p:nvPr/>
        </p:nvSpPr>
        <p:spPr>
          <a:xfrm>
            <a:off x="548640" y="3456432"/>
            <a:ext cx="54864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456432"/>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Tailwind CSS</a:t>
            </a:r>
          </a:p>
        </p:txBody>
      </p:sp>
      <p:sp>
        <p:nvSpPr>
          <p:cNvPr id="23" name="TextBox 22"/>
          <p:cNvSpPr txBox="1"/>
          <p:nvPr/>
        </p:nvSpPr>
        <p:spPr>
          <a:xfrm>
            <a:off x="2240280" y="3456432"/>
            <a:ext cx="64008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4.3</a:t>
            </a:r>
          </a:p>
        </p:txBody>
      </p:sp>
      <p:sp>
        <p:nvSpPr>
          <p:cNvPr id="24" name="TextBox 23"/>
          <p:cNvSpPr txBox="1"/>
          <p:nvPr/>
        </p:nvSpPr>
        <p:spPr>
          <a:xfrm>
            <a:off x="2926080" y="3456432"/>
            <a:ext cx="30175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Utility styling via @tailwindcss/vite</a:t>
            </a:r>
          </a:p>
        </p:txBody>
      </p:sp>
      <p:sp>
        <p:nvSpPr>
          <p:cNvPr id="25" name="Rectangle 24"/>
          <p:cNvSpPr/>
          <p:nvPr/>
        </p:nvSpPr>
        <p:spPr>
          <a:xfrm>
            <a:off x="548640" y="3877056"/>
            <a:ext cx="54864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77056"/>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oxlint</a:t>
            </a:r>
          </a:p>
        </p:txBody>
      </p:sp>
      <p:sp>
        <p:nvSpPr>
          <p:cNvPr id="27" name="TextBox 26"/>
          <p:cNvSpPr txBox="1"/>
          <p:nvPr/>
        </p:nvSpPr>
        <p:spPr>
          <a:xfrm>
            <a:off x="2240280" y="3877056"/>
            <a:ext cx="64008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1.75</a:t>
            </a:r>
          </a:p>
        </p:txBody>
      </p:sp>
      <p:sp>
        <p:nvSpPr>
          <p:cNvPr id="28" name="TextBox 27"/>
          <p:cNvSpPr txBox="1"/>
          <p:nvPr/>
        </p:nvSpPr>
        <p:spPr>
          <a:xfrm>
            <a:off x="2926080" y="3877056"/>
            <a:ext cx="30175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Linting</a:t>
            </a:r>
          </a:p>
        </p:txBody>
      </p:sp>
      <p:sp>
        <p:nvSpPr>
          <p:cNvPr id="29" name="Rectangle 28"/>
          <p:cNvSpPr/>
          <p:nvPr/>
        </p:nvSpPr>
        <p:spPr>
          <a:xfrm>
            <a:off x="548640" y="4370832"/>
            <a:ext cx="5486400" cy="658368"/>
          </a:xfrm>
          <a:prstGeom prst="rect">
            <a:avLst/>
          </a:prstGeom>
          <a:solidFill>
            <a:srgbClr val="E7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4370832"/>
            <a:ext cx="5120640" cy="658368"/>
          </a:xfrm>
          <a:prstGeom prst="rect">
            <a:avLst/>
          </a:prstGeom>
          <a:noFill/>
        </p:spPr>
        <p:txBody>
          <a:bodyPr wrap="square" anchor="ctr" lIns="0" rIns="0" tIns="0" bIns="0">
            <a:spAutoFit/>
          </a:bodyPr>
          <a:lstStyle/>
          <a:p>
            <a:pPr algn="l">
              <a:lnSpc>
                <a:spcPct val="108000"/>
              </a:lnSpc>
            </a:pPr>
            <a:r>
              <a:rPr sz="1050" b="0" i="0">
                <a:solidFill>
                  <a:srgbClr val="155F59"/>
                </a:solidFill>
                <a:latin typeface="Calibri"/>
              </a:rPr>
              <a:t>Still only 3 runtime dependencies: react, react-dom, react-router-dom. No state library, no UI kit, no chart library.</a:t>
            </a:r>
          </a:p>
        </p:txBody>
      </p:sp>
      <p:sp>
        <p:nvSpPr>
          <p:cNvPr id="31" name="TextBox 30"/>
          <p:cNvSpPr txBox="1"/>
          <p:nvPr/>
        </p:nvSpPr>
        <p:spPr>
          <a:xfrm>
            <a:off x="6400800" y="1463040"/>
            <a:ext cx="52120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ARCHITECTURAL PATTERNS</a:t>
            </a:r>
          </a:p>
        </p:txBody>
      </p:sp>
      <p:sp>
        <p:nvSpPr>
          <p:cNvPr id="32" name="Rectangle 31"/>
          <p:cNvSpPr/>
          <p:nvPr/>
        </p:nvSpPr>
        <p:spPr>
          <a:xfrm>
            <a:off x="6400800" y="1773936"/>
            <a:ext cx="521208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1856232"/>
            <a:ext cx="4846320" cy="237744"/>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Config-driven navigation</a:t>
            </a:r>
          </a:p>
        </p:txBody>
      </p:sp>
      <p:sp>
        <p:nvSpPr>
          <p:cNvPr id="34" name="TextBox 33"/>
          <p:cNvSpPr txBox="1"/>
          <p:nvPr/>
        </p:nvSpPr>
        <p:spPr>
          <a:xfrm>
            <a:off x="6583680" y="2084832"/>
            <a:ext cx="4846320" cy="320000"/>
          </a:xfrm>
          <a:prstGeom prst="rect">
            <a:avLst/>
          </a:prstGeom>
          <a:noFill/>
        </p:spPr>
        <p:txBody>
          <a:bodyPr wrap="square" anchor="t" lIns="0" rIns="0" tIns="0" bIns="0">
            <a:spAutoFit/>
          </a:bodyPr>
          <a:lstStyle/>
          <a:p>
            <a:pPr algn="l">
              <a:lnSpc>
                <a:spcPct val="110000"/>
              </a:lnSpc>
            </a:pPr>
            <a:r>
              <a:rPr sz="900" b="0" i="0">
                <a:solidFill>
                  <a:srgbClr val="2E3B47"/>
                </a:solidFill>
                <a:latin typeface="Calibri"/>
              </a:rPr>
              <a:t>navigation.ts is the single source for sidebar, breadcrumbs, command palette and the RBAC matrix — they cannot drift apart.</a:t>
            </a:r>
          </a:p>
        </p:txBody>
      </p:sp>
      <p:sp>
        <p:nvSpPr>
          <p:cNvPr id="35" name="Rectangle 34"/>
          <p:cNvSpPr/>
          <p:nvPr/>
        </p:nvSpPr>
        <p:spPr>
          <a:xfrm>
            <a:off x="6400800" y="2523744"/>
            <a:ext cx="521208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2606040"/>
            <a:ext cx="4846320" cy="237744"/>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Repository Pattern</a:t>
            </a:r>
          </a:p>
        </p:txBody>
      </p:sp>
      <p:sp>
        <p:nvSpPr>
          <p:cNvPr id="37" name="TextBox 36"/>
          <p:cNvSpPr txBox="1"/>
          <p:nvPr/>
        </p:nvSpPr>
        <p:spPr>
          <a:xfrm>
            <a:off x="6583680" y="2834640"/>
            <a:ext cx="4846320" cy="320000"/>
          </a:xfrm>
          <a:prstGeom prst="rect">
            <a:avLst/>
          </a:prstGeom>
          <a:noFill/>
        </p:spPr>
        <p:txBody>
          <a:bodyPr wrap="square" anchor="t" lIns="0" rIns="0" tIns="0" bIns="0">
            <a:spAutoFit/>
          </a:bodyPr>
          <a:lstStyle/>
          <a:p>
            <a:pPr algn="l">
              <a:lnSpc>
                <a:spcPct val="110000"/>
              </a:lnSpc>
            </a:pPr>
            <a:r>
              <a:rPr sz="900" b="0" i="0">
                <a:solidFill>
                  <a:srgbClr val="2E3B47"/>
                </a:solidFill>
                <a:latin typeface="Calibri"/>
              </a:rPr>
              <a:t>Every domain has Api + Local implementations behind one interface; getXRepository() factories are Api-first since Release 6.</a:t>
            </a:r>
          </a:p>
        </p:txBody>
      </p:sp>
      <p:sp>
        <p:nvSpPr>
          <p:cNvPr id="38" name="Rectangle 37"/>
          <p:cNvSpPr/>
          <p:nvPr/>
        </p:nvSpPr>
        <p:spPr>
          <a:xfrm>
            <a:off x="6400800" y="3273552"/>
            <a:ext cx="521208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3355848"/>
            <a:ext cx="4846320" cy="237744"/>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Cache-then-network</a:t>
            </a:r>
          </a:p>
        </p:txBody>
      </p:sp>
      <p:sp>
        <p:nvSpPr>
          <p:cNvPr id="40" name="TextBox 39"/>
          <p:cNvSpPr txBox="1"/>
          <p:nvPr/>
        </p:nvSpPr>
        <p:spPr>
          <a:xfrm>
            <a:off x="6583680" y="3584448"/>
            <a:ext cx="4846320" cy="320000"/>
          </a:xfrm>
          <a:prstGeom prst="rect">
            <a:avLst/>
          </a:prstGeom>
          <a:noFill/>
        </p:spPr>
        <p:txBody>
          <a:bodyPr wrap="square" anchor="t" lIns="0" rIns="0" tIns="0" bIns="0">
            <a:spAutoFit/>
          </a:bodyPr>
          <a:lstStyle/>
          <a:p>
            <a:pPr algn="l">
              <a:lnSpc>
                <a:spcPct val="110000"/>
              </a:lnSpc>
            </a:pPr>
            <a:r>
              <a:rPr sz="900" b="0" i="0">
                <a:solidFill>
                  <a:srgbClr val="2E3B47"/>
                </a:solidFill>
                <a:latin typeface="Calibri"/>
              </a:rPr>
              <a:t>Reads are synchronous from an in-memory cache; writes update the cache optimistically, then persist, then reconcile with the server response.</a:t>
            </a:r>
          </a:p>
        </p:txBody>
      </p:sp>
      <p:sp>
        <p:nvSpPr>
          <p:cNvPr id="41" name="Rectangle 40"/>
          <p:cNvSpPr/>
          <p:nvPr/>
        </p:nvSpPr>
        <p:spPr>
          <a:xfrm>
            <a:off x="6400800" y="4023360"/>
            <a:ext cx="521208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4105656"/>
            <a:ext cx="4846320" cy="237744"/>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Layered domain services</a:t>
            </a:r>
          </a:p>
        </p:txBody>
      </p:sp>
      <p:sp>
        <p:nvSpPr>
          <p:cNvPr id="43" name="TextBox 42"/>
          <p:cNvSpPr txBox="1"/>
          <p:nvPr/>
        </p:nvSpPr>
        <p:spPr>
          <a:xfrm>
            <a:off x="6583680" y="4334256"/>
            <a:ext cx="4846320" cy="320000"/>
          </a:xfrm>
          <a:prstGeom prst="rect">
            <a:avLst/>
          </a:prstGeom>
          <a:noFill/>
        </p:spPr>
        <p:txBody>
          <a:bodyPr wrap="square" anchor="t" lIns="0" rIns="0" tIns="0" bIns="0">
            <a:spAutoFit/>
          </a:bodyPr>
          <a:lstStyle/>
          <a:p>
            <a:pPr algn="l">
              <a:lnSpc>
                <a:spcPct val="110000"/>
              </a:lnSpc>
            </a:pPr>
            <a:r>
              <a:rPr sz="900" b="0" i="0">
                <a:solidFill>
                  <a:srgbClr val="2E3B47"/>
                </a:solidFill>
                <a:latin typeface="Calibri"/>
              </a:rPr>
              <a:t>storageService (persistence) → governanceReasoningEngine / governanceActionsEngine / policyService (derivation) → executiveGovernance (aggregation).</a:t>
            </a:r>
          </a:p>
        </p:txBody>
      </p:sp>
      <p:sp>
        <p:nvSpPr>
          <p:cNvPr id="44" name="Rectangle 43"/>
          <p:cNvSpPr/>
          <p:nvPr/>
        </p:nvSpPr>
        <p:spPr>
          <a:xfrm>
            <a:off x="6400800" y="4773168"/>
            <a:ext cx="521208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4855464"/>
            <a:ext cx="4846320" cy="237744"/>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Token-based design system</a:t>
            </a:r>
          </a:p>
        </p:txBody>
      </p:sp>
      <p:sp>
        <p:nvSpPr>
          <p:cNvPr id="46" name="TextBox 45"/>
          <p:cNvSpPr txBox="1"/>
          <p:nvPr/>
        </p:nvSpPr>
        <p:spPr>
          <a:xfrm>
            <a:off x="6583680" y="5084064"/>
            <a:ext cx="4846320" cy="320000"/>
          </a:xfrm>
          <a:prstGeom prst="rect">
            <a:avLst/>
          </a:prstGeom>
          <a:noFill/>
        </p:spPr>
        <p:txBody>
          <a:bodyPr wrap="square" anchor="t" lIns="0" rIns="0" tIns="0" bIns="0">
            <a:spAutoFit/>
          </a:bodyPr>
          <a:lstStyle/>
          <a:p>
            <a:pPr algn="l">
              <a:lnSpc>
                <a:spcPct val="110000"/>
              </a:lnSpc>
            </a:pPr>
            <a:r>
              <a:rPr sz="900" b="0" i="0">
                <a:solidFill>
                  <a:srgbClr val="2E3B47"/>
                </a:solidFill>
                <a:latin typeface="Calibri"/>
              </a:rPr>
              <a:t>3 themes (light / dark / glass) driven entirely by CSS custom properties in tokens.css.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4 · BACKEND TECHNOLOGY STACK</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A single controller, grown to 85 endpoints</a:t>
            </a:r>
          </a:p>
        </p:txBody>
      </p:sp>
      <p:sp>
        <p:nvSpPr>
          <p:cNvPr id="4" name="Rectangle 3"/>
          <p:cNvSpPr/>
          <p:nvPr/>
        </p:nvSpPr>
        <p:spPr>
          <a:xfrm>
            <a:off x="548640" y="1463040"/>
            <a:ext cx="54864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463040"/>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NestJS</a:t>
            </a:r>
          </a:p>
        </p:txBody>
      </p:sp>
      <p:sp>
        <p:nvSpPr>
          <p:cNvPr id="6" name="TextBox 5"/>
          <p:cNvSpPr txBox="1"/>
          <p:nvPr/>
        </p:nvSpPr>
        <p:spPr>
          <a:xfrm>
            <a:off x="2240280" y="1463040"/>
            <a:ext cx="73152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11.0</a:t>
            </a:r>
          </a:p>
        </p:txBody>
      </p:sp>
      <p:sp>
        <p:nvSpPr>
          <p:cNvPr id="7" name="TextBox 6"/>
          <p:cNvSpPr txBox="1"/>
          <p:nvPr/>
        </p:nvSpPr>
        <p:spPr>
          <a:xfrm>
            <a:off x="3017520" y="1463040"/>
            <a:ext cx="292608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HTTP framework, DI container, guards</a:t>
            </a:r>
          </a:p>
        </p:txBody>
      </p:sp>
      <p:sp>
        <p:nvSpPr>
          <p:cNvPr id="8" name="Rectangle 7"/>
          <p:cNvSpPr/>
          <p:nvPr/>
        </p:nvSpPr>
        <p:spPr>
          <a:xfrm>
            <a:off x="548640" y="1883664"/>
            <a:ext cx="54864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83664"/>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Prisma Client</a:t>
            </a:r>
          </a:p>
        </p:txBody>
      </p:sp>
      <p:sp>
        <p:nvSpPr>
          <p:cNvPr id="10" name="TextBox 9"/>
          <p:cNvSpPr txBox="1"/>
          <p:nvPr/>
        </p:nvSpPr>
        <p:spPr>
          <a:xfrm>
            <a:off x="2240280" y="1883664"/>
            <a:ext cx="73152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6.19</a:t>
            </a:r>
          </a:p>
        </p:txBody>
      </p:sp>
      <p:sp>
        <p:nvSpPr>
          <p:cNvPr id="11" name="TextBox 10"/>
          <p:cNvSpPr txBox="1"/>
          <p:nvPr/>
        </p:nvSpPr>
        <p:spPr>
          <a:xfrm>
            <a:off x="3017520" y="1883664"/>
            <a:ext cx="292608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Type-safe data access</a:t>
            </a:r>
          </a:p>
        </p:txBody>
      </p:sp>
      <p:sp>
        <p:nvSpPr>
          <p:cNvPr id="12" name="Rectangle 11"/>
          <p:cNvSpPr/>
          <p:nvPr/>
        </p:nvSpPr>
        <p:spPr>
          <a:xfrm>
            <a:off x="548640" y="2304288"/>
            <a:ext cx="54864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304288"/>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PostgreSQL</a:t>
            </a:r>
          </a:p>
        </p:txBody>
      </p:sp>
      <p:sp>
        <p:nvSpPr>
          <p:cNvPr id="14" name="TextBox 13"/>
          <p:cNvSpPr txBox="1"/>
          <p:nvPr/>
        </p:nvSpPr>
        <p:spPr>
          <a:xfrm>
            <a:off x="2240280" y="2304288"/>
            <a:ext cx="73152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Neon</a:t>
            </a:r>
          </a:p>
        </p:txBody>
      </p:sp>
      <p:sp>
        <p:nvSpPr>
          <p:cNvPr id="15" name="TextBox 14"/>
          <p:cNvSpPr txBox="1"/>
          <p:nvPr/>
        </p:nvSpPr>
        <p:spPr>
          <a:xfrm>
            <a:off x="3017520" y="2304288"/>
            <a:ext cx="292608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Serverless Postgres, us-east-2</a:t>
            </a:r>
          </a:p>
        </p:txBody>
      </p:sp>
      <p:sp>
        <p:nvSpPr>
          <p:cNvPr id="16" name="Rectangle 15"/>
          <p:cNvSpPr/>
          <p:nvPr/>
        </p:nvSpPr>
        <p:spPr>
          <a:xfrm>
            <a:off x="548640" y="2724912"/>
            <a:ext cx="54864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724912"/>
            <a:ext cx="1554480" cy="384048"/>
          </a:xfrm>
          <a:prstGeom prst="rect">
            <a:avLst/>
          </a:prstGeom>
          <a:noFill/>
        </p:spPr>
        <p:txBody>
          <a:bodyPr wrap="square" anchor="ctr" lIns="0" rIns="0" tIns="0" bIns="0">
            <a:spAutoFit/>
          </a:bodyPr>
          <a:lstStyle/>
          <a:p>
            <a:pPr algn="l">
              <a:lnSpc>
                <a:spcPct val="108000"/>
              </a:lnSpc>
            </a:pPr>
            <a:r>
              <a:rPr sz="1150" b="1" i="0">
                <a:solidFill>
                  <a:srgbClr val="22303C"/>
                </a:solidFill>
                <a:latin typeface="Calibri"/>
              </a:rPr>
              <a:t>TypeScript</a:t>
            </a:r>
          </a:p>
        </p:txBody>
      </p:sp>
      <p:sp>
        <p:nvSpPr>
          <p:cNvPr id="18" name="TextBox 17"/>
          <p:cNvSpPr txBox="1"/>
          <p:nvPr/>
        </p:nvSpPr>
        <p:spPr>
          <a:xfrm>
            <a:off x="2240280" y="2724912"/>
            <a:ext cx="731520" cy="384048"/>
          </a:xfrm>
          <a:prstGeom prst="rect">
            <a:avLst/>
          </a:prstGeom>
          <a:noFill/>
        </p:spPr>
        <p:txBody>
          <a:bodyPr wrap="square" anchor="ctr" lIns="0" rIns="0" tIns="0" bIns="0">
            <a:spAutoFit/>
          </a:bodyPr>
          <a:lstStyle/>
          <a:p>
            <a:pPr algn="l">
              <a:lnSpc>
                <a:spcPct val="108000"/>
              </a:lnSpc>
            </a:pPr>
            <a:r>
              <a:rPr sz="950" b="0" i="0">
                <a:solidFill>
                  <a:srgbClr val="1F8A82"/>
                </a:solidFill>
                <a:latin typeface="Courier New"/>
              </a:rPr>
              <a:t>5.7</a:t>
            </a:r>
          </a:p>
        </p:txBody>
      </p:sp>
      <p:sp>
        <p:nvSpPr>
          <p:cNvPr id="19" name="TextBox 18"/>
          <p:cNvSpPr txBox="1"/>
          <p:nvPr/>
        </p:nvSpPr>
        <p:spPr>
          <a:xfrm>
            <a:off x="3017520" y="2724912"/>
            <a:ext cx="292608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Compiled via nest build</a:t>
            </a:r>
          </a:p>
        </p:txBody>
      </p:sp>
      <p:sp>
        <p:nvSpPr>
          <p:cNvPr id="20" name="TextBox 19"/>
          <p:cNvSpPr txBox="1"/>
          <p:nvPr/>
        </p:nvSpPr>
        <p:spPr>
          <a:xfrm>
            <a:off x="548640" y="3246120"/>
            <a:ext cx="548640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ENTIRE BACKEND — 6 FILES, 946 LINES</a:t>
            </a:r>
          </a:p>
        </p:txBody>
      </p:sp>
      <p:sp>
        <p:nvSpPr>
          <p:cNvPr id="21" name="TextBox 20"/>
          <p:cNvSpPr txBox="1"/>
          <p:nvPr/>
        </p:nvSpPr>
        <p:spPr>
          <a:xfrm>
            <a:off x="548640" y="3547872"/>
            <a:ext cx="2743200" cy="256032"/>
          </a:xfrm>
          <a:prstGeom prst="rect">
            <a:avLst/>
          </a:prstGeom>
          <a:noFill/>
        </p:spPr>
        <p:txBody>
          <a:bodyPr wrap="square" anchor="t" lIns="0" rIns="0" tIns="0" bIns="0">
            <a:spAutoFit/>
          </a:bodyPr>
          <a:lstStyle/>
          <a:p>
            <a:pPr algn="l">
              <a:lnSpc>
                <a:spcPct val="108000"/>
              </a:lnSpc>
            </a:pPr>
            <a:r>
              <a:rPr sz="850" b="0" i="0">
                <a:solidFill>
                  <a:srgbClr val="2E3B47"/>
                </a:solidFill>
                <a:latin typeface="Courier New"/>
              </a:rPr>
              <a:t>▪ main.ts — bootstrap, CORS allow-list</a:t>
            </a:r>
          </a:p>
        </p:txBody>
      </p:sp>
      <p:sp>
        <p:nvSpPr>
          <p:cNvPr id="22" name="TextBox 21"/>
          <p:cNvSpPr txBox="1"/>
          <p:nvPr/>
        </p:nvSpPr>
        <p:spPr>
          <a:xfrm>
            <a:off x="3291840" y="3547872"/>
            <a:ext cx="2743200" cy="256032"/>
          </a:xfrm>
          <a:prstGeom prst="rect">
            <a:avLst/>
          </a:prstGeom>
          <a:noFill/>
        </p:spPr>
        <p:txBody>
          <a:bodyPr wrap="square" anchor="t" lIns="0" rIns="0" tIns="0" bIns="0">
            <a:spAutoFit/>
          </a:bodyPr>
          <a:lstStyle/>
          <a:p>
            <a:pPr algn="l">
              <a:lnSpc>
                <a:spcPct val="108000"/>
              </a:lnSpc>
            </a:pPr>
            <a:r>
              <a:rPr sz="850" b="0" i="0">
                <a:solidFill>
                  <a:srgbClr val="2E3B47"/>
                </a:solidFill>
                <a:latin typeface="Courier New"/>
              </a:rPr>
              <a:t>▪ app.module.ts — single module</a:t>
            </a:r>
          </a:p>
        </p:txBody>
      </p:sp>
      <p:sp>
        <p:nvSpPr>
          <p:cNvPr id="23" name="TextBox 22"/>
          <p:cNvSpPr txBox="1"/>
          <p:nvPr/>
        </p:nvSpPr>
        <p:spPr>
          <a:xfrm>
            <a:off x="548640" y="3840480"/>
            <a:ext cx="2743200" cy="256032"/>
          </a:xfrm>
          <a:prstGeom prst="rect">
            <a:avLst/>
          </a:prstGeom>
          <a:noFill/>
        </p:spPr>
        <p:txBody>
          <a:bodyPr wrap="square" anchor="t" lIns="0" rIns="0" tIns="0" bIns="0">
            <a:spAutoFit/>
          </a:bodyPr>
          <a:lstStyle/>
          <a:p>
            <a:pPr algn="l">
              <a:lnSpc>
                <a:spcPct val="108000"/>
              </a:lnSpc>
            </a:pPr>
            <a:r>
              <a:rPr sz="850" b="0" i="0">
                <a:solidFill>
                  <a:srgbClr val="2E3B47"/>
                </a:solidFill>
                <a:latin typeface="Courier New"/>
              </a:rPr>
              <a:t>▪ app.controller.ts — 85 endpoints, 785 ln</a:t>
            </a:r>
          </a:p>
        </p:txBody>
      </p:sp>
      <p:sp>
        <p:nvSpPr>
          <p:cNvPr id="24" name="TextBox 23"/>
          <p:cNvSpPr txBox="1"/>
          <p:nvPr/>
        </p:nvSpPr>
        <p:spPr>
          <a:xfrm>
            <a:off x="3291840" y="3840480"/>
            <a:ext cx="2743200" cy="256032"/>
          </a:xfrm>
          <a:prstGeom prst="rect">
            <a:avLst/>
          </a:prstGeom>
          <a:noFill/>
        </p:spPr>
        <p:txBody>
          <a:bodyPr wrap="square" anchor="t" lIns="0" rIns="0" tIns="0" bIns="0">
            <a:spAutoFit/>
          </a:bodyPr>
          <a:lstStyle/>
          <a:p>
            <a:pPr algn="l">
              <a:lnSpc>
                <a:spcPct val="108000"/>
              </a:lnSpc>
            </a:pPr>
            <a:r>
              <a:rPr sz="850" b="0" i="0">
                <a:solidFill>
                  <a:srgbClr val="2E3B47"/>
                </a:solidFill>
                <a:latin typeface="Courier New"/>
              </a:rPr>
              <a:t>▪ prisma.service.ts — lifecycle</a:t>
            </a:r>
          </a:p>
        </p:txBody>
      </p:sp>
      <p:sp>
        <p:nvSpPr>
          <p:cNvPr id="25" name="TextBox 24"/>
          <p:cNvSpPr txBox="1"/>
          <p:nvPr/>
        </p:nvSpPr>
        <p:spPr>
          <a:xfrm>
            <a:off x="548640" y="4133088"/>
            <a:ext cx="2743200" cy="256032"/>
          </a:xfrm>
          <a:prstGeom prst="rect">
            <a:avLst/>
          </a:prstGeom>
          <a:noFill/>
        </p:spPr>
        <p:txBody>
          <a:bodyPr wrap="square" anchor="t" lIns="0" rIns="0" tIns="0" bIns="0">
            <a:spAutoFit/>
          </a:bodyPr>
          <a:lstStyle/>
          <a:p>
            <a:pPr algn="l">
              <a:lnSpc>
                <a:spcPct val="108000"/>
              </a:lnSpc>
            </a:pPr>
            <a:r>
              <a:rPr sz="850" b="0" i="0">
                <a:solidFill>
                  <a:srgbClr val="2E3B47"/>
                </a:solidFill>
                <a:latin typeface="Courier New"/>
              </a:rPr>
              <a:t>▪ auth/roles.guard.ts — authorisation, 90 ln</a:t>
            </a:r>
          </a:p>
        </p:txBody>
      </p:sp>
      <p:sp>
        <p:nvSpPr>
          <p:cNvPr id="26" name="TextBox 25"/>
          <p:cNvSpPr txBox="1"/>
          <p:nvPr/>
        </p:nvSpPr>
        <p:spPr>
          <a:xfrm>
            <a:off x="3291840" y="4133088"/>
            <a:ext cx="2743200" cy="256032"/>
          </a:xfrm>
          <a:prstGeom prst="rect">
            <a:avLst/>
          </a:prstGeom>
          <a:noFill/>
        </p:spPr>
        <p:txBody>
          <a:bodyPr wrap="square" anchor="t" lIns="0" rIns="0" tIns="0" bIns="0">
            <a:spAutoFit/>
          </a:bodyPr>
          <a:lstStyle/>
          <a:p>
            <a:pPr algn="l">
              <a:lnSpc>
                <a:spcPct val="108000"/>
              </a:lnSpc>
            </a:pPr>
            <a:r>
              <a:rPr sz="850" b="0" i="0">
                <a:solidFill>
                  <a:srgbClr val="2E3B47"/>
                </a:solidFill>
                <a:latin typeface="Courier New"/>
              </a:rPr>
              <a:t>▪ auth/roles.decorator.ts — @Roles()</a:t>
            </a:r>
          </a:p>
        </p:txBody>
      </p:sp>
      <p:sp>
        <p:nvSpPr>
          <p:cNvPr id="27" name="TextBox 26"/>
          <p:cNvSpPr txBox="1"/>
          <p:nvPr/>
        </p:nvSpPr>
        <p:spPr>
          <a:xfrm>
            <a:off x="6400800" y="1463040"/>
            <a:ext cx="52120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API DOMAIN COVERAGE</a:t>
            </a:r>
          </a:p>
        </p:txBody>
      </p:sp>
      <p:sp>
        <p:nvSpPr>
          <p:cNvPr id="28" name="TextBox 27"/>
          <p:cNvSpPr txBox="1"/>
          <p:nvPr/>
        </p:nvSpPr>
        <p:spPr>
          <a:xfrm>
            <a:off x="6400800" y="1773936"/>
            <a:ext cx="3600000" cy="274320"/>
          </a:xfrm>
          <a:prstGeom prst="rect">
            <a:avLst/>
          </a:prstGeom>
          <a:noFill/>
        </p:spPr>
        <p:txBody>
          <a:bodyPr wrap="square" anchor="t" lIns="0" rIns="0" tIns="0" bIns="0">
            <a:spAutoFit/>
          </a:bodyPr>
          <a:lstStyle/>
          <a:p>
            <a:pPr algn="l">
              <a:lnSpc>
                <a:spcPct val="108000"/>
              </a:lnSpc>
            </a:pPr>
            <a:r>
              <a:rPr sz="900" b="0" i="0">
                <a:solidFill>
                  <a:srgbClr val="22303C"/>
                </a:solidFill>
                <a:latin typeface="Courier New"/>
              </a:rPr>
              <a:t>Assets · Evidence · Continuity</a:t>
            </a:r>
          </a:p>
        </p:txBody>
      </p:sp>
      <p:sp>
        <p:nvSpPr>
          <p:cNvPr id="29" name="TextBox 28"/>
          <p:cNvSpPr txBox="1"/>
          <p:nvPr/>
        </p:nvSpPr>
        <p:spPr>
          <a:xfrm>
            <a:off x="10287000" y="1773936"/>
            <a:ext cx="1325880" cy="274320"/>
          </a:xfrm>
          <a:prstGeom prst="rect">
            <a:avLst/>
          </a:prstGeom>
          <a:noFill/>
        </p:spPr>
        <p:txBody>
          <a:bodyPr wrap="square" anchor="t" lIns="0" rIns="0" tIns="0" bIns="0">
            <a:spAutoFit/>
          </a:bodyPr>
          <a:lstStyle/>
          <a:p>
            <a:pPr algn="l">
              <a:lnSpc>
                <a:spcPct val="108000"/>
              </a:lnSpc>
            </a:pPr>
            <a:r>
              <a:rPr sz="900" b="0" i="0">
                <a:solidFill>
                  <a:srgbClr val="1F8A82"/>
                </a:solidFill>
                <a:latin typeface="Calibri"/>
              </a:rPr>
              <a:t>full CRUD</a:t>
            </a:r>
          </a:p>
        </p:txBody>
      </p:sp>
      <p:sp>
        <p:nvSpPr>
          <p:cNvPr id="30" name="TextBox 29"/>
          <p:cNvSpPr txBox="1"/>
          <p:nvPr/>
        </p:nvSpPr>
        <p:spPr>
          <a:xfrm>
            <a:off x="6400800" y="2084832"/>
            <a:ext cx="3600000" cy="274320"/>
          </a:xfrm>
          <a:prstGeom prst="rect">
            <a:avLst/>
          </a:prstGeom>
          <a:noFill/>
        </p:spPr>
        <p:txBody>
          <a:bodyPr wrap="square" anchor="t" lIns="0" rIns="0" tIns="0" bIns="0">
            <a:spAutoFit/>
          </a:bodyPr>
          <a:lstStyle/>
          <a:p>
            <a:pPr algn="l">
              <a:lnSpc>
                <a:spcPct val="108000"/>
              </a:lnSpc>
            </a:pPr>
            <a:r>
              <a:rPr sz="900" b="0" i="0">
                <a:solidFill>
                  <a:srgbClr val="22303C"/>
                </a:solidFill>
                <a:latin typeface="Courier New"/>
              </a:rPr>
              <a:t>Compliance Pack Framework</a:t>
            </a:r>
          </a:p>
        </p:txBody>
      </p:sp>
      <p:sp>
        <p:nvSpPr>
          <p:cNvPr id="31" name="TextBox 30"/>
          <p:cNvSpPr txBox="1"/>
          <p:nvPr/>
        </p:nvSpPr>
        <p:spPr>
          <a:xfrm>
            <a:off x="10287000" y="2084832"/>
            <a:ext cx="1325880" cy="274320"/>
          </a:xfrm>
          <a:prstGeom prst="rect">
            <a:avLst/>
          </a:prstGeom>
          <a:noFill/>
        </p:spPr>
        <p:txBody>
          <a:bodyPr wrap="square" anchor="t" lIns="0" rIns="0" tIns="0" bIns="0">
            <a:spAutoFit/>
          </a:bodyPr>
          <a:lstStyle/>
          <a:p>
            <a:pPr algn="l">
              <a:lnSpc>
                <a:spcPct val="108000"/>
              </a:lnSpc>
            </a:pPr>
            <a:r>
              <a:rPr sz="900" b="0" i="0">
                <a:solidFill>
                  <a:srgbClr val="1F8A82"/>
                </a:solidFill>
                <a:latin typeface="Calibri"/>
              </a:rPr>
              <a:t>full CRUD</a:t>
            </a:r>
          </a:p>
        </p:txBody>
      </p:sp>
      <p:sp>
        <p:nvSpPr>
          <p:cNvPr id="32" name="TextBox 31"/>
          <p:cNvSpPr txBox="1"/>
          <p:nvPr/>
        </p:nvSpPr>
        <p:spPr>
          <a:xfrm>
            <a:off x="6400800" y="2395728"/>
            <a:ext cx="3600000" cy="274320"/>
          </a:xfrm>
          <a:prstGeom prst="rect">
            <a:avLst/>
          </a:prstGeom>
          <a:noFill/>
        </p:spPr>
        <p:txBody>
          <a:bodyPr wrap="square" anchor="t" lIns="0" rIns="0" tIns="0" bIns="0">
            <a:spAutoFit/>
          </a:bodyPr>
          <a:lstStyle/>
          <a:p>
            <a:pPr algn="l">
              <a:lnSpc>
                <a:spcPct val="108000"/>
              </a:lnSpc>
            </a:pPr>
            <a:r>
              <a:rPr sz="900" b="0" i="0">
                <a:solidFill>
                  <a:srgbClr val="22303C"/>
                </a:solidFill>
                <a:latin typeface="Courier New"/>
              </a:rPr>
              <a:t>Regulatory Knowledge Engine</a:t>
            </a:r>
          </a:p>
        </p:txBody>
      </p:sp>
      <p:sp>
        <p:nvSpPr>
          <p:cNvPr id="33" name="TextBox 32"/>
          <p:cNvSpPr txBox="1"/>
          <p:nvPr/>
        </p:nvSpPr>
        <p:spPr>
          <a:xfrm>
            <a:off x="10287000" y="2395728"/>
            <a:ext cx="1325880" cy="274320"/>
          </a:xfrm>
          <a:prstGeom prst="rect">
            <a:avLst/>
          </a:prstGeom>
          <a:noFill/>
        </p:spPr>
        <p:txBody>
          <a:bodyPr wrap="square" anchor="t" lIns="0" rIns="0" tIns="0" bIns="0">
            <a:spAutoFit/>
          </a:bodyPr>
          <a:lstStyle/>
          <a:p>
            <a:pPr algn="l">
              <a:lnSpc>
                <a:spcPct val="108000"/>
              </a:lnSpc>
            </a:pPr>
            <a:r>
              <a:rPr sz="900" b="0" i="0">
                <a:solidFill>
                  <a:srgbClr val="1F8A82"/>
                </a:solidFill>
                <a:latin typeface="Calibri"/>
              </a:rPr>
              <a:t>full CRUD</a:t>
            </a:r>
          </a:p>
        </p:txBody>
      </p:sp>
      <p:sp>
        <p:nvSpPr>
          <p:cNvPr id="34" name="TextBox 33"/>
          <p:cNvSpPr txBox="1"/>
          <p:nvPr/>
        </p:nvSpPr>
        <p:spPr>
          <a:xfrm>
            <a:off x="6400800" y="2706624"/>
            <a:ext cx="3600000" cy="274320"/>
          </a:xfrm>
          <a:prstGeom prst="rect">
            <a:avLst/>
          </a:prstGeom>
          <a:noFill/>
        </p:spPr>
        <p:txBody>
          <a:bodyPr wrap="square" anchor="t" lIns="0" rIns="0" tIns="0" bIns="0">
            <a:spAutoFit/>
          </a:bodyPr>
          <a:lstStyle/>
          <a:p>
            <a:pPr algn="l">
              <a:lnSpc>
                <a:spcPct val="108000"/>
              </a:lnSpc>
            </a:pPr>
            <a:r>
              <a:rPr sz="900" b="0" i="0">
                <a:solidFill>
                  <a:srgbClr val="22303C"/>
                </a:solidFill>
                <a:latin typeface="Courier New"/>
              </a:rPr>
              <a:t>Governance Intelligence + Actions</a:t>
            </a:r>
          </a:p>
        </p:txBody>
      </p:sp>
      <p:sp>
        <p:nvSpPr>
          <p:cNvPr id="35" name="TextBox 34"/>
          <p:cNvSpPr txBox="1"/>
          <p:nvPr/>
        </p:nvSpPr>
        <p:spPr>
          <a:xfrm>
            <a:off x="10287000" y="2706624"/>
            <a:ext cx="1325880" cy="274320"/>
          </a:xfrm>
          <a:prstGeom prst="rect">
            <a:avLst/>
          </a:prstGeom>
          <a:noFill/>
        </p:spPr>
        <p:txBody>
          <a:bodyPr wrap="square" anchor="t" lIns="0" rIns="0" tIns="0" bIns="0">
            <a:spAutoFit/>
          </a:bodyPr>
          <a:lstStyle/>
          <a:p>
            <a:pPr algn="l">
              <a:lnSpc>
                <a:spcPct val="108000"/>
              </a:lnSpc>
            </a:pPr>
            <a:r>
              <a:rPr sz="900" b="0" i="0">
                <a:solidFill>
                  <a:srgbClr val="1F8A82"/>
                </a:solidFill>
                <a:latin typeface="Calibri"/>
              </a:rPr>
              <a:t>full CRUD</a:t>
            </a:r>
          </a:p>
        </p:txBody>
      </p:sp>
      <p:sp>
        <p:nvSpPr>
          <p:cNvPr id="36" name="TextBox 35"/>
          <p:cNvSpPr txBox="1"/>
          <p:nvPr/>
        </p:nvSpPr>
        <p:spPr>
          <a:xfrm>
            <a:off x="6400800" y="3017520"/>
            <a:ext cx="3600000" cy="274320"/>
          </a:xfrm>
          <a:prstGeom prst="rect">
            <a:avLst/>
          </a:prstGeom>
          <a:noFill/>
        </p:spPr>
        <p:txBody>
          <a:bodyPr wrap="square" anchor="t" lIns="0" rIns="0" tIns="0" bIns="0">
            <a:spAutoFit/>
          </a:bodyPr>
          <a:lstStyle/>
          <a:p>
            <a:pPr algn="l">
              <a:lnSpc>
                <a:spcPct val="108000"/>
              </a:lnSpc>
            </a:pPr>
            <a:r>
              <a:rPr sz="900" b="0" i="0">
                <a:solidFill>
                  <a:srgbClr val="22303C"/>
                </a:solidFill>
                <a:latin typeface="Courier New"/>
              </a:rPr>
              <a:t>Governance Intelligence Studio</a:t>
            </a:r>
          </a:p>
        </p:txBody>
      </p:sp>
      <p:sp>
        <p:nvSpPr>
          <p:cNvPr id="37" name="TextBox 36"/>
          <p:cNvSpPr txBox="1"/>
          <p:nvPr/>
        </p:nvSpPr>
        <p:spPr>
          <a:xfrm>
            <a:off x="10287000" y="3017520"/>
            <a:ext cx="1325880" cy="274320"/>
          </a:xfrm>
          <a:prstGeom prst="rect">
            <a:avLst/>
          </a:prstGeom>
          <a:noFill/>
        </p:spPr>
        <p:txBody>
          <a:bodyPr wrap="square" anchor="t" lIns="0" rIns="0" tIns="0" bIns="0">
            <a:spAutoFit/>
          </a:bodyPr>
          <a:lstStyle/>
          <a:p>
            <a:pPr algn="l">
              <a:lnSpc>
                <a:spcPct val="108000"/>
              </a:lnSpc>
            </a:pPr>
            <a:r>
              <a:rPr sz="900" b="0" i="0">
                <a:solidFill>
                  <a:srgbClr val="1F8A82"/>
                </a:solidFill>
                <a:latin typeface="Calibri"/>
              </a:rPr>
              <a:t>full CRUD</a:t>
            </a:r>
          </a:p>
        </p:txBody>
      </p:sp>
      <p:sp>
        <p:nvSpPr>
          <p:cNvPr id="38" name="TextBox 37"/>
          <p:cNvSpPr txBox="1"/>
          <p:nvPr/>
        </p:nvSpPr>
        <p:spPr>
          <a:xfrm>
            <a:off x="6400800" y="3328416"/>
            <a:ext cx="3600000" cy="274320"/>
          </a:xfrm>
          <a:prstGeom prst="rect">
            <a:avLst/>
          </a:prstGeom>
          <a:noFill/>
        </p:spPr>
        <p:txBody>
          <a:bodyPr wrap="square" anchor="t" lIns="0" rIns="0" tIns="0" bIns="0">
            <a:spAutoFit/>
          </a:bodyPr>
          <a:lstStyle/>
          <a:p>
            <a:pPr algn="l">
              <a:lnSpc>
                <a:spcPct val="108000"/>
              </a:lnSpc>
            </a:pPr>
            <a:r>
              <a:rPr sz="900" b="0" i="0">
                <a:solidFill>
                  <a:srgbClr val="22303C"/>
                </a:solidFill>
                <a:latin typeface="Courier New"/>
              </a:rPr>
              <a:t>Users · Audit Logs · Monitoring</a:t>
            </a:r>
          </a:p>
        </p:txBody>
      </p:sp>
      <p:sp>
        <p:nvSpPr>
          <p:cNvPr id="39" name="TextBox 38"/>
          <p:cNvSpPr txBox="1"/>
          <p:nvPr/>
        </p:nvSpPr>
        <p:spPr>
          <a:xfrm>
            <a:off x="10287000" y="3328416"/>
            <a:ext cx="1325880" cy="274320"/>
          </a:xfrm>
          <a:prstGeom prst="rect">
            <a:avLst/>
          </a:prstGeom>
          <a:noFill/>
        </p:spPr>
        <p:txBody>
          <a:bodyPr wrap="square" anchor="t" lIns="0" rIns="0" tIns="0" bIns="0">
            <a:spAutoFit/>
          </a:bodyPr>
          <a:lstStyle/>
          <a:p>
            <a:pPr algn="l">
              <a:lnSpc>
                <a:spcPct val="108000"/>
              </a:lnSpc>
            </a:pPr>
            <a:r>
              <a:rPr sz="900" b="0" i="0">
                <a:solidFill>
                  <a:srgbClr val="1F8A82"/>
                </a:solidFill>
                <a:latin typeface="Calibri"/>
              </a:rPr>
              <a:t>read + scoped writes</a:t>
            </a:r>
          </a:p>
        </p:txBody>
      </p:sp>
      <p:sp>
        <p:nvSpPr>
          <p:cNvPr id="40" name="Rectangle 39"/>
          <p:cNvSpPr/>
          <p:nvPr/>
        </p:nvSpPr>
        <p:spPr>
          <a:xfrm>
            <a:off x="6400800" y="3639312"/>
            <a:ext cx="5212080" cy="786384"/>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0" y="3730752"/>
            <a:ext cx="4846320" cy="219456"/>
          </a:xfrm>
          <a:prstGeom prst="rect">
            <a:avLst/>
          </a:prstGeom>
          <a:noFill/>
        </p:spPr>
        <p:txBody>
          <a:bodyPr wrap="square" anchor="t" lIns="0" rIns="0" tIns="0" bIns="0">
            <a:spAutoFit/>
          </a:bodyPr>
          <a:lstStyle/>
          <a:p>
            <a:pPr algn="l">
              <a:lnSpc>
                <a:spcPct val="108000"/>
              </a:lnSpc>
            </a:pPr>
            <a:r>
              <a:rPr sz="950" b="1" i="0">
                <a:solidFill>
                  <a:srgbClr val="8A5A12"/>
                </a:solidFill>
                <a:latin typeface="Calibri"/>
              </a:rPr>
              <a:t>STILL LOCAL-ONLY</a:t>
            </a:r>
          </a:p>
        </p:txBody>
      </p:sp>
      <p:sp>
        <p:nvSpPr>
          <p:cNvPr id="42" name="TextBox 41"/>
          <p:cNvSpPr txBox="1"/>
          <p:nvPr/>
        </p:nvSpPr>
        <p:spPr>
          <a:xfrm>
            <a:off x="6583680" y="3968496"/>
            <a:ext cx="4846320" cy="384048"/>
          </a:xfrm>
          <a:prstGeom prst="rect">
            <a:avLst/>
          </a:prstGeom>
          <a:noFill/>
        </p:spPr>
        <p:txBody>
          <a:bodyPr wrap="square" anchor="t" lIns="0" rIns="0" tIns="0" bIns="0">
            <a:spAutoFit/>
          </a:bodyPr>
          <a:lstStyle/>
          <a:p>
            <a:pPr algn="l">
              <a:lnSpc>
                <a:spcPct val="110000"/>
              </a:lnSpc>
            </a:pPr>
            <a:r>
              <a:rPr sz="900" b="0" i="0">
                <a:solidFill>
                  <a:srgbClr val="2E3B47"/>
                </a:solidFill>
                <a:latin typeface="Calibri"/>
              </a:rPr>
              <a:t>~18 of 44 models — RiskAssessment, ValidationRecord, DecisionRecord, the Phase 9/10 Policy and Change domains, Operations (kill switch, override, incident, retirement).</a:t>
            </a:r>
          </a:p>
        </p:txBody>
      </p:sp>
      <p:sp>
        <p:nvSpPr>
          <p:cNvPr id="43" name="Rectangle 42"/>
          <p:cNvSpPr/>
          <p:nvPr/>
        </p:nvSpPr>
        <p:spPr>
          <a:xfrm>
            <a:off x="548640" y="5029200"/>
            <a:ext cx="11064240" cy="987552"/>
          </a:xfrm>
          <a:prstGeom prst="rect">
            <a:avLst/>
          </a:prstGeom>
          <a:solidFill>
            <a:srgbClr val="E7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 y="5138928"/>
            <a:ext cx="5486400" cy="256032"/>
          </a:xfrm>
          <a:prstGeom prst="rect">
            <a:avLst/>
          </a:prstGeom>
          <a:noFill/>
        </p:spPr>
        <p:txBody>
          <a:bodyPr wrap="square" anchor="t" lIns="0" rIns="0" tIns="0" bIns="0">
            <a:spAutoFit/>
          </a:bodyPr>
          <a:lstStyle/>
          <a:p>
            <a:pPr algn="l">
              <a:lnSpc>
                <a:spcPct val="108000"/>
              </a:lnSpc>
            </a:pPr>
            <a:r>
              <a:rPr sz="1200" b="1" i="0">
                <a:solidFill>
                  <a:srgbClr val="155F59"/>
                </a:solidFill>
                <a:latin typeface="Calibri"/>
              </a:rPr>
              <a:t>Security hardening applied across Releases 4-10</a:t>
            </a:r>
          </a:p>
        </p:txBody>
      </p:sp>
      <p:sp>
        <p:nvSpPr>
          <p:cNvPr id="45" name="TextBox 44"/>
          <p:cNvSpPr txBox="1"/>
          <p:nvPr/>
        </p:nvSpPr>
        <p:spPr>
          <a:xfrm>
            <a:off x="822960" y="5413248"/>
            <a:ext cx="10515600" cy="530352"/>
          </a:xfrm>
          <a:prstGeom prst="rect">
            <a:avLst/>
          </a:prstGeom>
          <a:noFill/>
        </p:spPr>
        <p:txBody>
          <a:bodyPr wrap="square" anchor="t" lIns="0" rIns="0" tIns="0" bIns="0">
            <a:spAutoFit/>
          </a:bodyPr>
          <a:lstStyle/>
          <a:p>
            <a:pPr algn="l">
              <a:lnSpc>
                <a:spcPct val="115000"/>
              </a:lnSpc>
            </a:pPr>
            <a:r>
              <a:rPr sz="1050" b="0" i="0">
                <a:solidFill>
                  <a:srgbClr val="2E3B47"/>
                </a:solidFill>
                <a:latin typeface="Calibri"/>
              </a:rPr>
              <a:t>RolesGuard fails closed, validates against the Prisma UserRole enum, has no super-user bypass, and logs denials. Every data endpoint declares required roles. CORS moved from open to an allow-list. Residual: the role claim is a client-supplied header, not cryptographically verified — this is authorisation, not authentication.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5 · DATABASE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44 models across ten releases of governance domains</a:t>
            </a:r>
          </a:p>
        </p:txBody>
      </p:sp>
      <p:sp>
        <p:nvSpPr>
          <p:cNvPr id="4" name="Rectangle 3"/>
          <p:cNvSpPr/>
          <p:nvPr/>
        </p:nvSpPr>
        <p:spPr>
          <a:xfrm>
            <a:off x="548640" y="1444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44752"/>
            <a:ext cx="64008" cy="320000"/>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83152"/>
            <a:ext cx="1919224" cy="243200"/>
          </a:xfrm>
          <a:prstGeom prst="rect">
            <a:avLst/>
          </a:prstGeom>
          <a:noFill/>
        </p:spPr>
        <p:txBody>
          <a:bodyPr wrap="square" anchor="t" lIns="0" rIns="0" tIns="0" bIns="0">
            <a:spAutoFit/>
          </a:bodyPr>
          <a:lstStyle/>
          <a:p>
            <a:pPr algn="l">
              <a:lnSpc>
                <a:spcPct val="100000"/>
              </a:lnSpc>
            </a:pPr>
            <a:r>
              <a:rPr sz="900" b="1" i="0">
                <a:solidFill>
                  <a:srgbClr val="1F8A82"/>
                </a:solidFill>
                <a:latin typeface="Calibri"/>
              </a:rPr>
              <a:t>Identity &amp; Core</a:t>
            </a:r>
          </a:p>
        </p:txBody>
      </p:sp>
      <p:sp>
        <p:nvSpPr>
          <p:cNvPr id="7" name="TextBox 6"/>
          <p:cNvSpPr txBox="1"/>
          <p:nvPr/>
        </p:nvSpPr>
        <p:spPr>
          <a:xfrm>
            <a:off x="2286000" y="1483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User · AIAsset · AssetOwner</a:t>
            </a:r>
          </a:p>
        </p:txBody>
      </p:sp>
      <p:sp>
        <p:nvSpPr>
          <p:cNvPr id="8" name="Rectangle 7"/>
          <p:cNvSpPr/>
          <p:nvPr/>
        </p:nvSpPr>
        <p:spPr>
          <a:xfrm>
            <a:off x="548640" y="1795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795752"/>
            <a:ext cx="64008" cy="320000"/>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34152"/>
            <a:ext cx="1919224" cy="243200"/>
          </a:xfrm>
          <a:prstGeom prst="rect">
            <a:avLst/>
          </a:prstGeom>
          <a:noFill/>
        </p:spPr>
        <p:txBody>
          <a:bodyPr wrap="square" anchor="t" lIns="0" rIns="0" tIns="0" bIns="0">
            <a:spAutoFit/>
          </a:bodyPr>
          <a:lstStyle/>
          <a:p>
            <a:pPr algn="l">
              <a:lnSpc>
                <a:spcPct val="100000"/>
              </a:lnSpc>
            </a:pPr>
            <a:r>
              <a:rPr sz="900" b="1" i="0">
                <a:solidFill>
                  <a:srgbClr val="4A7FA5"/>
                </a:solidFill>
                <a:latin typeface="Calibri"/>
              </a:rPr>
              <a:t>Assurance</a:t>
            </a:r>
          </a:p>
        </p:txBody>
      </p:sp>
      <p:sp>
        <p:nvSpPr>
          <p:cNvPr id="11" name="TextBox 10"/>
          <p:cNvSpPr txBox="1"/>
          <p:nvPr/>
        </p:nvSpPr>
        <p:spPr>
          <a:xfrm>
            <a:off x="2286000" y="1834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RiskAssessment · ValidationRecord · EvidenceDocument · Finding · ComplianceAssessmentRecord</a:t>
            </a:r>
          </a:p>
        </p:txBody>
      </p:sp>
      <p:sp>
        <p:nvSpPr>
          <p:cNvPr id="12" name="Rectangle 11"/>
          <p:cNvSpPr/>
          <p:nvPr/>
        </p:nvSpPr>
        <p:spPr>
          <a:xfrm>
            <a:off x="548640" y="2146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46752"/>
            <a:ext cx="64008" cy="320000"/>
          </a:xfrm>
          <a:prstGeom prst="rect">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85152"/>
            <a:ext cx="1919224" cy="243200"/>
          </a:xfrm>
          <a:prstGeom prst="rect">
            <a:avLst/>
          </a:prstGeom>
          <a:noFill/>
        </p:spPr>
        <p:txBody>
          <a:bodyPr wrap="square" anchor="t" lIns="0" rIns="0" tIns="0" bIns="0">
            <a:spAutoFit/>
          </a:bodyPr>
          <a:lstStyle/>
          <a:p>
            <a:pPr algn="l">
              <a:lnSpc>
                <a:spcPct val="100000"/>
              </a:lnSpc>
            </a:pPr>
            <a:r>
              <a:rPr sz="900" b="1" i="0">
                <a:solidFill>
                  <a:srgbClr val="6B5B95"/>
                </a:solidFill>
                <a:latin typeface="Calibri"/>
              </a:rPr>
              <a:t>Decision</a:t>
            </a:r>
          </a:p>
        </p:txBody>
      </p:sp>
      <p:sp>
        <p:nvSpPr>
          <p:cNvPr id="15" name="TextBox 14"/>
          <p:cNvSpPr txBox="1"/>
          <p:nvPr/>
        </p:nvSpPr>
        <p:spPr>
          <a:xfrm>
            <a:off x="2286000" y="2185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DecisionRecord</a:t>
            </a:r>
          </a:p>
        </p:txBody>
      </p:sp>
      <p:sp>
        <p:nvSpPr>
          <p:cNvPr id="16" name="Rectangle 15"/>
          <p:cNvSpPr/>
          <p:nvPr/>
        </p:nvSpPr>
        <p:spPr>
          <a:xfrm>
            <a:off x="548640" y="2497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497752"/>
            <a:ext cx="64008" cy="320000"/>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536152"/>
            <a:ext cx="1919224" cy="243200"/>
          </a:xfrm>
          <a:prstGeom prst="rect">
            <a:avLst/>
          </a:prstGeom>
          <a:noFill/>
        </p:spPr>
        <p:txBody>
          <a:bodyPr wrap="square" anchor="t" lIns="0" rIns="0" tIns="0" bIns="0">
            <a:spAutoFit/>
          </a:bodyPr>
          <a:lstStyle/>
          <a:p>
            <a:pPr algn="l">
              <a:lnSpc>
                <a:spcPct val="100000"/>
              </a:lnSpc>
            </a:pPr>
            <a:r>
              <a:rPr sz="900" b="1" i="0">
                <a:solidFill>
                  <a:srgbClr val="C8871B"/>
                </a:solidFill>
                <a:latin typeface="Calibri"/>
              </a:rPr>
              <a:t>Operations</a:t>
            </a:r>
          </a:p>
        </p:txBody>
      </p:sp>
      <p:sp>
        <p:nvSpPr>
          <p:cNvPr id="19" name="TextBox 18"/>
          <p:cNvSpPr txBox="1"/>
          <p:nvPr/>
        </p:nvSpPr>
        <p:spPr>
          <a:xfrm>
            <a:off x="2286000" y="2536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KillSwitchRecord · OverrideRecord · GovernanceIncident · RetirementRecord · ScheduledReview · CorrectiveAction · GovernanceAlert</a:t>
            </a:r>
          </a:p>
        </p:txBody>
      </p:sp>
      <p:sp>
        <p:nvSpPr>
          <p:cNvPr id="20" name="Rectangle 19"/>
          <p:cNvSpPr/>
          <p:nvPr/>
        </p:nvSpPr>
        <p:spPr>
          <a:xfrm>
            <a:off x="548640" y="2848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2848752"/>
            <a:ext cx="64008" cy="320000"/>
          </a:xfrm>
          <a:prstGeom prst="rect">
            <a:avLst/>
          </a:prstGeom>
          <a:solidFill>
            <a:srgbClr val="B56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887152"/>
            <a:ext cx="1919224" cy="243200"/>
          </a:xfrm>
          <a:prstGeom prst="rect">
            <a:avLst/>
          </a:prstGeom>
          <a:noFill/>
        </p:spPr>
        <p:txBody>
          <a:bodyPr wrap="square" anchor="t" lIns="0" rIns="0" tIns="0" bIns="0">
            <a:spAutoFit/>
          </a:bodyPr>
          <a:lstStyle/>
          <a:p>
            <a:pPr algn="l">
              <a:lnSpc>
                <a:spcPct val="100000"/>
              </a:lnSpc>
            </a:pPr>
            <a:r>
              <a:rPr sz="900" b="1" i="0">
                <a:solidFill>
                  <a:srgbClr val="B5697F"/>
                </a:solidFill>
                <a:latin typeface="Calibri"/>
              </a:rPr>
              <a:t>Policy (Ph 9)</a:t>
            </a:r>
          </a:p>
        </p:txBody>
      </p:sp>
      <p:sp>
        <p:nvSpPr>
          <p:cNvPr id="23" name="TextBox 22"/>
          <p:cNvSpPr txBox="1"/>
          <p:nvPr/>
        </p:nvSpPr>
        <p:spPr>
          <a:xfrm>
            <a:off x="2286000" y="2887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Policy · PolicyMapping · PolicyViolation</a:t>
            </a:r>
          </a:p>
        </p:txBody>
      </p:sp>
      <p:sp>
        <p:nvSpPr>
          <p:cNvPr id="24" name="Rectangle 23"/>
          <p:cNvSpPr/>
          <p:nvPr/>
        </p:nvSpPr>
        <p:spPr>
          <a:xfrm>
            <a:off x="548640" y="3199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199752"/>
            <a:ext cx="64008" cy="320000"/>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238152"/>
            <a:ext cx="1919224" cy="243200"/>
          </a:xfrm>
          <a:prstGeom prst="rect">
            <a:avLst/>
          </a:prstGeom>
          <a:noFill/>
        </p:spPr>
        <p:txBody>
          <a:bodyPr wrap="square" anchor="t" lIns="0" rIns="0" tIns="0" bIns="0">
            <a:spAutoFit/>
          </a:bodyPr>
          <a:lstStyle/>
          <a:p>
            <a:pPr algn="l">
              <a:lnSpc>
                <a:spcPct val="100000"/>
              </a:lnSpc>
            </a:pPr>
            <a:r>
              <a:rPr sz="900" b="1" i="0">
                <a:solidFill>
                  <a:srgbClr val="2E7D64"/>
                </a:solidFill>
                <a:latin typeface="Calibri"/>
              </a:rPr>
              <a:t>Change (Ph 10)</a:t>
            </a:r>
          </a:p>
        </p:txBody>
      </p:sp>
      <p:sp>
        <p:nvSpPr>
          <p:cNvPr id="27" name="TextBox 26"/>
          <p:cNvSpPr txBox="1"/>
          <p:nvPr/>
        </p:nvSpPr>
        <p:spPr>
          <a:xfrm>
            <a:off x="2286000" y="3238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ChangeRequest · ChangeApproval · StateTransition · ChangeHistoryEntry · GovernanceTriggerRule</a:t>
            </a:r>
          </a:p>
        </p:txBody>
      </p:sp>
      <p:sp>
        <p:nvSpPr>
          <p:cNvPr id="28" name="Rectangle 27"/>
          <p:cNvSpPr/>
          <p:nvPr/>
        </p:nvSpPr>
        <p:spPr>
          <a:xfrm>
            <a:off x="548640" y="3550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550752"/>
            <a:ext cx="64008" cy="320000"/>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589152"/>
            <a:ext cx="1919224" cy="243200"/>
          </a:xfrm>
          <a:prstGeom prst="rect">
            <a:avLst/>
          </a:prstGeom>
          <a:noFill/>
        </p:spPr>
        <p:txBody>
          <a:bodyPr wrap="square" anchor="t" lIns="0" rIns="0" tIns="0" bIns="0">
            <a:spAutoFit/>
          </a:bodyPr>
          <a:lstStyle/>
          <a:p>
            <a:pPr algn="l">
              <a:lnSpc>
                <a:spcPct val="100000"/>
              </a:lnSpc>
            </a:pPr>
            <a:r>
              <a:rPr sz="900" b="1" i="0">
                <a:solidFill>
                  <a:srgbClr val="1F8A82"/>
                </a:solidFill>
                <a:latin typeface="Calibri"/>
              </a:rPr>
              <a:t>Continuity + Evidence (R3-4)</a:t>
            </a:r>
          </a:p>
        </p:txBody>
      </p:sp>
      <p:sp>
        <p:nvSpPr>
          <p:cNvPr id="31" name="TextBox 30"/>
          <p:cNvSpPr txBox="1"/>
          <p:nvPr/>
        </p:nvSpPr>
        <p:spPr>
          <a:xfrm>
            <a:off x="2286000" y="3589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EvidenceRecord · ReassessmentTrigger · GovernanceReauthorizationRecord</a:t>
            </a:r>
          </a:p>
        </p:txBody>
      </p:sp>
      <p:sp>
        <p:nvSpPr>
          <p:cNvPr id="32" name="Rectangle 31"/>
          <p:cNvSpPr/>
          <p:nvPr/>
        </p:nvSpPr>
        <p:spPr>
          <a:xfrm>
            <a:off x="548640" y="3901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3901752"/>
            <a:ext cx="64008" cy="320000"/>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940152"/>
            <a:ext cx="1919224" cy="243200"/>
          </a:xfrm>
          <a:prstGeom prst="rect">
            <a:avLst/>
          </a:prstGeom>
          <a:noFill/>
        </p:spPr>
        <p:txBody>
          <a:bodyPr wrap="square" anchor="t" lIns="0" rIns="0" tIns="0" bIns="0">
            <a:spAutoFit/>
          </a:bodyPr>
          <a:lstStyle/>
          <a:p>
            <a:pPr algn="l">
              <a:lnSpc>
                <a:spcPct val="100000"/>
              </a:lnSpc>
            </a:pPr>
            <a:r>
              <a:rPr sz="900" b="1" i="0">
                <a:solidFill>
                  <a:srgbClr val="4A7FA5"/>
                </a:solidFill>
                <a:latin typeface="Calibri"/>
              </a:rPr>
              <a:t>Compliance Pack Framework (R5)</a:t>
            </a:r>
          </a:p>
        </p:txBody>
      </p:sp>
      <p:sp>
        <p:nvSpPr>
          <p:cNvPr id="35" name="TextBox 34"/>
          <p:cNvSpPr txBox="1"/>
          <p:nvPr/>
        </p:nvSpPr>
        <p:spPr>
          <a:xfrm>
            <a:off x="2286000" y="3940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CompliancePack · ComplianceRequirement · PackControl · EvidenceMapping</a:t>
            </a:r>
          </a:p>
        </p:txBody>
      </p:sp>
      <p:sp>
        <p:nvSpPr>
          <p:cNvPr id="36" name="Rectangle 35"/>
          <p:cNvSpPr/>
          <p:nvPr/>
        </p:nvSpPr>
        <p:spPr>
          <a:xfrm>
            <a:off x="548640" y="4252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4252752"/>
            <a:ext cx="64008" cy="320000"/>
          </a:xfrm>
          <a:prstGeom prst="rect">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291152"/>
            <a:ext cx="1919224" cy="243200"/>
          </a:xfrm>
          <a:prstGeom prst="rect">
            <a:avLst/>
          </a:prstGeom>
          <a:noFill/>
        </p:spPr>
        <p:txBody>
          <a:bodyPr wrap="square" anchor="t" lIns="0" rIns="0" tIns="0" bIns="0">
            <a:spAutoFit/>
          </a:bodyPr>
          <a:lstStyle/>
          <a:p>
            <a:pPr algn="l">
              <a:lnSpc>
                <a:spcPct val="100000"/>
              </a:lnSpc>
            </a:pPr>
            <a:r>
              <a:rPr sz="900" b="1" i="0">
                <a:solidFill>
                  <a:srgbClr val="6B5B95"/>
                </a:solidFill>
                <a:latin typeface="Calibri"/>
              </a:rPr>
              <a:t>Regulatory Knowledge Engine (R6)</a:t>
            </a:r>
          </a:p>
        </p:txBody>
      </p:sp>
      <p:sp>
        <p:nvSpPr>
          <p:cNvPr id="39" name="TextBox 38"/>
          <p:cNvSpPr txBox="1"/>
          <p:nvPr/>
        </p:nvSpPr>
        <p:spPr>
          <a:xfrm>
            <a:off x="2286000" y="4291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RegulatorySource · RegulatoryRequirement · Obligation · ObligationControl · ObligationEvidenceMapping</a:t>
            </a:r>
          </a:p>
        </p:txBody>
      </p:sp>
      <p:sp>
        <p:nvSpPr>
          <p:cNvPr id="40" name="Rectangle 39"/>
          <p:cNvSpPr/>
          <p:nvPr/>
        </p:nvSpPr>
        <p:spPr>
          <a:xfrm>
            <a:off x="548640" y="4603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4603752"/>
            <a:ext cx="64008" cy="320000"/>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4642152"/>
            <a:ext cx="1919224" cy="243200"/>
          </a:xfrm>
          <a:prstGeom prst="rect">
            <a:avLst/>
          </a:prstGeom>
          <a:noFill/>
        </p:spPr>
        <p:txBody>
          <a:bodyPr wrap="square" anchor="t" lIns="0" rIns="0" tIns="0" bIns="0">
            <a:spAutoFit/>
          </a:bodyPr>
          <a:lstStyle/>
          <a:p>
            <a:pPr algn="l">
              <a:lnSpc>
                <a:spcPct val="100000"/>
              </a:lnSpc>
            </a:pPr>
            <a:r>
              <a:rPr sz="900" b="1" i="0">
                <a:solidFill>
                  <a:srgbClr val="C8871B"/>
                </a:solidFill>
                <a:latin typeface="Calibri"/>
              </a:rPr>
              <a:t>Governance Intelligence (R7-9)</a:t>
            </a:r>
          </a:p>
        </p:txBody>
      </p:sp>
      <p:sp>
        <p:nvSpPr>
          <p:cNvPr id="43" name="TextBox 42"/>
          <p:cNvSpPr txBox="1"/>
          <p:nvPr/>
        </p:nvSpPr>
        <p:spPr>
          <a:xfrm>
            <a:off x="2286000" y="4642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GovernancePolicy · GovernanceFinding · RecommendedAction</a:t>
            </a:r>
          </a:p>
        </p:txBody>
      </p:sp>
      <p:sp>
        <p:nvSpPr>
          <p:cNvPr id="44" name="Rectangle 43"/>
          <p:cNvSpPr/>
          <p:nvPr/>
        </p:nvSpPr>
        <p:spPr>
          <a:xfrm>
            <a:off x="548640" y="4954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4954752"/>
            <a:ext cx="64008" cy="320000"/>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4993152"/>
            <a:ext cx="1919224" cy="243200"/>
          </a:xfrm>
          <a:prstGeom prst="rect">
            <a:avLst/>
          </a:prstGeom>
          <a:noFill/>
        </p:spPr>
        <p:txBody>
          <a:bodyPr wrap="square" anchor="t" lIns="0" rIns="0" tIns="0" bIns="0">
            <a:spAutoFit/>
          </a:bodyPr>
          <a:lstStyle/>
          <a:p>
            <a:pPr algn="l">
              <a:lnSpc>
                <a:spcPct val="100000"/>
              </a:lnSpc>
            </a:pPr>
            <a:r>
              <a:rPr sz="900" b="1" i="0">
                <a:solidFill>
                  <a:srgbClr val="2E7D64"/>
                </a:solidFill>
                <a:latin typeface="Calibri"/>
              </a:rPr>
              <a:t>Governance Studio (R10)</a:t>
            </a:r>
          </a:p>
        </p:txBody>
      </p:sp>
      <p:sp>
        <p:nvSpPr>
          <p:cNvPr id="47" name="TextBox 46"/>
          <p:cNvSpPr txBox="1"/>
          <p:nvPr/>
        </p:nvSpPr>
        <p:spPr>
          <a:xfrm>
            <a:off x="2286000" y="4993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ConditionDefinition · OutcomeRule · ActionRule · GovernanceProfile</a:t>
            </a:r>
          </a:p>
        </p:txBody>
      </p:sp>
      <p:sp>
        <p:nvSpPr>
          <p:cNvPr id="48" name="Rectangle 47"/>
          <p:cNvSpPr/>
          <p:nvPr/>
        </p:nvSpPr>
        <p:spPr>
          <a:xfrm>
            <a:off x="548640" y="5305752"/>
            <a:ext cx="7772400" cy="320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 y="5305752"/>
            <a:ext cx="64008" cy="3200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344152"/>
            <a:ext cx="1919224" cy="243200"/>
          </a:xfrm>
          <a:prstGeom prst="rect">
            <a:avLst/>
          </a:prstGeom>
          <a:noFill/>
        </p:spPr>
        <p:txBody>
          <a:bodyPr wrap="square" anchor="t" lIns="0" rIns="0" tIns="0" bIns="0">
            <a:spAutoFit/>
          </a:bodyPr>
          <a:lstStyle/>
          <a:p>
            <a:pPr algn="l">
              <a:lnSpc>
                <a:spcPct val="100000"/>
              </a:lnSpc>
            </a:pPr>
            <a:r>
              <a:rPr sz="900" b="1" i="0">
                <a:solidFill>
                  <a:srgbClr val="22303C"/>
                </a:solidFill>
                <a:latin typeface="Calibri"/>
              </a:rPr>
              <a:t>Audit</a:t>
            </a:r>
          </a:p>
        </p:txBody>
      </p:sp>
      <p:sp>
        <p:nvSpPr>
          <p:cNvPr id="51" name="TextBox 50"/>
          <p:cNvSpPr txBox="1"/>
          <p:nvPr/>
        </p:nvSpPr>
        <p:spPr>
          <a:xfrm>
            <a:off x="2286000" y="5344152"/>
            <a:ext cx="5943600" cy="243200"/>
          </a:xfrm>
          <a:prstGeom prst="rect">
            <a:avLst/>
          </a:prstGeom>
          <a:noFill/>
        </p:spPr>
        <p:txBody>
          <a:bodyPr wrap="square" anchor="t" lIns="0" rIns="0" tIns="0" bIns="0">
            <a:spAutoFit/>
          </a:bodyPr>
          <a:lstStyle/>
          <a:p>
            <a:pPr algn="l">
              <a:lnSpc>
                <a:spcPct val="100000"/>
              </a:lnSpc>
            </a:pPr>
            <a:r>
              <a:rPr sz="720" b="0" i="0">
                <a:solidFill>
                  <a:srgbClr val="2E3B47"/>
                </a:solidFill>
                <a:latin typeface="Courier New"/>
              </a:rPr>
              <a:t>AuditLog</a:t>
            </a:r>
          </a:p>
        </p:txBody>
      </p:sp>
      <p:sp>
        <p:nvSpPr>
          <p:cNvPr id="52" name="TextBox 51"/>
          <p:cNvSpPr txBox="1"/>
          <p:nvPr/>
        </p:nvSpPr>
        <p:spPr>
          <a:xfrm>
            <a:off x="8595360" y="1444752"/>
            <a:ext cx="301752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SCHEMA CHARACTERISTICS</a:t>
            </a:r>
          </a:p>
        </p:txBody>
      </p:sp>
      <p:sp>
        <p:nvSpPr>
          <p:cNvPr id="53" name="Rectangle 52"/>
          <p:cNvSpPr/>
          <p:nvPr/>
        </p:nvSpPr>
        <p:spPr>
          <a:xfrm>
            <a:off x="8595360" y="1755648"/>
            <a:ext cx="301752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32520" y="1755648"/>
            <a:ext cx="685800" cy="384048"/>
          </a:xfrm>
          <a:prstGeom prst="rect">
            <a:avLst/>
          </a:prstGeom>
          <a:noFill/>
        </p:spPr>
        <p:txBody>
          <a:bodyPr wrap="square" anchor="ctr" lIns="0" rIns="0" tIns="0" bIns="0">
            <a:spAutoFit/>
          </a:bodyPr>
          <a:lstStyle/>
          <a:p>
            <a:pPr algn="l">
              <a:lnSpc>
                <a:spcPct val="108000"/>
              </a:lnSpc>
            </a:pPr>
            <a:r>
              <a:rPr sz="1500" b="1" i="0">
                <a:solidFill>
                  <a:srgbClr val="22303C"/>
                </a:solidFill>
                <a:latin typeface="Cambria"/>
              </a:rPr>
              <a:t>44</a:t>
            </a:r>
          </a:p>
        </p:txBody>
      </p:sp>
      <p:sp>
        <p:nvSpPr>
          <p:cNvPr id="55" name="TextBox 54"/>
          <p:cNvSpPr txBox="1"/>
          <p:nvPr/>
        </p:nvSpPr>
        <p:spPr>
          <a:xfrm>
            <a:off x="9418320" y="1755648"/>
            <a:ext cx="21031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models</a:t>
            </a:r>
          </a:p>
        </p:txBody>
      </p:sp>
      <p:sp>
        <p:nvSpPr>
          <p:cNvPr id="56" name="Rectangle 55"/>
          <p:cNvSpPr/>
          <p:nvPr/>
        </p:nvSpPr>
        <p:spPr>
          <a:xfrm>
            <a:off x="8595360" y="2176272"/>
            <a:ext cx="301752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732520" y="2176272"/>
            <a:ext cx="685800" cy="384048"/>
          </a:xfrm>
          <a:prstGeom prst="rect">
            <a:avLst/>
          </a:prstGeom>
          <a:noFill/>
        </p:spPr>
        <p:txBody>
          <a:bodyPr wrap="square" anchor="ctr" lIns="0" rIns="0" tIns="0" bIns="0">
            <a:spAutoFit/>
          </a:bodyPr>
          <a:lstStyle/>
          <a:p>
            <a:pPr algn="l">
              <a:lnSpc>
                <a:spcPct val="108000"/>
              </a:lnSpc>
            </a:pPr>
            <a:r>
              <a:rPr sz="1500" b="1" i="0">
                <a:solidFill>
                  <a:srgbClr val="22303C"/>
                </a:solidFill>
                <a:latin typeface="Cambria"/>
              </a:rPr>
              <a:t>42</a:t>
            </a:r>
          </a:p>
        </p:txBody>
      </p:sp>
      <p:sp>
        <p:nvSpPr>
          <p:cNvPr id="58" name="TextBox 57"/>
          <p:cNvSpPr txBox="1"/>
          <p:nvPr/>
        </p:nvSpPr>
        <p:spPr>
          <a:xfrm>
            <a:off x="9418320" y="2176272"/>
            <a:ext cx="21031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enums</a:t>
            </a:r>
          </a:p>
        </p:txBody>
      </p:sp>
      <p:sp>
        <p:nvSpPr>
          <p:cNvPr id="59" name="Rectangle 58"/>
          <p:cNvSpPr/>
          <p:nvPr/>
        </p:nvSpPr>
        <p:spPr>
          <a:xfrm>
            <a:off x="8595360" y="2596896"/>
            <a:ext cx="301752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32520" y="2596896"/>
            <a:ext cx="685800" cy="384048"/>
          </a:xfrm>
          <a:prstGeom prst="rect">
            <a:avLst/>
          </a:prstGeom>
          <a:noFill/>
        </p:spPr>
        <p:txBody>
          <a:bodyPr wrap="square" anchor="ctr" lIns="0" rIns="0" tIns="0" bIns="0">
            <a:spAutoFit/>
          </a:bodyPr>
          <a:lstStyle/>
          <a:p>
            <a:pPr algn="l">
              <a:lnSpc>
                <a:spcPct val="108000"/>
              </a:lnSpc>
            </a:pPr>
            <a:r>
              <a:rPr sz="1500" b="1" i="0">
                <a:solidFill>
                  <a:srgbClr val="22303C"/>
                </a:solidFill>
                <a:latin typeface="Cambria"/>
              </a:rPr>
              <a:t>51</a:t>
            </a:r>
          </a:p>
        </p:txBody>
      </p:sp>
      <p:sp>
        <p:nvSpPr>
          <p:cNvPr id="61" name="TextBox 60"/>
          <p:cNvSpPr txBox="1"/>
          <p:nvPr/>
        </p:nvSpPr>
        <p:spPr>
          <a:xfrm>
            <a:off x="9418320" y="2596896"/>
            <a:ext cx="21031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relations</a:t>
            </a:r>
          </a:p>
        </p:txBody>
      </p:sp>
      <p:sp>
        <p:nvSpPr>
          <p:cNvPr id="62" name="Rectangle 61"/>
          <p:cNvSpPr/>
          <p:nvPr/>
        </p:nvSpPr>
        <p:spPr>
          <a:xfrm>
            <a:off x="8595360" y="3017520"/>
            <a:ext cx="301752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32520" y="3017520"/>
            <a:ext cx="685800" cy="384048"/>
          </a:xfrm>
          <a:prstGeom prst="rect">
            <a:avLst/>
          </a:prstGeom>
          <a:noFill/>
        </p:spPr>
        <p:txBody>
          <a:bodyPr wrap="square" anchor="ctr" lIns="0" rIns="0" tIns="0" bIns="0">
            <a:spAutoFit/>
          </a:bodyPr>
          <a:lstStyle/>
          <a:p>
            <a:pPr algn="l">
              <a:lnSpc>
                <a:spcPct val="108000"/>
              </a:lnSpc>
            </a:pPr>
            <a:r>
              <a:rPr sz="1500" b="1" i="0">
                <a:solidFill>
                  <a:srgbClr val="22303C"/>
                </a:solidFill>
                <a:latin typeface="Cambria"/>
              </a:rPr>
              <a:t>2+</a:t>
            </a:r>
          </a:p>
        </p:txBody>
      </p:sp>
      <p:sp>
        <p:nvSpPr>
          <p:cNvPr id="64" name="TextBox 63"/>
          <p:cNvSpPr txBox="1"/>
          <p:nvPr/>
        </p:nvSpPr>
        <p:spPr>
          <a:xfrm>
            <a:off x="9418320" y="3017520"/>
            <a:ext cx="210312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composite uniques</a:t>
            </a:r>
          </a:p>
        </p:txBody>
      </p:sp>
      <p:sp>
        <p:nvSpPr>
          <p:cNvPr id="65" name="Rectangle 64"/>
          <p:cNvSpPr/>
          <p:nvPr/>
        </p:nvSpPr>
        <p:spPr>
          <a:xfrm>
            <a:off x="8595360" y="3438144"/>
            <a:ext cx="3017520" cy="384048"/>
          </a:xfrm>
          <a:prstGeom prst="rect">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32520" y="3438144"/>
            <a:ext cx="685800" cy="384048"/>
          </a:xfrm>
          <a:prstGeom prst="rect">
            <a:avLst/>
          </a:prstGeom>
          <a:noFill/>
        </p:spPr>
        <p:txBody>
          <a:bodyPr wrap="square" anchor="ctr" lIns="0" rIns="0" tIns="0" bIns="0">
            <a:spAutoFit/>
          </a:bodyPr>
          <a:lstStyle/>
          <a:p>
            <a:pPr algn="l">
              <a:lnSpc>
                <a:spcPct val="108000"/>
              </a:lnSpc>
            </a:pPr>
            <a:r>
              <a:rPr sz="1500" b="1" i="0">
                <a:solidFill>
                  <a:srgbClr val="B23A48"/>
                </a:solidFill>
                <a:latin typeface="Cambria"/>
              </a:rPr>
              <a:t>0</a:t>
            </a:r>
          </a:p>
        </p:txBody>
      </p:sp>
      <p:sp>
        <p:nvSpPr>
          <p:cNvPr id="67" name="TextBox 66"/>
          <p:cNvSpPr txBox="1"/>
          <p:nvPr/>
        </p:nvSpPr>
        <p:spPr>
          <a:xfrm>
            <a:off x="9418320" y="3438144"/>
            <a:ext cx="2103120" cy="384048"/>
          </a:xfrm>
          <a:prstGeom prst="rect">
            <a:avLst/>
          </a:prstGeom>
          <a:noFill/>
        </p:spPr>
        <p:txBody>
          <a:bodyPr wrap="square" anchor="ctr" lIns="0" rIns="0" tIns="0" bIns="0">
            <a:spAutoFit/>
          </a:bodyPr>
          <a:lstStyle/>
          <a:p>
            <a:pPr algn="l">
              <a:lnSpc>
                <a:spcPct val="108000"/>
              </a:lnSpc>
            </a:pPr>
            <a:r>
              <a:rPr sz="950" b="0" i="0">
                <a:solidFill>
                  <a:srgbClr val="B23A48"/>
                </a:solidFill>
                <a:latin typeface="Calibri"/>
              </a:rPr>
              <a:t>secondary indexes</a:t>
            </a:r>
          </a:p>
        </p:txBody>
      </p:sp>
      <p:sp>
        <p:nvSpPr>
          <p:cNvPr id="68" name="Rectangle 67"/>
          <p:cNvSpPr/>
          <p:nvPr/>
        </p:nvSpPr>
        <p:spPr>
          <a:xfrm>
            <a:off x="8595360" y="4200000"/>
            <a:ext cx="3017520" cy="987552"/>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759952" y="4300000"/>
            <a:ext cx="2743200" cy="256032"/>
          </a:xfrm>
          <a:prstGeom prst="rect">
            <a:avLst/>
          </a:prstGeom>
          <a:noFill/>
        </p:spPr>
        <p:txBody>
          <a:bodyPr wrap="square" anchor="t" lIns="0" rIns="0" tIns="0" bIns="0">
            <a:spAutoFit/>
          </a:bodyPr>
          <a:lstStyle/>
          <a:p>
            <a:pPr algn="l">
              <a:lnSpc>
                <a:spcPct val="108000"/>
              </a:lnSpc>
            </a:pPr>
            <a:r>
              <a:rPr sz="1100" b="1" i="0">
                <a:solidFill>
                  <a:srgbClr val="1F8A82"/>
                </a:solidFill>
                <a:latin typeface="Calibri"/>
              </a:rPr>
              <a:t>AIAsset is still the hub</a:t>
            </a:r>
          </a:p>
        </p:txBody>
      </p:sp>
      <p:sp>
        <p:nvSpPr>
          <p:cNvPr id="70" name="TextBox 69"/>
          <p:cNvSpPr txBox="1"/>
          <p:nvPr/>
        </p:nvSpPr>
        <p:spPr>
          <a:xfrm>
            <a:off x="8759952" y="4560000"/>
            <a:ext cx="2743200" cy="580000"/>
          </a:xfrm>
          <a:prstGeom prst="rect">
            <a:avLst/>
          </a:prstGeom>
          <a:noFill/>
        </p:spPr>
        <p:txBody>
          <a:bodyPr wrap="square" anchor="t" lIns="0" rIns="0" tIns="0" bIns="0">
            <a:spAutoFit/>
          </a:bodyPr>
          <a:lstStyle/>
          <a:p>
            <a:pPr algn="l">
              <a:lnSpc>
                <a:spcPct val="115000"/>
              </a:lnSpc>
            </a:pPr>
            <a:r>
              <a:rPr sz="850" b="0" i="0">
                <a:solidFill>
                  <a:srgbClr val="E8EDF2"/>
                </a:solidFill>
                <a:latin typeface="Calibri"/>
              </a:rPr>
              <a:t>15+ child relations cascade on delete. Every governance artefact hangs off the asset — now including Conditions, Outcomes and Recommended Actions.</a:t>
            </a:r>
          </a:p>
        </p:txBody>
      </p:sp>
      <p:sp>
        <p:nvSpPr>
          <p:cNvPr id="71" name="TextBox 70"/>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backend/prisma/schema.prisma (1,345 lines). Schema pushed and verified in sync with Neon after every release.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6 · RBAC AND USER MANAGEMENT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Two enforcement layers, one unresolved dependency</a:t>
            </a:r>
          </a:p>
        </p:txBody>
      </p:sp>
      <p:sp>
        <p:nvSpPr>
          <p:cNvPr id="4" name="Rectangle 3"/>
          <p:cNvSpPr/>
          <p:nvPr/>
        </p:nvSpPr>
        <p:spPr>
          <a:xfrm>
            <a:off x="548640" y="1444752"/>
            <a:ext cx="5486400" cy="19659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5029200" cy="256032"/>
          </a:xfrm>
          <a:prstGeom prst="rect">
            <a:avLst/>
          </a:prstGeom>
          <a:noFill/>
        </p:spPr>
        <p:txBody>
          <a:bodyPr wrap="square" anchor="t" lIns="0" rIns="0" tIns="0" bIns="0">
            <a:spAutoFit/>
          </a:bodyPr>
          <a:lstStyle/>
          <a:p>
            <a:pPr algn="l">
              <a:lnSpc>
                <a:spcPct val="108000"/>
              </a:lnSpc>
            </a:pPr>
            <a:r>
              <a:rPr sz="1000" b="1" i="0">
                <a:solidFill>
                  <a:srgbClr val="1F8A82"/>
                </a:solidFill>
                <a:latin typeface="Calibri"/>
              </a:rPr>
              <a:t>LAYER 1 — CLIENT ROUTE GUARD</a:t>
            </a:r>
          </a:p>
        </p:txBody>
      </p:sp>
      <p:sp>
        <p:nvSpPr>
          <p:cNvPr id="6" name="TextBox 5"/>
          <p:cNvSpPr txBox="1"/>
          <p:nvPr/>
        </p:nvSpPr>
        <p:spPr>
          <a:xfrm>
            <a:off x="777240" y="1847088"/>
            <a:ext cx="5029200" cy="1417320"/>
          </a:xfrm>
          <a:prstGeom prst="rect">
            <a:avLst/>
          </a:prstGeom>
          <a:noFill/>
        </p:spPr>
        <p:txBody>
          <a:bodyPr wrap="square" anchor="t" lIns="0" rIns="0" tIns="0" bIns="0">
            <a:spAutoFit/>
          </a:bodyPr>
          <a:lstStyle/>
          <a:p>
            <a:pPr algn="l">
              <a:lnSpc>
                <a:spcPct val="120000"/>
              </a:lnSpc>
            </a:pPr>
            <a:r>
              <a:rPr sz="1000" b="0" i="0">
                <a:solidFill>
                  <a:srgbClr val="2E3B47"/>
                </a:solidFill>
                <a:latin typeface="Calibri"/>
              </a:rPr>
              <a:t>navigation.ts declares every route as an RBAC key. Each persona carries an allowedNav list. ProtectedRoute calls hasPermission(path) at the route boundary and renders a restriction notice instead of the module. RbacAdministrationPage renders the role-to-module matrix derived from the same config, so the matrix cannot drift from the product.</a:t>
            </a:r>
          </a:p>
        </p:txBody>
      </p:sp>
      <p:sp>
        <p:nvSpPr>
          <p:cNvPr id="7" name="Rectangle 6"/>
          <p:cNvSpPr/>
          <p:nvPr/>
        </p:nvSpPr>
        <p:spPr>
          <a:xfrm>
            <a:off x="6309360" y="1444752"/>
            <a:ext cx="5303520" cy="19659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0528" y="1554480"/>
            <a:ext cx="4937760" cy="256032"/>
          </a:xfrm>
          <a:prstGeom prst="rect">
            <a:avLst/>
          </a:prstGeom>
          <a:noFill/>
        </p:spPr>
        <p:txBody>
          <a:bodyPr wrap="square" anchor="t" lIns="0" rIns="0" tIns="0" bIns="0">
            <a:spAutoFit/>
          </a:bodyPr>
          <a:lstStyle/>
          <a:p>
            <a:pPr algn="l">
              <a:lnSpc>
                <a:spcPct val="108000"/>
              </a:lnSpc>
            </a:pPr>
            <a:r>
              <a:rPr sz="950" b="1" i="0">
                <a:solidFill>
                  <a:srgbClr val="8A5A12"/>
                </a:solidFill>
                <a:latin typeface="Calibri"/>
              </a:rPr>
              <a:t>LAYER 2 — SERVER GUARD  ·  HARDENED, STILL PARTIAL</a:t>
            </a:r>
          </a:p>
        </p:txBody>
      </p:sp>
      <p:sp>
        <p:nvSpPr>
          <p:cNvPr id="9" name="TextBox 8"/>
          <p:cNvSpPr txBox="1"/>
          <p:nvPr/>
        </p:nvSpPr>
        <p:spPr>
          <a:xfrm>
            <a:off x="6510528" y="1847088"/>
            <a:ext cx="4937760" cy="914400"/>
          </a:xfrm>
          <a:prstGeom prst="rect">
            <a:avLst/>
          </a:prstGeom>
          <a:noFill/>
        </p:spPr>
        <p:txBody>
          <a:bodyPr wrap="square" anchor="t" lIns="0" rIns="0" tIns="0" bIns="0">
            <a:spAutoFit/>
          </a:bodyPr>
          <a:lstStyle/>
          <a:p>
            <a:pPr algn="l">
              <a:lnSpc>
                <a:spcPct val="120000"/>
              </a:lnSpc>
            </a:pPr>
            <a:r>
              <a:rPr sz="1000" b="0" i="0">
                <a:solidFill>
                  <a:srgbClr val="2E3B47"/>
                </a:solidFill>
                <a:latin typeface="Calibri"/>
              </a:rPr>
              <a:t>@Roles() metadata is read by RolesGuard across all 85 endpoints. The guard fails closed: a missing, malformed or unrecognised role is denied with 403, roles are validated against the Prisma UserRole enum, and there is no implicit super-user bypass. Denials are logged.</a:t>
            </a:r>
          </a:p>
        </p:txBody>
      </p:sp>
      <p:sp>
        <p:nvSpPr>
          <p:cNvPr id="10" name="TextBox 9"/>
          <p:cNvSpPr txBox="1"/>
          <p:nvPr/>
        </p:nvSpPr>
        <p:spPr>
          <a:xfrm>
            <a:off x="6510528" y="2798064"/>
            <a:ext cx="4937760" cy="502920"/>
          </a:xfrm>
          <a:prstGeom prst="rect">
            <a:avLst/>
          </a:prstGeom>
          <a:noFill/>
        </p:spPr>
        <p:txBody>
          <a:bodyPr wrap="square" anchor="t" lIns="0" rIns="0" tIns="0" bIns="0">
            <a:spAutoFit/>
          </a:bodyPr>
          <a:lstStyle/>
          <a:p>
            <a:pPr algn="l">
              <a:lnSpc>
                <a:spcPct val="115000"/>
              </a:lnSpc>
            </a:pPr>
            <a:r>
              <a:rPr sz="1000" b="1" i="0">
                <a:solidFill>
                  <a:srgbClr val="B23A48"/>
                </a:solidFill>
                <a:latin typeface="Calibri"/>
              </a:rPr>
              <a:t>Residual: the role is a client-supplied header and is not cryptographically verified. This is authorisation, not authentication.</a:t>
            </a:r>
          </a:p>
        </p:txBody>
      </p:sp>
      <p:sp>
        <p:nvSpPr>
          <p:cNvPr id="11" name="TextBox 10"/>
          <p:cNvSpPr txBox="1"/>
          <p:nvPr/>
        </p:nvSpPr>
        <p:spPr>
          <a:xfrm>
            <a:off x="548640" y="3584448"/>
            <a:ext cx="731520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SEVEN ROLES — AUTHORISED ROUTES OF 59</a:t>
            </a:r>
          </a:p>
        </p:txBody>
      </p:sp>
      <p:sp>
        <p:nvSpPr>
          <p:cNvPr id="12" name="TextBox 11"/>
          <p:cNvSpPr txBox="1"/>
          <p:nvPr/>
        </p:nvSpPr>
        <p:spPr>
          <a:xfrm>
            <a:off x="548640" y="3895344"/>
            <a:ext cx="2286000" cy="274320"/>
          </a:xfrm>
          <a:prstGeom prst="rect">
            <a:avLst/>
          </a:prstGeom>
          <a:noFill/>
        </p:spPr>
        <p:txBody>
          <a:bodyPr wrap="square" anchor="t" lIns="0" rIns="0" tIns="0" bIns="0">
            <a:spAutoFit/>
          </a:bodyPr>
          <a:lstStyle/>
          <a:p>
            <a:pPr algn="l">
              <a:lnSpc>
                <a:spcPct val="108000"/>
              </a:lnSpc>
            </a:pPr>
            <a:r>
              <a:rPr sz="850" b="0" i="0">
                <a:solidFill>
                  <a:srgbClr val="22303C"/>
                </a:solidFill>
                <a:latin typeface="Courier New"/>
              </a:rPr>
              <a:t>SUPER_ADMIN</a:t>
            </a:r>
          </a:p>
        </p:txBody>
      </p:sp>
      <p:sp>
        <p:nvSpPr>
          <p:cNvPr id="13" name="Rectangle 12"/>
          <p:cNvSpPr/>
          <p:nvPr/>
        </p:nvSpPr>
        <p:spPr>
          <a:xfrm>
            <a:off x="2880360" y="3977640"/>
            <a:ext cx="3840480" cy="1188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80360" y="3977640"/>
            <a:ext cx="3840480" cy="118872"/>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3895344"/>
            <a:ext cx="457200" cy="274320"/>
          </a:xfrm>
          <a:prstGeom prst="rect">
            <a:avLst/>
          </a:prstGeom>
          <a:noFill/>
        </p:spPr>
        <p:txBody>
          <a:bodyPr wrap="square" anchor="t" lIns="0" rIns="0" tIns="0" bIns="0">
            <a:spAutoFit/>
          </a:bodyPr>
          <a:lstStyle/>
          <a:p>
            <a:pPr algn="l">
              <a:lnSpc>
                <a:spcPct val="108000"/>
              </a:lnSpc>
            </a:pPr>
            <a:r>
              <a:rPr sz="900" b="1" i="0">
                <a:solidFill>
                  <a:srgbClr val="22303C"/>
                </a:solidFill>
                <a:latin typeface="Calibri"/>
              </a:rPr>
              <a:t>59</a:t>
            </a:r>
          </a:p>
        </p:txBody>
      </p:sp>
      <p:sp>
        <p:nvSpPr>
          <p:cNvPr id="16" name="TextBox 15"/>
          <p:cNvSpPr txBox="1"/>
          <p:nvPr/>
        </p:nvSpPr>
        <p:spPr>
          <a:xfrm>
            <a:off x="548640" y="4197096"/>
            <a:ext cx="2286000" cy="274320"/>
          </a:xfrm>
          <a:prstGeom prst="rect">
            <a:avLst/>
          </a:prstGeom>
          <a:noFill/>
        </p:spPr>
        <p:txBody>
          <a:bodyPr wrap="square" anchor="t" lIns="0" rIns="0" tIns="0" bIns="0">
            <a:spAutoFit/>
          </a:bodyPr>
          <a:lstStyle/>
          <a:p>
            <a:pPr algn="l">
              <a:lnSpc>
                <a:spcPct val="108000"/>
              </a:lnSpc>
            </a:pPr>
            <a:r>
              <a:rPr sz="850" b="0" i="0">
                <a:solidFill>
                  <a:srgbClr val="22303C"/>
                </a:solidFill>
                <a:latin typeface="Courier New"/>
              </a:rPr>
              <a:t>GOVERNANCE_ADMIN</a:t>
            </a:r>
          </a:p>
        </p:txBody>
      </p:sp>
      <p:sp>
        <p:nvSpPr>
          <p:cNvPr id="17" name="Rectangle 16"/>
          <p:cNvSpPr/>
          <p:nvPr/>
        </p:nvSpPr>
        <p:spPr>
          <a:xfrm>
            <a:off x="2880360" y="4279392"/>
            <a:ext cx="3840480" cy="1188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80360" y="4279392"/>
            <a:ext cx="3189551" cy="118872"/>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4197096"/>
            <a:ext cx="457200" cy="274320"/>
          </a:xfrm>
          <a:prstGeom prst="rect">
            <a:avLst/>
          </a:prstGeom>
          <a:noFill/>
        </p:spPr>
        <p:txBody>
          <a:bodyPr wrap="square" anchor="t" lIns="0" rIns="0" tIns="0" bIns="0">
            <a:spAutoFit/>
          </a:bodyPr>
          <a:lstStyle/>
          <a:p>
            <a:pPr algn="l">
              <a:lnSpc>
                <a:spcPct val="108000"/>
              </a:lnSpc>
            </a:pPr>
            <a:r>
              <a:rPr sz="900" b="1" i="0">
                <a:solidFill>
                  <a:srgbClr val="22303C"/>
                </a:solidFill>
                <a:latin typeface="Calibri"/>
              </a:rPr>
              <a:t>49</a:t>
            </a:r>
          </a:p>
        </p:txBody>
      </p:sp>
      <p:sp>
        <p:nvSpPr>
          <p:cNvPr id="20" name="TextBox 19"/>
          <p:cNvSpPr txBox="1"/>
          <p:nvPr/>
        </p:nvSpPr>
        <p:spPr>
          <a:xfrm>
            <a:off x="548640" y="4498848"/>
            <a:ext cx="2286000" cy="274320"/>
          </a:xfrm>
          <a:prstGeom prst="rect">
            <a:avLst/>
          </a:prstGeom>
          <a:noFill/>
        </p:spPr>
        <p:txBody>
          <a:bodyPr wrap="square" anchor="t" lIns="0" rIns="0" tIns="0" bIns="0">
            <a:spAutoFit/>
          </a:bodyPr>
          <a:lstStyle/>
          <a:p>
            <a:pPr algn="l">
              <a:lnSpc>
                <a:spcPct val="108000"/>
              </a:lnSpc>
            </a:pPr>
            <a:r>
              <a:rPr sz="850" b="0" i="0">
                <a:solidFill>
                  <a:srgbClr val="22303C"/>
                </a:solidFill>
                <a:latin typeface="Courier New"/>
              </a:rPr>
              <a:t>RISK_OFFICER</a:t>
            </a:r>
          </a:p>
        </p:txBody>
      </p:sp>
      <p:sp>
        <p:nvSpPr>
          <p:cNvPr id="21" name="Rectangle 20"/>
          <p:cNvSpPr/>
          <p:nvPr/>
        </p:nvSpPr>
        <p:spPr>
          <a:xfrm>
            <a:off x="2880360" y="4581144"/>
            <a:ext cx="3840480" cy="1188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80360" y="4581144"/>
            <a:ext cx="2603715" cy="118872"/>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4498848"/>
            <a:ext cx="457200" cy="274320"/>
          </a:xfrm>
          <a:prstGeom prst="rect">
            <a:avLst/>
          </a:prstGeom>
          <a:noFill/>
        </p:spPr>
        <p:txBody>
          <a:bodyPr wrap="square" anchor="t" lIns="0" rIns="0" tIns="0" bIns="0">
            <a:spAutoFit/>
          </a:bodyPr>
          <a:lstStyle/>
          <a:p>
            <a:pPr algn="l">
              <a:lnSpc>
                <a:spcPct val="108000"/>
              </a:lnSpc>
            </a:pPr>
            <a:r>
              <a:rPr sz="900" b="1" i="0">
                <a:solidFill>
                  <a:srgbClr val="22303C"/>
                </a:solidFill>
                <a:latin typeface="Calibri"/>
              </a:rPr>
              <a:t>40</a:t>
            </a:r>
          </a:p>
        </p:txBody>
      </p:sp>
      <p:sp>
        <p:nvSpPr>
          <p:cNvPr id="24" name="TextBox 23"/>
          <p:cNvSpPr txBox="1"/>
          <p:nvPr/>
        </p:nvSpPr>
        <p:spPr>
          <a:xfrm>
            <a:off x="548640" y="4800600"/>
            <a:ext cx="2286000" cy="274320"/>
          </a:xfrm>
          <a:prstGeom prst="rect">
            <a:avLst/>
          </a:prstGeom>
          <a:noFill/>
        </p:spPr>
        <p:txBody>
          <a:bodyPr wrap="square" anchor="t" lIns="0" rIns="0" tIns="0" bIns="0">
            <a:spAutoFit/>
          </a:bodyPr>
          <a:lstStyle/>
          <a:p>
            <a:pPr algn="l">
              <a:lnSpc>
                <a:spcPct val="108000"/>
              </a:lnSpc>
            </a:pPr>
            <a:r>
              <a:rPr sz="850" b="0" i="0">
                <a:solidFill>
                  <a:srgbClr val="22303C"/>
                </a:solidFill>
                <a:latin typeface="Courier New"/>
              </a:rPr>
              <a:t>AUDITOR</a:t>
            </a:r>
          </a:p>
        </p:txBody>
      </p:sp>
      <p:sp>
        <p:nvSpPr>
          <p:cNvPr id="25" name="Rectangle 24"/>
          <p:cNvSpPr/>
          <p:nvPr/>
        </p:nvSpPr>
        <p:spPr>
          <a:xfrm>
            <a:off x="2880360" y="4882896"/>
            <a:ext cx="3840480" cy="1188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880360" y="4882896"/>
            <a:ext cx="2603715" cy="118872"/>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2280" y="4800600"/>
            <a:ext cx="457200" cy="274320"/>
          </a:xfrm>
          <a:prstGeom prst="rect">
            <a:avLst/>
          </a:prstGeom>
          <a:noFill/>
        </p:spPr>
        <p:txBody>
          <a:bodyPr wrap="square" anchor="t" lIns="0" rIns="0" tIns="0" bIns="0">
            <a:spAutoFit/>
          </a:bodyPr>
          <a:lstStyle/>
          <a:p>
            <a:pPr algn="l">
              <a:lnSpc>
                <a:spcPct val="108000"/>
              </a:lnSpc>
            </a:pPr>
            <a:r>
              <a:rPr sz="900" b="1" i="0">
                <a:solidFill>
                  <a:srgbClr val="22303C"/>
                </a:solidFill>
                <a:latin typeface="Calibri"/>
              </a:rPr>
              <a:t>40</a:t>
            </a:r>
          </a:p>
        </p:txBody>
      </p:sp>
      <p:sp>
        <p:nvSpPr>
          <p:cNvPr id="28" name="TextBox 27"/>
          <p:cNvSpPr txBox="1"/>
          <p:nvPr/>
        </p:nvSpPr>
        <p:spPr>
          <a:xfrm>
            <a:off x="548640" y="5102352"/>
            <a:ext cx="2286000" cy="274320"/>
          </a:xfrm>
          <a:prstGeom prst="rect">
            <a:avLst/>
          </a:prstGeom>
          <a:noFill/>
        </p:spPr>
        <p:txBody>
          <a:bodyPr wrap="square" anchor="t" lIns="0" rIns="0" tIns="0" bIns="0">
            <a:spAutoFit/>
          </a:bodyPr>
          <a:lstStyle/>
          <a:p>
            <a:pPr algn="l">
              <a:lnSpc>
                <a:spcPct val="108000"/>
              </a:lnSpc>
            </a:pPr>
            <a:r>
              <a:rPr sz="850" b="0" i="0">
                <a:solidFill>
                  <a:srgbClr val="22303C"/>
                </a:solidFill>
                <a:latin typeface="Courier New"/>
              </a:rPr>
              <a:t>BUSINESS_OWNER</a:t>
            </a:r>
          </a:p>
        </p:txBody>
      </p:sp>
      <p:sp>
        <p:nvSpPr>
          <p:cNvPr id="29" name="Rectangle 28"/>
          <p:cNvSpPr/>
          <p:nvPr/>
        </p:nvSpPr>
        <p:spPr>
          <a:xfrm>
            <a:off x="2880360" y="5184648"/>
            <a:ext cx="3840480" cy="1188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880360" y="5184648"/>
            <a:ext cx="1497136" cy="118872"/>
          </a:xfrm>
          <a:prstGeom prst="rect">
            <a:avLst/>
          </a:prstGeom>
          <a:solidFill>
            <a:srgbClr val="768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280" y="5102352"/>
            <a:ext cx="457200" cy="274320"/>
          </a:xfrm>
          <a:prstGeom prst="rect">
            <a:avLst/>
          </a:prstGeom>
          <a:noFill/>
        </p:spPr>
        <p:txBody>
          <a:bodyPr wrap="square" anchor="t" lIns="0" rIns="0" tIns="0" bIns="0">
            <a:spAutoFit/>
          </a:bodyPr>
          <a:lstStyle/>
          <a:p>
            <a:pPr algn="l">
              <a:lnSpc>
                <a:spcPct val="108000"/>
              </a:lnSpc>
            </a:pPr>
            <a:r>
              <a:rPr sz="900" b="1" i="0">
                <a:solidFill>
                  <a:srgbClr val="22303C"/>
                </a:solidFill>
                <a:latin typeface="Calibri"/>
              </a:rPr>
              <a:t>23</a:t>
            </a:r>
          </a:p>
        </p:txBody>
      </p:sp>
      <p:sp>
        <p:nvSpPr>
          <p:cNvPr id="32" name="TextBox 31"/>
          <p:cNvSpPr txBox="1"/>
          <p:nvPr/>
        </p:nvSpPr>
        <p:spPr>
          <a:xfrm>
            <a:off x="548640" y="5404104"/>
            <a:ext cx="2286000" cy="274320"/>
          </a:xfrm>
          <a:prstGeom prst="rect">
            <a:avLst/>
          </a:prstGeom>
          <a:noFill/>
        </p:spPr>
        <p:txBody>
          <a:bodyPr wrap="square" anchor="t" lIns="0" rIns="0" tIns="0" bIns="0">
            <a:spAutoFit/>
          </a:bodyPr>
          <a:lstStyle/>
          <a:p>
            <a:pPr algn="l">
              <a:lnSpc>
                <a:spcPct val="108000"/>
              </a:lnSpc>
            </a:pPr>
            <a:r>
              <a:rPr sz="850" b="0" i="0">
                <a:solidFill>
                  <a:srgbClr val="22303C"/>
                </a:solidFill>
                <a:latin typeface="Courier New"/>
              </a:rPr>
              <a:t>VALIDATOR</a:t>
            </a:r>
          </a:p>
        </p:txBody>
      </p:sp>
      <p:sp>
        <p:nvSpPr>
          <p:cNvPr id="33" name="Rectangle 32"/>
          <p:cNvSpPr/>
          <p:nvPr/>
        </p:nvSpPr>
        <p:spPr>
          <a:xfrm>
            <a:off x="2880360" y="5486400"/>
            <a:ext cx="3840480" cy="1188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880360" y="5486400"/>
            <a:ext cx="1432043" cy="118872"/>
          </a:xfrm>
          <a:prstGeom prst="rect">
            <a:avLst/>
          </a:prstGeom>
          <a:solidFill>
            <a:srgbClr val="768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12280" y="5404104"/>
            <a:ext cx="457200" cy="274320"/>
          </a:xfrm>
          <a:prstGeom prst="rect">
            <a:avLst/>
          </a:prstGeom>
          <a:noFill/>
        </p:spPr>
        <p:txBody>
          <a:bodyPr wrap="square" anchor="t" lIns="0" rIns="0" tIns="0" bIns="0">
            <a:spAutoFit/>
          </a:bodyPr>
          <a:lstStyle/>
          <a:p>
            <a:pPr algn="l">
              <a:lnSpc>
                <a:spcPct val="108000"/>
              </a:lnSpc>
            </a:pPr>
            <a:r>
              <a:rPr sz="900" b="1" i="0">
                <a:solidFill>
                  <a:srgbClr val="22303C"/>
                </a:solidFill>
                <a:latin typeface="Calibri"/>
              </a:rPr>
              <a:t>22</a:t>
            </a:r>
          </a:p>
        </p:txBody>
      </p:sp>
      <p:sp>
        <p:nvSpPr>
          <p:cNvPr id="36" name="TextBox 35"/>
          <p:cNvSpPr txBox="1"/>
          <p:nvPr/>
        </p:nvSpPr>
        <p:spPr>
          <a:xfrm>
            <a:off x="548640" y="5705856"/>
            <a:ext cx="2286000" cy="274320"/>
          </a:xfrm>
          <a:prstGeom prst="rect">
            <a:avLst/>
          </a:prstGeom>
          <a:noFill/>
        </p:spPr>
        <p:txBody>
          <a:bodyPr wrap="square" anchor="t" lIns="0" rIns="0" tIns="0" bIns="0">
            <a:spAutoFit/>
          </a:bodyPr>
          <a:lstStyle/>
          <a:p>
            <a:pPr algn="l">
              <a:lnSpc>
                <a:spcPct val="108000"/>
              </a:lnSpc>
            </a:pPr>
            <a:r>
              <a:rPr sz="850" b="0" i="0">
                <a:solidFill>
                  <a:srgbClr val="22303C"/>
                </a:solidFill>
                <a:latin typeface="Courier New"/>
              </a:rPr>
              <a:t>VIEWER</a:t>
            </a:r>
          </a:p>
        </p:txBody>
      </p:sp>
      <p:sp>
        <p:nvSpPr>
          <p:cNvPr id="37" name="Rectangle 36"/>
          <p:cNvSpPr/>
          <p:nvPr/>
        </p:nvSpPr>
        <p:spPr>
          <a:xfrm>
            <a:off x="2880360" y="5788152"/>
            <a:ext cx="3840480" cy="118872"/>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880360" y="5788152"/>
            <a:ext cx="911300" cy="118872"/>
          </a:xfrm>
          <a:prstGeom prst="rect">
            <a:avLst/>
          </a:prstGeom>
          <a:solidFill>
            <a:srgbClr val="768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12280" y="5705856"/>
            <a:ext cx="457200" cy="274320"/>
          </a:xfrm>
          <a:prstGeom prst="rect">
            <a:avLst/>
          </a:prstGeom>
          <a:noFill/>
        </p:spPr>
        <p:txBody>
          <a:bodyPr wrap="square" anchor="t" lIns="0" rIns="0" tIns="0" bIns="0">
            <a:spAutoFit/>
          </a:bodyPr>
          <a:lstStyle/>
          <a:p>
            <a:pPr algn="l">
              <a:lnSpc>
                <a:spcPct val="108000"/>
              </a:lnSpc>
            </a:pPr>
            <a:r>
              <a:rPr sz="900" b="1" i="0">
                <a:solidFill>
                  <a:srgbClr val="22303C"/>
                </a:solidFill>
                <a:latin typeface="Calibri"/>
              </a:rPr>
              <a:t>14</a:t>
            </a:r>
          </a:p>
        </p:txBody>
      </p:sp>
      <p:sp>
        <p:nvSpPr>
          <p:cNvPr id="40" name="Rectangle 39"/>
          <p:cNvSpPr/>
          <p:nvPr/>
        </p:nvSpPr>
        <p:spPr>
          <a:xfrm>
            <a:off x="7589520" y="3584448"/>
            <a:ext cx="4023360" cy="242316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90688" y="3694176"/>
            <a:ext cx="3657600" cy="256032"/>
          </a:xfrm>
          <a:prstGeom prst="rect">
            <a:avLst/>
          </a:prstGeom>
          <a:noFill/>
        </p:spPr>
        <p:txBody>
          <a:bodyPr wrap="square" anchor="t" lIns="0" rIns="0" tIns="0" bIns="0">
            <a:spAutoFit/>
          </a:bodyPr>
          <a:lstStyle/>
          <a:p>
            <a:pPr algn="l">
              <a:lnSpc>
                <a:spcPct val="108000"/>
              </a:lnSpc>
            </a:pPr>
            <a:r>
              <a:rPr sz="1000" b="1" i="0">
                <a:solidFill>
                  <a:srgbClr val="1F8A82"/>
                </a:solidFill>
                <a:latin typeface="Calibri"/>
              </a:rPr>
              <a:t>USER MANAGEMENT</a:t>
            </a:r>
          </a:p>
        </p:txBody>
      </p:sp>
      <p:sp>
        <p:nvSpPr>
          <p:cNvPr id="42" name="TextBox 41"/>
          <p:cNvSpPr txBox="1"/>
          <p:nvPr/>
        </p:nvSpPr>
        <p:spPr>
          <a:xfrm>
            <a:off x="7882128" y="3986784"/>
            <a:ext cx="3566160" cy="337000"/>
          </a:xfrm>
          <a:prstGeom prst="rect">
            <a:avLst/>
          </a:prstGeom>
          <a:noFill/>
        </p:spPr>
        <p:txBody>
          <a:bodyPr wrap="square" anchor="t" lIns="0" rIns="0" tIns="0" bIns="0">
            <a:spAutoFit/>
          </a:bodyPr>
          <a:lstStyle/>
          <a:p>
            <a:pPr algn="l">
              <a:lnSpc>
                <a:spcPct val="115000"/>
              </a:lnSpc>
            </a:pPr>
            <a:r>
              <a:rPr sz="950" b="0" i="0">
                <a:solidFill>
                  <a:srgbClr val="E8EDF2"/>
                </a:solidFill>
                <a:latin typeface="Calibri"/>
              </a:rPr>
              <a:t>User model — id, email (unique), name, role, department, status</a:t>
            </a:r>
          </a:p>
        </p:txBody>
      </p:sp>
      <p:sp>
        <p:nvSpPr>
          <p:cNvPr id="43" name="TextBox 42"/>
          <p:cNvSpPr txBox="1"/>
          <p:nvPr/>
        </p:nvSpPr>
        <p:spPr>
          <a:xfrm>
            <a:off x="7882128" y="4361688"/>
            <a:ext cx="3566160" cy="337000"/>
          </a:xfrm>
          <a:prstGeom prst="rect">
            <a:avLst/>
          </a:prstGeom>
          <a:noFill/>
        </p:spPr>
        <p:txBody>
          <a:bodyPr wrap="square" anchor="t" lIns="0" rIns="0" tIns="0" bIns="0">
            <a:spAutoFit/>
          </a:bodyPr>
          <a:lstStyle/>
          <a:p>
            <a:pPr algn="l">
              <a:lnSpc>
                <a:spcPct val="115000"/>
              </a:lnSpc>
            </a:pPr>
            <a:r>
              <a:rPr sz="950" b="0" i="0">
                <a:solidFill>
                  <a:srgbClr val="E8EDF2"/>
                </a:solidFill>
                <a:latin typeface="Calibri"/>
              </a:rPr>
              <a:t>UserManagementPage — create user, edit role, activate / deactivate</a:t>
            </a:r>
          </a:p>
        </p:txBody>
      </p:sp>
      <p:sp>
        <p:nvSpPr>
          <p:cNvPr id="44" name="TextBox 43"/>
          <p:cNvSpPr txBox="1"/>
          <p:nvPr/>
        </p:nvSpPr>
        <p:spPr>
          <a:xfrm>
            <a:off x="7882128" y="4736592"/>
            <a:ext cx="3566160" cy="337000"/>
          </a:xfrm>
          <a:prstGeom prst="rect">
            <a:avLst/>
          </a:prstGeom>
          <a:noFill/>
        </p:spPr>
        <p:txBody>
          <a:bodyPr wrap="square" anchor="t" lIns="0" rIns="0" tIns="0" bIns="0">
            <a:spAutoFit/>
          </a:bodyPr>
          <a:lstStyle/>
          <a:p>
            <a:pPr algn="l">
              <a:lnSpc>
                <a:spcPct val="115000"/>
              </a:lnSpc>
            </a:pPr>
            <a:r>
              <a:rPr sz="950" b="0" i="0">
                <a:solidFill>
                  <a:srgbClr val="E8EDF2"/>
                </a:solidFill>
                <a:latin typeface="Calibri"/>
              </a:rPr>
              <a:t>storageService — saveUser(), toggleUserStatus(), getUsers()</a:t>
            </a:r>
          </a:p>
        </p:txBody>
      </p:sp>
      <p:sp>
        <p:nvSpPr>
          <p:cNvPr id="45" name="TextBox 44"/>
          <p:cNvSpPr txBox="1"/>
          <p:nvPr/>
        </p:nvSpPr>
        <p:spPr>
          <a:xfrm>
            <a:off x="7882128" y="5111496"/>
            <a:ext cx="3566160" cy="337000"/>
          </a:xfrm>
          <a:prstGeom prst="rect">
            <a:avLst/>
          </a:prstGeom>
          <a:noFill/>
        </p:spPr>
        <p:txBody>
          <a:bodyPr wrap="square" anchor="t" lIns="0" rIns="0" tIns="0" bIns="0">
            <a:spAutoFit/>
          </a:bodyPr>
          <a:lstStyle/>
          <a:p>
            <a:pPr algn="l">
              <a:lnSpc>
                <a:spcPct val="115000"/>
              </a:lnSpc>
            </a:pPr>
            <a:r>
              <a:rPr sz="950" b="0" i="0">
                <a:solidFill>
                  <a:srgbClr val="E8EDF2"/>
                </a:solidFill>
                <a:latin typeface="Calibri"/>
              </a:rPr>
              <a:t>Persona switching drives the demo identity model</a:t>
            </a:r>
          </a:p>
        </p:txBody>
      </p:sp>
      <p:sp>
        <p:nvSpPr>
          <p:cNvPr id="46" name="TextBox 45"/>
          <p:cNvSpPr txBox="1"/>
          <p:nvPr/>
        </p:nvSpPr>
        <p:spPr>
          <a:xfrm>
            <a:off x="7882128" y="5486400"/>
            <a:ext cx="3566160" cy="337000"/>
          </a:xfrm>
          <a:prstGeom prst="rect">
            <a:avLst/>
          </a:prstGeom>
          <a:noFill/>
        </p:spPr>
        <p:txBody>
          <a:bodyPr wrap="square" anchor="t" lIns="0" rIns="0" tIns="0" bIns="0">
            <a:spAutoFit/>
          </a:bodyPr>
          <a:lstStyle/>
          <a:p>
            <a:pPr algn="l">
              <a:lnSpc>
                <a:spcPct val="115000"/>
              </a:lnSpc>
            </a:pPr>
            <a:r>
              <a:rPr sz="950" b="0" i="0">
                <a:solidFill>
                  <a:srgbClr val="E8EDF2"/>
                </a:solidFill>
                <a:latin typeface="Calibri"/>
              </a:rPr>
              <a:t>No password field exists anywhere in the codebase</a:t>
            </a:r>
          </a:p>
        </p:txBody>
      </p:sp>
      <p:sp>
        <p:nvSpPr>
          <p:cNvPr id="47" name="TextBox 46"/>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DEMO_PERSONAS[].allowedNav in frontend/src/services/mockData.ts; SUPER_ADMIN bypasses allowedNav entirely in AuthContext.hasPermission()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7 · GOVERNANCE DOMAIN MODEL</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Nine domains, nineteen persisted state lifecycles</a:t>
            </a:r>
          </a:p>
        </p:txBody>
      </p:sp>
      <p:sp>
        <p:nvSpPr>
          <p:cNvPr id="4" name="Rectangle 3"/>
          <p:cNvSpPr/>
          <p:nvPr/>
        </p:nvSpPr>
        <p:spPr>
          <a:xfrm>
            <a:off x="548640" y="1444752"/>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527048"/>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Executive Governance</a:t>
            </a:r>
          </a:p>
        </p:txBody>
      </p:sp>
      <p:sp>
        <p:nvSpPr>
          <p:cNvPr id="6" name="TextBox 5"/>
          <p:cNvSpPr txBox="1"/>
          <p:nvPr/>
        </p:nvSpPr>
        <p:spPr>
          <a:xfrm>
            <a:off x="713232" y="1764792"/>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Is enterprise AI under control?</a:t>
            </a:r>
          </a:p>
        </p:txBody>
      </p:sp>
      <p:sp>
        <p:nvSpPr>
          <p:cNvPr id="7" name="TextBox 6"/>
          <p:cNvSpPr txBox="1"/>
          <p:nvPr/>
        </p:nvSpPr>
        <p:spPr>
          <a:xfrm>
            <a:off x="3654800" y="1527048"/>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5</a:t>
            </a:r>
          </a:p>
        </p:txBody>
      </p:sp>
      <p:sp>
        <p:nvSpPr>
          <p:cNvPr id="8" name="Rectangle 7"/>
          <p:cNvSpPr/>
          <p:nvPr/>
        </p:nvSpPr>
        <p:spPr>
          <a:xfrm>
            <a:off x="4343400" y="1444752"/>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1527048"/>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Policy Governance</a:t>
            </a:r>
          </a:p>
        </p:txBody>
      </p:sp>
      <p:sp>
        <p:nvSpPr>
          <p:cNvPr id="10" name="TextBox 9"/>
          <p:cNvSpPr txBox="1"/>
          <p:nvPr/>
        </p:nvSpPr>
        <p:spPr>
          <a:xfrm>
            <a:off x="4507992" y="1764792"/>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What rules govern our AI?</a:t>
            </a:r>
          </a:p>
        </p:txBody>
      </p:sp>
      <p:sp>
        <p:nvSpPr>
          <p:cNvPr id="11" name="TextBox 10"/>
          <p:cNvSpPr txBox="1"/>
          <p:nvPr/>
        </p:nvSpPr>
        <p:spPr>
          <a:xfrm>
            <a:off x="7449560" y="1527048"/>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3</a:t>
            </a:r>
          </a:p>
        </p:txBody>
      </p:sp>
      <p:sp>
        <p:nvSpPr>
          <p:cNvPr id="12" name="Rectangle 11"/>
          <p:cNvSpPr/>
          <p:nvPr/>
        </p:nvSpPr>
        <p:spPr>
          <a:xfrm>
            <a:off x="8138160" y="1444752"/>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527048"/>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Change Governance</a:t>
            </a:r>
          </a:p>
        </p:txBody>
      </p:sp>
      <p:sp>
        <p:nvSpPr>
          <p:cNvPr id="14" name="TextBox 13"/>
          <p:cNvSpPr txBox="1"/>
          <p:nvPr/>
        </p:nvSpPr>
        <p:spPr>
          <a:xfrm>
            <a:off x="8302752" y="1764792"/>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What changed, who approved it?</a:t>
            </a:r>
          </a:p>
        </p:txBody>
      </p:sp>
      <p:sp>
        <p:nvSpPr>
          <p:cNvPr id="15" name="TextBox 14"/>
          <p:cNvSpPr txBox="1"/>
          <p:nvPr/>
        </p:nvSpPr>
        <p:spPr>
          <a:xfrm>
            <a:off x="11244320" y="1527048"/>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5</a:t>
            </a:r>
          </a:p>
        </p:txBody>
      </p:sp>
      <p:sp>
        <p:nvSpPr>
          <p:cNvPr id="16" name="Rectangle 15"/>
          <p:cNvSpPr/>
          <p:nvPr/>
        </p:nvSpPr>
        <p:spPr>
          <a:xfrm>
            <a:off x="548640" y="2322576"/>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404872"/>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AI Governance Registry</a:t>
            </a:r>
          </a:p>
        </p:txBody>
      </p:sp>
      <p:sp>
        <p:nvSpPr>
          <p:cNvPr id="18" name="TextBox 17"/>
          <p:cNvSpPr txBox="1"/>
          <p:nvPr/>
        </p:nvSpPr>
        <p:spPr>
          <a:xfrm>
            <a:off x="713232" y="2642616"/>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What AI exists?</a:t>
            </a:r>
          </a:p>
        </p:txBody>
      </p:sp>
      <p:sp>
        <p:nvSpPr>
          <p:cNvPr id="19" name="TextBox 18"/>
          <p:cNvSpPr txBox="1"/>
          <p:nvPr/>
        </p:nvSpPr>
        <p:spPr>
          <a:xfrm>
            <a:off x="3654800" y="2404872"/>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4</a:t>
            </a:r>
          </a:p>
        </p:txBody>
      </p:sp>
      <p:sp>
        <p:nvSpPr>
          <p:cNvPr id="20" name="Rectangle 19"/>
          <p:cNvSpPr/>
          <p:nvPr/>
        </p:nvSpPr>
        <p:spPr>
          <a:xfrm>
            <a:off x="4343400" y="2322576"/>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2404872"/>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Risk, Compliance &amp; Intelligence</a:t>
            </a:r>
          </a:p>
        </p:txBody>
      </p:sp>
      <p:sp>
        <p:nvSpPr>
          <p:cNvPr id="22" name="TextBox 21"/>
          <p:cNvSpPr txBox="1"/>
          <p:nvPr/>
        </p:nvSpPr>
        <p:spPr>
          <a:xfrm>
            <a:off x="4507992" y="2642616"/>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Can this AI be trusted?</a:t>
            </a:r>
          </a:p>
        </p:txBody>
      </p:sp>
      <p:sp>
        <p:nvSpPr>
          <p:cNvPr id="23" name="TextBox 22"/>
          <p:cNvSpPr txBox="1"/>
          <p:nvPr/>
        </p:nvSpPr>
        <p:spPr>
          <a:xfrm>
            <a:off x="7449560" y="2404872"/>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19</a:t>
            </a:r>
          </a:p>
        </p:txBody>
      </p:sp>
      <p:sp>
        <p:nvSpPr>
          <p:cNvPr id="24" name="Rectangle 23"/>
          <p:cNvSpPr/>
          <p:nvPr/>
        </p:nvSpPr>
        <p:spPr>
          <a:xfrm>
            <a:off x="8138160" y="2322576"/>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2752" y="2404872"/>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Decision Governance</a:t>
            </a:r>
          </a:p>
        </p:txBody>
      </p:sp>
      <p:sp>
        <p:nvSpPr>
          <p:cNvPr id="26" name="TextBox 25"/>
          <p:cNvSpPr txBox="1"/>
          <p:nvPr/>
        </p:nvSpPr>
        <p:spPr>
          <a:xfrm>
            <a:off x="8302752" y="2642616"/>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Can this AI move?</a:t>
            </a:r>
          </a:p>
        </p:txBody>
      </p:sp>
      <p:sp>
        <p:nvSpPr>
          <p:cNvPr id="27" name="TextBox 26"/>
          <p:cNvSpPr txBox="1"/>
          <p:nvPr/>
        </p:nvSpPr>
        <p:spPr>
          <a:xfrm>
            <a:off x="11244320" y="2404872"/>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5</a:t>
            </a:r>
          </a:p>
        </p:txBody>
      </p:sp>
      <p:sp>
        <p:nvSpPr>
          <p:cNvPr id="28" name="Rectangle 27"/>
          <p:cNvSpPr/>
          <p:nvPr/>
        </p:nvSpPr>
        <p:spPr>
          <a:xfrm>
            <a:off x="548640" y="3200400"/>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3282696"/>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Operations &amp; Monitoring</a:t>
            </a:r>
          </a:p>
        </p:txBody>
      </p:sp>
      <p:sp>
        <p:nvSpPr>
          <p:cNvPr id="30" name="TextBox 29"/>
          <p:cNvSpPr txBox="1"/>
          <p:nvPr/>
        </p:nvSpPr>
        <p:spPr>
          <a:xfrm>
            <a:off x="713232" y="3520440"/>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What is happening now?</a:t>
            </a:r>
          </a:p>
        </p:txBody>
      </p:sp>
      <p:sp>
        <p:nvSpPr>
          <p:cNvPr id="31" name="TextBox 30"/>
          <p:cNvSpPr txBox="1"/>
          <p:nvPr/>
        </p:nvSpPr>
        <p:spPr>
          <a:xfrm>
            <a:off x="3654800" y="3282696"/>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8</a:t>
            </a:r>
          </a:p>
        </p:txBody>
      </p:sp>
      <p:sp>
        <p:nvSpPr>
          <p:cNvPr id="32" name="Rectangle 31"/>
          <p:cNvSpPr/>
          <p:nvPr/>
        </p:nvSpPr>
        <p:spPr>
          <a:xfrm>
            <a:off x="4343400" y="3200400"/>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7992" y="3282696"/>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Audit &amp; Oversight</a:t>
            </a:r>
          </a:p>
        </p:txBody>
      </p:sp>
      <p:sp>
        <p:nvSpPr>
          <p:cNvPr id="34" name="TextBox 33"/>
          <p:cNvSpPr txBox="1"/>
          <p:nvPr/>
        </p:nvSpPr>
        <p:spPr>
          <a:xfrm>
            <a:off x="4507992" y="3520440"/>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Prove what happened.</a:t>
            </a:r>
          </a:p>
        </p:txBody>
      </p:sp>
      <p:sp>
        <p:nvSpPr>
          <p:cNvPr id="35" name="TextBox 34"/>
          <p:cNvSpPr txBox="1"/>
          <p:nvPr/>
        </p:nvSpPr>
        <p:spPr>
          <a:xfrm>
            <a:off x="7449560" y="3282696"/>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4</a:t>
            </a:r>
          </a:p>
        </p:txBody>
      </p:sp>
      <p:sp>
        <p:nvSpPr>
          <p:cNvPr id="36" name="Rectangle 35"/>
          <p:cNvSpPr/>
          <p:nvPr/>
        </p:nvSpPr>
        <p:spPr>
          <a:xfrm>
            <a:off x="8138160" y="3200400"/>
            <a:ext cx="3566160" cy="78638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02752" y="3282696"/>
            <a:ext cx="2880360" cy="237744"/>
          </a:xfrm>
          <a:prstGeom prst="rect">
            <a:avLst/>
          </a:prstGeom>
          <a:noFill/>
        </p:spPr>
        <p:txBody>
          <a:bodyPr wrap="square" anchor="t" lIns="0" rIns="0" tIns="0" bIns="0">
            <a:spAutoFit/>
          </a:bodyPr>
          <a:lstStyle/>
          <a:p>
            <a:pPr algn="l">
              <a:lnSpc>
                <a:spcPct val="108000"/>
              </a:lnSpc>
            </a:pPr>
            <a:r>
              <a:rPr sz="1050" b="1" i="0">
                <a:solidFill>
                  <a:srgbClr val="22303C"/>
                </a:solidFill>
                <a:latin typeface="Calibri"/>
              </a:rPr>
              <a:t>Administration</a:t>
            </a:r>
          </a:p>
        </p:txBody>
      </p:sp>
      <p:sp>
        <p:nvSpPr>
          <p:cNvPr id="38" name="TextBox 37"/>
          <p:cNvSpPr txBox="1"/>
          <p:nvPr/>
        </p:nvSpPr>
        <p:spPr>
          <a:xfrm>
            <a:off x="8302752" y="3520440"/>
            <a:ext cx="2880360" cy="219456"/>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Who can do what?</a:t>
            </a:r>
          </a:p>
        </p:txBody>
      </p:sp>
      <p:sp>
        <p:nvSpPr>
          <p:cNvPr id="39" name="TextBox 38"/>
          <p:cNvSpPr txBox="1"/>
          <p:nvPr/>
        </p:nvSpPr>
        <p:spPr>
          <a:xfrm>
            <a:off x="11244320" y="3282696"/>
            <a:ext cx="365760" cy="457200"/>
          </a:xfrm>
          <a:prstGeom prst="rect">
            <a:avLst/>
          </a:prstGeom>
          <a:noFill/>
        </p:spPr>
        <p:txBody>
          <a:bodyPr wrap="square" anchor="t" lIns="0" rIns="0" tIns="0" bIns="0">
            <a:spAutoFit/>
          </a:bodyPr>
          <a:lstStyle/>
          <a:p>
            <a:pPr algn="l">
              <a:lnSpc>
                <a:spcPct val="108000"/>
              </a:lnSpc>
            </a:pPr>
            <a:r>
              <a:rPr sz="1700" b="1" i="0">
                <a:solidFill>
                  <a:srgbClr val="1F8A82"/>
                </a:solidFill>
                <a:latin typeface="Cambria"/>
              </a:rPr>
              <a:t>3</a:t>
            </a:r>
          </a:p>
        </p:txBody>
      </p:sp>
      <p:sp>
        <p:nvSpPr>
          <p:cNvPr id="40" name="TextBox 39"/>
          <p:cNvSpPr txBox="1"/>
          <p:nvPr/>
        </p:nvSpPr>
        <p:spPr>
          <a:xfrm>
            <a:off x="548640" y="4370832"/>
            <a:ext cx="1106424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DERIVATION LAYERS — GOVERNANCE STATE IS COMPUTED, NOT ENTERED</a:t>
            </a:r>
          </a:p>
        </p:txBody>
      </p:sp>
      <p:sp>
        <p:nvSpPr>
          <p:cNvPr id="41" name="Rectangle 40"/>
          <p:cNvSpPr/>
          <p:nvPr/>
        </p:nvSpPr>
        <p:spPr>
          <a:xfrm>
            <a:off x="548640" y="4681728"/>
            <a:ext cx="1106424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4681728"/>
            <a:ext cx="5120640" cy="384048"/>
          </a:xfrm>
          <a:prstGeom prst="rect">
            <a:avLst/>
          </a:prstGeom>
          <a:noFill/>
        </p:spPr>
        <p:txBody>
          <a:bodyPr wrap="square" anchor="ctr" lIns="0" rIns="0" tIns="0" bIns="0">
            <a:spAutoFit/>
          </a:bodyPr>
          <a:lstStyle/>
          <a:p>
            <a:pPr algn="l">
              <a:lnSpc>
                <a:spcPct val="108000"/>
              </a:lnSpc>
            </a:pPr>
            <a:r>
              <a:rPr sz="900" b="0" i="0">
                <a:solidFill>
                  <a:srgbClr val="22303C"/>
                </a:solidFill>
                <a:latin typeface="Courier New"/>
              </a:rPr>
              <a:t>storageService.ts</a:t>
            </a:r>
          </a:p>
        </p:txBody>
      </p:sp>
      <p:sp>
        <p:nvSpPr>
          <p:cNvPr id="43" name="TextBox 42"/>
          <p:cNvSpPr txBox="1"/>
          <p:nvPr/>
        </p:nvSpPr>
        <p:spPr>
          <a:xfrm>
            <a:off x="5943600" y="4681728"/>
            <a:ext cx="420624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Persistence + Repository Pattern orchestration</a:t>
            </a:r>
          </a:p>
        </p:txBody>
      </p:sp>
      <p:sp>
        <p:nvSpPr>
          <p:cNvPr id="44" name="TextBox 43"/>
          <p:cNvSpPr txBox="1"/>
          <p:nvPr/>
        </p:nvSpPr>
        <p:spPr>
          <a:xfrm>
            <a:off x="10241280" y="4681728"/>
            <a:ext cx="1188720" cy="384048"/>
          </a:xfrm>
          <a:prstGeom prst="rect">
            <a:avLst/>
          </a:prstGeom>
          <a:noFill/>
        </p:spPr>
        <p:txBody>
          <a:bodyPr wrap="square" anchor="ctr" lIns="0" rIns="0" tIns="0" bIns="0">
            <a:spAutoFit/>
          </a:bodyPr>
          <a:lstStyle/>
          <a:p>
            <a:pPr algn="l">
              <a:lnSpc>
                <a:spcPct val="108000"/>
              </a:lnSpc>
            </a:pPr>
            <a:r>
              <a:rPr sz="850" b="0" i="0">
                <a:solidFill>
                  <a:srgbClr val="76858F"/>
                </a:solidFill>
                <a:latin typeface="Courier New"/>
              </a:rPr>
              <a:t>3,486 ln</a:t>
            </a:r>
          </a:p>
        </p:txBody>
      </p:sp>
      <p:sp>
        <p:nvSpPr>
          <p:cNvPr id="45" name="TextBox 44"/>
          <p:cNvSpPr txBox="1"/>
          <p:nvPr/>
        </p:nvSpPr>
        <p:spPr>
          <a:xfrm>
            <a:off x="548640" y="5064576"/>
            <a:ext cx="11064240" cy="73152"/>
          </a:xfrm>
          <a:prstGeom prst="rect">
            <a:avLst/>
          </a:prstGeom>
          <a:noFill/>
        </p:spPr>
        <p:txBody>
          <a:bodyPr wrap="square" anchor="t" lIns="0" rIns="0" tIns="0" bIns="0">
            <a:spAutoFit/>
          </a:bodyPr>
          <a:lstStyle/>
          <a:p>
            <a:pPr algn="ctr">
              <a:lnSpc>
                <a:spcPct val="108000"/>
              </a:lnSpc>
            </a:pPr>
            <a:r>
              <a:rPr sz="800" b="0" i="0">
                <a:solidFill>
                  <a:srgbClr val="76858F"/>
                </a:solidFill>
                <a:latin typeface="Calibri"/>
              </a:rPr>
              <a:t>↓</a:t>
            </a:r>
          </a:p>
        </p:txBody>
      </p:sp>
      <p:sp>
        <p:nvSpPr>
          <p:cNvPr id="46" name="Rectangle 45"/>
          <p:cNvSpPr/>
          <p:nvPr/>
        </p:nvSpPr>
        <p:spPr>
          <a:xfrm>
            <a:off x="548640" y="5137728"/>
            <a:ext cx="11064240" cy="384048"/>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5137728"/>
            <a:ext cx="5120640" cy="384048"/>
          </a:xfrm>
          <a:prstGeom prst="rect">
            <a:avLst/>
          </a:prstGeom>
          <a:noFill/>
        </p:spPr>
        <p:txBody>
          <a:bodyPr wrap="square" anchor="ctr" lIns="0" rIns="0" tIns="0" bIns="0">
            <a:spAutoFit/>
          </a:bodyPr>
          <a:lstStyle/>
          <a:p>
            <a:pPr algn="l">
              <a:lnSpc>
                <a:spcPct val="108000"/>
              </a:lnSpc>
            </a:pPr>
            <a:r>
              <a:rPr sz="900" b="0" i="0">
                <a:solidFill>
                  <a:srgbClr val="1F8A82"/>
                </a:solidFill>
                <a:latin typeface="Courier New"/>
              </a:rPr>
              <a:t>governanceReasoningEngine · governanceActionsEngine · decisionTraceabilityEngine</a:t>
            </a:r>
          </a:p>
        </p:txBody>
      </p:sp>
      <p:sp>
        <p:nvSpPr>
          <p:cNvPr id="48" name="TextBox 47"/>
          <p:cNvSpPr txBox="1"/>
          <p:nvPr/>
        </p:nvSpPr>
        <p:spPr>
          <a:xfrm>
            <a:off x="5943600" y="5137728"/>
            <a:ext cx="4206240" cy="384048"/>
          </a:xfrm>
          <a:prstGeom prst="rect">
            <a:avLst/>
          </a:prstGeom>
          <a:noFill/>
        </p:spPr>
        <p:txBody>
          <a:bodyPr wrap="square" anchor="ctr" lIns="0" rIns="0" tIns="0" bIns="0">
            <a:spAutoFit/>
          </a:bodyPr>
          <a:lstStyle/>
          <a:p>
            <a:pPr algn="l">
              <a:lnSpc>
                <a:spcPct val="108000"/>
              </a:lnSpc>
            </a:pPr>
            <a:r>
              <a:rPr sz="950" b="0" i="0">
                <a:solidFill>
                  <a:srgbClr val="E8EDF2"/>
                </a:solidFill>
                <a:latin typeface="Calibri"/>
              </a:rPr>
              <a:t>Domain derivation and reasoning engines (R7-R9)</a:t>
            </a:r>
          </a:p>
        </p:txBody>
      </p:sp>
      <p:sp>
        <p:nvSpPr>
          <p:cNvPr id="49" name="TextBox 48"/>
          <p:cNvSpPr txBox="1"/>
          <p:nvPr/>
        </p:nvSpPr>
        <p:spPr>
          <a:xfrm>
            <a:off x="10241280" y="5137728"/>
            <a:ext cx="1188720" cy="384048"/>
          </a:xfrm>
          <a:prstGeom prst="rect">
            <a:avLst/>
          </a:prstGeom>
          <a:noFill/>
        </p:spPr>
        <p:txBody>
          <a:bodyPr wrap="square" anchor="ctr" lIns="0" rIns="0" tIns="0" bIns="0">
            <a:spAutoFit/>
          </a:bodyPr>
          <a:lstStyle/>
          <a:p>
            <a:pPr algn="l">
              <a:lnSpc>
                <a:spcPct val="108000"/>
              </a:lnSpc>
            </a:pPr>
            <a:r>
              <a:rPr sz="850" b="0" i="0">
                <a:solidFill>
                  <a:srgbClr val="1F8A82"/>
                </a:solidFill>
                <a:latin typeface="Courier New"/>
              </a:rPr>
              <a:t>~700 ln</a:t>
            </a:r>
          </a:p>
        </p:txBody>
      </p:sp>
      <p:sp>
        <p:nvSpPr>
          <p:cNvPr id="50" name="TextBox 49"/>
          <p:cNvSpPr txBox="1"/>
          <p:nvPr/>
        </p:nvSpPr>
        <p:spPr>
          <a:xfrm>
            <a:off x="548640" y="5520576"/>
            <a:ext cx="11064240" cy="73152"/>
          </a:xfrm>
          <a:prstGeom prst="rect">
            <a:avLst/>
          </a:prstGeom>
          <a:noFill/>
        </p:spPr>
        <p:txBody>
          <a:bodyPr wrap="square" anchor="t" lIns="0" rIns="0" tIns="0" bIns="0">
            <a:spAutoFit/>
          </a:bodyPr>
          <a:lstStyle/>
          <a:p>
            <a:pPr algn="ctr">
              <a:lnSpc>
                <a:spcPct val="108000"/>
              </a:lnSpc>
            </a:pPr>
            <a:r>
              <a:rPr sz="800" b="0" i="0">
                <a:solidFill>
                  <a:srgbClr val="76858F"/>
                </a:solidFill>
                <a:latin typeface="Calibri"/>
              </a:rPr>
              <a:t>↓</a:t>
            </a:r>
          </a:p>
        </p:txBody>
      </p:sp>
      <p:sp>
        <p:nvSpPr>
          <p:cNvPr id="51" name="Rectangle 50"/>
          <p:cNvSpPr/>
          <p:nvPr/>
        </p:nvSpPr>
        <p:spPr>
          <a:xfrm>
            <a:off x="548640" y="5593728"/>
            <a:ext cx="1106424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593728"/>
            <a:ext cx="5120640" cy="384048"/>
          </a:xfrm>
          <a:prstGeom prst="rect">
            <a:avLst/>
          </a:prstGeom>
          <a:noFill/>
        </p:spPr>
        <p:txBody>
          <a:bodyPr wrap="square" anchor="ctr" lIns="0" rIns="0" tIns="0" bIns="0">
            <a:spAutoFit/>
          </a:bodyPr>
          <a:lstStyle/>
          <a:p>
            <a:pPr algn="l">
              <a:lnSpc>
                <a:spcPct val="108000"/>
              </a:lnSpc>
            </a:pPr>
            <a:r>
              <a:rPr sz="900" b="0" i="0">
                <a:solidFill>
                  <a:srgbClr val="22303C"/>
                </a:solidFill>
                <a:latin typeface="Courier New"/>
              </a:rPr>
              <a:t>executiveGovernance.ts</a:t>
            </a:r>
          </a:p>
        </p:txBody>
      </p:sp>
      <p:sp>
        <p:nvSpPr>
          <p:cNvPr id="53" name="TextBox 52"/>
          <p:cNvSpPr txBox="1"/>
          <p:nvPr/>
        </p:nvSpPr>
        <p:spPr>
          <a:xfrm>
            <a:off x="5943600" y="5593728"/>
            <a:ext cx="4206240" cy="384048"/>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Aggregation, scorecards, reports</a:t>
            </a:r>
          </a:p>
        </p:txBody>
      </p:sp>
      <p:sp>
        <p:nvSpPr>
          <p:cNvPr id="54" name="TextBox 53"/>
          <p:cNvSpPr txBox="1"/>
          <p:nvPr/>
        </p:nvSpPr>
        <p:spPr>
          <a:xfrm>
            <a:off x="10241280" y="5593728"/>
            <a:ext cx="1188720" cy="384048"/>
          </a:xfrm>
          <a:prstGeom prst="rect">
            <a:avLst/>
          </a:prstGeom>
          <a:noFill/>
        </p:spPr>
        <p:txBody>
          <a:bodyPr wrap="square" anchor="ctr" lIns="0" rIns="0" tIns="0" bIns="0">
            <a:spAutoFit/>
          </a:bodyPr>
          <a:lstStyle/>
          <a:p>
            <a:pPr algn="l">
              <a:lnSpc>
                <a:spcPct val="108000"/>
              </a:lnSpc>
            </a:pPr>
            <a:r>
              <a:rPr sz="850" b="0" i="0">
                <a:solidFill>
                  <a:srgbClr val="76858F"/>
                </a:solidFill>
                <a:latin typeface="Courier New"/>
              </a:rPr>
              <a:t>734 ln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8 · AI ASSET REGISTRY AND RACI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The hub entity and its five-way accountability record</a:t>
            </a:r>
          </a:p>
        </p:txBody>
      </p:sp>
      <p:sp>
        <p:nvSpPr>
          <p:cNvPr id="4" name="TextBox 3"/>
          <p:cNvSpPr txBox="1"/>
          <p:nvPr/>
        </p:nvSpPr>
        <p:spPr>
          <a:xfrm>
            <a:off x="548640" y="1444752"/>
            <a:ext cx="5486400" cy="274320"/>
          </a:xfrm>
          <a:prstGeom prst="rect">
            <a:avLst/>
          </a:prstGeom>
          <a:noFill/>
        </p:spPr>
        <p:txBody>
          <a:bodyPr wrap="square" anchor="t" lIns="0" rIns="0" tIns="0" bIns="0">
            <a:spAutoFit/>
          </a:bodyPr>
          <a:lstStyle/>
          <a:p>
            <a:pPr algn="l">
              <a:lnSpc>
                <a:spcPct val="108000"/>
              </a:lnSpc>
            </a:pPr>
            <a:r>
              <a:rPr sz="1300" b="1" i="0">
                <a:solidFill>
                  <a:srgbClr val="22303C"/>
                </a:solidFill>
                <a:latin typeface="Calibri"/>
              </a:rPr>
              <a:t>AIAsset — 9 supported types</a:t>
            </a:r>
          </a:p>
        </p:txBody>
      </p:sp>
      <p:sp>
        <p:nvSpPr>
          <p:cNvPr id="5" name="Rectangle 4"/>
          <p:cNvSpPr/>
          <p:nvPr/>
        </p:nvSpPr>
        <p:spPr>
          <a:xfrm>
            <a:off x="548640" y="1783080"/>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APPLICATION</a:t>
            </a:r>
          </a:p>
        </p:txBody>
      </p:sp>
      <p:sp>
        <p:nvSpPr>
          <p:cNvPr id="7" name="Rectangle 6"/>
          <p:cNvSpPr/>
          <p:nvPr/>
        </p:nvSpPr>
        <p:spPr>
          <a:xfrm>
            <a:off x="2423160" y="1783080"/>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23160" y="1783080"/>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AGENT</a:t>
            </a:r>
          </a:p>
        </p:txBody>
      </p:sp>
      <p:sp>
        <p:nvSpPr>
          <p:cNvPr id="9" name="Rectangle 8"/>
          <p:cNvSpPr/>
          <p:nvPr/>
        </p:nvSpPr>
        <p:spPr>
          <a:xfrm>
            <a:off x="4297680" y="1783080"/>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783080"/>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MODEL</a:t>
            </a:r>
          </a:p>
        </p:txBody>
      </p:sp>
      <p:sp>
        <p:nvSpPr>
          <p:cNvPr id="11" name="Rectangle 10"/>
          <p:cNvSpPr/>
          <p:nvPr/>
        </p:nvSpPr>
        <p:spPr>
          <a:xfrm>
            <a:off x="548640" y="2167032"/>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67032"/>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LLM</a:t>
            </a:r>
          </a:p>
        </p:txBody>
      </p:sp>
      <p:sp>
        <p:nvSpPr>
          <p:cNvPr id="13" name="Rectangle 12"/>
          <p:cNvSpPr/>
          <p:nvPr/>
        </p:nvSpPr>
        <p:spPr>
          <a:xfrm>
            <a:off x="2423160" y="2167032"/>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23160" y="2167032"/>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COPILOT</a:t>
            </a:r>
          </a:p>
        </p:txBody>
      </p:sp>
      <p:sp>
        <p:nvSpPr>
          <p:cNvPr id="15" name="Rectangle 14"/>
          <p:cNvSpPr/>
          <p:nvPr/>
        </p:nvSpPr>
        <p:spPr>
          <a:xfrm>
            <a:off x="4297680" y="2167032"/>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2167032"/>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RAG_SYSTEM</a:t>
            </a:r>
          </a:p>
        </p:txBody>
      </p:sp>
      <p:sp>
        <p:nvSpPr>
          <p:cNvPr id="17" name="Rectangle 16"/>
          <p:cNvSpPr/>
          <p:nvPr/>
        </p:nvSpPr>
        <p:spPr>
          <a:xfrm>
            <a:off x="548640" y="2550984"/>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550984"/>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AI_WORKFLOW</a:t>
            </a:r>
          </a:p>
        </p:txBody>
      </p:sp>
      <p:sp>
        <p:nvSpPr>
          <p:cNvPr id="19" name="Rectangle 18"/>
          <p:cNvSpPr/>
          <p:nvPr/>
        </p:nvSpPr>
        <p:spPr>
          <a:xfrm>
            <a:off x="2423160" y="2550984"/>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23160" y="2550984"/>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MULTI_AGENT_SYSTEM</a:t>
            </a:r>
          </a:p>
        </p:txBody>
      </p:sp>
      <p:sp>
        <p:nvSpPr>
          <p:cNvPr id="21" name="Rectangle 20"/>
          <p:cNvSpPr/>
          <p:nvPr/>
        </p:nvSpPr>
        <p:spPr>
          <a:xfrm>
            <a:off x="4297680" y="2550984"/>
            <a:ext cx="1737360" cy="310896"/>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2550984"/>
            <a:ext cx="1737360" cy="310896"/>
          </a:xfrm>
          <a:prstGeom prst="rect">
            <a:avLst/>
          </a:prstGeom>
          <a:noFill/>
        </p:spPr>
        <p:txBody>
          <a:bodyPr wrap="square" anchor="ctr" lIns="0" rIns="0" tIns="0" bIns="0">
            <a:spAutoFit/>
          </a:bodyPr>
          <a:lstStyle/>
          <a:p>
            <a:pPr algn="ctr">
              <a:lnSpc>
                <a:spcPct val="108000"/>
              </a:lnSpc>
            </a:pPr>
            <a:r>
              <a:rPr sz="850" b="1" i="0">
                <a:solidFill>
                  <a:srgbClr val="22303C"/>
                </a:solidFill>
                <a:latin typeface="Calibri"/>
              </a:rPr>
              <a:t>THIRD_PARTY_SERVICE</a:t>
            </a:r>
          </a:p>
        </p:txBody>
      </p:sp>
      <p:sp>
        <p:nvSpPr>
          <p:cNvPr id="23" name="TextBox 22"/>
          <p:cNvSpPr txBox="1"/>
          <p:nvPr/>
        </p:nvSpPr>
        <p:spPr>
          <a:xfrm>
            <a:off x="548640" y="3063240"/>
            <a:ext cx="5486400" cy="237744"/>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Key fields</a:t>
            </a:r>
          </a:p>
        </p:txBody>
      </p:sp>
      <p:sp>
        <p:nvSpPr>
          <p:cNvPr id="24" name="TextBox 23"/>
          <p:cNvSpPr txBox="1"/>
          <p:nvPr/>
        </p:nvSpPr>
        <p:spPr>
          <a:xfrm>
            <a:off x="548640" y="3310128"/>
            <a:ext cx="5486400" cy="822960"/>
          </a:xfrm>
          <a:prstGeom prst="rect">
            <a:avLst/>
          </a:prstGeom>
          <a:noFill/>
        </p:spPr>
        <p:txBody>
          <a:bodyPr wrap="square" anchor="t" lIns="0" rIns="0" tIns="0" bIns="0">
            <a:spAutoFit/>
          </a:bodyPr>
          <a:lstStyle/>
          <a:p>
            <a:pPr algn="l">
              <a:lnSpc>
                <a:spcPct val="130000"/>
              </a:lnSpc>
            </a:pPr>
            <a:r>
              <a:rPr sz="800" b="0" i="0">
                <a:solidFill>
                  <a:srgbClr val="2E3B47"/>
                </a:solidFill>
                <a:latin typeface="Courier New"/>
              </a:rPr>
              <a:t>id · name · type · description · department · version · status · operationalStatus · riskLevel · techStack[] · dataSensitivity · validationScore · decisionOutcome · tags[] · createdAt · updatedAt</a:t>
            </a:r>
          </a:p>
        </p:txBody>
      </p:sp>
      <p:sp>
        <p:nvSpPr>
          <p:cNvPr id="25" name="TextBox 24"/>
          <p:cNvSpPr txBox="1"/>
          <p:nvPr/>
        </p:nvSpPr>
        <p:spPr>
          <a:xfrm>
            <a:off x="548640" y="4160520"/>
            <a:ext cx="5486400" cy="237744"/>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Lifecycle status enum</a:t>
            </a:r>
          </a:p>
        </p:txBody>
      </p:sp>
      <p:sp>
        <p:nvSpPr>
          <p:cNvPr id="26" name="Rectangle 25"/>
          <p:cNvSpPr/>
          <p:nvPr/>
        </p:nvSpPr>
        <p:spPr>
          <a:xfrm>
            <a:off x="548640" y="4407408"/>
            <a:ext cx="859536" cy="292608"/>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407408"/>
            <a:ext cx="859536" cy="292608"/>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Draft</a:t>
            </a:r>
          </a:p>
        </p:txBody>
      </p:sp>
      <p:sp>
        <p:nvSpPr>
          <p:cNvPr id="28" name="Rectangle 27"/>
          <p:cNvSpPr/>
          <p:nvPr/>
        </p:nvSpPr>
        <p:spPr>
          <a:xfrm>
            <a:off x="1481328" y="4407408"/>
            <a:ext cx="859536" cy="292608"/>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481328" y="4407408"/>
            <a:ext cx="859536" cy="292608"/>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Review</a:t>
            </a:r>
          </a:p>
        </p:txBody>
      </p:sp>
      <p:sp>
        <p:nvSpPr>
          <p:cNvPr id="30" name="Rectangle 29"/>
          <p:cNvSpPr/>
          <p:nvPr/>
        </p:nvSpPr>
        <p:spPr>
          <a:xfrm>
            <a:off x="2414016" y="4407408"/>
            <a:ext cx="859536" cy="292608"/>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14016" y="4407408"/>
            <a:ext cx="859536" cy="292608"/>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Validation</a:t>
            </a:r>
          </a:p>
        </p:txBody>
      </p:sp>
      <p:sp>
        <p:nvSpPr>
          <p:cNvPr id="32" name="Rectangle 31"/>
          <p:cNvSpPr/>
          <p:nvPr/>
        </p:nvSpPr>
        <p:spPr>
          <a:xfrm>
            <a:off x="3346704" y="4407408"/>
            <a:ext cx="859536" cy="292608"/>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46704" y="4407408"/>
            <a:ext cx="859536" cy="292608"/>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Approval</a:t>
            </a:r>
          </a:p>
        </p:txBody>
      </p:sp>
      <p:sp>
        <p:nvSpPr>
          <p:cNvPr id="34" name="Rectangle 33"/>
          <p:cNvSpPr/>
          <p:nvPr/>
        </p:nvSpPr>
        <p:spPr>
          <a:xfrm>
            <a:off x="4279392" y="4407408"/>
            <a:ext cx="859536" cy="292608"/>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79392" y="4407408"/>
            <a:ext cx="859536" cy="292608"/>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Production</a:t>
            </a:r>
          </a:p>
        </p:txBody>
      </p:sp>
      <p:sp>
        <p:nvSpPr>
          <p:cNvPr id="36" name="Rectangle 35"/>
          <p:cNvSpPr/>
          <p:nvPr/>
        </p:nvSpPr>
        <p:spPr>
          <a:xfrm>
            <a:off x="5212080" y="4407408"/>
            <a:ext cx="859536" cy="292608"/>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0" y="4407408"/>
            <a:ext cx="859536" cy="292608"/>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Retirement</a:t>
            </a:r>
          </a:p>
        </p:txBody>
      </p:sp>
      <p:sp>
        <p:nvSpPr>
          <p:cNvPr id="38" name="Rectangle 37"/>
          <p:cNvSpPr/>
          <p:nvPr/>
        </p:nvSpPr>
        <p:spPr>
          <a:xfrm>
            <a:off x="6400800" y="1444752"/>
            <a:ext cx="5212080" cy="3255264"/>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01968" y="1572768"/>
            <a:ext cx="4846320" cy="274320"/>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AssetOwner — five foreign keys to User</a:t>
            </a:r>
          </a:p>
        </p:txBody>
      </p:sp>
      <p:sp>
        <p:nvSpPr>
          <p:cNvPr id="40" name="TextBox 39"/>
          <p:cNvSpPr txBox="1"/>
          <p:nvPr/>
        </p:nvSpPr>
        <p:spPr>
          <a:xfrm>
            <a:off x="6693408" y="1938528"/>
            <a:ext cx="1828800" cy="237744"/>
          </a:xfrm>
          <a:prstGeom prst="rect">
            <a:avLst/>
          </a:prstGeom>
          <a:noFill/>
        </p:spPr>
        <p:txBody>
          <a:bodyPr wrap="square" anchor="t" lIns="0" rIns="0" tIns="0" bIns="0">
            <a:spAutoFit/>
          </a:bodyPr>
          <a:lstStyle/>
          <a:p>
            <a:pPr algn="l">
              <a:lnSpc>
                <a:spcPct val="108000"/>
              </a:lnSpc>
            </a:pPr>
            <a:r>
              <a:rPr sz="850" b="0" i="0">
                <a:solidFill>
                  <a:srgbClr val="FFFFFF"/>
                </a:solidFill>
                <a:latin typeface="Courier New"/>
              </a:rPr>
              <a:t>businessOwner</a:t>
            </a:r>
          </a:p>
        </p:txBody>
      </p:sp>
      <p:sp>
        <p:nvSpPr>
          <p:cNvPr id="41" name="TextBox 40"/>
          <p:cNvSpPr txBox="1"/>
          <p:nvPr/>
        </p:nvSpPr>
        <p:spPr>
          <a:xfrm>
            <a:off x="8549640" y="1938528"/>
            <a:ext cx="2926080" cy="402336"/>
          </a:xfrm>
          <a:prstGeom prst="rect">
            <a:avLst/>
          </a:prstGeom>
          <a:noFill/>
        </p:spPr>
        <p:txBody>
          <a:bodyPr wrap="square" anchor="t" lIns="0" rIns="0" tIns="0" bIns="0">
            <a:spAutoFit/>
          </a:bodyPr>
          <a:lstStyle/>
          <a:p>
            <a:pPr algn="l">
              <a:lnSpc>
                <a:spcPct val="110000"/>
              </a:lnSpc>
            </a:pPr>
            <a:r>
              <a:rPr sz="850" b="0" i="0">
                <a:solidFill>
                  <a:srgbClr val="B9C6D1"/>
                </a:solidFill>
                <a:latin typeface="Calibri"/>
              </a:rPr>
              <a:t>Owns the business outcome and residual risk</a:t>
            </a:r>
          </a:p>
        </p:txBody>
      </p:sp>
      <p:sp>
        <p:nvSpPr>
          <p:cNvPr id="42" name="TextBox 41"/>
          <p:cNvSpPr txBox="1"/>
          <p:nvPr/>
        </p:nvSpPr>
        <p:spPr>
          <a:xfrm>
            <a:off x="6693408" y="2441448"/>
            <a:ext cx="1828800" cy="237744"/>
          </a:xfrm>
          <a:prstGeom prst="rect">
            <a:avLst/>
          </a:prstGeom>
          <a:noFill/>
        </p:spPr>
        <p:txBody>
          <a:bodyPr wrap="square" anchor="t" lIns="0" rIns="0" tIns="0" bIns="0">
            <a:spAutoFit/>
          </a:bodyPr>
          <a:lstStyle/>
          <a:p>
            <a:pPr algn="l">
              <a:lnSpc>
                <a:spcPct val="108000"/>
              </a:lnSpc>
            </a:pPr>
            <a:r>
              <a:rPr sz="850" b="0" i="0">
                <a:solidFill>
                  <a:srgbClr val="FFFFFF"/>
                </a:solidFill>
                <a:latin typeface="Courier New"/>
              </a:rPr>
              <a:t>technicalOwner</a:t>
            </a:r>
          </a:p>
        </p:txBody>
      </p:sp>
      <p:sp>
        <p:nvSpPr>
          <p:cNvPr id="43" name="TextBox 42"/>
          <p:cNvSpPr txBox="1"/>
          <p:nvPr/>
        </p:nvSpPr>
        <p:spPr>
          <a:xfrm>
            <a:off x="8549640" y="2441448"/>
            <a:ext cx="2926080" cy="402336"/>
          </a:xfrm>
          <a:prstGeom prst="rect">
            <a:avLst/>
          </a:prstGeom>
          <a:noFill/>
        </p:spPr>
        <p:txBody>
          <a:bodyPr wrap="square" anchor="t" lIns="0" rIns="0" tIns="0" bIns="0">
            <a:spAutoFit/>
          </a:bodyPr>
          <a:lstStyle/>
          <a:p>
            <a:pPr algn="l">
              <a:lnSpc>
                <a:spcPct val="110000"/>
              </a:lnSpc>
            </a:pPr>
            <a:r>
              <a:rPr sz="850" b="0" i="0">
                <a:solidFill>
                  <a:srgbClr val="B9C6D1"/>
                </a:solidFill>
                <a:latin typeface="Calibri"/>
              </a:rPr>
              <a:t>Owns build, deployment and operation</a:t>
            </a:r>
          </a:p>
        </p:txBody>
      </p:sp>
      <p:sp>
        <p:nvSpPr>
          <p:cNvPr id="44" name="TextBox 43"/>
          <p:cNvSpPr txBox="1"/>
          <p:nvPr/>
        </p:nvSpPr>
        <p:spPr>
          <a:xfrm>
            <a:off x="6693408" y="2944368"/>
            <a:ext cx="1828800" cy="237744"/>
          </a:xfrm>
          <a:prstGeom prst="rect">
            <a:avLst/>
          </a:prstGeom>
          <a:noFill/>
        </p:spPr>
        <p:txBody>
          <a:bodyPr wrap="square" anchor="t" lIns="0" rIns="0" tIns="0" bIns="0">
            <a:spAutoFit/>
          </a:bodyPr>
          <a:lstStyle/>
          <a:p>
            <a:pPr algn="l">
              <a:lnSpc>
                <a:spcPct val="108000"/>
              </a:lnSpc>
            </a:pPr>
            <a:r>
              <a:rPr sz="850" b="0" i="0">
                <a:solidFill>
                  <a:srgbClr val="FFFFFF"/>
                </a:solidFill>
                <a:latin typeface="Courier New"/>
              </a:rPr>
              <a:t>riskOwner</a:t>
            </a:r>
          </a:p>
        </p:txBody>
      </p:sp>
      <p:sp>
        <p:nvSpPr>
          <p:cNvPr id="45" name="TextBox 44"/>
          <p:cNvSpPr txBox="1"/>
          <p:nvPr/>
        </p:nvSpPr>
        <p:spPr>
          <a:xfrm>
            <a:off x="8549640" y="2944368"/>
            <a:ext cx="2926080" cy="402336"/>
          </a:xfrm>
          <a:prstGeom prst="rect">
            <a:avLst/>
          </a:prstGeom>
          <a:noFill/>
        </p:spPr>
        <p:txBody>
          <a:bodyPr wrap="square" anchor="t" lIns="0" rIns="0" tIns="0" bIns="0">
            <a:spAutoFit/>
          </a:bodyPr>
          <a:lstStyle/>
          <a:p>
            <a:pPr algn="l">
              <a:lnSpc>
                <a:spcPct val="110000"/>
              </a:lnSpc>
            </a:pPr>
            <a:r>
              <a:rPr sz="850" b="0" i="0">
                <a:solidFill>
                  <a:srgbClr val="B9C6D1"/>
                </a:solidFill>
                <a:latin typeface="Calibri"/>
              </a:rPr>
              <a:t>Owns risk classification and mitigating controls</a:t>
            </a:r>
          </a:p>
        </p:txBody>
      </p:sp>
      <p:sp>
        <p:nvSpPr>
          <p:cNvPr id="46" name="TextBox 45"/>
          <p:cNvSpPr txBox="1"/>
          <p:nvPr/>
        </p:nvSpPr>
        <p:spPr>
          <a:xfrm>
            <a:off x="6693408" y="3447288"/>
            <a:ext cx="1828800" cy="237744"/>
          </a:xfrm>
          <a:prstGeom prst="rect">
            <a:avLst/>
          </a:prstGeom>
          <a:noFill/>
        </p:spPr>
        <p:txBody>
          <a:bodyPr wrap="square" anchor="t" lIns="0" rIns="0" tIns="0" bIns="0">
            <a:spAutoFit/>
          </a:bodyPr>
          <a:lstStyle/>
          <a:p>
            <a:pPr algn="l">
              <a:lnSpc>
                <a:spcPct val="108000"/>
              </a:lnSpc>
            </a:pPr>
            <a:r>
              <a:rPr sz="850" b="0" i="0">
                <a:solidFill>
                  <a:srgbClr val="FFFFFF"/>
                </a:solidFill>
                <a:latin typeface="Courier New"/>
              </a:rPr>
              <a:t>complianceOwner</a:t>
            </a:r>
          </a:p>
        </p:txBody>
      </p:sp>
      <p:sp>
        <p:nvSpPr>
          <p:cNvPr id="47" name="TextBox 46"/>
          <p:cNvSpPr txBox="1"/>
          <p:nvPr/>
        </p:nvSpPr>
        <p:spPr>
          <a:xfrm>
            <a:off x="8549640" y="3447288"/>
            <a:ext cx="2926080" cy="402336"/>
          </a:xfrm>
          <a:prstGeom prst="rect">
            <a:avLst/>
          </a:prstGeom>
          <a:noFill/>
        </p:spPr>
        <p:txBody>
          <a:bodyPr wrap="square" anchor="t" lIns="0" rIns="0" tIns="0" bIns="0">
            <a:spAutoFit/>
          </a:bodyPr>
          <a:lstStyle/>
          <a:p>
            <a:pPr algn="l">
              <a:lnSpc>
                <a:spcPct val="110000"/>
              </a:lnSpc>
            </a:pPr>
            <a:r>
              <a:rPr sz="850" b="0" i="0">
                <a:solidFill>
                  <a:srgbClr val="B9C6D1"/>
                </a:solidFill>
                <a:latin typeface="Calibri"/>
              </a:rPr>
              <a:t>Owns policy and regulatory adherence</a:t>
            </a:r>
          </a:p>
        </p:txBody>
      </p:sp>
      <p:sp>
        <p:nvSpPr>
          <p:cNvPr id="48" name="TextBox 47"/>
          <p:cNvSpPr txBox="1"/>
          <p:nvPr/>
        </p:nvSpPr>
        <p:spPr>
          <a:xfrm>
            <a:off x="6693408" y="3950208"/>
            <a:ext cx="1828800" cy="237744"/>
          </a:xfrm>
          <a:prstGeom prst="rect">
            <a:avLst/>
          </a:prstGeom>
          <a:noFill/>
        </p:spPr>
        <p:txBody>
          <a:bodyPr wrap="square" anchor="t" lIns="0" rIns="0" tIns="0" bIns="0">
            <a:spAutoFit/>
          </a:bodyPr>
          <a:lstStyle/>
          <a:p>
            <a:pPr algn="l">
              <a:lnSpc>
                <a:spcPct val="108000"/>
              </a:lnSpc>
            </a:pPr>
            <a:r>
              <a:rPr sz="850" b="0" i="0">
                <a:solidFill>
                  <a:srgbClr val="FFFFFF"/>
                </a:solidFill>
                <a:latin typeface="Courier New"/>
              </a:rPr>
              <a:t>approver</a:t>
            </a:r>
          </a:p>
        </p:txBody>
      </p:sp>
      <p:sp>
        <p:nvSpPr>
          <p:cNvPr id="49" name="TextBox 48"/>
          <p:cNvSpPr txBox="1"/>
          <p:nvPr/>
        </p:nvSpPr>
        <p:spPr>
          <a:xfrm>
            <a:off x="8549640" y="3950208"/>
            <a:ext cx="2926080" cy="402336"/>
          </a:xfrm>
          <a:prstGeom prst="rect">
            <a:avLst/>
          </a:prstGeom>
          <a:noFill/>
        </p:spPr>
        <p:txBody>
          <a:bodyPr wrap="square" anchor="t" lIns="0" rIns="0" tIns="0" bIns="0">
            <a:spAutoFit/>
          </a:bodyPr>
          <a:lstStyle/>
          <a:p>
            <a:pPr algn="l">
              <a:lnSpc>
                <a:spcPct val="110000"/>
              </a:lnSpc>
            </a:pPr>
            <a:r>
              <a:rPr sz="850" b="0" i="0">
                <a:solidFill>
                  <a:srgbClr val="B9C6D1"/>
                </a:solidFill>
                <a:latin typeface="Calibri"/>
              </a:rPr>
              <a:t>Holds authority to permit production use</a:t>
            </a:r>
          </a:p>
        </p:txBody>
      </p:sp>
      <p:sp>
        <p:nvSpPr>
          <p:cNvPr id="50" name="TextBox 49"/>
          <p:cNvSpPr txBox="1"/>
          <p:nvPr/>
        </p:nvSpPr>
        <p:spPr>
          <a:xfrm>
            <a:off x="6601968" y="4480560"/>
            <a:ext cx="4846320" cy="457200"/>
          </a:xfrm>
          <a:prstGeom prst="rect">
            <a:avLst/>
          </a:prstGeom>
          <a:noFill/>
        </p:spPr>
        <p:txBody>
          <a:bodyPr wrap="square" anchor="t" lIns="0" rIns="0" tIns="0" bIns="0">
            <a:spAutoFit/>
          </a:bodyPr>
          <a:lstStyle/>
          <a:p>
            <a:pPr algn="l">
              <a:lnSpc>
                <a:spcPct val="115000"/>
              </a:lnSpc>
            </a:pPr>
            <a:r>
              <a:rPr sz="900" b="0" i="0">
                <a:solidFill>
                  <a:srgbClr val="E8EDF2"/>
                </a:solidFill>
                <a:latin typeface="Calibri"/>
              </a:rPr>
              <a:t>One AssetOwner row per asset (assetId is @unique). Completeness is scored and weighted 25% — the heaviest single weight in the health index.</a:t>
            </a:r>
          </a:p>
        </p:txBody>
      </p:sp>
      <p:sp>
        <p:nvSpPr>
          <p:cNvPr id="51" name="Rectangle 50"/>
          <p:cNvSpPr/>
          <p:nvPr/>
        </p:nvSpPr>
        <p:spPr>
          <a:xfrm>
            <a:off x="548640" y="4937760"/>
            <a:ext cx="11064240" cy="10515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672" y="5029200"/>
            <a:ext cx="5486400" cy="256032"/>
          </a:xfrm>
          <a:prstGeom prst="rect">
            <a:avLst/>
          </a:prstGeom>
          <a:noFill/>
        </p:spPr>
        <p:txBody>
          <a:bodyPr wrap="square" anchor="t" lIns="0" rIns="0" tIns="0" bIns="0">
            <a:spAutoFit/>
          </a:bodyPr>
          <a:lstStyle/>
          <a:p>
            <a:pPr algn="l">
              <a:lnSpc>
                <a:spcPct val="108000"/>
              </a:lnSpc>
            </a:pPr>
            <a:r>
              <a:rPr sz="1200" b="1" i="0">
                <a:solidFill>
                  <a:srgbClr val="22303C"/>
                </a:solidFill>
                <a:latin typeface="Calibri"/>
              </a:rPr>
              <a:t>Eight-stage governance journey — derived, not stored</a:t>
            </a:r>
          </a:p>
        </p:txBody>
      </p:sp>
      <p:sp>
        <p:nvSpPr>
          <p:cNvPr id="53" name="Rectangle 52"/>
          <p:cNvSpPr/>
          <p:nvPr/>
        </p:nvSpPr>
        <p:spPr>
          <a:xfrm>
            <a:off x="804672"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4672"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AI Asset</a:t>
            </a:r>
          </a:p>
        </p:txBody>
      </p:sp>
      <p:sp>
        <p:nvSpPr>
          <p:cNvPr id="55" name="Rectangle 54"/>
          <p:cNvSpPr/>
          <p:nvPr/>
        </p:nvSpPr>
        <p:spPr>
          <a:xfrm>
            <a:off x="2157984"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57984"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Ownership</a:t>
            </a:r>
          </a:p>
        </p:txBody>
      </p:sp>
      <p:sp>
        <p:nvSpPr>
          <p:cNvPr id="57" name="Rectangle 56"/>
          <p:cNvSpPr/>
          <p:nvPr/>
        </p:nvSpPr>
        <p:spPr>
          <a:xfrm>
            <a:off x="3511296"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511296"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Risk Review</a:t>
            </a:r>
          </a:p>
        </p:txBody>
      </p:sp>
      <p:sp>
        <p:nvSpPr>
          <p:cNvPr id="59" name="Rectangle 58"/>
          <p:cNvSpPr/>
          <p:nvPr/>
        </p:nvSpPr>
        <p:spPr>
          <a:xfrm>
            <a:off x="4864608"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64608"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Validation</a:t>
            </a:r>
          </a:p>
        </p:txBody>
      </p:sp>
      <p:sp>
        <p:nvSpPr>
          <p:cNvPr id="61" name="Rectangle 60"/>
          <p:cNvSpPr/>
          <p:nvPr/>
        </p:nvSpPr>
        <p:spPr>
          <a:xfrm>
            <a:off x="6217920"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17920"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Evidence</a:t>
            </a:r>
          </a:p>
        </p:txBody>
      </p:sp>
      <p:sp>
        <p:nvSpPr>
          <p:cNvPr id="63" name="Rectangle 62"/>
          <p:cNvSpPr/>
          <p:nvPr/>
        </p:nvSpPr>
        <p:spPr>
          <a:xfrm>
            <a:off x="7571232"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571232"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Decision</a:t>
            </a:r>
          </a:p>
        </p:txBody>
      </p:sp>
      <p:sp>
        <p:nvSpPr>
          <p:cNvPr id="65" name="Rectangle 64"/>
          <p:cNvSpPr/>
          <p:nvPr/>
        </p:nvSpPr>
        <p:spPr>
          <a:xfrm>
            <a:off x="8924544"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924544"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Production</a:t>
            </a:r>
          </a:p>
        </p:txBody>
      </p:sp>
      <p:sp>
        <p:nvSpPr>
          <p:cNvPr id="67" name="Rectangle 66"/>
          <p:cNvSpPr/>
          <p:nvPr/>
        </p:nvSpPr>
        <p:spPr>
          <a:xfrm>
            <a:off x="10277856" y="5349240"/>
            <a:ext cx="1243584" cy="310896"/>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277856" y="5349240"/>
            <a:ext cx="1243584"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Monitoring</a:t>
            </a:r>
          </a:p>
        </p:txBody>
      </p:sp>
      <p:sp>
        <p:nvSpPr>
          <p:cNvPr id="69" name="TextBox 68"/>
          <p:cNvSpPr txBox="1"/>
          <p:nvPr/>
        </p:nvSpPr>
        <p:spPr>
          <a:xfrm>
            <a:off x="804672" y="5687568"/>
            <a:ext cx="10552176"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getAssetJourneyPositions() computes each asset's furthest consecutively-cleared stage from live governance state.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9 · RISK MANAGEMENT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Risk tier drives how much governance applies</a:t>
            </a:r>
          </a:p>
        </p:txBody>
      </p:sp>
      <p:sp>
        <p:nvSpPr>
          <p:cNvPr id="4" name="Rectangle 3"/>
          <p:cNvSpPr/>
          <p:nvPr/>
        </p:nvSpPr>
        <p:spPr>
          <a:xfrm>
            <a:off x="548640" y="1444752"/>
            <a:ext cx="2651760" cy="658368"/>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44752"/>
            <a:ext cx="2651760" cy="658368"/>
          </a:xfrm>
          <a:prstGeom prst="rect">
            <a:avLst/>
          </a:prstGeom>
          <a:noFill/>
        </p:spPr>
        <p:txBody>
          <a:bodyPr wrap="square" anchor="ctr" lIns="0" rIns="0" tIns="0" bIns="0">
            <a:spAutoFit/>
          </a:bodyPr>
          <a:lstStyle/>
          <a:p>
            <a:pPr algn="ctr">
              <a:lnSpc>
                <a:spcPct val="108000"/>
              </a:lnSpc>
            </a:pPr>
            <a:r>
              <a:rPr sz="1500" b="1" i="0">
                <a:solidFill>
                  <a:srgbClr val="FFFFFF"/>
                </a:solidFill>
                <a:latin typeface="Calibri"/>
              </a:rPr>
              <a:t>Low Risk</a:t>
            </a:r>
          </a:p>
        </p:txBody>
      </p:sp>
      <p:sp>
        <p:nvSpPr>
          <p:cNvPr id="6" name="Rectangle 5"/>
          <p:cNvSpPr/>
          <p:nvPr/>
        </p:nvSpPr>
        <p:spPr>
          <a:xfrm>
            <a:off x="3355848" y="1444752"/>
            <a:ext cx="2651760" cy="658368"/>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55848" y="1444752"/>
            <a:ext cx="2651760" cy="658368"/>
          </a:xfrm>
          <a:prstGeom prst="rect">
            <a:avLst/>
          </a:prstGeom>
          <a:noFill/>
        </p:spPr>
        <p:txBody>
          <a:bodyPr wrap="square" anchor="ctr" lIns="0" rIns="0" tIns="0" bIns="0">
            <a:spAutoFit/>
          </a:bodyPr>
          <a:lstStyle/>
          <a:p>
            <a:pPr algn="ctr">
              <a:lnSpc>
                <a:spcPct val="108000"/>
              </a:lnSpc>
            </a:pPr>
            <a:r>
              <a:rPr sz="1500" b="1" i="0">
                <a:solidFill>
                  <a:srgbClr val="FFFFFF"/>
                </a:solidFill>
                <a:latin typeface="Calibri"/>
              </a:rPr>
              <a:t>Medium Risk</a:t>
            </a:r>
          </a:p>
        </p:txBody>
      </p:sp>
      <p:sp>
        <p:nvSpPr>
          <p:cNvPr id="8" name="Rectangle 7"/>
          <p:cNvSpPr/>
          <p:nvPr/>
        </p:nvSpPr>
        <p:spPr>
          <a:xfrm>
            <a:off x="6163056" y="1444752"/>
            <a:ext cx="2651760" cy="658368"/>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63056" y="1444752"/>
            <a:ext cx="2651760" cy="658368"/>
          </a:xfrm>
          <a:prstGeom prst="rect">
            <a:avLst/>
          </a:prstGeom>
          <a:noFill/>
        </p:spPr>
        <p:txBody>
          <a:bodyPr wrap="square" anchor="ctr" lIns="0" rIns="0" tIns="0" bIns="0">
            <a:spAutoFit/>
          </a:bodyPr>
          <a:lstStyle/>
          <a:p>
            <a:pPr algn="ctr">
              <a:lnSpc>
                <a:spcPct val="108000"/>
              </a:lnSpc>
            </a:pPr>
            <a:r>
              <a:rPr sz="1500" b="1" i="0">
                <a:solidFill>
                  <a:srgbClr val="FFFFFF"/>
                </a:solidFill>
                <a:latin typeface="Calibri"/>
              </a:rPr>
              <a:t>High Risk</a:t>
            </a:r>
          </a:p>
        </p:txBody>
      </p:sp>
      <p:sp>
        <p:nvSpPr>
          <p:cNvPr id="10" name="Rectangle 9"/>
          <p:cNvSpPr/>
          <p:nvPr/>
        </p:nvSpPr>
        <p:spPr>
          <a:xfrm>
            <a:off x="8970264" y="1444752"/>
            <a:ext cx="2651760" cy="658368"/>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70264" y="1444752"/>
            <a:ext cx="2651760" cy="658368"/>
          </a:xfrm>
          <a:prstGeom prst="rect">
            <a:avLst/>
          </a:prstGeom>
          <a:noFill/>
        </p:spPr>
        <p:txBody>
          <a:bodyPr wrap="square" anchor="ctr" lIns="0" rIns="0" tIns="0" bIns="0">
            <a:spAutoFit/>
          </a:bodyPr>
          <a:lstStyle/>
          <a:p>
            <a:pPr algn="ctr">
              <a:lnSpc>
                <a:spcPct val="108000"/>
              </a:lnSpc>
            </a:pPr>
            <a:r>
              <a:rPr sz="1500" b="1" i="0">
                <a:solidFill>
                  <a:srgbClr val="FFFFFF"/>
                </a:solidFill>
                <a:latin typeface="Calibri"/>
              </a:rPr>
              <a:t>Critical Risk</a:t>
            </a:r>
          </a:p>
        </p:txBody>
      </p:sp>
      <p:sp>
        <p:nvSpPr>
          <p:cNvPr id="12" name="TextBox 11"/>
          <p:cNvSpPr txBox="1"/>
          <p:nvPr/>
        </p:nvSpPr>
        <p:spPr>
          <a:xfrm>
            <a:off x="548640" y="2286000"/>
            <a:ext cx="5486400" cy="256032"/>
          </a:xfrm>
          <a:prstGeom prst="rect">
            <a:avLst/>
          </a:prstGeom>
          <a:noFill/>
        </p:spPr>
        <p:txBody>
          <a:bodyPr wrap="square" anchor="t" lIns="0" rIns="0" tIns="0" bIns="0">
            <a:spAutoFit/>
          </a:bodyPr>
          <a:lstStyle/>
          <a:p>
            <a:pPr algn="l">
              <a:lnSpc>
                <a:spcPct val="108000"/>
              </a:lnSpc>
            </a:pPr>
            <a:r>
              <a:rPr sz="1200" b="1" i="0">
                <a:solidFill>
                  <a:srgbClr val="22303C"/>
                </a:solidFill>
                <a:latin typeface="Calibri"/>
              </a:rPr>
              <a:t>RiskAssessment model — five assessment dimensions</a:t>
            </a:r>
          </a:p>
        </p:txBody>
      </p:sp>
      <p:sp>
        <p:nvSpPr>
          <p:cNvPr id="13" name="TextBox 12"/>
          <p:cNvSpPr txBox="1"/>
          <p:nvPr/>
        </p:nvSpPr>
        <p:spPr>
          <a:xfrm>
            <a:off x="640080" y="2596896"/>
            <a:ext cx="530352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context</a:t>
            </a:r>
          </a:p>
        </p:txBody>
      </p:sp>
      <p:sp>
        <p:nvSpPr>
          <p:cNvPr id="14" name="TextBox 13"/>
          <p:cNvSpPr txBox="1"/>
          <p:nvPr/>
        </p:nvSpPr>
        <p:spPr>
          <a:xfrm>
            <a:off x="640080" y="2871216"/>
            <a:ext cx="530352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dataSensitivity</a:t>
            </a:r>
          </a:p>
        </p:txBody>
      </p:sp>
      <p:sp>
        <p:nvSpPr>
          <p:cNvPr id="15" name="TextBox 14"/>
          <p:cNvSpPr txBox="1"/>
          <p:nvPr/>
        </p:nvSpPr>
        <p:spPr>
          <a:xfrm>
            <a:off x="640080" y="3145536"/>
            <a:ext cx="530352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decisionImpact</a:t>
            </a:r>
          </a:p>
        </p:txBody>
      </p:sp>
      <p:sp>
        <p:nvSpPr>
          <p:cNvPr id="16" name="TextBox 15"/>
          <p:cNvSpPr txBox="1"/>
          <p:nvPr/>
        </p:nvSpPr>
        <p:spPr>
          <a:xfrm>
            <a:off x="640080" y="3419856"/>
            <a:ext cx="530352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operationalImpact</a:t>
            </a:r>
          </a:p>
        </p:txBody>
      </p:sp>
      <p:sp>
        <p:nvSpPr>
          <p:cNvPr id="17" name="TextBox 16"/>
          <p:cNvSpPr txBox="1"/>
          <p:nvPr/>
        </p:nvSpPr>
        <p:spPr>
          <a:xfrm>
            <a:off x="640080" y="3694176"/>
            <a:ext cx="530352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controlOversight</a:t>
            </a:r>
          </a:p>
        </p:txBody>
      </p:sp>
      <p:sp>
        <p:nvSpPr>
          <p:cNvPr id="18" name="TextBox 17"/>
          <p:cNvSpPr txBox="1"/>
          <p:nvPr/>
        </p:nvSpPr>
        <p:spPr>
          <a:xfrm>
            <a:off x="548640" y="4023360"/>
            <a:ext cx="5486400" cy="457200"/>
          </a:xfrm>
          <a:prstGeom prst="rect">
            <a:avLst/>
          </a:prstGeom>
          <a:noFill/>
        </p:spPr>
        <p:txBody>
          <a:bodyPr wrap="square" anchor="t" lIns="0" rIns="0" tIns="0" bIns="0">
            <a:spAutoFit/>
          </a:bodyPr>
          <a:lstStyle/>
          <a:p>
            <a:pPr algn="l">
              <a:lnSpc>
                <a:spcPct val="115000"/>
              </a:lnSpc>
            </a:pPr>
            <a:r>
              <a:rPr sz="1000" b="0" i="0">
                <a:solidFill>
                  <a:srgbClr val="2E3B47"/>
                </a:solidFill>
                <a:latin typeface="Calibri"/>
              </a:rPr>
              <a:t>Assessment produces overallRiskTier plus assessedBy attribution. Risk is one of the five governance pillars, weighted 20%.</a:t>
            </a:r>
          </a:p>
        </p:txBody>
      </p:sp>
      <p:sp>
        <p:nvSpPr>
          <p:cNvPr id="19" name="Rectangle 18"/>
          <p:cNvSpPr/>
          <p:nvPr/>
        </p:nvSpPr>
        <p:spPr>
          <a:xfrm>
            <a:off x="6400800" y="2286000"/>
            <a:ext cx="5212080" cy="21945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1968" y="2395728"/>
            <a:ext cx="4846320" cy="256032"/>
          </a:xfrm>
          <a:prstGeom prst="rect">
            <a:avLst/>
          </a:prstGeom>
          <a:noFill/>
        </p:spPr>
        <p:txBody>
          <a:bodyPr wrap="square" anchor="t" lIns="0" rIns="0" tIns="0" bIns="0">
            <a:spAutoFit/>
          </a:bodyPr>
          <a:lstStyle/>
          <a:p>
            <a:pPr algn="l">
              <a:lnSpc>
                <a:spcPct val="108000"/>
              </a:lnSpc>
            </a:pPr>
            <a:r>
              <a:rPr sz="1200" b="1" i="0">
                <a:solidFill>
                  <a:srgbClr val="22303C"/>
                </a:solidFill>
                <a:latin typeface="Calibri"/>
              </a:rPr>
              <a:t>Risk analytics surfaces</a:t>
            </a:r>
          </a:p>
        </p:txBody>
      </p:sp>
      <p:sp>
        <p:nvSpPr>
          <p:cNvPr id="21" name="TextBox 20"/>
          <p:cNvSpPr txBox="1"/>
          <p:nvPr/>
        </p:nvSpPr>
        <p:spPr>
          <a:xfrm>
            <a:off x="6675120" y="2706624"/>
            <a:ext cx="2194560" cy="292608"/>
          </a:xfrm>
          <a:prstGeom prst="rect">
            <a:avLst/>
          </a:prstGeom>
          <a:noFill/>
        </p:spPr>
        <p:txBody>
          <a:bodyPr wrap="square" anchor="t" lIns="0" rIns="0" tIns="0" bIns="0">
            <a:spAutoFit/>
          </a:bodyPr>
          <a:lstStyle/>
          <a:p>
            <a:pPr algn="l">
              <a:lnSpc>
                <a:spcPct val="108000"/>
              </a:lnSpc>
            </a:pPr>
            <a:r>
              <a:rPr sz="800" b="0" i="0">
                <a:solidFill>
                  <a:srgbClr val="1F8A82"/>
                </a:solidFill>
                <a:latin typeface="Courier New"/>
              </a:rPr>
              <a:t>getRiskHeatmap()</a:t>
            </a:r>
          </a:p>
        </p:txBody>
      </p:sp>
      <p:sp>
        <p:nvSpPr>
          <p:cNvPr id="22" name="TextBox 21"/>
          <p:cNvSpPr txBox="1"/>
          <p:nvPr/>
        </p:nvSpPr>
        <p:spPr>
          <a:xfrm>
            <a:off x="8915400" y="2706624"/>
            <a:ext cx="2560320" cy="292608"/>
          </a:xfrm>
          <a:prstGeom prst="rect">
            <a:avLst/>
          </a:prstGeom>
          <a:noFill/>
        </p:spPr>
        <p:txBody>
          <a:bodyPr wrap="square" anchor="t" lIns="0" rIns="0" tIns="0" bIns="0">
            <a:spAutoFit/>
          </a:bodyPr>
          <a:lstStyle/>
          <a:p>
            <a:pPr algn="l">
              <a:lnSpc>
                <a:spcPct val="108000"/>
              </a:lnSpc>
            </a:pPr>
            <a:r>
              <a:rPr sz="900" b="0" i="0">
                <a:solidFill>
                  <a:srgbClr val="2E3B47"/>
                </a:solidFill>
                <a:latin typeface="Calibri"/>
              </a:rPr>
              <a:t>Risk × AI category concentration</a:t>
            </a:r>
          </a:p>
        </p:txBody>
      </p:sp>
      <p:sp>
        <p:nvSpPr>
          <p:cNvPr id="23" name="TextBox 22"/>
          <p:cNvSpPr txBox="1"/>
          <p:nvPr/>
        </p:nvSpPr>
        <p:spPr>
          <a:xfrm>
            <a:off x="6675120" y="3044952"/>
            <a:ext cx="2194560" cy="292608"/>
          </a:xfrm>
          <a:prstGeom prst="rect">
            <a:avLst/>
          </a:prstGeom>
          <a:noFill/>
        </p:spPr>
        <p:txBody>
          <a:bodyPr wrap="square" anchor="t" lIns="0" rIns="0" tIns="0" bIns="0">
            <a:spAutoFit/>
          </a:bodyPr>
          <a:lstStyle/>
          <a:p>
            <a:pPr algn="l">
              <a:lnSpc>
                <a:spcPct val="108000"/>
              </a:lnSpc>
            </a:pPr>
            <a:r>
              <a:rPr sz="800" b="0" i="0">
                <a:solidFill>
                  <a:srgbClr val="1F8A82"/>
                </a:solidFill>
                <a:latin typeface="Courier New"/>
              </a:rPr>
              <a:t>getBusinessUnitHeatmap()</a:t>
            </a:r>
          </a:p>
        </p:txBody>
      </p:sp>
      <p:sp>
        <p:nvSpPr>
          <p:cNvPr id="24" name="TextBox 23"/>
          <p:cNvSpPr txBox="1"/>
          <p:nvPr/>
        </p:nvSpPr>
        <p:spPr>
          <a:xfrm>
            <a:off x="8915400" y="3044952"/>
            <a:ext cx="2560320" cy="292608"/>
          </a:xfrm>
          <a:prstGeom prst="rect">
            <a:avLst/>
          </a:prstGeom>
          <a:noFill/>
        </p:spPr>
        <p:txBody>
          <a:bodyPr wrap="square" anchor="t" lIns="0" rIns="0" tIns="0" bIns="0">
            <a:spAutoFit/>
          </a:bodyPr>
          <a:lstStyle/>
          <a:p>
            <a:pPr algn="l">
              <a:lnSpc>
                <a:spcPct val="108000"/>
              </a:lnSpc>
            </a:pPr>
            <a:r>
              <a:rPr sz="900" b="0" i="0">
                <a:solidFill>
                  <a:srgbClr val="2E3B47"/>
                </a:solidFill>
                <a:latin typeface="Calibri"/>
              </a:rPr>
              <a:t>Risk × business unit, with health</a:t>
            </a:r>
          </a:p>
        </p:txBody>
      </p:sp>
      <p:sp>
        <p:nvSpPr>
          <p:cNvPr id="25" name="TextBox 24"/>
          <p:cNvSpPr txBox="1"/>
          <p:nvPr/>
        </p:nvSpPr>
        <p:spPr>
          <a:xfrm>
            <a:off x="6675120" y="3383280"/>
            <a:ext cx="2194560" cy="292608"/>
          </a:xfrm>
          <a:prstGeom prst="rect">
            <a:avLst/>
          </a:prstGeom>
          <a:noFill/>
        </p:spPr>
        <p:txBody>
          <a:bodyPr wrap="square" anchor="t" lIns="0" rIns="0" tIns="0" bIns="0">
            <a:spAutoFit/>
          </a:bodyPr>
          <a:lstStyle/>
          <a:p>
            <a:pPr algn="l">
              <a:lnSpc>
                <a:spcPct val="108000"/>
              </a:lnSpc>
            </a:pPr>
            <a:r>
              <a:rPr sz="800" b="0" i="0">
                <a:solidFill>
                  <a:srgbClr val="1F8A82"/>
                </a:solidFill>
                <a:latin typeface="Courier New"/>
              </a:rPr>
              <a:t>getAssetTypeHeatmap()</a:t>
            </a:r>
          </a:p>
        </p:txBody>
      </p:sp>
      <p:sp>
        <p:nvSpPr>
          <p:cNvPr id="26" name="TextBox 25"/>
          <p:cNvSpPr txBox="1"/>
          <p:nvPr/>
        </p:nvSpPr>
        <p:spPr>
          <a:xfrm>
            <a:off x="8915400" y="3383280"/>
            <a:ext cx="2560320" cy="292608"/>
          </a:xfrm>
          <a:prstGeom prst="rect">
            <a:avLst/>
          </a:prstGeom>
          <a:noFill/>
        </p:spPr>
        <p:txBody>
          <a:bodyPr wrap="square" anchor="t" lIns="0" rIns="0" tIns="0" bIns="0">
            <a:spAutoFit/>
          </a:bodyPr>
          <a:lstStyle/>
          <a:p>
            <a:pPr algn="l">
              <a:lnSpc>
                <a:spcPct val="108000"/>
              </a:lnSpc>
            </a:pPr>
            <a:r>
              <a:rPr sz="900" b="0" i="0">
                <a:solidFill>
                  <a:srgbClr val="2E3B47"/>
                </a:solidFill>
                <a:latin typeface="Calibri"/>
              </a:rPr>
              <a:t>Risk × asset type, with health</a:t>
            </a:r>
          </a:p>
        </p:txBody>
      </p:sp>
      <p:sp>
        <p:nvSpPr>
          <p:cNvPr id="27" name="TextBox 26"/>
          <p:cNvSpPr txBox="1"/>
          <p:nvPr/>
        </p:nvSpPr>
        <p:spPr>
          <a:xfrm>
            <a:off x="6675120" y="3721608"/>
            <a:ext cx="2194560" cy="292608"/>
          </a:xfrm>
          <a:prstGeom prst="rect">
            <a:avLst/>
          </a:prstGeom>
          <a:noFill/>
        </p:spPr>
        <p:txBody>
          <a:bodyPr wrap="square" anchor="t" lIns="0" rIns="0" tIns="0" bIns="0">
            <a:spAutoFit/>
          </a:bodyPr>
          <a:lstStyle/>
          <a:p>
            <a:pPr algn="l">
              <a:lnSpc>
                <a:spcPct val="108000"/>
              </a:lnSpc>
            </a:pPr>
            <a:r>
              <a:rPr sz="800" b="0" i="0">
                <a:solidFill>
                  <a:srgbClr val="1F8A82"/>
                </a:solidFill>
                <a:latin typeface="Courier New"/>
              </a:rPr>
              <a:t>getRiskStageHeatmap()</a:t>
            </a:r>
          </a:p>
        </p:txBody>
      </p:sp>
      <p:sp>
        <p:nvSpPr>
          <p:cNvPr id="28" name="TextBox 27"/>
          <p:cNvSpPr txBox="1"/>
          <p:nvPr/>
        </p:nvSpPr>
        <p:spPr>
          <a:xfrm>
            <a:off x="8915400" y="3721608"/>
            <a:ext cx="2560320" cy="292608"/>
          </a:xfrm>
          <a:prstGeom prst="rect">
            <a:avLst/>
          </a:prstGeom>
          <a:noFill/>
        </p:spPr>
        <p:txBody>
          <a:bodyPr wrap="square" anchor="t" lIns="0" rIns="0" tIns="0" bIns="0">
            <a:spAutoFit/>
          </a:bodyPr>
          <a:lstStyle/>
          <a:p>
            <a:pPr algn="l">
              <a:lnSpc>
                <a:spcPct val="108000"/>
              </a:lnSpc>
            </a:pPr>
            <a:r>
              <a:rPr sz="900" b="0" i="0">
                <a:solidFill>
                  <a:srgbClr val="2E3B47"/>
                </a:solidFill>
                <a:latin typeface="Calibri"/>
              </a:rPr>
              <a:t>Risk × lifecycle stage</a:t>
            </a:r>
          </a:p>
        </p:txBody>
      </p:sp>
      <p:sp>
        <p:nvSpPr>
          <p:cNvPr id="29" name="TextBox 28"/>
          <p:cNvSpPr txBox="1"/>
          <p:nvPr/>
        </p:nvSpPr>
        <p:spPr>
          <a:xfrm>
            <a:off x="6675120" y="4059936"/>
            <a:ext cx="2194560" cy="292608"/>
          </a:xfrm>
          <a:prstGeom prst="rect">
            <a:avLst/>
          </a:prstGeom>
          <a:noFill/>
        </p:spPr>
        <p:txBody>
          <a:bodyPr wrap="square" anchor="t" lIns="0" rIns="0" tIns="0" bIns="0">
            <a:spAutoFit/>
          </a:bodyPr>
          <a:lstStyle/>
          <a:p>
            <a:pPr algn="l">
              <a:lnSpc>
                <a:spcPct val="108000"/>
              </a:lnSpc>
            </a:pPr>
            <a:r>
              <a:rPr sz="800" b="0" i="0">
                <a:solidFill>
                  <a:srgbClr val="1F8A82"/>
                </a:solidFill>
                <a:latin typeface="Courier New"/>
              </a:rPr>
              <a:t>getGovernanceBlockers()</a:t>
            </a:r>
          </a:p>
        </p:txBody>
      </p:sp>
      <p:sp>
        <p:nvSpPr>
          <p:cNvPr id="30" name="TextBox 29"/>
          <p:cNvSpPr txBox="1"/>
          <p:nvPr/>
        </p:nvSpPr>
        <p:spPr>
          <a:xfrm>
            <a:off x="8915400" y="4059936"/>
            <a:ext cx="2560320" cy="292608"/>
          </a:xfrm>
          <a:prstGeom prst="rect">
            <a:avLst/>
          </a:prstGeom>
          <a:noFill/>
        </p:spPr>
        <p:txBody>
          <a:bodyPr wrap="square" anchor="t" lIns="0" rIns="0" tIns="0" bIns="0">
            <a:spAutoFit/>
          </a:bodyPr>
          <a:lstStyle/>
          <a:p>
            <a:pPr algn="l">
              <a:lnSpc>
                <a:spcPct val="108000"/>
              </a:lnSpc>
            </a:pPr>
            <a:r>
              <a:rPr sz="900" b="0" i="0">
                <a:solidFill>
                  <a:srgbClr val="2E3B47"/>
                </a:solidFill>
                <a:latin typeface="Calibri"/>
              </a:rPr>
              <a:t>Hard stops by category and severity</a:t>
            </a:r>
          </a:p>
        </p:txBody>
      </p:sp>
      <p:sp>
        <p:nvSpPr>
          <p:cNvPr id="31" name="Rectangle 30"/>
          <p:cNvSpPr/>
          <p:nvPr/>
        </p:nvSpPr>
        <p:spPr>
          <a:xfrm>
            <a:off x="548640" y="4617720"/>
            <a:ext cx="11064240" cy="13716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4736592"/>
            <a:ext cx="7315200" cy="256032"/>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Risk-driven enforcement — where the tier actually changes behaviour</a:t>
            </a:r>
          </a:p>
        </p:txBody>
      </p:sp>
      <p:sp>
        <p:nvSpPr>
          <p:cNvPr id="33" name="TextBox 32"/>
          <p:cNvSpPr txBox="1"/>
          <p:nvPr/>
        </p:nvSpPr>
        <p:spPr>
          <a:xfrm>
            <a:off x="932688" y="5029200"/>
            <a:ext cx="10296144" cy="868680"/>
          </a:xfrm>
          <a:prstGeom prst="rect">
            <a:avLst/>
          </a:prstGeom>
          <a:noFill/>
        </p:spPr>
        <p:txBody>
          <a:bodyPr wrap="square" anchor="t" lIns="0" rIns="0" tIns="0" bIns="0">
            <a:spAutoFit/>
          </a:bodyPr>
          <a:lstStyle/>
          <a:p>
            <a:pPr algn="l">
              <a:lnSpc>
                <a:spcPct val="120000"/>
              </a:lnSpc>
            </a:pPr>
            <a:r>
              <a:rPr sz="1050" b="0" i="0">
                <a:solidFill>
                  <a:srgbClr val="E8EDF2"/>
                </a:solidFill>
                <a:latin typeface="Calibri"/>
              </a:rPr>
              <a:t>High and Critical assets require an approved independent validation before production, enforced by policy rule REQUIRE_VALIDATION_FOR_HIGH_RISK.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10 · VALIDATION AND EVIDENCE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Independent review, tracked defects, evidence</a:t>
            </a:r>
          </a:p>
        </p:txBody>
      </p:sp>
      <p:sp>
        <p:nvSpPr>
          <p:cNvPr id="4" name="TextBox 3"/>
          <p:cNvSpPr txBox="1"/>
          <p:nvPr/>
        </p:nvSpPr>
        <p:spPr>
          <a:xfrm>
            <a:off x="548640" y="1444752"/>
            <a:ext cx="5486400" cy="256032"/>
          </a:xfrm>
          <a:prstGeom prst="rect">
            <a:avLst/>
          </a:prstGeom>
          <a:noFill/>
        </p:spPr>
        <p:txBody>
          <a:bodyPr wrap="square" anchor="t" lIns="0" rIns="0" tIns="0" bIns="0">
            <a:spAutoFit/>
          </a:bodyPr>
          <a:lstStyle/>
          <a:p>
            <a:pPr algn="l">
              <a:lnSpc>
                <a:spcPct val="108000"/>
              </a:lnSpc>
            </a:pPr>
            <a:r>
              <a:rPr sz="1200" b="1" i="0">
                <a:solidFill>
                  <a:srgbClr val="22303C"/>
                </a:solidFill>
                <a:latin typeface="Calibri"/>
              </a:rPr>
              <a:t>ValidationRecord — six disciplines</a:t>
            </a:r>
          </a:p>
        </p:txBody>
      </p:sp>
      <p:sp>
        <p:nvSpPr>
          <p:cNvPr id="5" name="Rectangle 4"/>
          <p:cNvSpPr/>
          <p:nvPr/>
        </p:nvSpPr>
        <p:spPr>
          <a:xfrm>
            <a:off x="548640" y="1755648"/>
            <a:ext cx="1737360" cy="310896"/>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55648"/>
            <a:ext cx="1737360"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Business</a:t>
            </a:r>
          </a:p>
        </p:txBody>
      </p:sp>
      <p:sp>
        <p:nvSpPr>
          <p:cNvPr id="7" name="Rectangle 6"/>
          <p:cNvSpPr/>
          <p:nvPr/>
        </p:nvSpPr>
        <p:spPr>
          <a:xfrm>
            <a:off x="2423160" y="1755648"/>
            <a:ext cx="1737360" cy="310896"/>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23160" y="1755648"/>
            <a:ext cx="1737360"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Technical</a:t>
            </a:r>
          </a:p>
        </p:txBody>
      </p:sp>
      <p:sp>
        <p:nvSpPr>
          <p:cNvPr id="9" name="Rectangle 8"/>
          <p:cNvSpPr/>
          <p:nvPr/>
        </p:nvSpPr>
        <p:spPr>
          <a:xfrm>
            <a:off x="4297680" y="1755648"/>
            <a:ext cx="1737360" cy="310896"/>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755648"/>
            <a:ext cx="1737360"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Security</a:t>
            </a:r>
          </a:p>
        </p:txBody>
      </p:sp>
      <p:sp>
        <p:nvSpPr>
          <p:cNvPr id="11" name="Rectangle 10"/>
          <p:cNvSpPr/>
          <p:nvPr/>
        </p:nvSpPr>
        <p:spPr>
          <a:xfrm>
            <a:off x="548640" y="2139696"/>
            <a:ext cx="1737360" cy="310896"/>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39696"/>
            <a:ext cx="1737360"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Compliance</a:t>
            </a:r>
          </a:p>
        </p:txBody>
      </p:sp>
      <p:sp>
        <p:nvSpPr>
          <p:cNvPr id="13" name="Rectangle 12"/>
          <p:cNvSpPr/>
          <p:nvPr/>
        </p:nvSpPr>
        <p:spPr>
          <a:xfrm>
            <a:off x="2423160" y="2139696"/>
            <a:ext cx="1737360" cy="310896"/>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23160" y="2139696"/>
            <a:ext cx="1737360"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Operational</a:t>
            </a:r>
          </a:p>
        </p:txBody>
      </p:sp>
      <p:sp>
        <p:nvSpPr>
          <p:cNvPr id="15" name="Rectangle 14"/>
          <p:cNvSpPr/>
          <p:nvPr/>
        </p:nvSpPr>
        <p:spPr>
          <a:xfrm>
            <a:off x="4297680" y="2139696"/>
            <a:ext cx="1737360" cy="310896"/>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2139696"/>
            <a:ext cx="1737360"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Model</a:t>
            </a:r>
          </a:p>
        </p:txBody>
      </p:sp>
      <p:sp>
        <p:nvSpPr>
          <p:cNvPr id="17" name="TextBox 16"/>
          <p:cNvSpPr txBox="1"/>
          <p:nvPr/>
        </p:nvSpPr>
        <p:spPr>
          <a:xfrm>
            <a:off x="548640" y="2578608"/>
            <a:ext cx="5486400" cy="402336"/>
          </a:xfrm>
          <a:prstGeom prst="rect">
            <a:avLst/>
          </a:prstGeom>
          <a:noFill/>
        </p:spPr>
        <p:txBody>
          <a:bodyPr wrap="square" anchor="t" lIns="0" rIns="0" tIns="0" bIns="0">
            <a:spAutoFit/>
          </a:bodyPr>
          <a:lstStyle/>
          <a:p>
            <a:pPr algn="l">
              <a:lnSpc>
                <a:spcPct val="108000"/>
              </a:lnSpc>
            </a:pPr>
            <a:r>
              <a:rPr sz="800" b="0" i="0">
                <a:solidFill>
                  <a:srgbClr val="2E3B47"/>
                </a:solidFill>
                <a:latin typeface="Courier New"/>
              </a:rPr>
              <a:t>Fields: category · reviewer · reviewerRole · reviewDate · status · score · findings · recommendations</a:t>
            </a:r>
          </a:p>
        </p:txBody>
      </p:sp>
      <p:sp>
        <p:nvSpPr>
          <p:cNvPr id="18" name="TextBox 17"/>
          <p:cNvSpPr txBox="1"/>
          <p:nvPr/>
        </p:nvSpPr>
        <p:spPr>
          <a:xfrm>
            <a:off x="548640" y="2980944"/>
            <a:ext cx="548640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Status: Draft → In Review → Approved | Rejected</a:t>
            </a:r>
          </a:p>
        </p:txBody>
      </p:sp>
      <p:sp>
        <p:nvSpPr>
          <p:cNvPr id="19" name="TextBox 18"/>
          <p:cNvSpPr txBox="1"/>
          <p:nvPr/>
        </p:nvSpPr>
        <p:spPr>
          <a:xfrm>
            <a:off x="548640" y="3364992"/>
            <a:ext cx="5486400" cy="256032"/>
          </a:xfrm>
          <a:prstGeom prst="rect">
            <a:avLst/>
          </a:prstGeom>
          <a:noFill/>
        </p:spPr>
        <p:txBody>
          <a:bodyPr wrap="square" anchor="t" lIns="0" rIns="0" tIns="0" bIns="0">
            <a:spAutoFit/>
          </a:bodyPr>
          <a:lstStyle/>
          <a:p>
            <a:pPr algn="l">
              <a:lnSpc>
                <a:spcPct val="108000"/>
              </a:lnSpc>
            </a:pPr>
            <a:r>
              <a:rPr sz="1200" b="1" i="0">
                <a:solidFill>
                  <a:srgbClr val="22303C"/>
                </a:solidFill>
                <a:latin typeface="Calibri"/>
              </a:rPr>
              <a:t>Finding — four-state defect lifecycle</a:t>
            </a:r>
          </a:p>
        </p:txBody>
      </p:sp>
      <p:sp>
        <p:nvSpPr>
          <p:cNvPr id="20" name="Rectangle 19"/>
          <p:cNvSpPr/>
          <p:nvPr/>
        </p:nvSpPr>
        <p:spPr>
          <a:xfrm>
            <a:off x="548640" y="3675888"/>
            <a:ext cx="1261872" cy="310896"/>
          </a:xfrm>
          <a:prstGeom prst="rect">
            <a:avLst/>
          </a:prstGeom>
          <a:solidFill>
            <a:srgbClr val="768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675888"/>
            <a:ext cx="1261872"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Open</a:t>
            </a:r>
          </a:p>
        </p:txBody>
      </p:sp>
      <p:sp>
        <p:nvSpPr>
          <p:cNvPr id="22" name="Rectangle 21"/>
          <p:cNvSpPr/>
          <p:nvPr/>
        </p:nvSpPr>
        <p:spPr>
          <a:xfrm>
            <a:off x="1920240" y="3675888"/>
            <a:ext cx="1261872" cy="310896"/>
          </a:xfrm>
          <a:prstGeom prst="rect">
            <a:avLst/>
          </a:prstGeom>
          <a:solidFill>
            <a:srgbClr val="768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20240" y="3675888"/>
            <a:ext cx="1261872"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In Progress</a:t>
            </a:r>
          </a:p>
        </p:txBody>
      </p:sp>
      <p:sp>
        <p:nvSpPr>
          <p:cNvPr id="24" name="Rectangle 23"/>
          <p:cNvSpPr/>
          <p:nvPr/>
        </p:nvSpPr>
        <p:spPr>
          <a:xfrm>
            <a:off x="3291840" y="3675888"/>
            <a:ext cx="1261872" cy="310896"/>
          </a:xfrm>
          <a:prstGeom prst="rect">
            <a:avLst/>
          </a:prstGeom>
          <a:solidFill>
            <a:srgbClr val="7685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91840" y="3675888"/>
            <a:ext cx="1261872"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Resolved</a:t>
            </a:r>
          </a:p>
        </p:txBody>
      </p:sp>
      <p:sp>
        <p:nvSpPr>
          <p:cNvPr id="26" name="Rectangle 25"/>
          <p:cNvSpPr/>
          <p:nvPr/>
        </p:nvSpPr>
        <p:spPr>
          <a:xfrm>
            <a:off x="4663440" y="3675888"/>
            <a:ext cx="1261872" cy="310896"/>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3675888"/>
            <a:ext cx="1261872" cy="310896"/>
          </a:xfrm>
          <a:prstGeom prst="rect">
            <a:avLst/>
          </a:prstGeom>
          <a:noFill/>
        </p:spPr>
        <p:txBody>
          <a:bodyPr wrap="square" anchor="ctr" lIns="0" rIns="0" tIns="0" bIns="0">
            <a:spAutoFit/>
          </a:bodyPr>
          <a:lstStyle/>
          <a:p>
            <a:pPr algn="ctr">
              <a:lnSpc>
                <a:spcPct val="108000"/>
              </a:lnSpc>
            </a:pPr>
            <a:r>
              <a:rPr sz="900" b="1" i="0">
                <a:solidFill>
                  <a:srgbClr val="FFFFFF"/>
                </a:solidFill>
                <a:latin typeface="Calibri"/>
              </a:rPr>
              <a:t>Verified</a:t>
            </a:r>
          </a:p>
        </p:txBody>
      </p:sp>
      <p:sp>
        <p:nvSpPr>
          <p:cNvPr id="28" name="TextBox 27"/>
          <p:cNvSpPr txBox="1"/>
          <p:nvPr/>
        </p:nvSpPr>
        <p:spPr>
          <a:xfrm>
            <a:off x="548640" y="4059936"/>
            <a:ext cx="5486400" cy="457200"/>
          </a:xfrm>
          <a:prstGeom prst="rect">
            <a:avLst/>
          </a:prstGeom>
          <a:noFill/>
        </p:spPr>
        <p:txBody>
          <a:bodyPr wrap="square" anchor="t" lIns="0" rIns="0" tIns="0" bIns="0">
            <a:spAutoFit/>
          </a:bodyPr>
          <a:lstStyle/>
          <a:p>
            <a:pPr algn="l">
              <a:lnSpc>
                <a:spcPct val="115000"/>
              </a:lnSpc>
            </a:pPr>
            <a:r>
              <a:rPr sz="950" b="0" i="0">
                <a:solidFill>
                  <a:srgbClr val="2E3B47"/>
                </a:solidFill>
                <a:latin typeface="Calibri"/>
              </a:rPr>
              <a:t>Severity Low → Critical, with assignedTo and reportedBy attribution. Closure requires independent verification, not self-certification.</a:t>
            </a:r>
          </a:p>
        </p:txBody>
      </p:sp>
      <p:sp>
        <p:nvSpPr>
          <p:cNvPr id="29" name="Rectangle 28"/>
          <p:cNvSpPr/>
          <p:nvPr/>
        </p:nvSpPr>
        <p:spPr>
          <a:xfrm>
            <a:off x="6400800" y="1444752"/>
            <a:ext cx="5212080" cy="36576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1968" y="1572768"/>
            <a:ext cx="4846320" cy="274320"/>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EvidenceDocument — 10 mandatory ODF deliverables</a:t>
            </a:r>
          </a:p>
        </p:txBody>
      </p:sp>
      <p:sp>
        <p:nvSpPr>
          <p:cNvPr id="31" name="TextBox 30"/>
          <p:cNvSpPr txBox="1"/>
          <p:nvPr/>
        </p:nvSpPr>
        <p:spPr>
          <a:xfrm>
            <a:off x="6693408" y="1920240"/>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1.  Executive Solution Blueprint</a:t>
            </a:r>
          </a:p>
        </p:txBody>
      </p:sp>
      <p:sp>
        <p:nvSpPr>
          <p:cNvPr id="32" name="TextBox 31"/>
          <p:cNvSpPr txBox="1"/>
          <p:nvPr/>
        </p:nvSpPr>
        <p:spPr>
          <a:xfrm>
            <a:off x="6693408" y="2185416"/>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2.  Functional Requirements Specification</a:t>
            </a:r>
          </a:p>
        </p:txBody>
      </p:sp>
      <p:sp>
        <p:nvSpPr>
          <p:cNvPr id="33" name="TextBox 32"/>
          <p:cNvSpPr txBox="1"/>
          <p:nvPr/>
        </p:nvSpPr>
        <p:spPr>
          <a:xfrm>
            <a:off x="6693408" y="2450592"/>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3.  Solution Architecture Blueprint</a:t>
            </a:r>
          </a:p>
        </p:txBody>
      </p:sp>
      <p:sp>
        <p:nvSpPr>
          <p:cNvPr id="34" name="TextBox 33"/>
          <p:cNvSpPr txBox="1"/>
          <p:nvPr/>
        </p:nvSpPr>
        <p:spPr>
          <a:xfrm>
            <a:off x="6693408" y="2715768"/>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4.  Database Design Document</a:t>
            </a:r>
          </a:p>
        </p:txBody>
      </p:sp>
      <p:sp>
        <p:nvSpPr>
          <p:cNvPr id="35" name="TextBox 34"/>
          <p:cNvSpPr txBox="1"/>
          <p:nvPr/>
        </p:nvSpPr>
        <p:spPr>
          <a:xfrm>
            <a:off x="6693408" y="2980944"/>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5.  API Design Specification</a:t>
            </a:r>
          </a:p>
        </p:txBody>
      </p:sp>
      <p:sp>
        <p:nvSpPr>
          <p:cNvPr id="36" name="TextBox 35"/>
          <p:cNvSpPr txBox="1"/>
          <p:nvPr/>
        </p:nvSpPr>
        <p:spPr>
          <a:xfrm>
            <a:off x="6693408" y="3246120"/>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6.  Security Review Document</a:t>
            </a:r>
          </a:p>
        </p:txBody>
      </p:sp>
      <p:sp>
        <p:nvSpPr>
          <p:cNvPr id="37" name="TextBox 36"/>
          <p:cNvSpPr txBox="1"/>
          <p:nvPr/>
        </p:nvSpPr>
        <p:spPr>
          <a:xfrm>
            <a:off x="6693408" y="3511296"/>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7.  Test Strategy &amp; Evidence</a:t>
            </a:r>
          </a:p>
        </p:txBody>
      </p:sp>
      <p:sp>
        <p:nvSpPr>
          <p:cNvPr id="38" name="TextBox 37"/>
          <p:cNvSpPr txBox="1"/>
          <p:nvPr/>
        </p:nvSpPr>
        <p:spPr>
          <a:xfrm>
            <a:off x="6693408" y="3776472"/>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8.  Deployment Blueprint</a:t>
            </a:r>
          </a:p>
        </p:txBody>
      </p:sp>
      <p:sp>
        <p:nvSpPr>
          <p:cNvPr id="39" name="TextBox 38"/>
          <p:cNvSpPr txBox="1"/>
          <p:nvPr/>
        </p:nvSpPr>
        <p:spPr>
          <a:xfrm>
            <a:off x="6693408" y="4041648"/>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9.  Production Readiness Assessment</a:t>
            </a:r>
          </a:p>
        </p:txBody>
      </p:sp>
      <p:sp>
        <p:nvSpPr>
          <p:cNvPr id="40" name="TextBox 39"/>
          <p:cNvSpPr txBox="1"/>
          <p:nvPr/>
        </p:nvSpPr>
        <p:spPr>
          <a:xfrm>
            <a:off x="6693408" y="4306824"/>
            <a:ext cx="4663440" cy="246888"/>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10.  Project Closure Report</a:t>
            </a:r>
          </a:p>
        </p:txBody>
      </p:sp>
      <p:sp>
        <p:nvSpPr>
          <p:cNvPr id="41" name="TextBox 40"/>
          <p:cNvSpPr txBox="1"/>
          <p:nvPr/>
        </p:nvSpPr>
        <p:spPr>
          <a:xfrm>
            <a:off x="6601968" y="4617720"/>
            <a:ext cx="4846320" cy="402336"/>
          </a:xfrm>
          <a:prstGeom prst="rect">
            <a:avLst/>
          </a:prstGeom>
          <a:noFill/>
        </p:spPr>
        <p:txBody>
          <a:bodyPr wrap="square" anchor="t" lIns="0" rIns="0" tIns="0" bIns="0">
            <a:spAutoFit/>
          </a:bodyPr>
          <a:lstStyle/>
          <a:p>
            <a:pPr algn="l">
              <a:lnSpc>
                <a:spcPct val="115000"/>
              </a:lnSpc>
            </a:pPr>
            <a:r>
              <a:rPr sz="850" b="0" i="0">
                <a:solidFill>
                  <a:srgbClr val="B9C6D1"/>
                </a:solidFill>
                <a:latin typeface="Calibri"/>
              </a:rPr>
              <a:t>Each artefact is versioned, attributed to an uploader and carries a status: Draft → Submitted → Approved | Rejected | Archived.</a:t>
            </a:r>
          </a:p>
        </p:txBody>
      </p:sp>
      <p:sp>
        <p:nvSpPr>
          <p:cNvPr id="42" name="Rectangle 41"/>
          <p:cNvSpPr/>
          <p:nvPr/>
        </p:nvSpPr>
        <p:spPr>
          <a:xfrm>
            <a:off x="548640" y="4617720"/>
            <a:ext cx="5486400" cy="1371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4736592"/>
            <a:ext cx="5029200" cy="256032"/>
          </a:xfrm>
          <a:prstGeom prst="rect">
            <a:avLst/>
          </a:prstGeom>
          <a:noFill/>
        </p:spPr>
        <p:txBody>
          <a:bodyPr wrap="square" anchor="t" lIns="0" rIns="0" tIns="0" bIns="0">
            <a:spAutoFit/>
          </a:bodyPr>
          <a:lstStyle/>
          <a:p>
            <a:pPr algn="l">
              <a:lnSpc>
                <a:spcPct val="108000"/>
              </a:lnSpc>
            </a:pPr>
            <a:r>
              <a:rPr sz="1200" b="1" i="0">
                <a:solidFill>
                  <a:srgbClr val="22303C"/>
                </a:solidFill>
                <a:latin typeface="Calibri"/>
              </a:rPr>
              <a:t>Evidence completeness rule</a:t>
            </a:r>
          </a:p>
        </p:txBody>
      </p:sp>
      <p:sp>
        <p:nvSpPr>
          <p:cNvPr id="44" name="TextBox 43"/>
          <p:cNvSpPr txBox="1"/>
          <p:nvPr/>
        </p:nvSpPr>
        <p:spPr>
          <a:xfrm>
            <a:off x="777240" y="5029200"/>
            <a:ext cx="5029200" cy="822960"/>
          </a:xfrm>
          <a:prstGeom prst="rect">
            <a:avLst/>
          </a:prstGeom>
          <a:noFill/>
        </p:spPr>
        <p:txBody>
          <a:bodyPr wrap="square" anchor="t" lIns="0" rIns="0" tIns="0" bIns="0">
            <a:spAutoFit/>
          </a:bodyPr>
          <a:lstStyle/>
          <a:p>
            <a:pPr algn="l">
              <a:lnSpc>
                <a:spcPct val="120000"/>
              </a:lnSpc>
            </a:pPr>
            <a:r>
              <a:rPr sz="1000" b="0" i="0">
                <a:solidFill>
                  <a:srgbClr val="2E3B47"/>
                </a:solidFill>
                <a:latin typeface="Calibri"/>
              </a:rPr>
              <a:t>An asset is treated as evidence-complete at three or more approved artefacts; zero artefacts is classified missing, anything between is review-required. Production assets below the threshold raise policy rule REQUIRE_EVIDENCE_FOR_PRODUCTION automatically.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11 · DECISION GOVERNANCE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Scored readiness, blockers, then a recorded decision</a:t>
            </a:r>
          </a:p>
        </p:txBody>
      </p:sp>
      <p:sp>
        <p:nvSpPr>
          <p:cNvPr id="4" name="Rectangle 3"/>
          <p:cNvSpPr/>
          <p:nvPr/>
        </p:nvSpPr>
        <p:spPr>
          <a:xfrm>
            <a:off x="548640" y="1444752"/>
            <a:ext cx="2084832" cy="1371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572768"/>
            <a:ext cx="310896" cy="310896"/>
          </a:xfrm>
          <a:prstGeom prst="ellipse">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72768"/>
            <a:ext cx="310896" cy="310896"/>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1</a:t>
            </a:r>
          </a:p>
        </p:txBody>
      </p:sp>
      <p:sp>
        <p:nvSpPr>
          <p:cNvPr id="7" name="TextBox 6"/>
          <p:cNvSpPr txBox="1"/>
          <p:nvPr/>
        </p:nvSpPr>
        <p:spPr>
          <a:xfrm>
            <a:off x="1078992" y="1591056"/>
            <a:ext cx="146304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Score</a:t>
            </a:r>
          </a:p>
        </p:txBody>
      </p:sp>
      <p:sp>
        <p:nvSpPr>
          <p:cNvPr id="8" name="TextBox 7"/>
          <p:cNvSpPr txBox="1"/>
          <p:nvPr/>
        </p:nvSpPr>
        <p:spPr>
          <a:xfrm>
            <a:off x="685800" y="1965960"/>
            <a:ext cx="1828800" cy="731520"/>
          </a:xfrm>
          <a:prstGeom prst="rect">
            <a:avLst/>
          </a:prstGeom>
          <a:noFill/>
        </p:spPr>
        <p:txBody>
          <a:bodyPr wrap="square" anchor="t" lIns="0" rIns="0" tIns="0" bIns="0">
            <a:spAutoFit/>
          </a:bodyPr>
          <a:lstStyle/>
          <a:p>
            <a:pPr algn="l">
              <a:lnSpc>
                <a:spcPct val="120000"/>
              </a:lnSpc>
            </a:pPr>
            <a:r>
              <a:rPr sz="750" b="0" i="0">
                <a:solidFill>
                  <a:srgbClr val="76858F"/>
                </a:solidFill>
                <a:latin typeface="Courier New"/>
              </a:rPr>
              <a:t>calculateAssetGovernanceScore()</a:t>
            </a:r>
          </a:p>
          <a:p>
            <a:pPr algn="l">
              <a:lnSpc>
                <a:spcPct val="120000"/>
              </a:lnSpc>
            </a:pPr>
            <a:r>
              <a:rPr sz="750" b="0" i="0">
                <a:solidFill>
                  <a:srgbClr val="76858F"/>
                </a:solidFill>
                <a:latin typeface="Courier New"/>
              </a:rPr>
              <a:t>5 pillars × 20 points</a:t>
            </a:r>
          </a:p>
        </p:txBody>
      </p:sp>
      <p:sp>
        <p:nvSpPr>
          <p:cNvPr id="9" name="Rectangle 8"/>
          <p:cNvSpPr/>
          <p:nvPr/>
        </p:nvSpPr>
        <p:spPr>
          <a:xfrm>
            <a:off x="2798064" y="1444752"/>
            <a:ext cx="2084832" cy="1371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35224" y="1572768"/>
            <a:ext cx="310896" cy="310896"/>
          </a:xfrm>
          <a:prstGeom prst="ellipse">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35224" y="1572768"/>
            <a:ext cx="310896" cy="310896"/>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2</a:t>
            </a:r>
          </a:p>
        </p:txBody>
      </p:sp>
      <p:sp>
        <p:nvSpPr>
          <p:cNvPr id="12" name="TextBox 11"/>
          <p:cNvSpPr txBox="1"/>
          <p:nvPr/>
        </p:nvSpPr>
        <p:spPr>
          <a:xfrm>
            <a:off x="3328416" y="1591056"/>
            <a:ext cx="146304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Tier</a:t>
            </a:r>
          </a:p>
        </p:txBody>
      </p:sp>
      <p:sp>
        <p:nvSpPr>
          <p:cNvPr id="13" name="TextBox 12"/>
          <p:cNvSpPr txBox="1"/>
          <p:nvPr/>
        </p:nvSpPr>
        <p:spPr>
          <a:xfrm>
            <a:off x="2935224" y="1965960"/>
            <a:ext cx="1828800" cy="731520"/>
          </a:xfrm>
          <a:prstGeom prst="rect">
            <a:avLst/>
          </a:prstGeom>
          <a:noFill/>
        </p:spPr>
        <p:txBody>
          <a:bodyPr wrap="square" anchor="t" lIns="0" rIns="0" tIns="0" bIns="0">
            <a:spAutoFit/>
          </a:bodyPr>
          <a:lstStyle/>
          <a:p>
            <a:pPr algn="l">
              <a:lnSpc>
                <a:spcPct val="120000"/>
              </a:lnSpc>
            </a:pPr>
            <a:r>
              <a:rPr sz="750" b="0" i="0">
                <a:solidFill>
                  <a:srgbClr val="76858F"/>
                </a:solidFill>
                <a:latin typeface="Courier New"/>
              </a:rPr>
              <a:t>Ready / Conditionally Ready</a:t>
            </a:r>
          </a:p>
          <a:p>
            <a:pPr algn="l">
              <a:lnSpc>
                <a:spcPct val="120000"/>
              </a:lnSpc>
            </a:pPr>
            <a:r>
              <a:rPr sz="750" b="0" i="0">
                <a:solidFill>
                  <a:srgbClr val="76858F"/>
                </a:solidFill>
                <a:latin typeface="Courier New"/>
              </a:rPr>
              <a:t>/ Not Ready</a:t>
            </a:r>
          </a:p>
        </p:txBody>
      </p:sp>
      <p:sp>
        <p:nvSpPr>
          <p:cNvPr id="14" name="Rectangle 13"/>
          <p:cNvSpPr/>
          <p:nvPr/>
        </p:nvSpPr>
        <p:spPr>
          <a:xfrm>
            <a:off x="5047488" y="1444752"/>
            <a:ext cx="2084832" cy="1371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184648" y="1572768"/>
            <a:ext cx="310896" cy="310896"/>
          </a:xfrm>
          <a:prstGeom prst="ellipse">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1572768"/>
            <a:ext cx="310896" cy="310896"/>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3</a:t>
            </a:r>
          </a:p>
        </p:txBody>
      </p:sp>
      <p:sp>
        <p:nvSpPr>
          <p:cNvPr id="17" name="TextBox 16"/>
          <p:cNvSpPr txBox="1"/>
          <p:nvPr/>
        </p:nvSpPr>
        <p:spPr>
          <a:xfrm>
            <a:off x="5577840" y="1591056"/>
            <a:ext cx="146304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Blockers</a:t>
            </a:r>
          </a:p>
        </p:txBody>
      </p:sp>
      <p:sp>
        <p:nvSpPr>
          <p:cNvPr id="18" name="TextBox 17"/>
          <p:cNvSpPr txBox="1"/>
          <p:nvPr/>
        </p:nvSpPr>
        <p:spPr>
          <a:xfrm>
            <a:off x="5184648" y="1965960"/>
            <a:ext cx="1828800" cy="731520"/>
          </a:xfrm>
          <a:prstGeom prst="rect">
            <a:avLst/>
          </a:prstGeom>
          <a:noFill/>
        </p:spPr>
        <p:txBody>
          <a:bodyPr wrap="square" anchor="t" lIns="0" rIns="0" tIns="0" bIns="0">
            <a:spAutoFit/>
          </a:bodyPr>
          <a:lstStyle/>
          <a:p>
            <a:pPr algn="l">
              <a:lnSpc>
                <a:spcPct val="120000"/>
              </a:lnSpc>
            </a:pPr>
            <a:r>
              <a:rPr sz="750" b="0" i="0">
                <a:solidFill>
                  <a:srgbClr val="76858F"/>
                </a:solidFill>
                <a:latin typeface="Courier New"/>
              </a:rPr>
              <a:t>getGovernanceBlockers()</a:t>
            </a:r>
          </a:p>
          <a:p>
            <a:pPr algn="l">
              <a:lnSpc>
                <a:spcPct val="120000"/>
              </a:lnSpc>
            </a:pPr>
            <a:r>
              <a:rPr sz="750" b="0" i="0">
                <a:solidFill>
                  <a:srgbClr val="76858F"/>
                </a:solidFill>
                <a:latin typeface="Courier New"/>
              </a:rPr>
              <a:t>by category + severity</a:t>
            </a:r>
          </a:p>
        </p:txBody>
      </p:sp>
      <p:sp>
        <p:nvSpPr>
          <p:cNvPr id="19" name="Rectangle 18"/>
          <p:cNvSpPr/>
          <p:nvPr/>
        </p:nvSpPr>
        <p:spPr>
          <a:xfrm>
            <a:off x="7296912" y="1444752"/>
            <a:ext cx="2084832" cy="1371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34072" y="1572768"/>
            <a:ext cx="310896" cy="310896"/>
          </a:xfrm>
          <a:prstGeom prst="ellipse">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34072" y="1572768"/>
            <a:ext cx="310896" cy="310896"/>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4</a:t>
            </a:r>
          </a:p>
        </p:txBody>
      </p:sp>
      <p:sp>
        <p:nvSpPr>
          <p:cNvPr id="22" name="TextBox 21"/>
          <p:cNvSpPr txBox="1"/>
          <p:nvPr/>
        </p:nvSpPr>
        <p:spPr>
          <a:xfrm>
            <a:off x="7827264" y="1591056"/>
            <a:ext cx="146304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Recommend</a:t>
            </a:r>
          </a:p>
        </p:txBody>
      </p:sp>
      <p:sp>
        <p:nvSpPr>
          <p:cNvPr id="23" name="TextBox 22"/>
          <p:cNvSpPr txBox="1"/>
          <p:nvPr/>
        </p:nvSpPr>
        <p:spPr>
          <a:xfrm>
            <a:off x="7434072" y="1965960"/>
            <a:ext cx="1828800" cy="731520"/>
          </a:xfrm>
          <a:prstGeom prst="rect">
            <a:avLst/>
          </a:prstGeom>
          <a:noFill/>
        </p:spPr>
        <p:txBody>
          <a:bodyPr wrap="square" anchor="t" lIns="0" rIns="0" tIns="0" bIns="0">
            <a:spAutoFit/>
          </a:bodyPr>
          <a:lstStyle/>
          <a:p>
            <a:pPr algn="l">
              <a:lnSpc>
                <a:spcPct val="120000"/>
              </a:lnSpc>
            </a:pPr>
            <a:r>
              <a:rPr sz="750" b="0" i="0">
                <a:solidFill>
                  <a:srgbClr val="76858F"/>
                </a:solidFill>
                <a:latin typeface="Courier New"/>
              </a:rPr>
              <a:t>recommendedOutcome</a:t>
            </a:r>
          </a:p>
          <a:p>
            <a:pPr algn="l">
              <a:lnSpc>
                <a:spcPct val="120000"/>
              </a:lnSpc>
            </a:pPr>
            <a:r>
              <a:rPr sz="750" b="0" i="0">
                <a:solidFill>
                  <a:srgbClr val="76858F"/>
                </a:solidFill>
                <a:latin typeface="Courier New"/>
              </a:rPr>
              <a:t>derived from score</a:t>
            </a:r>
          </a:p>
        </p:txBody>
      </p:sp>
      <p:sp>
        <p:nvSpPr>
          <p:cNvPr id="24" name="Rectangle 23"/>
          <p:cNvSpPr/>
          <p:nvPr/>
        </p:nvSpPr>
        <p:spPr>
          <a:xfrm>
            <a:off x="9546336" y="1444752"/>
            <a:ext cx="2084832" cy="13716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683496" y="1572768"/>
            <a:ext cx="310896" cy="310896"/>
          </a:xfrm>
          <a:prstGeom prst="ellipse">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83496" y="1572768"/>
            <a:ext cx="310896" cy="310896"/>
          </a:xfrm>
          <a:prstGeom prst="rect">
            <a:avLst/>
          </a:prstGeom>
          <a:noFill/>
        </p:spPr>
        <p:txBody>
          <a:bodyPr wrap="square" anchor="ctr" lIns="0" rIns="0" tIns="0" bIns="0">
            <a:spAutoFit/>
          </a:bodyPr>
          <a:lstStyle/>
          <a:p>
            <a:pPr algn="ctr">
              <a:lnSpc>
                <a:spcPct val="108000"/>
              </a:lnSpc>
            </a:pPr>
            <a:r>
              <a:rPr sz="1000" b="1" i="0">
                <a:solidFill>
                  <a:srgbClr val="22303C"/>
                </a:solidFill>
                <a:latin typeface="Calibri"/>
              </a:rPr>
              <a:t>5</a:t>
            </a:r>
          </a:p>
        </p:txBody>
      </p:sp>
      <p:sp>
        <p:nvSpPr>
          <p:cNvPr id="27" name="TextBox 26"/>
          <p:cNvSpPr txBox="1"/>
          <p:nvPr/>
        </p:nvSpPr>
        <p:spPr>
          <a:xfrm>
            <a:off x="10076688" y="1591056"/>
            <a:ext cx="1463040" cy="274320"/>
          </a:xfrm>
          <a:prstGeom prst="rect">
            <a:avLst/>
          </a:prstGeom>
          <a:noFill/>
        </p:spPr>
        <p:txBody>
          <a:bodyPr wrap="square" anchor="t" lIns="0" rIns="0" tIns="0" bIns="0">
            <a:spAutoFit/>
          </a:bodyPr>
          <a:lstStyle/>
          <a:p>
            <a:pPr algn="l">
              <a:lnSpc>
                <a:spcPct val="108000"/>
              </a:lnSpc>
            </a:pPr>
            <a:r>
              <a:rPr sz="1100" b="1" i="0">
                <a:solidFill>
                  <a:srgbClr val="FFFFFF"/>
                </a:solidFill>
                <a:latin typeface="Calibri"/>
              </a:rPr>
              <a:t>Record</a:t>
            </a:r>
          </a:p>
        </p:txBody>
      </p:sp>
      <p:sp>
        <p:nvSpPr>
          <p:cNvPr id="28" name="TextBox 27"/>
          <p:cNvSpPr txBox="1"/>
          <p:nvPr/>
        </p:nvSpPr>
        <p:spPr>
          <a:xfrm>
            <a:off x="9683496" y="1965960"/>
            <a:ext cx="1828800" cy="731520"/>
          </a:xfrm>
          <a:prstGeom prst="rect">
            <a:avLst/>
          </a:prstGeom>
          <a:noFill/>
        </p:spPr>
        <p:txBody>
          <a:bodyPr wrap="square" anchor="t" lIns="0" rIns="0" tIns="0" bIns="0">
            <a:spAutoFit/>
          </a:bodyPr>
          <a:lstStyle/>
          <a:p>
            <a:pPr algn="l">
              <a:lnSpc>
                <a:spcPct val="120000"/>
              </a:lnSpc>
            </a:pPr>
            <a:r>
              <a:rPr sz="750" b="0" i="0">
                <a:solidFill>
                  <a:srgbClr val="E8EDF2"/>
                </a:solidFill>
                <a:latin typeface="Courier New"/>
              </a:rPr>
              <a:t>recordDecision()</a:t>
            </a:r>
          </a:p>
          <a:p>
            <a:pPr algn="l">
              <a:lnSpc>
                <a:spcPct val="120000"/>
              </a:lnSpc>
            </a:pPr>
            <a:r>
              <a:rPr sz="750" b="0" i="0">
                <a:solidFill>
                  <a:srgbClr val="E8EDF2"/>
                </a:solidFill>
                <a:latin typeface="Courier New"/>
              </a:rPr>
              <a:t>+ audit log entry</a:t>
            </a:r>
          </a:p>
        </p:txBody>
      </p:sp>
      <p:sp>
        <p:nvSpPr>
          <p:cNvPr id="29" name="TextBox 28"/>
          <p:cNvSpPr txBox="1"/>
          <p:nvPr/>
        </p:nvSpPr>
        <p:spPr>
          <a:xfrm>
            <a:off x="548640" y="3017520"/>
            <a:ext cx="56692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FIVE SCORING PILLARS — HEALTH INDEX WEIGHTS</a:t>
            </a:r>
          </a:p>
        </p:txBody>
      </p:sp>
      <p:sp>
        <p:nvSpPr>
          <p:cNvPr id="30" name="TextBox 29"/>
          <p:cNvSpPr txBox="1"/>
          <p:nvPr/>
        </p:nvSpPr>
        <p:spPr>
          <a:xfrm>
            <a:off x="548640" y="3328416"/>
            <a:ext cx="1463040" cy="329184"/>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Ownership</a:t>
            </a:r>
          </a:p>
        </p:txBody>
      </p:sp>
      <p:sp>
        <p:nvSpPr>
          <p:cNvPr id="31" name="Rectangle 30"/>
          <p:cNvSpPr/>
          <p:nvPr/>
        </p:nvSpPr>
        <p:spPr>
          <a:xfrm>
            <a:off x="2057400" y="3429000"/>
            <a:ext cx="3291840" cy="137160"/>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057400" y="3429000"/>
            <a:ext cx="3291840" cy="137160"/>
          </a:xfrm>
          <a:prstGeom prst="rect">
            <a:avLst/>
          </a:prstGeom>
          <a:solidFill>
            <a:srgbClr val="1F8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40680" y="3328416"/>
            <a:ext cx="548640" cy="32918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25%</a:t>
            </a:r>
          </a:p>
        </p:txBody>
      </p:sp>
      <p:sp>
        <p:nvSpPr>
          <p:cNvPr id="34" name="TextBox 33"/>
          <p:cNvSpPr txBox="1"/>
          <p:nvPr/>
        </p:nvSpPr>
        <p:spPr>
          <a:xfrm>
            <a:off x="548640" y="3712464"/>
            <a:ext cx="1463040" cy="329184"/>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Risk</a:t>
            </a:r>
          </a:p>
        </p:txBody>
      </p:sp>
      <p:sp>
        <p:nvSpPr>
          <p:cNvPr id="35" name="Rectangle 34"/>
          <p:cNvSpPr/>
          <p:nvPr/>
        </p:nvSpPr>
        <p:spPr>
          <a:xfrm>
            <a:off x="2057400" y="3813048"/>
            <a:ext cx="3291840" cy="137160"/>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57400" y="3813048"/>
            <a:ext cx="2633472" cy="137160"/>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40680" y="3712464"/>
            <a:ext cx="548640" cy="32918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20%</a:t>
            </a:r>
          </a:p>
        </p:txBody>
      </p:sp>
      <p:sp>
        <p:nvSpPr>
          <p:cNvPr id="38" name="TextBox 37"/>
          <p:cNvSpPr txBox="1"/>
          <p:nvPr/>
        </p:nvSpPr>
        <p:spPr>
          <a:xfrm>
            <a:off x="548640" y="4096512"/>
            <a:ext cx="1463040" cy="329184"/>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Validation</a:t>
            </a:r>
          </a:p>
        </p:txBody>
      </p:sp>
      <p:sp>
        <p:nvSpPr>
          <p:cNvPr id="39" name="Rectangle 38"/>
          <p:cNvSpPr/>
          <p:nvPr/>
        </p:nvSpPr>
        <p:spPr>
          <a:xfrm>
            <a:off x="2057400" y="4197096"/>
            <a:ext cx="3291840" cy="137160"/>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57400" y="4197096"/>
            <a:ext cx="2633472" cy="137160"/>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40680" y="4096512"/>
            <a:ext cx="548640" cy="32918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20%</a:t>
            </a:r>
          </a:p>
        </p:txBody>
      </p:sp>
      <p:sp>
        <p:nvSpPr>
          <p:cNvPr id="42" name="TextBox 41"/>
          <p:cNvSpPr txBox="1"/>
          <p:nvPr/>
        </p:nvSpPr>
        <p:spPr>
          <a:xfrm>
            <a:off x="548640" y="4480560"/>
            <a:ext cx="1463040" cy="329184"/>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Decision</a:t>
            </a:r>
          </a:p>
        </p:txBody>
      </p:sp>
      <p:sp>
        <p:nvSpPr>
          <p:cNvPr id="43" name="Rectangle 42"/>
          <p:cNvSpPr/>
          <p:nvPr/>
        </p:nvSpPr>
        <p:spPr>
          <a:xfrm>
            <a:off x="2057400" y="4581144"/>
            <a:ext cx="3291840" cy="137160"/>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057400" y="4581144"/>
            <a:ext cx="2633472" cy="137160"/>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40680" y="4480560"/>
            <a:ext cx="548640" cy="32918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20%</a:t>
            </a:r>
          </a:p>
        </p:txBody>
      </p:sp>
      <p:sp>
        <p:nvSpPr>
          <p:cNvPr id="46" name="TextBox 45"/>
          <p:cNvSpPr txBox="1"/>
          <p:nvPr/>
        </p:nvSpPr>
        <p:spPr>
          <a:xfrm>
            <a:off x="548640" y="4864608"/>
            <a:ext cx="1463040" cy="329184"/>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Evidence</a:t>
            </a:r>
          </a:p>
        </p:txBody>
      </p:sp>
      <p:sp>
        <p:nvSpPr>
          <p:cNvPr id="47" name="Rectangle 46"/>
          <p:cNvSpPr/>
          <p:nvPr/>
        </p:nvSpPr>
        <p:spPr>
          <a:xfrm>
            <a:off x="2057400" y="4965192"/>
            <a:ext cx="3291840" cy="137160"/>
          </a:xfrm>
          <a:prstGeom prst="rect">
            <a:avLst/>
          </a:prstGeom>
          <a:solidFill>
            <a:srgbClr val="DCE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57400" y="4965192"/>
            <a:ext cx="1975104" cy="137160"/>
          </a:xfrm>
          <a:prstGeom prst="rect">
            <a:avLst/>
          </a:prstGeom>
          <a:solidFill>
            <a:srgbClr val="4A7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40680" y="4864608"/>
            <a:ext cx="548640" cy="32918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15%</a:t>
            </a:r>
          </a:p>
        </p:txBody>
      </p:sp>
      <p:sp>
        <p:nvSpPr>
          <p:cNvPr id="50" name="TextBox 49"/>
          <p:cNvSpPr txBox="1"/>
          <p:nvPr/>
        </p:nvSpPr>
        <p:spPr>
          <a:xfrm>
            <a:off x="6400800" y="3017520"/>
            <a:ext cx="52120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DECISION OUTCOMES</a:t>
            </a:r>
          </a:p>
        </p:txBody>
      </p:sp>
      <p:sp>
        <p:nvSpPr>
          <p:cNvPr id="51" name="Rectangle 50"/>
          <p:cNvSpPr/>
          <p:nvPr/>
        </p:nvSpPr>
        <p:spPr>
          <a:xfrm>
            <a:off x="6400800" y="3328416"/>
            <a:ext cx="521208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0" y="3328416"/>
            <a:ext cx="2011680" cy="402336"/>
          </a:xfrm>
          <a:prstGeom prst="rect">
            <a:avLst/>
          </a:prstGeom>
          <a:noFill/>
        </p:spPr>
        <p:txBody>
          <a:bodyPr wrap="square" anchor="ctr" lIns="0" rIns="0" tIns="0" bIns="0">
            <a:spAutoFit/>
          </a:bodyPr>
          <a:lstStyle/>
          <a:p>
            <a:pPr algn="l">
              <a:lnSpc>
                <a:spcPct val="108000"/>
              </a:lnSpc>
            </a:pPr>
            <a:r>
              <a:rPr sz="1300" b="1" i="0">
                <a:solidFill>
                  <a:srgbClr val="2E7D64"/>
                </a:solidFill>
                <a:latin typeface="Calibri"/>
              </a:rPr>
              <a:t>GO</a:t>
            </a:r>
          </a:p>
        </p:txBody>
      </p:sp>
      <p:sp>
        <p:nvSpPr>
          <p:cNvPr id="53" name="TextBox 52"/>
          <p:cNvSpPr txBox="1"/>
          <p:nvPr/>
        </p:nvSpPr>
        <p:spPr>
          <a:xfrm>
            <a:off x="8595360" y="3328416"/>
            <a:ext cx="2834640" cy="40233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Approved for production</a:t>
            </a:r>
          </a:p>
        </p:txBody>
      </p:sp>
      <p:sp>
        <p:nvSpPr>
          <p:cNvPr id="54" name="Rectangle 53"/>
          <p:cNvSpPr/>
          <p:nvPr/>
        </p:nvSpPr>
        <p:spPr>
          <a:xfrm>
            <a:off x="6400800" y="3803904"/>
            <a:ext cx="521208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0" y="3803904"/>
            <a:ext cx="2011680" cy="402336"/>
          </a:xfrm>
          <a:prstGeom prst="rect">
            <a:avLst/>
          </a:prstGeom>
          <a:noFill/>
        </p:spPr>
        <p:txBody>
          <a:bodyPr wrap="square" anchor="ctr" lIns="0" rIns="0" tIns="0" bIns="0">
            <a:spAutoFit/>
          </a:bodyPr>
          <a:lstStyle/>
          <a:p>
            <a:pPr algn="l">
              <a:lnSpc>
                <a:spcPct val="108000"/>
              </a:lnSpc>
            </a:pPr>
            <a:r>
              <a:rPr sz="1300" b="1" i="0">
                <a:solidFill>
                  <a:srgbClr val="C8871B"/>
                </a:solidFill>
                <a:latin typeface="Calibri"/>
              </a:rPr>
              <a:t>CONDITIONAL GO</a:t>
            </a:r>
          </a:p>
        </p:txBody>
      </p:sp>
      <p:sp>
        <p:nvSpPr>
          <p:cNvPr id="56" name="TextBox 55"/>
          <p:cNvSpPr txBox="1"/>
          <p:nvPr/>
        </p:nvSpPr>
        <p:spPr>
          <a:xfrm>
            <a:off x="8595360" y="3803904"/>
            <a:ext cx="2834640" cy="40233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Approved with conditions</a:t>
            </a:r>
          </a:p>
        </p:txBody>
      </p:sp>
      <p:sp>
        <p:nvSpPr>
          <p:cNvPr id="57" name="Rectangle 56"/>
          <p:cNvSpPr/>
          <p:nvPr/>
        </p:nvSpPr>
        <p:spPr>
          <a:xfrm>
            <a:off x="6400800" y="4279392"/>
            <a:ext cx="521208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0" y="4279392"/>
            <a:ext cx="2011680" cy="402336"/>
          </a:xfrm>
          <a:prstGeom prst="rect">
            <a:avLst/>
          </a:prstGeom>
          <a:noFill/>
        </p:spPr>
        <p:txBody>
          <a:bodyPr wrap="square" anchor="ctr" lIns="0" rIns="0" tIns="0" bIns="0">
            <a:spAutoFit/>
          </a:bodyPr>
          <a:lstStyle/>
          <a:p>
            <a:pPr algn="l">
              <a:lnSpc>
                <a:spcPct val="108000"/>
              </a:lnSpc>
            </a:pPr>
            <a:r>
              <a:rPr sz="1300" b="1" i="0">
                <a:solidFill>
                  <a:srgbClr val="B23A48"/>
                </a:solidFill>
                <a:latin typeface="Calibri"/>
              </a:rPr>
              <a:t>NO GO</a:t>
            </a:r>
          </a:p>
        </p:txBody>
      </p:sp>
      <p:sp>
        <p:nvSpPr>
          <p:cNvPr id="59" name="TextBox 58"/>
          <p:cNvSpPr txBox="1"/>
          <p:nvPr/>
        </p:nvSpPr>
        <p:spPr>
          <a:xfrm>
            <a:off x="8595360" y="4279392"/>
            <a:ext cx="2834640" cy="40233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Refused</a:t>
            </a:r>
          </a:p>
        </p:txBody>
      </p:sp>
      <p:sp>
        <p:nvSpPr>
          <p:cNvPr id="60" name="Rectangle 59"/>
          <p:cNvSpPr/>
          <p:nvPr/>
        </p:nvSpPr>
        <p:spPr>
          <a:xfrm>
            <a:off x="6400800" y="4754880"/>
            <a:ext cx="5212080"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83680" y="4754880"/>
            <a:ext cx="2011680" cy="402336"/>
          </a:xfrm>
          <a:prstGeom prst="rect">
            <a:avLst/>
          </a:prstGeom>
          <a:noFill/>
        </p:spPr>
        <p:txBody>
          <a:bodyPr wrap="square" anchor="ctr" lIns="0" rIns="0" tIns="0" bIns="0">
            <a:spAutoFit/>
          </a:bodyPr>
          <a:lstStyle/>
          <a:p>
            <a:pPr algn="l">
              <a:lnSpc>
                <a:spcPct val="108000"/>
              </a:lnSpc>
            </a:pPr>
            <a:r>
              <a:rPr sz="1300" b="1" i="0">
                <a:solidFill>
                  <a:srgbClr val="4A7FA5"/>
                </a:solidFill>
                <a:latin typeface="Calibri"/>
              </a:rPr>
              <a:t>PENDING</a:t>
            </a:r>
          </a:p>
        </p:txBody>
      </p:sp>
      <p:sp>
        <p:nvSpPr>
          <p:cNvPr id="62" name="TextBox 61"/>
          <p:cNvSpPr txBox="1"/>
          <p:nvPr/>
        </p:nvSpPr>
        <p:spPr>
          <a:xfrm>
            <a:off x="8595360" y="4754880"/>
            <a:ext cx="2834640" cy="40233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Awaiting authority</a:t>
            </a:r>
          </a:p>
        </p:txBody>
      </p:sp>
      <p:sp>
        <p:nvSpPr>
          <p:cNvPr id="63" name="Rectangle 62"/>
          <p:cNvSpPr/>
          <p:nvPr/>
        </p:nvSpPr>
        <p:spPr>
          <a:xfrm>
            <a:off x="548640" y="5321808"/>
            <a:ext cx="1106424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2960" y="5321808"/>
            <a:ext cx="10515600" cy="658368"/>
          </a:xfrm>
          <a:prstGeom prst="rect">
            <a:avLst/>
          </a:prstGeom>
          <a:noFill/>
        </p:spPr>
        <p:txBody>
          <a:bodyPr wrap="square" anchor="ctr" lIns="0" rIns="0" tIns="0" bIns="0">
            <a:spAutoFit/>
          </a:bodyPr>
          <a:lstStyle/>
          <a:p>
            <a:pPr algn="l">
              <a:lnSpc>
                <a:spcPct val="108000"/>
              </a:lnSpc>
            </a:pPr>
            <a:r>
              <a:rPr sz="1100" b="0" i="0">
                <a:solidFill>
                  <a:srgbClr val="2E3B47"/>
                </a:solidFill>
                <a:latin typeface="Calibri"/>
              </a:rPr>
              <a:t>Every recorded decision names the decision owner, states the justification, and is written to the audit trail.</a:t>
            </a:r>
          </a:p>
        </p:txBody>
      </p:sp>
      <p:sp>
        <p:nvSpPr>
          <p:cNvPr id="65" name="TextBox 64"/>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DecisionOutcome type; Decision Authority, Decision Intelligence and Governance Blockers modules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12 · CHANGE GOVERNANCE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Approval is not permanent — change re-enters governance</a:t>
            </a:r>
          </a:p>
        </p:txBody>
      </p:sp>
      <p:sp>
        <p:nvSpPr>
          <p:cNvPr id="4" name="Rectangle 3"/>
          <p:cNvSpPr/>
          <p:nvPr/>
        </p:nvSpPr>
        <p:spPr>
          <a:xfrm>
            <a:off x="548640" y="1444752"/>
            <a:ext cx="2084832" cy="14173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1554480"/>
            <a:ext cx="182880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Classify</a:t>
            </a:r>
          </a:p>
        </p:txBody>
      </p:sp>
      <p:sp>
        <p:nvSpPr>
          <p:cNvPr id="6" name="TextBox 5"/>
          <p:cNvSpPr txBox="1"/>
          <p:nvPr/>
        </p:nvSpPr>
        <p:spPr>
          <a:xfrm>
            <a:off x="694944" y="1865376"/>
            <a:ext cx="1828800" cy="868680"/>
          </a:xfrm>
          <a:prstGeom prst="rect">
            <a:avLst/>
          </a:prstGeom>
          <a:noFill/>
        </p:spPr>
        <p:txBody>
          <a:bodyPr wrap="square" anchor="t" lIns="0" rIns="0" tIns="0" bIns="0">
            <a:spAutoFit/>
          </a:bodyPr>
          <a:lstStyle/>
          <a:p>
            <a:pPr algn="l">
              <a:lnSpc>
                <a:spcPct val="125000"/>
              </a:lnSpc>
            </a:pPr>
            <a:r>
              <a:rPr sz="730" b="0" i="0">
                <a:solidFill>
                  <a:srgbClr val="76858F"/>
                </a:solidFill>
                <a:latin typeface="Courier New"/>
              </a:rPr>
              <a:t>6 categories</a:t>
            </a:r>
          </a:p>
          <a:p>
            <a:pPr algn="l">
              <a:lnSpc>
                <a:spcPct val="125000"/>
              </a:lnSpc>
            </a:pPr>
            <a:r>
              <a:rPr sz="730" b="0" i="0">
                <a:solidFill>
                  <a:srgbClr val="76858F"/>
                </a:solidFill>
                <a:latin typeface="Courier New"/>
              </a:rPr>
              <a:t>Model · Vendor · Data</a:t>
            </a:r>
          </a:p>
          <a:p>
            <a:pPr algn="l">
              <a:lnSpc>
                <a:spcPct val="125000"/>
              </a:lnSpc>
            </a:pPr>
            <a:r>
              <a:rPr sz="730" b="0" i="0">
                <a:solidFill>
                  <a:srgbClr val="76858F"/>
                </a:solidFill>
                <a:latin typeface="Courier New"/>
              </a:rPr>
              <a:t>Prompt · Policy · Operational</a:t>
            </a:r>
          </a:p>
        </p:txBody>
      </p:sp>
      <p:sp>
        <p:nvSpPr>
          <p:cNvPr id="7" name="Rectangle 6"/>
          <p:cNvSpPr/>
          <p:nvPr/>
        </p:nvSpPr>
        <p:spPr>
          <a:xfrm>
            <a:off x="2798064" y="1444752"/>
            <a:ext cx="2084832" cy="14173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44368" y="1554480"/>
            <a:ext cx="182880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Assess impact</a:t>
            </a:r>
          </a:p>
        </p:txBody>
      </p:sp>
      <p:sp>
        <p:nvSpPr>
          <p:cNvPr id="9" name="TextBox 8"/>
          <p:cNvSpPr txBox="1"/>
          <p:nvPr/>
        </p:nvSpPr>
        <p:spPr>
          <a:xfrm>
            <a:off x="2944368" y="1865376"/>
            <a:ext cx="1828800" cy="868680"/>
          </a:xfrm>
          <a:prstGeom prst="rect">
            <a:avLst/>
          </a:prstGeom>
          <a:noFill/>
        </p:spPr>
        <p:txBody>
          <a:bodyPr wrap="square" anchor="t" lIns="0" rIns="0" tIns="0" bIns="0">
            <a:spAutoFit/>
          </a:bodyPr>
          <a:lstStyle/>
          <a:p>
            <a:pPr algn="l">
              <a:lnSpc>
                <a:spcPct val="125000"/>
              </a:lnSpc>
            </a:pPr>
            <a:r>
              <a:rPr sz="730" b="0" i="0">
                <a:solidFill>
                  <a:srgbClr val="76858F"/>
                </a:solidFill>
                <a:latin typeface="Courier New"/>
              </a:rPr>
              <a:t>7 governance areas</a:t>
            </a:r>
          </a:p>
          <a:p>
            <a:pPr algn="l">
              <a:lnSpc>
                <a:spcPct val="125000"/>
              </a:lnSpc>
            </a:pPr>
            <a:r>
              <a:rPr sz="730" b="0" i="0">
                <a:solidFill>
                  <a:srgbClr val="76858F"/>
                </a:solidFill>
                <a:latin typeface="Courier New"/>
              </a:rPr>
              <a:t>rated No → Critical</a:t>
            </a:r>
          </a:p>
        </p:txBody>
      </p:sp>
      <p:sp>
        <p:nvSpPr>
          <p:cNvPr id="10" name="Rectangle 9"/>
          <p:cNvSpPr/>
          <p:nvPr/>
        </p:nvSpPr>
        <p:spPr>
          <a:xfrm>
            <a:off x="5047488" y="1444752"/>
            <a:ext cx="2084832" cy="141732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93792" y="1554480"/>
            <a:ext cx="1828800" cy="274320"/>
          </a:xfrm>
          <a:prstGeom prst="rect">
            <a:avLst/>
          </a:prstGeom>
          <a:noFill/>
        </p:spPr>
        <p:txBody>
          <a:bodyPr wrap="square" anchor="t" lIns="0" rIns="0" tIns="0" bIns="0">
            <a:spAutoFit/>
          </a:bodyPr>
          <a:lstStyle/>
          <a:p>
            <a:pPr algn="l">
              <a:lnSpc>
                <a:spcPct val="108000"/>
              </a:lnSpc>
            </a:pPr>
            <a:r>
              <a:rPr sz="1100" b="1" i="0">
                <a:solidFill>
                  <a:srgbClr val="FFFFFF"/>
                </a:solidFill>
                <a:latin typeface="Calibri"/>
              </a:rPr>
              <a:t>Score</a:t>
            </a:r>
          </a:p>
        </p:txBody>
      </p:sp>
      <p:sp>
        <p:nvSpPr>
          <p:cNvPr id="12" name="TextBox 11"/>
          <p:cNvSpPr txBox="1"/>
          <p:nvPr/>
        </p:nvSpPr>
        <p:spPr>
          <a:xfrm>
            <a:off x="5193792" y="1865376"/>
            <a:ext cx="1828800" cy="868680"/>
          </a:xfrm>
          <a:prstGeom prst="rect">
            <a:avLst/>
          </a:prstGeom>
          <a:noFill/>
        </p:spPr>
        <p:txBody>
          <a:bodyPr wrap="square" anchor="t" lIns="0" rIns="0" tIns="0" bIns="0">
            <a:spAutoFit/>
          </a:bodyPr>
          <a:lstStyle/>
          <a:p>
            <a:pPr algn="l">
              <a:lnSpc>
                <a:spcPct val="125000"/>
              </a:lnSpc>
            </a:pPr>
            <a:r>
              <a:rPr sz="730" b="0" i="0">
                <a:solidFill>
                  <a:srgbClr val="E8EDF2"/>
                </a:solidFill>
                <a:latin typeface="Courier New"/>
              </a:rPr>
              <a:t>Weighted 0-100</a:t>
            </a:r>
          </a:p>
          <a:p>
            <a:pPr algn="l">
              <a:lnSpc>
                <a:spcPct val="125000"/>
              </a:lnSpc>
            </a:pPr>
            <a:r>
              <a:rPr sz="730" b="0" i="0">
                <a:solidFill>
                  <a:srgbClr val="E8EDF2"/>
                </a:solidFill>
                <a:latin typeface="Courier New"/>
              </a:rPr>
              <a:t>Risk 1.6 · Compliance 1.5</a:t>
            </a:r>
          </a:p>
          <a:p>
            <a:pPr algn="l">
              <a:lnSpc>
                <a:spcPct val="125000"/>
              </a:lnSpc>
            </a:pPr>
            <a:r>
              <a:rPr sz="730" b="0" i="0">
                <a:solidFill>
                  <a:srgbClr val="E8EDF2"/>
                </a:solidFill>
                <a:latin typeface="Courier New"/>
              </a:rPr>
              <a:t>Validation 1.4</a:t>
            </a:r>
          </a:p>
        </p:txBody>
      </p:sp>
      <p:sp>
        <p:nvSpPr>
          <p:cNvPr id="13" name="Rectangle 12"/>
          <p:cNvSpPr/>
          <p:nvPr/>
        </p:nvSpPr>
        <p:spPr>
          <a:xfrm>
            <a:off x="7296912" y="1444752"/>
            <a:ext cx="2084832" cy="14173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43216" y="1554480"/>
            <a:ext cx="182880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Resolve rule</a:t>
            </a:r>
          </a:p>
        </p:txBody>
      </p:sp>
      <p:sp>
        <p:nvSpPr>
          <p:cNvPr id="15" name="TextBox 14"/>
          <p:cNvSpPr txBox="1"/>
          <p:nvPr/>
        </p:nvSpPr>
        <p:spPr>
          <a:xfrm>
            <a:off x="7443216" y="1865376"/>
            <a:ext cx="1828800" cy="868680"/>
          </a:xfrm>
          <a:prstGeom prst="rect">
            <a:avLst/>
          </a:prstGeom>
          <a:noFill/>
        </p:spPr>
        <p:txBody>
          <a:bodyPr wrap="square" anchor="t" lIns="0" rIns="0" tIns="0" bIns="0">
            <a:spAutoFit/>
          </a:bodyPr>
          <a:lstStyle/>
          <a:p>
            <a:pPr algn="l">
              <a:lnSpc>
                <a:spcPct val="125000"/>
              </a:lnSpc>
            </a:pPr>
            <a:r>
              <a:rPr sz="730" b="0" i="0">
                <a:solidFill>
                  <a:srgbClr val="76858F"/>
                </a:solidFill>
                <a:latin typeface="Courier New"/>
              </a:rPr>
              <a:t>Minor / Moderate /</a:t>
            </a:r>
          </a:p>
          <a:p>
            <a:pPr algn="l">
              <a:lnSpc>
                <a:spcPct val="125000"/>
              </a:lnSpc>
            </a:pPr>
            <a:r>
              <a:rPr sz="730" b="0" i="0">
                <a:solidFill>
                  <a:srgbClr val="76858F"/>
                </a:solidFill>
                <a:latin typeface="Courier New"/>
              </a:rPr>
              <a:t>Major / Critical</a:t>
            </a:r>
          </a:p>
        </p:txBody>
      </p:sp>
      <p:sp>
        <p:nvSpPr>
          <p:cNvPr id="16" name="Rectangle 15"/>
          <p:cNvSpPr/>
          <p:nvPr/>
        </p:nvSpPr>
        <p:spPr>
          <a:xfrm>
            <a:off x="9546336" y="1444752"/>
            <a:ext cx="2084832" cy="14173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0" y="1554480"/>
            <a:ext cx="1828800" cy="274320"/>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Route approvals</a:t>
            </a:r>
          </a:p>
        </p:txBody>
      </p:sp>
      <p:sp>
        <p:nvSpPr>
          <p:cNvPr id="18" name="TextBox 17"/>
          <p:cNvSpPr txBox="1"/>
          <p:nvPr/>
        </p:nvSpPr>
        <p:spPr>
          <a:xfrm>
            <a:off x="9692640" y="1865376"/>
            <a:ext cx="1828800" cy="868680"/>
          </a:xfrm>
          <a:prstGeom prst="rect">
            <a:avLst/>
          </a:prstGeom>
          <a:noFill/>
        </p:spPr>
        <p:txBody>
          <a:bodyPr wrap="square" anchor="t" lIns="0" rIns="0" tIns="0" bIns="0">
            <a:spAutoFit/>
          </a:bodyPr>
          <a:lstStyle/>
          <a:p>
            <a:pPr algn="l">
              <a:lnSpc>
                <a:spcPct val="125000"/>
              </a:lnSpc>
            </a:pPr>
            <a:r>
              <a:rPr sz="730" b="0" i="0">
                <a:solidFill>
                  <a:srgbClr val="76858F"/>
                </a:solidFill>
                <a:latin typeface="Courier New"/>
              </a:rPr>
              <a:t>1 to 6 approvers</a:t>
            </a:r>
          </a:p>
          <a:p>
            <a:pPr algn="l">
              <a:lnSpc>
                <a:spcPct val="125000"/>
              </a:lnSpc>
            </a:pPr>
            <a:r>
              <a:rPr sz="730" b="0" i="0">
                <a:solidFill>
                  <a:srgbClr val="76858F"/>
                </a:solidFill>
                <a:latin typeface="Courier New"/>
              </a:rPr>
              <a:t>bound to real asset owners</a:t>
            </a:r>
          </a:p>
        </p:txBody>
      </p:sp>
      <p:sp>
        <p:nvSpPr>
          <p:cNvPr id="19" name="TextBox 18"/>
          <p:cNvSpPr txBox="1"/>
          <p:nvPr/>
        </p:nvSpPr>
        <p:spPr>
          <a:xfrm>
            <a:off x="548640" y="3035808"/>
            <a:ext cx="56692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REASSESSMENT RULES ENGINE</a:t>
            </a:r>
          </a:p>
        </p:txBody>
      </p:sp>
      <p:sp>
        <p:nvSpPr>
          <p:cNvPr id="20" name="Rectangle 19"/>
          <p:cNvSpPr/>
          <p:nvPr/>
        </p:nvSpPr>
        <p:spPr>
          <a:xfrm>
            <a:off x="548640" y="3346704"/>
            <a:ext cx="566928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346704"/>
            <a:ext cx="1005840" cy="347472"/>
          </a:xfrm>
          <a:prstGeom prst="rect">
            <a:avLst/>
          </a:prstGeom>
          <a:noFill/>
        </p:spPr>
        <p:txBody>
          <a:bodyPr wrap="square" anchor="ctr" lIns="0" rIns="0" tIns="0" bIns="0">
            <a:spAutoFit/>
          </a:bodyPr>
          <a:lstStyle/>
          <a:p>
            <a:pPr algn="l">
              <a:lnSpc>
                <a:spcPct val="108000"/>
              </a:lnSpc>
            </a:pPr>
            <a:r>
              <a:rPr sz="1000" b="1" i="0">
                <a:solidFill>
                  <a:srgbClr val="B23A48"/>
                </a:solidFill>
                <a:latin typeface="Calibri"/>
              </a:rPr>
              <a:t>Critical</a:t>
            </a:r>
          </a:p>
        </p:txBody>
      </p:sp>
      <p:sp>
        <p:nvSpPr>
          <p:cNvPr id="22" name="TextBox 21"/>
          <p:cNvSpPr txBox="1"/>
          <p:nvPr/>
        </p:nvSpPr>
        <p:spPr>
          <a:xfrm>
            <a:off x="1737360" y="3346704"/>
            <a:ext cx="640080" cy="347472"/>
          </a:xfrm>
          <a:prstGeom prst="rect">
            <a:avLst/>
          </a:prstGeom>
          <a:noFill/>
        </p:spPr>
        <p:txBody>
          <a:bodyPr wrap="square" anchor="ctr" lIns="0" rIns="0" tIns="0" bIns="0">
            <a:spAutoFit/>
          </a:bodyPr>
          <a:lstStyle/>
          <a:p>
            <a:pPr algn="l">
              <a:lnSpc>
                <a:spcPct val="108000"/>
              </a:lnSpc>
            </a:pPr>
            <a:r>
              <a:rPr sz="850" b="0" i="0">
                <a:solidFill>
                  <a:srgbClr val="76858F"/>
                </a:solidFill>
                <a:latin typeface="Courier New"/>
              </a:rPr>
              <a:t>≥ 70</a:t>
            </a:r>
          </a:p>
        </p:txBody>
      </p:sp>
      <p:sp>
        <p:nvSpPr>
          <p:cNvPr id="23" name="TextBox 22"/>
          <p:cNvSpPr txBox="1"/>
          <p:nvPr/>
        </p:nvSpPr>
        <p:spPr>
          <a:xfrm>
            <a:off x="2423160" y="3346704"/>
            <a:ext cx="3657600" cy="347472"/>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  Executive Approval Required</a:t>
            </a:r>
          </a:p>
        </p:txBody>
      </p:sp>
      <p:sp>
        <p:nvSpPr>
          <p:cNvPr id="24" name="Rectangle 23"/>
          <p:cNvSpPr/>
          <p:nvPr/>
        </p:nvSpPr>
        <p:spPr>
          <a:xfrm>
            <a:off x="548640" y="3749040"/>
            <a:ext cx="566928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749040"/>
            <a:ext cx="1005840" cy="347472"/>
          </a:xfrm>
          <a:prstGeom prst="rect">
            <a:avLst/>
          </a:prstGeom>
          <a:noFill/>
        </p:spPr>
        <p:txBody>
          <a:bodyPr wrap="square" anchor="ctr" lIns="0" rIns="0" tIns="0" bIns="0">
            <a:spAutoFit/>
          </a:bodyPr>
          <a:lstStyle/>
          <a:p>
            <a:pPr algn="l">
              <a:lnSpc>
                <a:spcPct val="108000"/>
              </a:lnSpc>
            </a:pPr>
            <a:r>
              <a:rPr sz="1000" b="1" i="0">
                <a:solidFill>
                  <a:srgbClr val="D2691E"/>
                </a:solidFill>
                <a:latin typeface="Calibri"/>
              </a:rPr>
              <a:t>Major</a:t>
            </a:r>
          </a:p>
        </p:txBody>
      </p:sp>
      <p:sp>
        <p:nvSpPr>
          <p:cNvPr id="26" name="TextBox 25"/>
          <p:cNvSpPr txBox="1"/>
          <p:nvPr/>
        </p:nvSpPr>
        <p:spPr>
          <a:xfrm>
            <a:off x="1737360" y="3749040"/>
            <a:ext cx="640080" cy="347472"/>
          </a:xfrm>
          <a:prstGeom prst="rect">
            <a:avLst/>
          </a:prstGeom>
          <a:noFill/>
        </p:spPr>
        <p:txBody>
          <a:bodyPr wrap="square" anchor="ctr" lIns="0" rIns="0" tIns="0" bIns="0">
            <a:spAutoFit/>
          </a:bodyPr>
          <a:lstStyle/>
          <a:p>
            <a:pPr algn="l">
              <a:lnSpc>
                <a:spcPct val="108000"/>
              </a:lnSpc>
            </a:pPr>
            <a:r>
              <a:rPr sz="850" b="0" i="0">
                <a:solidFill>
                  <a:srgbClr val="76858F"/>
                </a:solidFill>
                <a:latin typeface="Courier New"/>
              </a:rPr>
              <a:t>≥ 45</a:t>
            </a:r>
          </a:p>
        </p:txBody>
      </p:sp>
      <p:sp>
        <p:nvSpPr>
          <p:cNvPr id="27" name="TextBox 26"/>
          <p:cNvSpPr txBox="1"/>
          <p:nvPr/>
        </p:nvSpPr>
        <p:spPr>
          <a:xfrm>
            <a:off x="2423160" y="3749040"/>
            <a:ext cx="3657600" cy="347472"/>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  Full Governance Review</a:t>
            </a:r>
          </a:p>
        </p:txBody>
      </p:sp>
      <p:sp>
        <p:nvSpPr>
          <p:cNvPr id="28" name="Rectangle 27"/>
          <p:cNvSpPr/>
          <p:nvPr/>
        </p:nvSpPr>
        <p:spPr>
          <a:xfrm>
            <a:off x="548640" y="4151376"/>
            <a:ext cx="566928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151376"/>
            <a:ext cx="1005840" cy="347472"/>
          </a:xfrm>
          <a:prstGeom prst="rect">
            <a:avLst/>
          </a:prstGeom>
          <a:noFill/>
        </p:spPr>
        <p:txBody>
          <a:bodyPr wrap="square" anchor="ctr" lIns="0" rIns="0" tIns="0" bIns="0">
            <a:spAutoFit/>
          </a:bodyPr>
          <a:lstStyle/>
          <a:p>
            <a:pPr algn="l">
              <a:lnSpc>
                <a:spcPct val="108000"/>
              </a:lnSpc>
            </a:pPr>
            <a:r>
              <a:rPr sz="1000" b="1" i="0">
                <a:solidFill>
                  <a:srgbClr val="C8871B"/>
                </a:solidFill>
                <a:latin typeface="Calibri"/>
              </a:rPr>
              <a:t>Moderate</a:t>
            </a:r>
          </a:p>
        </p:txBody>
      </p:sp>
      <p:sp>
        <p:nvSpPr>
          <p:cNvPr id="30" name="TextBox 29"/>
          <p:cNvSpPr txBox="1"/>
          <p:nvPr/>
        </p:nvSpPr>
        <p:spPr>
          <a:xfrm>
            <a:off x="1737360" y="4151376"/>
            <a:ext cx="640080" cy="347472"/>
          </a:xfrm>
          <a:prstGeom prst="rect">
            <a:avLst/>
          </a:prstGeom>
          <a:noFill/>
        </p:spPr>
        <p:txBody>
          <a:bodyPr wrap="square" anchor="ctr" lIns="0" rIns="0" tIns="0" bIns="0">
            <a:spAutoFit/>
          </a:bodyPr>
          <a:lstStyle/>
          <a:p>
            <a:pPr algn="l">
              <a:lnSpc>
                <a:spcPct val="108000"/>
              </a:lnSpc>
            </a:pPr>
            <a:r>
              <a:rPr sz="850" b="0" i="0">
                <a:solidFill>
                  <a:srgbClr val="76858F"/>
                </a:solidFill>
                <a:latin typeface="Courier New"/>
              </a:rPr>
              <a:t>≥ 20</a:t>
            </a:r>
          </a:p>
        </p:txBody>
      </p:sp>
      <p:sp>
        <p:nvSpPr>
          <p:cNvPr id="31" name="TextBox 30"/>
          <p:cNvSpPr txBox="1"/>
          <p:nvPr/>
        </p:nvSpPr>
        <p:spPr>
          <a:xfrm>
            <a:off x="2423160" y="4151376"/>
            <a:ext cx="3657600" cy="347472"/>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  Risk Review Required</a:t>
            </a:r>
          </a:p>
        </p:txBody>
      </p:sp>
      <p:sp>
        <p:nvSpPr>
          <p:cNvPr id="32" name="Rectangle 31"/>
          <p:cNvSpPr/>
          <p:nvPr/>
        </p:nvSpPr>
        <p:spPr>
          <a:xfrm>
            <a:off x="548640" y="4553712"/>
            <a:ext cx="566928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553712"/>
            <a:ext cx="1005840" cy="347472"/>
          </a:xfrm>
          <a:prstGeom prst="rect">
            <a:avLst/>
          </a:prstGeom>
          <a:noFill/>
        </p:spPr>
        <p:txBody>
          <a:bodyPr wrap="square" anchor="ctr" lIns="0" rIns="0" tIns="0" bIns="0">
            <a:spAutoFit/>
          </a:bodyPr>
          <a:lstStyle/>
          <a:p>
            <a:pPr algn="l">
              <a:lnSpc>
                <a:spcPct val="108000"/>
              </a:lnSpc>
            </a:pPr>
            <a:r>
              <a:rPr sz="1000" b="1" i="0">
                <a:solidFill>
                  <a:srgbClr val="2E7D64"/>
                </a:solidFill>
                <a:latin typeface="Calibri"/>
              </a:rPr>
              <a:t>Minor</a:t>
            </a:r>
          </a:p>
        </p:txBody>
      </p:sp>
      <p:sp>
        <p:nvSpPr>
          <p:cNvPr id="34" name="TextBox 33"/>
          <p:cNvSpPr txBox="1"/>
          <p:nvPr/>
        </p:nvSpPr>
        <p:spPr>
          <a:xfrm>
            <a:off x="1737360" y="4553712"/>
            <a:ext cx="640080" cy="347472"/>
          </a:xfrm>
          <a:prstGeom prst="rect">
            <a:avLst/>
          </a:prstGeom>
          <a:noFill/>
        </p:spPr>
        <p:txBody>
          <a:bodyPr wrap="square" anchor="ctr" lIns="0" rIns="0" tIns="0" bIns="0">
            <a:spAutoFit/>
          </a:bodyPr>
          <a:lstStyle/>
          <a:p>
            <a:pPr algn="l">
              <a:lnSpc>
                <a:spcPct val="108000"/>
              </a:lnSpc>
            </a:pPr>
            <a:r>
              <a:rPr sz="850" b="0" i="0">
                <a:solidFill>
                  <a:srgbClr val="76858F"/>
                </a:solidFill>
                <a:latin typeface="Courier New"/>
              </a:rPr>
              <a:t>≥ 0</a:t>
            </a:r>
          </a:p>
        </p:txBody>
      </p:sp>
      <p:sp>
        <p:nvSpPr>
          <p:cNvPr id="35" name="TextBox 34"/>
          <p:cNvSpPr txBox="1"/>
          <p:nvPr/>
        </p:nvSpPr>
        <p:spPr>
          <a:xfrm>
            <a:off x="2423160" y="4553712"/>
            <a:ext cx="3657600" cy="347472"/>
          </a:xfrm>
          <a:prstGeom prst="rect">
            <a:avLst/>
          </a:prstGeom>
          <a:noFill/>
        </p:spPr>
        <p:txBody>
          <a:bodyPr wrap="square" anchor="ctr" lIns="0" rIns="0" tIns="0" bIns="0">
            <a:spAutoFit/>
          </a:bodyPr>
          <a:lstStyle/>
          <a:p>
            <a:pPr algn="l">
              <a:lnSpc>
                <a:spcPct val="108000"/>
              </a:lnSpc>
            </a:pPr>
            <a:r>
              <a:rPr sz="1000" b="0" i="0">
                <a:solidFill>
                  <a:srgbClr val="22303C"/>
                </a:solidFill>
                <a:latin typeface="Calibri"/>
              </a:rPr>
              <a:t>→  No Reassessment</a:t>
            </a:r>
          </a:p>
        </p:txBody>
      </p:sp>
      <p:sp>
        <p:nvSpPr>
          <p:cNvPr id="36" name="TextBox 35"/>
          <p:cNvSpPr txBox="1"/>
          <p:nvPr/>
        </p:nvSpPr>
        <p:spPr>
          <a:xfrm>
            <a:off x="6400800" y="3035808"/>
            <a:ext cx="52120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GOVERNANCE STATE MACHINE — 10 STATES</a:t>
            </a:r>
          </a:p>
        </p:txBody>
      </p:sp>
      <p:sp>
        <p:nvSpPr>
          <p:cNvPr id="37" name="Rectangle 36"/>
          <p:cNvSpPr/>
          <p:nvPr/>
        </p:nvSpPr>
        <p:spPr>
          <a:xfrm>
            <a:off x="6400800" y="3346704"/>
            <a:ext cx="2514600" cy="347472"/>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3346704"/>
            <a:ext cx="2514600" cy="347472"/>
          </a:xfrm>
          <a:prstGeom prst="rect">
            <a:avLst/>
          </a:prstGeom>
          <a:noFill/>
        </p:spPr>
        <p:txBody>
          <a:bodyPr wrap="square" anchor="ctr" lIns="0" rIns="0" tIns="0" bIns="0">
            <a:spAutoFit/>
          </a:bodyPr>
          <a:lstStyle/>
          <a:p>
            <a:pPr algn="ctr">
              <a:lnSpc>
                <a:spcPct val="108000"/>
              </a:lnSpc>
            </a:pPr>
            <a:r>
              <a:rPr sz="950" b="1" i="0">
                <a:solidFill>
                  <a:srgbClr val="22303C"/>
                </a:solidFill>
                <a:latin typeface="Calibri"/>
              </a:rPr>
              <a:t>Draft</a:t>
            </a:r>
          </a:p>
        </p:txBody>
      </p:sp>
      <p:sp>
        <p:nvSpPr>
          <p:cNvPr id="39" name="Rectangle 38"/>
          <p:cNvSpPr/>
          <p:nvPr/>
        </p:nvSpPr>
        <p:spPr>
          <a:xfrm>
            <a:off x="9052560" y="3346704"/>
            <a:ext cx="2514600" cy="347472"/>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0" y="3346704"/>
            <a:ext cx="2514600" cy="347472"/>
          </a:xfrm>
          <a:prstGeom prst="rect">
            <a:avLst/>
          </a:prstGeom>
          <a:noFill/>
        </p:spPr>
        <p:txBody>
          <a:bodyPr wrap="square" anchor="ctr" lIns="0" rIns="0" tIns="0" bIns="0">
            <a:spAutoFit/>
          </a:bodyPr>
          <a:lstStyle/>
          <a:p>
            <a:pPr algn="ctr">
              <a:lnSpc>
                <a:spcPct val="108000"/>
              </a:lnSpc>
            </a:pPr>
            <a:r>
              <a:rPr sz="950" b="1" i="0">
                <a:solidFill>
                  <a:srgbClr val="22303C"/>
                </a:solidFill>
                <a:latin typeface="Calibri"/>
              </a:rPr>
              <a:t>Review</a:t>
            </a:r>
          </a:p>
        </p:txBody>
      </p:sp>
      <p:sp>
        <p:nvSpPr>
          <p:cNvPr id="41" name="Rectangle 40"/>
          <p:cNvSpPr/>
          <p:nvPr/>
        </p:nvSpPr>
        <p:spPr>
          <a:xfrm>
            <a:off x="6400800" y="3749040"/>
            <a:ext cx="2514600" cy="347472"/>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3749040"/>
            <a:ext cx="2514600" cy="347472"/>
          </a:xfrm>
          <a:prstGeom prst="rect">
            <a:avLst/>
          </a:prstGeom>
          <a:noFill/>
        </p:spPr>
        <p:txBody>
          <a:bodyPr wrap="square" anchor="ctr" lIns="0" rIns="0" tIns="0" bIns="0">
            <a:spAutoFit/>
          </a:bodyPr>
          <a:lstStyle/>
          <a:p>
            <a:pPr algn="ctr">
              <a:lnSpc>
                <a:spcPct val="108000"/>
              </a:lnSpc>
            </a:pPr>
            <a:r>
              <a:rPr sz="950" b="1" i="0">
                <a:solidFill>
                  <a:srgbClr val="22303C"/>
                </a:solidFill>
                <a:latin typeface="Calibri"/>
              </a:rPr>
              <a:t>Approved</a:t>
            </a:r>
          </a:p>
        </p:txBody>
      </p:sp>
      <p:sp>
        <p:nvSpPr>
          <p:cNvPr id="43" name="Rectangle 42"/>
          <p:cNvSpPr/>
          <p:nvPr/>
        </p:nvSpPr>
        <p:spPr>
          <a:xfrm>
            <a:off x="9052560" y="3749040"/>
            <a:ext cx="2514600" cy="347472"/>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0" y="3749040"/>
            <a:ext cx="2514600" cy="347472"/>
          </a:xfrm>
          <a:prstGeom prst="rect">
            <a:avLst/>
          </a:prstGeom>
          <a:noFill/>
        </p:spPr>
        <p:txBody>
          <a:bodyPr wrap="square" anchor="ctr" lIns="0" rIns="0" tIns="0" bIns="0">
            <a:spAutoFit/>
          </a:bodyPr>
          <a:lstStyle/>
          <a:p>
            <a:pPr algn="ctr">
              <a:lnSpc>
                <a:spcPct val="108000"/>
              </a:lnSpc>
            </a:pPr>
            <a:r>
              <a:rPr sz="950" b="1" i="0">
                <a:solidFill>
                  <a:srgbClr val="22303C"/>
                </a:solidFill>
                <a:latin typeface="Calibri"/>
              </a:rPr>
              <a:t>Production</a:t>
            </a:r>
          </a:p>
        </p:txBody>
      </p:sp>
      <p:sp>
        <p:nvSpPr>
          <p:cNvPr id="45" name="Rectangle 44"/>
          <p:cNvSpPr/>
          <p:nvPr/>
        </p:nvSpPr>
        <p:spPr>
          <a:xfrm>
            <a:off x="6400800" y="4151376"/>
            <a:ext cx="2514600" cy="347472"/>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4151376"/>
            <a:ext cx="2514600" cy="347472"/>
          </a:xfrm>
          <a:prstGeom prst="rect">
            <a:avLst/>
          </a:prstGeom>
          <a:noFill/>
        </p:spPr>
        <p:txBody>
          <a:bodyPr wrap="square" anchor="ctr" lIns="0" rIns="0" tIns="0" bIns="0">
            <a:spAutoFit/>
          </a:bodyPr>
          <a:lstStyle/>
          <a:p>
            <a:pPr algn="ctr">
              <a:lnSpc>
                <a:spcPct val="108000"/>
              </a:lnSpc>
            </a:pPr>
            <a:r>
              <a:rPr sz="950" b="1" i="0">
                <a:solidFill>
                  <a:srgbClr val="22303C"/>
                </a:solidFill>
                <a:latin typeface="Calibri"/>
              </a:rPr>
              <a:t>Monitoring</a:t>
            </a:r>
          </a:p>
        </p:txBody>
      </p:sp>
      <p:sp>
        <p:nvSpPr>
          <p:cNvPr id="47" name="Rectangle 46"/>
          <p:cNvSpPr/>
          <p:nvPr/>
        </p:nvSpPr>
        <p:spPr>
          <a:xfrm>
            <a:off x="9052560" y="4151376"/>
            <a:ext cx="2514600" cy="347472"/>
          </a:xfrm>
          <a:prstGeom prst="rect">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0" y="4151376"/>
            <a:ext cx="2514600" cy="347472"/>
          </a:xfrm>
          <a:prstGeom prst="rect">
            <a:avLst/>
          </a:prstGeom>
          <a:noFill/>
        </p:spPr>
        <p:txBody>
          <a:bodyPr wrap="square" anchor="ctr" lIns="0" rIns="0" tIns="0" bIns="0">
            <a:spAutoFit/>
          </a:bodyPr>
          <a:lstStyle/>
          <a:p>
            <a:pPr algn="ctr">
              <a:lnSpc>
                <a:spcPct val="108000"/>
              </a:lnSpc>
            </a:pPr>
            <a:r>
              <a:rPr sz="950" b="1" i="0">
                <a:solidFill>
                  <a:srgbClr val="FFFFFF"/>
                </a:solidFill>
                <a:latin typeface="Calibri"/>
              </a:rPr>
              <a:t>Change Requested</a:t>
            </a:r>
          </a:p>
        </p:txBody>
      </p:sp>
      <p:sp>
        <p:nvSpPr>
          <p:cNvPr id="49" name="Rectangle 48"/>
          <p:cNvSpPr/>
          <p:nvPr/>
        </p:nvSpPr>
        <p:spPr>
          <a:xfrm>
            <a:off x="6400800" y="4553712"/>
            <a:ext cx="2514600" cy="347472"/>
          </a:xfrm>
          <a:prstGeom prst="rect">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4553712"/>
            <a:ext cx="2514600" cy="347472"/>
          </a:xfrm>
          <a:prstGeom prst="rect">
            <a:avLst/>
          </a:prstGeom>
          <a:noFill/>
        </p:spPr>
        <p:txBody>
          <a:bodyPr wrap="square" anchor="ctr" lIns="0" rIns="0" tIns="0" bIns="0">
            <a:spAutoFit/>
          </a:bodyPr>
          <a:lstStyle/>
          <a:p>
            <a:pPr algn="ctr">
              <a:lnSpc>
                <a:spcPct val="108000"/>
              </a:lnSpc>
            </a:pPr>
            <a:r>
              <a:rPr sz="950" b="1" i="0">
                <a:solidFill>
                  <a:srgbClr val="FFFFFF"/>
                </a:solidFill>
                <a:latin typeface="Calibri"/>
              </a:rPr>
              <a:t>Impact Assessment</a:t>
            </a:r>
          </a:p>
        </p:txBody>
      </p:sp>
      <p:sp>
        <p:nvSpPr>
          <p:cNvPr id="51" name="Rectangle 50"/>
          <p:cNvSpPr/>
          <p:nvPr/>
        </p:nvSpPr>
        <p:spPr>
          <a:xfrm>
            <a:off x="9052560" y="4553712"/>
            <a:ext cx="2514600" cy="347472"/>
          </a:xfrm>
          <a:prstGeom prst="rect">
            <a:avLst/>
          </a:prstGeom>
          <a:solidFill>
            <a:srgbClr val="6B5B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0" y="4553712"/>
            <a:ext cx="2514600" cy="347472"/>
          </a:xfrm>
          <a:prstGeom prst="rect">
            <a:avLst/>
          </a:prstGeom>
          <a:noFill/>
        </p:spPr>
        <p:txBody>
          <a:bodyPr wrap="square" anchor="ctr" lIns="0" rIns="0" tIns="0" bIns="0">
            <a:spAutoFit/>
          </a:bodyPr>
          <a:lstStyle/>
          <a:p>
            <a:pPr algn="ctr">
              <a:lnSpc>
                <a:spcPct val="108000"/>
              </a:lnSpc>
            </a:pPr>
            <a:r>
              <a:rPr sz="950" b="1" i="0">
                <a:solidFill>
                  <a:srgbClr val="FFFFFF"/>
                </a:solidFill>
                <a:latin typeface="Calibri"/>
              </a:rPr>
              <a:t>Reassessment</a:t>
            </a:r>
          </a:p>
        </p:txBody>
      </p:sp>
      <p:sp>
        <p:nvSpPr>
          <p:cNvPr id="53" name="Rectangle 52"/>
          <p:cNvSpPr/>
          <p:nvPr/>
        </p:nvSpPr>
        <p:spPr>
          <a:xfrm>
            <a:off x="6400800" y="4956048"/>
            <a:ext cx="2514600" cy="347472"/>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0" y="4956048"/>
            <a:ext cx="2514600" cy="347472"/>
          </a:xfrm>
          <a:prstGeom prst="rect">
            <a:avLst/>
          </a:prstGeom>
          <a:noFill/>
        </p:spPr>
        <p:txBody>
          <a:bodyPr wrap="square" anchor="ctr" lIns="0" rIns="0" tIns="0" bIns="0">
            <a:spAutoFit/>
          </a:bodyPr>
          <a:lstStyle/>
          <a:p>
            <a:pPr algn="ctr">
              <a:lnSpc>
                <a:spcPct val="108000"/>
              </a:lnSpc>
            </a:pPr>
            <a:r>
              <a:rPr sz="950" b="1" i="0">
                <a:solidFill>
                  <a:srgbClr val="22303C"/>
                </a:solidFill>
                <a:latin typeface="Calibri"/>
              </a:rPr>
              <a:t>Reapproved</a:t>
            </a:r>
          </a:p>
        </p:txBody>
      </p:sp>
      <p:sp>
        <p:nvSpPr>
          <p:cNvPr id="55" name="Rectangle 54"/>
          <p:cNvSpPr/>
          <p:nvPr/>
        </p:nvSpPr>
        <p:spPr>
          <a:xfrm>
            <a:off x="9052560" y="4956048"/>
            <a:ext cx="2514600" cy="347472"/>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0" y="4956048"/>
            <a:ext cx="2514600" cy="347472"/>
          </a:xfrm>
          <a:prstGeom prst="rect">
            <a:avLst/>
          </a:prstGeom>
          <a:noFill/>
        </p:spPr>
        <p:txBody>
          <a:bodyPr wrap="square" anchor="ctr" lIns="0" rIns="0" tIns="0" bIns="0">
            <a:spAutoFit/>
          </a:bodyPr>
          <a:lstStyle/>
          <a:p>
            <a:pPr algn="ctr">
              <a:lnSpc>
                <a:spcPct val="108000"/>
              </a:lnSpc>
            </a:pPr>
            <a:r>
              <a:rPr sz="950" b="1" i="0">
                <a:solidFill>
                  <a:srgbClr val="22303C"/>
                </a:solidFill>
                <a:latin typeface="Calibri"/>
              </a:rPr>
              <a:t>Retirement</a:t>
            </a:r>
          </a:p>
        </p:txBody>
      </p:sp>
      <p:sp>
        <p:nvSpPr>
          <p:cNvPr id="57" name="Rectangle 56"/>
          <p:cNvSpPr/>
          <p:nvPr/>
        </p:nvSpPr>
        <p:spPr>
          <a:xfrm>
            <a:off x="548640" y="5394960"/>
            <a:ext cx="11064240" cy="82296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 y="5477256"/>
            <a:ext cx="7315200" cy="256032"/>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Six trigger rules convert change conditions into governance work automatically</a:t>
            </a:r>
          </a:p>
        </p:txBody>
      </p:sp>
      <p:sp>
        <p:nvSpPr>
          <p:cNvPr id="59" name="TextBox 58"/>
          <p:cNvSpPr txBox="1"/>
          <p:nvPr/>
        </p:nvSpPr>
        <p:spPr>
          <a:xfrm>
            <a:off x="822960" y="5733288"/>
            <a:ext cx="10515600" cy="420624"/>
          </a:xfrm>
          <a:prstGeom prst="rect">
            <a:avLst/>
          </a:prstGeom>
          <a:noFill/>
        </p:spPr>
        <p:txBody>
          <a:bodyPr wrap="square" anchor="t" lIns="0" rIns="0" tIns="0" bIns="0">
            <a:spAutoFit/>
          </a:bodyPr>
          <a:lstStyle/>
          <a:p>
            <a:pPr algn="l">
              <a:lnSpc>
                <a:spcPct val="108000"/>
              </a:lnSpc>
            </a:pPr>
            <a:r>
              <a:rPr sz="800" b="0" i="0">
                <a:solidFill>
                  <a:srgbClr val="2E3B47"/>
                </a:solidFill>
                <a:latin typeface="Calibri"/>
              </a:rPr>
              <a:t>Vendor Changed → Create Review · Policy Updated → Identify Affected Assets · Critical Risk Increased → Executive Escalation · Model Replaced → Require Revalidation · New Data Source → Notify Compliance · Monitoring Control Changed → Require Evidence Refresh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13 · MONITORING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Continuous health scoring plus operational intervention</a:t>
            </a:r>
          </a:p>
        </p:txBody>
      </p:sp>
      <p:sp>
        <p:nvSpPr>
          <p:cNvPr id="4" name="TextBox 3"/>
          <p:cNvSpPr txBox="1"/>
          <p:nvPr/>
        </p:nvSpPr>
        <p:spPr>
          <a:xfrm>
            <a:off x="548640" y="1444752"/>
            <a:ext cx="5669280" cy="274320"/>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calculateAssetGovernanceHealthScore() — five health pillars</a:t>
            </a:r>
          </a:p>
        </p:txBody>
      </p:sp>
      <p:sp>
        <p:nvSpPr>
          <p:cNvPr id="5" name="TextBox 4"/>
          <p:cNvSpPr txBox="1"/>
          <p:nvPr/>
        </p:nvSpPr>
        <p:spPr>
          <a:xfrm>
            <a:off x="640080" y="1773936"/>
            <a:ext cx="548640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ownershipHealth</a:t>
            </a:r>
          </a:p>
        </p:txBody>
      </p:sp>
      <p:sp>
        <p:nvSpPr>
          <p:cNvPr id="6" name="TextBox 5"/>
          <p:cNvSpPr txBox="1"/>
          <p:nvPr/>
        </p:nvSpPr>
        <p:spPr>
          <a:xfrm>
            <a:off x="640080" y="2048256"/>
            <a:ext cx="548640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riskHealth</a:t>
            </a:r>
          </a:p>
        </p:txBody>
      </p:sp>
      <p:sp>
        <p:nvSpPr>
          <p:cNvPr id="7" name="TextBox 6"/>
          <p:cNvSpPr txBox="1"/>
          <p:nvPr/>
        </p:nvSpPr>
        <p:spPr>
          <a:xfrm>
            <a:off x="640080" y="2322576"/>
            <a:ext cx="548640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validationHealth</a:t>
            </a:r>
          </a:p>
        </p:txBody>
      </p:sp>
      <p:sp>
        <p:nvSpPr>
          <p:cNvPr id="8" name="TextBox 7"/>
          <p:cNvSpPr txBox="1"/>
          <p:nvPr/>
        </p:nvSpPr>
        <p:spPr>
          <a:xfrm>
            <a:off x="640080" y="2596896"/>
            <a:ext cx="548640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complianceHealth</a:t>
            </a:r>
          </a:p>
        </p:txBody>
      </p:sp>
      <p:sp>
        <p:nvSpPr>
          <p:cNvPr id="9" name="TextBox 8"/>
          <p:cNvSpPr txBox="1"/>
          <p:nvPr/>
        </p:nvSpPr>
        <p:spPr>
          <a:xfrm>
            <a:off x="640080" y="2871216"/>
            <a:ext cx="5486400" cy="256032"/>
          </a:xfrm>
          <a:prstGeom prst="rect">
            <a:avLst/>
          </a:prstGeom>
          <a:noFill/>
        </p:spPr>
        <p:txBody>
          <a:bodyPr wrap="square" anchor="t" lIns="0" rIns="0" tIns="0" bIns="0">
            <a:spAutoFit/>
          </a:bodyPr>
          <a:lstStyle/>
          <a:p>
            <a:pPr algn="l">
              <a:lnSpc>
                <a:spcPct val="108000"/>
              </a:lnSpc>
            </a:pPr>
            <a:r>
              <a:rPr sz="950" b="0" i="0">
                <a:solidFill>
                  <a:srgbClr val="2E3B47"/>
                </a:solidFill>
                <a:latin typeface="Courier New"/>
              </a:rPr>
              <a:t>▪ operationalHealth</a:t>
            </a:r>
          </a:p>
        </p:txBody>
      </p:sp>
      <p:sp>
        <p:nvSpPr>
          <p:cNvPr id="10" name="TextBox 9"/>
          <p:cNvSpPr txBox="1"/>
          <p:nvPr/>
        </p:nvSpPr>
        <p:spPr>
          <a:xfrm>
            <a:off x="548640" y="3182112"/>
            <a:ext cx="5669280" cy="402336"/>
          </a:xfrm>
          <a:prstGeom prst="rect">
            <a:avLst/>
          </a:prstGeom>
          <a:noFill/>
        </p:spPr>
        <p:txBody>
          <a:bodyPr wrap="square" anchor="t" lIns="0" rIns="0" tIns="0" bIns="0">
            <a:spAutoFit/>
          </a:bodyPr>
          <a:lstStyle/>
          <a:p>
            <a:pPr algn="l">
              <a:lnSpc>
                <a:spcPct val="115000"/>
              </a:lnSpc>
            </a:pPr>
            <a:r>
              <a:rPr sz="1000" b="0" i="0">
                <a:solidFill>
                  <a:srgbClr val="2E3B47"/>
                </a:solidFill>
                <a:latin typeface="Calibri"/>
              </a:rPr>
              <a:t>Rolls up to Healthy / Watchlist / Attention Required, and to a tenant-level governance health score.</a:t>
            </a:r>
          </a:p>
        </p:txBody>
      </p:sp>
      <p:sp>
        <p:nvSpPr>
          <p:cNvPr id="11" name="TextBox 10"/>
          <p:cNvSpPr txBox="1"/>
          <p:nvPr/>
        </p:nvSpPr>
        <p:spPr>
          <a:xfrm>
            <a:off x="548640" y="3657600"/>
            <a:ext cx="56692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OPERATIONAL CONTROL SURFACES</a:t>
            </a:r>
          </a:p>
        </p:txBody>
      </p:sp>
      <p:sp>
        <p:nvSpPr>
          <p:cNvPr id="12" name="TextBox 11"/>
          <p:cNvSpPr txBox="1"/>
          <p:nvPr/>
        </p:nvSpPr>
        <p:spPr>
          <a:xfrm>
            <a:off x="548640" y="3968496"/>
            <a:ext cx="1691640" cy="365760"/>
          </a:xfrm>
          <a:prstGeom prst="rect">
            <a:avLst/>
          </a:prstGeom>
          <a:noFill/>
        </p:spPr>
        <p:txBody>
          <a:bodyPr wrap="square" anchor="t" lIns="0" rIns="0" tIns="0" bIns="0">
            <a:spAutoFit/>
          </a:bodyPr>
          <a:lstStyle/>
          <a:p>
            <a:pPr algn="l">
              <a:lnSpc>
                <a:spcPct val="108000"/>
              </a:lnSpc>
            </a:pPr>
            <a:r>
              <a:rPr sz="850" b="0" i="0">
                <a:solidFill>
                  <a:srgbClr val="1F8A82"/>
                </a:solidFill>
                <a:latin typeface="Courier New"/>
              </a:rPr>
              <a:t>KillSwitchRecord</a:t>
            </a:r>
          </a:p>
        </p:txBody>
      </p:sp>
      <p:sp>
        <p:nvSpPr>
          <p:cNvPr id="13" name="TextBox 12"/>
          <p:cNvSpPr txBox="1"/>
          <p:nvPr/>
        </p:nvSpPr>
        <p:spPr>
          <a:xfrm>
            <a:off x="2286000" y="3968496"/>
            <a:ext cx="3931920" cy="365760"/>
          </a:xfrm>
          <a:prstGeom prst="rect">
            <a:avLst/>
          </a:prstGeom>
          <a:noFill/>
        </p:spPr>
        <p:txBody>
          <a:bodyPr wrap="square" anchor="t" lIns="0" rIns="0" tIns="0" bIns="0">
            <a:spAutoFit/>
          </a:bodyPr>
          <a:lstStyle/>
          <a:p>
            <a:pPr algn="l">
              <a:lnSpc>
                <a:spcPct val="115000"/>
              </a:lnSpc>
            </a:pPr>
            <a:r>
              <a:rPr sz="850" b="0" i="0">
                <a:solidFill>
                  <a:srgbClr val="2E3B47"/>
                </a:solidFill>
                <a:latin typeface="Calibri"/>
              </a:rPr>
              <a:t>Requested → Approved → Activated → Under Investigation → Released</a:t>
            </a:r>
          </a:p>
        </p:txBody>
      </p:sp>
      <p:sp>
        <p:nvSpPr>
          <p:cNvPr id="14" name="TextBox 13"/>
          <p:cNvSpPr txBox="1"/>
          <p:nvPr/>
        </p:nvSpPr>
        <p:spPr>
          <a:xfrm>
            <a:off x="548640" y="4370832"/>
            <a:ext cx="1691640" cy="365760"/>
          </a:xfrm>
          <a:prstGeom prst="rect">
            <a:avLst/>
          </a:prstGeom>
          <a:noFill/>
        </p:spPr>
        <p:txBody>
          <a:bodyPr wrap="square" anchor="t" lIns="0" rIns="0" tIns="0" bIns="0">
            <a:spAutoFit/>
          </a:bodyPr>
          <a:lstStyle/>
          <a:p>
            <a:pPr algn="l">
              <a:lnSpc>
                <a:spcPct val="108000"/>
              </a:lnSpc>
            </a:pPr>
            <a:r>
              <a:rPr sz="850" b="0" i="0">
                <a:solidFill>
                  <a:srgbClr val="1F8A82"/>
                </a:solidFill>
                <a:latin typeface="Courier New"/>
              </a:rPr>
              <a:t>OverrideRecord</a:t>
            </a:r>
          </a:p>
        </p:txBody>
      </p:sp>
      <p:sp>
        <p:nvSpPr>
          <p:cNvPr id="15" name="TextBox 14"/>
          <p:cNvSpPr txBox="1"/>
          <p:nvPr/>
        </p:nvSpPr>
        <p:spPr>
          <a:xfrm>
            <a:off x="2286000" y="4370832"/>
            <a:ext cx="3931920" cy="365760"/>
          </a:xfrm>
          <a:prstGeom prst="rect">
            <a:avLst/>
          </a:prstGeom>
          <a:noFill/>
        </p:spPr>
        <p:txBody>
          <a:bodyPr wrap="square" anchor="t" lIns="0" rIns="0" tIns="0" bIns="0">
            <a:spAutoFit/>
          </a:bodyPr>
          <a:lstStyle/>
          <a:p>
            <a:pPr algn="l">
              <a:lnSpc>
                <a:spcPct val="115000"/>
              </a:lnSpc>
            </a:pPr>
            <a:r>
              <a:rPr sz="850" b="0" i="0">
                <a:solidFill>
                  <a:srgbClr val="2E3B47"/>
                </a:solidFill>
                <a:latin typeface="Calibri"/>
              </a:rPr>
              <a:t>Human intervention with trigger reason and approver</a:t>
            </a:r>
          </a:p>
        </p:txBody>
      </p:sp>
      <p:sp>
        <p:nvSpPr>
          <p:cNvPr id="16" name="TextBox 15"/>
          <p:cNvSpPr txBox="1"/>
          <p:nvPr/>
        </p:nvSpPr>
        <p:spPr>
          <a:xfrm>
            <a:off x="548640" y="4773168"/>
            <a:ext cx="1691640" cy="365760"/>
          </a:xfrm>
          <a:prstGeom prst="rect">
            <a:avLst/>
          </a:prstGeom>
          <a:noFill/>
        </p:spPr>
        <p:txBody>
          <a:bodyPr wrap="square" anchor="t" lIns="0" rIns="0" tIns="0" bIns="0">
            <a:spAutoFit/>
          </a:bodyPr>
          <a:lstStyle/>
          <a:p>
            <a:pPr algn="l">
              <a:lnSpc>
                <a:spcPct val="108000"/>
              </a:lnSpc>
            </a:pPr>
            <a:r>
              <a:rPr sz="850" b="0" i="0">
                <a:solidFill>
                  <a:srgbClr val="1F8A82"/>
                </a:solidFill>
                <a:latin typeface="Courier New"/>
              </a:rPr>
              <a:t>GovernanceIncident</a:t>
            </a:r>
          </a:p>
        </p:txBody>
      </p:sp>
      <p:sp>
        <p:nvSpPr>
          <p:cNvPr id="17" name="TextBox 16"/>
          <p:cNvSpPr txBox="1"/>
          <p:nvPr/>
        </p:nvSpPr>
        <p:spPr>
          <a:xfrm>
            <a:off x="2286000" y="4773168"/>
            <a:ext cx="3931920" cy="365760"/>
          </a:xfrm>
          <a:prstGeom prst="rect">
            <a:avLst/>
          </a:prstGeom>
          <a:noFill/>
        </p:spPr>
        <p:txBody>
          <a:bodyPr wrap="square" anchor="t" lIns="0" rIns="0" tIns="0" bIns="0">
            <a:spAutoFit/>
          </a:bodyPr>
          <a:lstStyle/>
          <a:p>
            <a:pPr algn="l">
              <a:lnSpc>
                <a:spcPct val="115000"/>
              </a:lnSpc>
            </a:pPr>
            <a:r>
              <a:rPr sz="850" b="0" i="0">
                <a:solidFill>
                  <a:srgbClr val="2E3B47"/>
                </a:solidFill>
                <a:latin typeface="Calibri"/>
              </a:rPr>
              <a:t>Open → Investigating → Mitigation → Resolved → Closed</a:t>
            </a:r>
          </a:p>
        </p:txBody>
      </p:sp>
      <p:sp>
        <p:nvSpPr>
          <p:cNvPr id="18" name="TextBox 17"/>
          <p:cNvSpPr txBox="1"/>
          <p:nvPr/>
        </p:nvSpPr>
        <p:spPr>
          <a:xfrm>
            <a:off x="548640" y="5175504"/>
            <a:ext cx="1691640" cy="365760"/>
          </a:xfrm>
          <a:prstGeom prst="rect">
            <a:avLst/>
          </a:prstGeom>
          <a:noFill/>
        </p:spPr>
        <p:txBody>
          <a:bodyPr wrap="square" anchor="t" lIns="0" rIns="0" tIns="0" bIns="0">
            <a:spAutoFit/>
          </a:bodyPr>
          <a:lstStyle/>
          <a:p>
            <a:pPr algn="l">
              <a:lnSpc>
                <a:spcPct val="108000"/>
              </a:lnSpc>
            </a:pPr>
            <a:r>
              <a:rPr sz="850" b="0" i="0">
                <a:solidFill>
                  <a:srgbClr val="1F8A82"/>
                </a:solidFill>
                <a:latin typeface="Courier New"/>
              </a:rPr>
              <a:t>CorrectiveAction</a:t>
            </a:r>
          </a:p>
        </p:txBody>
      </p:sp>
      <p:sp>
        <p:nvSpPr>
          <p:cNvPr id="19" name="TextBox 18"/>
          <p:cNvSpPr txBox="1"/>
          <p:nvPr/>
        </p:nvSpPr>
        <p:spPr>
          <a:xfrm>
            <a:off x="2286000" y="5175504"/>
            <a:ext cx="3931920" cy="365760"/>
          </a:xfrm>
          <a:prstGeom prst="rect">
            <a:avLst/>
          </a:prstGeom>
          <a:noFill/>
        </p:spPr>
        <p:txBody>
          <a:bodyPr wrap="square" anchor="t" lIns="0" rIns="0" tIns="0" bIns="0">
            <a:spAutoFit/>
          </a:bodyPr>
          <a:lstStyle/>
          <a:p>
            <a:pPr algn="l">
              <a:lnSpc>
                <a:spcPct val="115000"/>
              </a:lnSpc>
            </a:pPr>
            <a:r>
              <a:rPr sz="850" b="0" i="0">
                <a:solidFill>
                  <a:srgbClr val="2E3B47"/>
                </a:solidFill>
                <a:latin typeface="Calibri"/>
              </a:rPr>
              <a:t>Open → Assigned → In Progress → Completed → Verified</a:t>
            </a:r>
          </a:p>
        </p:txBody>
      </p:sp>
      <p:sp>
        <p:nvSpPr>
          <p:cNvPr id="20" name="TextBox 19"/>
          <p:cNvSpPr txBox="1"/>
          <p:nvPr/>
        </p:nvSpPr>
        <p:spPr>
          <a:xfrm>
            <a:off x="548640" y="5577840"/>
            <a:ext cx="1691640" cy="365760"/>
          </a:xfrm>
          <a:prstGeom prst="rect">
            <a:avLst/>
          </a:prstGeom>
          <a:noFill/>
        </p:spPr>
        <p:txBody>
          <a:bodyPr wrap="square" anchor="t" lIns="0" rIns="0" tIns="0" bIns="0">
            <a:spAutoFit/>
          </a:bodyPr>
          <a:lstStyle/>
          <a:p>
            <a:pPr algn="l">
              <a:lnSpc>
                <a:spcPct val="108000"/>
              </a:lnSpc>
            </a:pPr>
            <a:r>
              <a:rPr sz="850" b="0" i="0">
                <a:solidFill>
                  <a:srgbClr val="1F8A82"/>
                </a:solidFill>
                <a:latin typeface="Courier New"/>
              </a:rPr>
              <a:t>ScheduledReview</a:t>
            </a:r>
          </a:p>
        </p:txBody>
      </p:sp>
      <p:sp>
        <p:nvSpPr>
          <p:cNvPr id="21" name="TextBox 20"/>
          <p:cNvSpPr txBox="1"/>
          <p:nvPr/>
        </p:nvSpPr>
        <p:spPr>
          <a:xfrm>
            <a:off x="2286000" y="5577840"/>
            <a:ext cx="3931920" cy="365760"/>
          </a:xfrm>
          <a:prstGeom prst="rect">
            <a:avLst/>
          </a:prstGeom>
          <a:noFill/>
        </p:spPr>
        <p:txBody>
          <a:bodyPr wrap="square" anchor="t" lIns="0" rIns="0" tIns="0" bIns="0">
            <a:spAutoFit/>
          </a:bodyPr>
          <a:lstStyle/>
          <a:p>
            <a:pPr algn="l">
              <a:lnSpc>
                <a:spcPct val="115000"/>
              </a:lnSpc>
            </a:pPr>
            <a:r>
              <a:rPr sz="850" b="0" i="0">
                <a:solidFill>
                  <a:srgbClr val="2E3B47"/>
                </a:solidFill>
                <a:latin typeface="Calibri"/>
              </a:rPr>
              <a:t>Scheduled → In Progress → Completed / Overdue</a:t>
            </a:r>
          </a:p>
        </p:txBody>
      </p:sp>
      <p:sp>
        <p:nvSpPr>
          <p:cNvPr id="22" name="Rectangle 21"/>
          <p:cNvSpPr/>
          <p:nvPr/>
        </p:nvSpPr>
        <p:spPr>
          <a:xfrm>
            <a:off x="6400800" y="1444752"/>
            <a:ext cx="5212080" cy="237744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1968" y="1554480"/>
            <a:ext cx="4846320" cy="274320"/>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Executive alerting — computed on read</a:t>
            </a:r>
          </a:p>
        </p:txBody>
      </p:sp>
      <p:sp>
        <p:nvSpPr>
          <p:cNvPr id="24" name="TextBox 23"/>
          <p:cNvSpPr txBox="1"/>
          <p:nvPr/>
        </p:nvSpPr>
        <p:spPr>
          <a:xfrm>
            <a:off x="6601968" y="1865376"/>
            <a:ext cx="4846320" cy="274320"/>
          </a:xfrm>
          <a:prstGeom prst="rect">
            <a:avLst/>
          </a:prstGeom>
          <a:noFill/>
        </p:spPr>
        <p:txBody>
          <a:bodyPr wrap="square" anchor="t" lIns="0" rIns="0" tIns="0" bIns="0">
            <a:spAutoFit/>
          </a:bodyPr>
          <a:lstStyle/>
          <a:p>
            <a:pPr algn="l">
              <a:lnSpc>
                <a:spcPct val="108000"/>
              </a:lnSpc>
            </a:pPr>
            <a:r>
              <a:rPr sz="950" b="0" i="0">
                <a:solidFill>
                  <a:srgbClr val="E8EDF2"/>
                </a:solidFill>
                <a:latin typeface="Calibri"/>
              </a:rPr>
              <a:t>getExecutiveAlerts() derives four alert classes live from governance state:</a:t>
            </a:r>
          </a:p>
        </p:txBody>
      </p:sp>
      <p:sp>
        <p:nvSpPr>
          <p:cNvPr id="25" name="TextBox 24"/>
          <p:cNvSpPr txBox="1"/>
          <p:nvPr/>
        </p:nvSpPr>
        <p:spPr>
          <a:xfrm>
            <a:off x="6693408" y="2212848"/>
            <a:ext cx="4663440" cy="329184"/>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 Critical Risk — high/critical asset without a GO decision</a:t>
            </a:r>
          </a:p>
        </p:txBody>
      </p:sp>
      <p:sp>
        <p:nvSpPr>
          <p:cNvPr id="26" name="TextBox 25"/>
          <p:cNvSpPr txBox="1"/>
          <p:nvPr/>
        </p:nvSpPr>
        <p:spPr>
          <a:xfrm>
            <a:off x="6693408" y="2560320"/>
            <a:ext cx="4663440" cy="329184"/>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 Missing Ownership — unassigned accountability roles</a:t>
            </a:r>
          </a:p>
        </p:txBody>
      </p:sp>
      <p:sp>
        <p:nvSpPr>
          <p:cNvPr id="27" name="TextBox 26"/>
          <p:cNvSpPr txBox="1"/>
          <p:nvPr/>
        </p:nvSpPr>
        <p:spPr>
          <a:xfrm>
            <a:off x="6693408" y="2907792"/>
            <a:ext cx="4663440" cy="329184"/>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 Policy Violation — open or under-review breaches</a:t>
            </a:r>
          </a:p>
        </p:txBody>
      </p:sp>
      <p:sp>
        <p:nvSpPr>
          <p:cNvPr id="28" name="TextBox 27"/>
          <p:cNvSpPr txBox="1"/>
          <p:nvPr/>
        </p:nvSpPr>
        <p:spPr>
          <a:xfrm>
            <a:off x="6693408" y="3255264"/>
            <a:ext cx="4663440" cy="329184"/>
          </a:xfrm>
          <a:prstGeom prst="rect">
            <a:avLst/>
          </a:prstGeom>
          <a:noFill/>
        </p:spPr>
        <p:txBody>
          <a:bodyPr wrap="square" anchor="t" lIns="0" rIns="0" tIns="0" bIns="0">
            <a:spAutoFit/>
          </a:bodyPr>
          <a:lstStyle/>
          <a:p>
            <a:pPr algn="l">
              <a:lnSpc>
                <a:spcPct val="108000"/>
              </a:lnSpc>
            </a:pPr>
            <a:r>
              <a:rPr sz="900" b="0" i="0">
                <a:solidFill>
                  <a:srgbClr val="E8EDF2"/>
                </a:solidFill>
                <a:latin typeface="Calibri"/>
              </a:rPr>
              <a:t>▪ Expired Review — overdue scheduled reviews</a:t>
            </a:r>
          </a:p>
        </p:txBody>
      </p:sp>
      <p:sp>
        <p:nvSpPr>
          <p:cNvPr id="29" name="Rectangle 28"/>
          <p:cNvSpPr/>
          <p:nvPr/>
        </p:nvSpPr>
        <p:spPr>
          <a:xfrm>
            <a:off x="6400800" y="3950208"/>
            <a:ext cx="5212080" cy="1234440"/>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1968" y="4059936"/>
            <a:ext cx="4846320" cy="256032"/>
          </a:xfrm>
          <a:prstGeom prst="rect">
            <a:avLst/>
          </a:prstGeom>
          <a:noFill/>
        </p:spPr>
        <p:txBody>
          <a:bodyPr wrap="square" anchor="t" lIns="0" rIns="0" tIns="0" bIns="0">
            <a:spAutoFit/>
          </a:bodyPr>
          <a:lstStyle/>
          <a:p>
            <a:pPr algn="l">
              <a:lnSpc>
                <a:spcPct val="108000"/>
              </a:lnSpc>
            </a:pPr>
            <a:r>
              <a:rPr sz="1050" b="1" i="0">
                <a:solidFill>
                  <a:srgbClr val="8A5A12"/>
                </a:solidFill>
                <a:latin typeface="Calibri"/>
              </a:rPr>
              <a:t>PARTIALLY IMPLEMENTED — alerting is not event-driven</a:t>
            </a:r>
          </a:p>
        </p:txBody>
      </p:sp>
      <p:sp>
        <p:nvSpPr>
          <p:cNvPr id="31" name="TextBox 30"/>
          <p:cNvSpPr txBox="1"/>
          <p:nvPr/>
        </p:nvSpPr>
        <p:spPr>
          <a:xfrm>
            <a:off x="6601968" y="4334256"/>
            <a:ext cx="4846320" cy="749808"/>
          </a:xfrm>
          <a:prstGeom prst="rect">
            <a:avLst/>
          </a:prstGeom>
          <a:noFill/>
        </p:spPr>
        <p:txBody>
          <a:bodyPr wrap="square" anchor="t" lIns="0" rIns="0" tIns="0" bIns="0">
            <a:spAutoFit/>
          </a:bodyPr>
          <a:lstStyle/>
          <a:p>
            <a:pPr algn="l">
              <a:lnSpc>
                <a:spcPct val="115000"/>
              </a:lnSpc>
            </a:pPr>
            <a:r>
              <a:rPr sz="900" b="0" i="0">
                <a:solidFill>
                  <a:srgbClr val="2E3B47"/>
                </a:solidFill>
                <a:latin typeface="Calibri"/>
              </a:rPr>
              <a:t>GovernanceAlert records are read from storage as seeded data; only executive alerts are computed. There is no scheduler, no background job and no notification channel — alerts surface when a user opens the page.</a:t>
            </a:r>
          </a:p>
        </p:txBody>
      </p:sp>
      <p:sp>
        <p:nvSpPr>
          <p:cNvPr id="32" name="TextBox 31"/>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getGovernanceAlerts() reads GovernanceAlert seed data; getExecutiveAlerts() derives from live asset/review/violation state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14 · AUDIT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Append-only trail, plus four reconstruction views</a:t>
            </a:r>
          </a:p>
        </p:txBody>
      </p:sp>
      <p:sp>
        <p:nvSpPr>
          <p:cNvPr id="4" name="Rectangle 3"/>
          <p:cNvSpPr/>
          <p:nvPr/>
        </p:nvSpPr>
        <p:spPr>
          <a:xfrm>
            <a:off x="548640" y="1444752"/>
            <a:ext cx="5669280" cy="22860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5212080" cy="274320"/>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addAuditLog() — the single write path</a:t>
            </a:r>
          </a:p>
        </p:txBody>
      </p:sp>
      <p:sp>
        <p:nvSpPr>
          <p:cNvPr id="6" name="TextBox 5"/>
          <p:cNvSpPr txBox="1"/>
          <p:nvPr/>
        </p:nvSpPr>
        <p:spPr>
          <a:xfrm>
            <a:off x="777240" y="1865376"/>
            <a:ext cx="5212080" cy="237744"/>
          </a:xfrm>
          <a:prstGeom prst="rect">
            <a:avLst/>
          </a:prstGeom>
          <a:noFill/>
        </p:spPr>
        <p:txBody>
          <a:bodyPr wrap="square" anchor="t" lIns="0" rIns="0" tIns="0" bIns="0">
            <a:spAutoFit/>
          </a:bodyPr>
          <a:lstStyle/>
          <a:p>
            <a:pPr algn="l">
              <a:lnSpc>
                <a:spcPct val="108000"/>
              </a:lnSpc>
            </a:pPr>
            <a:r>
              <a:rPr sz="950" b="0" i="0">
                <a:solidFill>
                  <a:srgbClr val="E8EDF2"/>
                </a:solidFill>
                <a:latin typeface="Calibri"/>
              </a:rPr>
              <a:t>Captured per entry:</a:t>
            </a:r>
          </a:p>
        </p:txBody>
      </p:sp>
      <p:sp>
        <p:nvSpPr>
          <p:cNvPr id="7" name="TextBox 6"/>
          <p:cNvSpPr txBox="1"/>
          <p:nvPr/>
        </p:nvSpPr>
        <p:spPr>
          <a:xfrm>
            <a:off x="777240" y="2103120"/>
            <a:ext cx="5212080" cy="566928"/>
          </a:xfrm>
          <a:prstGeom prst="rect">
            <a:avLst/>
          </a:prstGeom>
          <a:noFill/>
        </p:spPr>
        <p:txBody>
          <a:bodyPr wrap="square" anchor="t" lIns="0" rIns="0" tIns="0" bIns="0">
            <a:spAutoFit/>
          </a:bodyPr>
          <a:lstStyle/>
          <a:p>
            <a:pPr algn="l">
              <a:lnSpc>
                <a:spcPct val="130000"/>
              </a:lnSpc>
            </a:pPr>
            <a:r>
              <a:rPr sz="800" b="0" i="0">
                <a:solidFill>
                  <a:srgbClr val="FFFFFF"/>
                </a:solidFill>
                <a:latin typeface="Courier New"/>
              </a:rPr>
              <a:t>id · timestamp · userId · userName · userRole · action · entityType · entityId · entityName · details · ipAddress</a:t>
            </a:r>
          </a:p>
        </p:txBody>
      </p:sp>
      <p:sp>
        <p:nvSpPr>
          <p:cNvPr id="8" name="TextBox 7"/>
          <p:cNvSpPr txBox="1"/>
          <p:nvPr/>
        </p:nvSpPr>
        <p:spPr>
          <a:xfrm>
            <a:off x="777240" y="2724912"/>
            <a:ext cx="5212080" cy="896112"/>
          </a:xfrm>
          <a:prstGeom prst="rect">
            <a:avLst/>
          </a:prstGeom>
          <a:noFill/>
        </p:spPr>
        <p:txBody>
          <a:bodyPr wrap="square" anchor="t" lIns="0" rIns="0" tIns="0" bIns="0">
            <a:spAutoFit/>
          </a:bodyPr>
          <a:lstStyle/>
          <a:p>
            <a:pPr algn="l">
              <a:lnSpc>
                <a:spcPct val="115000"/>
              </a:lnSpc>
            </a:pPr>
            <a:r>
              <a:rPr sz="900" b="0" i="0">
                <a:solidFill>
                  <a:srgbClr val="E8EDF2"/>
                </a:solidFill>
                <a:latin typeface="Calibri"/>
              </a:rPr>
              <a:t>21 entity types are auditable, spanning Asset, Ownership, Risk, Decision, Validation, Evidence, Finding, Compliance, Governance Policy, Condition Definition, Outcome Rule, Action Rule, Governance Profile, KillSwitch, Override, Incident, Retirement, Review, CorrectiveAction, Policy and ChangeRequest.</a:t>
            </a:r>
          </a:p>
        </p:txBody>
      </p:sp>
      <p:sp>
        <p:nvSpPr>
          <p:cNvPr id="9" name="TextBox 8"/>
          <p:cNvSpPr txBox="1"/>
          <p:nvPr/>
        </p:nvSpPr>
        <p:spPr>
          <a:xfrm>
            <a:off x="6400800" y="1444752"/>
            <a:ext cx="5212080" cy="256032"/>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FOUR RECONSTRUCTION VIEWS</a:t>
            </a:r>
          </a:p>
        </p:txBody>
      </p:sp>
      <p:sp>
        <p:nvSpPr>
          <p:cNvPr id="10" name="Rectangle 9"/>
          <p:cNvSpPr/>
          <p:nvPr/>
        </p:nvSpPr>
        <p:spPr>
          <a:xfrm>
            <a:off x="6400800" y="1755648"/>
            <a:ext cx="5212080" cy="43891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792224"/>
            <a:ext cx="4846320" cy="201168"/>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Governance Timeline</a:t>
            </a:r>
          </a:p>
        </p:txBody>
      </p:sp>
      <p:sp>
        <p:nvSpPr>
          <p:cNvPr id="12" name="TextBox 11"/>
          <p:cNvSpPr txBox="1"/>
          <p:nvPr/>
        </p:nvSpPr>
        <p:spPr>
          <a:xfrm>
            <a:off x="6583680" y="1975104"/>
            <a:ext cx="4846320" cy="201168"/>
          </a:xfrm>
          <a:prstGeom prst="rect">
            <a:avLst/>
          </a:prstGeom>
          <a:noFill/>
        </p:spPr>
        <p:txBody>
          <a:bodyPr wrap="square" anchor="t" lIns="0" rIns="0" tIns="0" bIns="0">
            <a:spAutoFit/>
          </a:bodyPr>
          <a:lstStyle/>
          <a:p>
            <a:pPr algn="l">
              <a:lnSpc>
                <a:spcPct val="108000"/>
              </a:lnSpc>
            </a:pPr>
            <a:r>
              <a:rPr sz="850" b="0" i="0">
                <a:solidFill>
                  <a:srgbClr val="76858F"/>
                </a:solidFill>
                <a:latin typeface="Calibri"/>
              </a:rPr>
              <a:t>getGovernanceTimeline(assetId) merges 8 event types into one chronology</a:t>
            </a:r>
          </a:p>
        </p:txBody>
      </p:sp>
      <p:sp>
        <p:nvSpPr>
          <p:cNvPr id="13" name="Rectangle 12"/>
          <p:cNvSpPr/>
          <p:nvPr/>
        </p:nvSpPr>
        <p:spPr>
          <a:xfrm>
            <a:off x="6400800" y="2267712"/>
            <a:ext cx="5212080" cy="43891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304288"/>
            <a:ext cx="4846320" cy="201168"/>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Change History</a:t>
            </a:r>
          </a:p>
        </p:txBody>
      </p:sp>
      <p:sp>
        <p:nvSpPr>
          <p:cNvPr id="15" name="TextBox 14"/>
          <p:cNvSpPr txBox="1"/>
          <p:nvPr/>
        </p:nvSpPr>
        <p:spPr>
          <a:xfrm>
            <a:off x="6583680" y="2487168"/>
            <a:ext cx="4846320" cy="201168"/>
          </a:xfrm>
          <a:prstGeom prst="rect">
            <a:avLst/>
          </a:prstGeom>
          <a:noFill/>
        </p:spPr>
        <p:txBody>
          <a:bodyPr wrap="square" anchor="t" lIns="0" rIns="0" tIns="0" bIns="0">
            <a:spAutoFit/>
          </a:bodyPr>
          <a:lstStyle/>
          <a:p>
            <a:pPr algn="l">
              <a:lnSpc>
                <a:spcPct val="108000"/>
              </a:lnSpc>
            </a:pPr>
            <a:r>
              <a:rPr sz="850" b="0" i="0">
                <a:solidFill>
                  <a:srgbClr val="76858F"/>
                </a:solidFill>
                <a:latin typeface="Calibri"/>
              </a:rPr>
              <a:t>Stored entries merged with narrative derived from the change register</a:t>
            </a:r>
          </a:p>
        </p:txBody>
      </p:sp>
      <p:sp>
        <p:nvSpPr>
          <p:cNvPr id="16" name="Rectangle 15"/>
          <p:cNvSpPr/>
          <p:nvPr/>
        </p:nvSpPr>
        <p:spPr>
          <a:xfrm>
            <a:off x="6400800" y="2779776"/>
            <a:ext cx="5212080" cy="43891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816352"/>
            <a:ext cx="4846320" cy="201168"/>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Board &amp; Regulator Reporting</a:t>
            </a:r>
          </a:p>
        </p:txBody>
      </p:sp>
      <p:sp>
        <p:nvSpPr>
          <p:cNvPr id="18" name="TextBox 17"/>
          <p:cNvSpPr txBox="1"/>
          <p:nvPr/>
        </p:nvSpPr>
        <p:spPr>
          <a:xfrm>
            <a:off x="6583680" y="2999232"/>
            <a:ext cx="4846320" cy="201168"/>
          </a:xfrm>
          <a:prstGeom prst="rect">
            <a:avLst/>
          </a:prstGeom>
          <a:noFill/>
        </p:spPr>
        <p:txBody>
          <a:bodyPr wrap="square" anchor="t" lIns="0" rIns="0" tIns="0" bIns="0">
            <a:spAutoFit/>
          </a:bodyPr>
          <a:lstStyle/>
          <a:p>
            <a:pPr algn="l">
              <a:lnSpc>
                <a:spcPct val="108000"/>
              </a:lnSpc>
            </a:pPr>
            <a:r>
              <a:rPr sz="850" b="0" i="0">
                <a:solidFill>
                  <a:srgbClr val="76858F"/>
                </a:solidFill>
                <a:latin typeface="Calibri"/>
              </a:rPr>
              <a:t>buildExecutiveGovernanceReport() + buildAuditReadinessReport()</a:t>
            </a:r>
          </a:p>
        </p:txBody>
      </p:sp>
      <p:sp>
        <p:nvSpPr>
          <p:cNvPr id="19" name="Rectangle 18"/>
          <p:cNvSpPr/>
          <p:nvPr/>
        </p:nvSpPr>
        <p:spPr>
          <a:xfrm>
            <a:off x="6400800" y="3291840"/>
            <a:ext cx="5212080" cy="43891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328416"/>
            <a:ext cx="4846320" cy="201168"/>
          </a:xfrm>
          <a:prstGeom prst="rect">
            <a:avLst/>
          </a:prstGeom>
          <a:noFill/>
        </p:spPr>
        <p:txBody>
          <a:bodyPr wrap="square" anchor="t" lIns="0" rIns="0" tIns="0" bIns="0">
            <a:spAutoFit/>
          </a:bodyPr>
          <a:lstStyle/>
          <a:p>
            <a:pPr algn="l">
              <a:lnSpc>
                <a:spcPct val="108000"/>
              </a:lnSpc>
            </a:pPr>
            <a:r>
              <a:rPr sz="1100" b="1" i="0">
                <a:solidFill>
                  <a:srgbClr val="22303C"/>
                </a:solidFill>
                <a:latin typeface="Calibri"/>
              </a:rPr>
              <a:t>Decision Traceability (R9)</a:t>
            </a:r>
          </a:p>
        </p:txBody>
      </p:sp>
      <p:sp>
        <p:nvSpPr>
          <p:cNvPr id="21" name="TextBox 20"/>
          <p:cNvSpPr txBox="1"/>
          <p:nvPr/>
        </p:nvSpPr>
        <p:spPr>
          <a:xfrm>
            <a:off x="6583680" y="3511296"/>
            <a:ext cx="4846320" cy="201168"/>
          </a:xfrm>
          <a:prstGeom prst="rect">
            <a:avLst/>
          </a:prstGeom>
          <a:noFill/>
        </p:spPr>
        <p:txBody>
          <a:bodyPr wrap="square" anchor="t" lIns="0" rIns="0" tIns="0" bIns="0">
            <a:spAutoFit/>
          </a:bodyPr>
          <a:lstStyle/>
          <a:p>
            <a:pPr algn="l">
              <a:lnSpc>
                <a:spcPct val="108000"/>
              </a:lnSpc>
            </a:pPr>
            <a:r>
              <a:rPr sz="850" b="0" i="0">
                <a:solidFill>
                  <a:srgbClr val="76858F"/>
                </a:solidFill>
                <a:latin typeface="Calibri"/>
              </a:rPr>
              <a:t>buildDecisionTrace() reconstructs Condition → ... → Human Decision end-to-end</a:t>
            </a:r>
          </a:p>
        </p:txBody>
      </p:sp>
      <p:sp>
        <p:nvSpPr>
          <p:cNvPr id="22" name="Rectangle 21"/>
          <p:cNvSpPr/>
          <p:nvPr/>
        </p:nvSpPr>
        <p:spPr>
          <a:xfrm>
            <a:off x="548640" y="3858768"/>
            <a:ext cx="5669280" cy="960120"/>
          </a:xfrm>
          <a:prstGeom prst="rect">
            <a:avLst/>
          </a:prstGeom>
          <a:solidFill>
            <a:srgbClr val="E7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950208"/>
            <a:ext cx="5212080" cy="237744"/>
          </a:xfrm>
          <a:prstGeom prst="rect">
            <a:avLst/>
          </a:prstGeom>
          <a:noFill/>
        </p:spPr>
        <p:txBody>
          <a:bodyPr wrap="square" anchor="t" lIns="0" rIns="0" tIns="0" bIns="0">
            <a:spAutoFit/>
          </a:bodyPr>
          <a:lstStyle/>
          <a:p>
            <a:pPr algn="l">
              <a:lnSpc>
                <a:spcPct val="108000"/>
              </a:lnSpc>
            </a:pPr>
            <a:r>
              <a:rPr sz="1200" b="1" i="0">
                <a:solidFill>
                  <a:srgbClr val="155F59"/>
                </a:solidFill>
                <a:latin typeface="Calibri"/>
              </a:rPr>
              <a:t>Append-only by construction</a:t>
            </a:r>
          </a:p>
        </p:txBody>
      </p:sp>
      <p:sp>
        <p:nvSpPr>
          <p:cNvPr id="24" name="TextBox 23"/>
          <p:cNvSpPr txBox="1"/>
          <p:nvPr/>
        </p:nvSpPr>
        <p:spPr>
          <a:xfrm>
            <a:off x="777240" y="4206240"/>
            <a:ext cx="5212080" cy="512064"/>
          </a:xfrm>
          <a:prstGeom prst="rect">
            <a:avLst/>
          </a:prstGeom>
          <a:noFill/>
        </p:spPr>
        <p:txBody>
          <a:bodyPr wrap="square" anchor="t" lIns="0" rIns="0" tIns="0" bIns="0">
            <a:spAutoFit/>
          </a:bodyPr>
          <a:lstStyle/>
          <a:p>
            <a:pPr algn="l">
              <a:lnSpc>
                <a:spcPct val="120000"/>
              </a:lnSpc>
            </a:pPr>
            <a:r>
              <a:rPr sz="1000" b="0" i="0">
                <a:solidFill>
                  <a:srgbClr val="2E3B47"/>
                </a:solidFill>
                <a:latin typeface="Calibri"/>
              </a:rPr>
              <a:t>Entries are unshifted onto the front of the collection. No update or delete path for audit records exists anywhere in the codebase.</a:t>
            </a:r>
          </a:p>
        </p:txBody>
      </p:sp>
      <p:sp>
        <p:nvSpPr>
          <p:cNvPr id="25" name="Rectangle 24"/>
          <p:cNvSpPr/>
          <p:nvPr/>
        </p:nvSpPr>
        <p:spPr>
          <a:xfrm>
            <a:off x="548640" y="4956048"/>
            <a:ext cx="11064240" cy="1024128"/>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65776"/>
            <a:ext cx="7772400" cy="256032"/>
          </a:xfrm>
          <a:prstGeom prst="rect">
            <a:avLst/>
          </a:prstGeom>
          <a:noFill/>
        </p:spPr>
        <p:txBody>
          <a:bodyPr wrap="square" anchor="t" lIns="0" rIns="0" tIns="0" bIns="0">
            <a:spAutoFit/>
          </a:bodyPr>
          <a:lstStyle/>
          <a:p>
            <a:pPr algn="l">
              <a:lnSpc>
                <a:spcPct val="108000"/>
              </a:lnSpc>
            </a:pPr>
            <a:r>
              <a:rPr sz="1200" b="1" i="0">
                <a:solidFill>
                  <a:srgbClr val="8A5A12"/>
                </a:solidFill>
                <a:latin typeface="Calibri"/>
              </a:rPr>
              <a:t>STILL TRUE TODAY — immutability is a convention, not a control</a:t>
            </a:r>
          </a:p>
        </p:txBody>
      </p:sp>
      <p:sp>
        <p:nvSpPr>
          <p:cNvPr id="27" name="TextBox 26"/>
          <p:cNvSpPr txBox="1"/>
          <p:nvPr/>
        </p:nvSpPr>
        <p:spPr>
          <a:xfrm>
            <a:off x="822960" y="5340096"/>
            <a:ext cx="10515600" cy="548640"/>
          </a:xfrm>
          <a:prstGeom prst="rect">
            <a:avLst/>
          </a:prstGeom>
          <a:noFill/>
        </p:spPr>
        <p:txBody>
          <a:bodyPr wrap="square" anchor="t" lIns="0" rIns="0" tIns="0" bIns="0">
            <a:spAutoFit/>
          </a:bodyPr>
          <a:lstStyle/>
          <a:p>
            <a:pPr algn="l">
              <a:lnSpc>
                <a:spcPct val="120000"/>
              </a:lnSpc>
            </a:pPr>
            <a:r>
              <a:rPr sz="1050" b="0" i="0">
                <a:solidFill>
                  <a:srgbClr val="2E3B47"/>
                </a:solidFill>
                <a:latin typeface="Calibri"/>
              </a:rPr>
              <a:t>Append-only is enforced by application discipline. Records live in browser localStorage where any user can edit or clear them via developer tools; timestamps are client-generated and ipAddress is hard-coded to 127.0.0.1 (Local). Uniquely among domains, this one never moved server-side even as everything else did.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15 · COMPLIANCE &amp; REGULATORY KNOWLEDGE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Two parallel chains, both API-first since day one</a:t>
            </a:r>
          </a:p>
        </p:txBody>
      </p:sp>
      <p:sp>
        <p:nvSpPr>
          <p:cNvPr id="4" name="Rectangle 3"/>
          <p:cNvSpPr/>
          <p:nvPr/>
        </p:nvSpPr>
        <p:spPr>
          <a:xfrm>
            <a:off x="548640" y="1444752"/>
            <a:ext cx="5486400" cy="27432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5029200" cy="274320"/>
          </a:xfrm>
          <a:prstGeom prst="rect">
            <a:avLst/>
          </a:prstGeom>
          <a:noFill/>
        </p:spPr>
        <p:txBody>
          <a:bodyPr wrap="square" anchor="t" lIns="0" rIns="0" tIns="0" bIns="0">
            <a:spAutoFit/>
          </a:bodyPr>
          <a:lstStyle/>
          <a:p>
            <a:pPr algn="l">
              <a:lnSpc>
                <a:spcPct val="108000"/>
              </a:lnSpc>
            </a:pPr>
            <a:r>
              <a:rPr sz="1200" b="1" i="0">
                <a:solidFill>
                  <a:srgbClr val="22303C"/>
                </a:solidFill>
                <a:latin typeface="Calibri"/>
              </a:rPr>
              <a:t>Compliance Pack Framework — Release 5 / 5.1</a:t>
            </a:r>
          </a:p>
        </p:txBody>
      </p:sp>
      <p:sp>
        <p:nvSpPr>
          <p:cNvPr id="6" name="TextBox 5"/>
          <p:cNvSpPr txBox="1"/>
          <p:nvPr/>
        </p:nvSpPr>
        <p:spPr>
          <a:xfrm>
            <a:off x="777240" y="1900000"/>
            <a:ext cx="5029200" cy="292608"/>
          </a:xfrm>
          <a:prstGeom prst="rect">
            <a:avLst/>
          </a:prstGeom>
          <a:noFill/>
        </p:spPr>
        <p:txBody>
          <a:bodyPr wrap="square" anchor="t" lIns="0" rIns="0" tIns="0" bIns="0">
            <a:spAutoFit/>
          </a:bodyPr>
          <a:lstStyle/>
          <a:p>
            <a:pPr algn="l">
              <a:lnSpc>
                <a:spcPct val="115000"/>
              </a:lnSpc>
            </a:pPr>
            <a:r>
              <a:rPr sz="850" b="0" i="0">
                <a:solidFill>
                  <a:srgbClr val="1F8A82"/>
                </a:solidFill>
                <a:latin typeface="Courier New"/>
              </a:rPr>
              <a:t>CompliancePack → ComplianceRequirement → PackControl → EvidenceMapping</a:t>
            </a:r>
          </a:p>
        </p:txBody>
      </p:sp>
      <p:sp>
        <p:nvSpPr>
          <p:cNvPr id="7" name="TextBox 6"/>
          <p:cNvSpPr txBox="1"/>
          <p:nvPr/>
        </p:nvSpPr>
        <p:spPr>
          <a:xfrm>
            <a:off x="777240" y="2286000"/>
            <a:ext cx="5029200" cy="274320"/>
          </a:xfrm>
          <a:prstGeom prst="rect">
            <a:avLst/>
          </a:prstGeom>
          <a:noFill/>
        </p:spPr>
        <p:txBody>
          <a:bodyPr wrap="square" anchor="t" lIns="0" rIns="0" tIns="0" bIns="0">
            <a:spAutoFit/>
          </a:bodyPr>
          <a:lstStyle/>
          <a:p>
            <a:pPr algn="l">
              <a:lnSpc>
                <a:spcPct val="108000"/>
              </a:lnSpc>
            </a:pPr>
            <a:r>
              <a:rPr sz="800" b="0" i="0">
                <a:solidFill>
                  <a:srgbClr val="76858F"/>
                </a:solidFill>
                <a:latin typeface="Courier New"/>
              </a:rPr>
              <a:t>5 endpoints, full CRUD  ·  apiCompliancePackRepository + 3 more</a:t>
            </a:r>
          </a:p>
        </p:txBody>
      </p:sp>
      <p:sp>
        <p:nvSpPr>
          <p:cNvPr id="8" name="TextBox 7"/>
          <p:cNvSpPr txBox="1"/>
          <p:nvPr/>
        </p:nvSpPr>
        <p:spPr>
          <a:xfrm>
            <a:off x="777240" y="2650000"/>
            <a:ext cx="5029200" cy="1400000"/>
          </a:xfrm>
          <a:prstGeom prst="rect">
            <a:avLst/>
          </a:prstGeom>
          <a:noFill/>
        </p:spPr>
        <p:txBody>
          <a:bodyPr wrap="square" anchor="t" lIns="0" rIns="0" tIns="0" bIns="0">
            <a:spAutoFit/>
          </a:bodyPr>
          <a:lstStyle/>
          <a:p>
            <a:pPr algn="l">
              <a:lnSpc>
                <a:spcPct val="120000"/>
              </a:lnSpc>
            </a:pPr>
            <a:r>
              <a:rPr sz="950" b="0" i="0">
                <a:solidFill>
                  <a:srgbClr val="2E3B47"/>
                </a:solidFill>
                <a:latin typeface="Calibri"/>
              </a:rPr>
              <a:t>Coverage is computed from real linkage (computePackCoverage(), computeRequirementCoverage()), not typed in — full / partial / no coverage, never a fabricated percentage. Release 5.1 moved this domain off local storage onto Neon after it shipped local-first, correcting the pattern every domain since has followed.</a:t>
            </a:r>
          </a:p>
        </p:txBody>
      </p:sp>
      <p:sp>
        <p:nvSpPr>
          <p:cNvPr id="9" name="Rectangle 8"/>
          <p:cNvSpPr/>
          <p:nvPr/>
        </p:nvSpPr>
        <p:spPr>
          <a:xfrm>
            <a:off x="6400800" y="1444752"/>
            <a:ext cx="5212080" cy="27432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01968" y="1554480"/>
            <a:ext cx="4846320" cy="274320"/>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Regulatory Knowledge Engine — Release 6</a:t>
            </a:r>
          </a:p>
        </p:txBody>
      </p:sp>
      <p:sp>
        <p:nvSpPr>
          <p:cNvPr id="11" name="TextBox 10"/>
          <p:cNvSpPr txBox="1"/>
          <p:nvPr/>
        </p:nvSpPr>
        <p:spPr>
          <a:xfrm>
            <a:off x="6601968" y="1900000"/>
            <a:ext cx="4846320" cy="400000"/>
          </a:xfrm>
          <a:prstGeom prst="rect">
            <a:avLst/>
          </a:prstGeom>
          <a:noFill/>
        </p:spPr>
        <p:txBody>
          <a:bodyPr wrap="square" anchor="t" lIns="0" rIns="0" tIns="0" bIns="0">
            <a:spAutoFit/>
          </a:bodyPr>
          <a:lstStyle/>
          <a:p>
            <a:pPr algn="l">
              <a:lnSpc>
                <a:spcPct val="115000"/>
              </a:lnSpc>
            </a:pPr>
            <a:r>
              <a:rPr sz="819" b="0" i="0">
                <a:solidFill>
                  <a:srgbClr val="E8EDF2"/>
                </a:solidFill>
                <a:latin typeface="Courier New"/>
              </a:rPr>
              <a:t>RegulatorySource → RegulatoryRequirement → Obligation →</a:t>
            </a:r>
          </a:p>
          <a:p>
            <a:pPr algn="l">
              <a:lnSpc>
                <a:spcPct val="115000"/>
              </a:lnSpc>
            </a:pPr>
            <a:r>
              <a:rPr sz="819" b="0" i="0">
                <a:solidFill>
                  <a:srgbClr val="E8EDF2"/>
                </a:solidFill>
                <a:latin typeface="Courier New"/>
              </a:rPr>
              <a:t>ObligationControl → ObligationEvidenceMapping</a:t>
            </a:r>
          </a:p>
        </p:txBody>
      </p:sp>
      <p:sp>
        <p:nvSpPr>
          <p:cNvPr id="12" name="TextBox 11"/>
          <p:cNvSpPr txBox="1"/>
          <p:nvPr/>
        </p:nvSpPr>
        <p:spPr>
          <a:xfrm>
            <a:off x="6601968" y="2400000"/>
            <a:ext cx="4846320" cy="274320"/>
          </a:xfrm>
          <a:prstGeom prst="rect">
            <a:avLst/>
          </a:prstGeom>
          <a:noFill/>
        </p:spPr>
        <p:txBody>
          <a:bodyPr wrap="square" anchor="t" lIns="0" rIns="0" tIns="0" bIns="0">
            <a:spAutoFit/>
          </a:bodyPr>
          <a:lstStyle/>
          <a:p>
            <a:pPr algn="l">
              <a:lnSpc>
                <a:spcPct val="108000"/>
              </a:lnSpc>
            </a:pPr>
            <a:r>
              <a:rPr sz="800" b="0" i="0">
                <a:solidFill>
                  <a:srgbClr val="B9C6D1"/>
                </a:solidFill>
                <a:latin typeface="Courier New"/>
              </a:rPr>
              <a:t>5 endpoints, full CRUD  ·  apiRegulatorySourceRepository + 4 more</a:t>
            </a:r>
          </a:p>
        </p:txBody>
      </p:sp>
      <p:sp>
        <p:nvSpPr>
          <p:cNvPr id="13" name="TextBox 12"/>
          <p:cNvSpPr txBox="1"/>
          <p:nvPr/>
        </p:nvSpPr>
        <p:spPr>
          <a:xfrm>
            <a:off x="6601968" y="2760000"/>
            <a:ext cx="4846320" cy="1250000"/>
          </a:xfrm>
          <a:prstGeom prst="rect">
            <a:avLst/>
          </a:prstGeom>
          <a:noFill/>
        </p:spPr>
        <p:txBody>
          <a:bodyPr wrap="square" anchor="t" lIns="0" rIns="0" tIns="0" bIns="0">
            <a:spAutoFit/>
          </a:bodyPr>
          <a:lstStyle/>
          <a:p>
            <a:pPr algn="l">
              <a:lnSpc>
                <a:spcPct val="120000"/>
              </a:lnSpc>
            </a:pPr>
            <a:r>
              <a:rPr sz="950" b="0" i="0">
                <a:solidFill>
                  <a:srgbClr val="E8EDF2"/>
                </a:solidFill>
                <a:latin typeface="Calibri"/>
              </a:rPr>
              <a:t>One additional layer versus the Compliance Pack chain — the Obligation — turns a regulatory requirement into a named, owned, actionable duty. This is the reusable foundation every future regulation (RBI, ISO 42001, EU AI Act, NIST AI RMF) plugs into as data, not as a redesign.</a:t>
            </a:r>
          </a:p>
        </p:txBody>
      </p:sp>
      <p:sp>
        <p:nvSpPr>
          <p:cNvPr id="14" name="Rectangle 13"/>
          <p:cNvSpPr/>
          <p:nvPr/>
        </p:nvSpPr>
        <p:spPr>
          <a:xfrm>
            <a:off x="548640" y="4370832"/>
            <a:ext cx="11064240" cy="1450000"/>
          </a:xfrm>
          <a:prstGeom prst="rect">
            <a:avLst/>
          </a:prstGeom>
          <a:solidFill>
            <a:srgbClr val="E7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70000"/>
            <a:ext cx="10515600" cy="274320"/>
          </a:xfrm>
          <a:prstGeom prst="rect">
            <a:avLst/>
          </a:prstGeom>
          <a:noFill/>
        </p:spPr>
        <p:txBody>
          <a:bodyPr wrap="square" anchor="t" lIns="0" rIns="0" tIns="0" bIns="0">
            <a:spAutoFit/>
          </a:bodyPr>
          <a:lstStyle/>
          <a:p>
            <a:pPr algn="l">
              <a:lnSpc>
                <a:spcPct val="108000"/>
              </a:lnSpc>
            </a:pPr>
            <a:r>
              <a:rPr sz="1200" b="1" i="0">
                <a:solidFill>
                  <a:srgbClr val="155F59"/>
                </a:solidFill>
                <a:latin typeface="Calibri"/>
              </a:rPr>
              <a:t>Both chains are Api-first from day one, unlike the Phase 1-3/9/10 domains</a:t>
            </a:r>
          </a:p>
        </p:txBody>
      </p:sp>
      <p:sp>
        <p:nvSpPr>
          <p:cNvPr id="16" name="TextBox 15"/>
          <p:cNvSpPr txBox="1"/>
          <p:nvPr/>
        </p:nvSpPr>
        <p:spPr>
          <a:xfrm>
            <a:off x="822960" y="4780000"/>
            <a:ext cx="10515600" cy="900000"/>
          </a:xfrm>
          <a:prstGeom prst="rect">
            <a:avLst/>
          </a:prstGeom>
          <a:noFill/>
        </p:spPr>
        <p:txBody>
          <a:bodyPr wrap="square" anchor="t" lIns="0" rIns="0" tIns="0" bIns="0">
            <a:spAutoFit/>
          </a:bodyPr>
          <a:lstStyle/>
          <a:p>
            <a:pPr algn="l">
              <a:lnSpc>
                <a:spcPct val="120000"/>
              </a:lnSpc>
            </a:pPr>
            <a:r>
              <a:rPr sz="1000" b="0" i="0">
                <a:solidFill>
                  <a:srgbClr val="2E3B47"/>
                </a:solidFill>
                <a:latin typeface="Calibri"/>
              </a:rPr>
              <a:t>getCompliancePackRepository() and getRegulatorySourceRepository() never branch on data mode — Local remains a fallback utility only. This is the pattern Release 6 established and every subsequent release (7-10) followed: no local-storage-first detour before going server-backed.</a:t>
            </a:r>
          </a:p>
        </p:txBody>
      </p:sp>
      <p:sp>
        <p:nvSpPr>
          <p:cNvPr id="17" name="TextBox 16"/>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10 GET/POST/PATCH/DELETE endpoints for these two chains in app.controller.ts; repositories/index.ts factory functions never branch on getDataMode()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16 · GOVERNANCE INTELLIGENCE &amp; ACTIONS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Reasoning, recommendation, traceability in one chain</a:t>
            </a:r>
          </a:p>
        </p:txBody>
      </p:sp>
      <p:sp>
        <p:nvSpPr>
          <p:cNvPr id="4" name="Rectangle 3"/>
          <p:cNvSpPr/>
          <p:nvPr/>
        </p:nvSpPr>
        <p:spPr>
          <a:xfrm>
            <a:off x="726000" y="1444752"/>
            <a:ext cx="1500000" cy="73152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6000" y="1444752"/>
            <a:ext cx="1500000" cy="550000"/>
          </a:xfrm>
          <a:prstGeom prst="rect">
            <a:avLst/>
          </a:prstGeom>
          <a:noFill/>
        </p:spPr>
        <p:txBody>
          <a:bodyPr wrap="square" anchor="ctr" lIns="0" rIns="0" tIns="0" bIns="0">
            <a:spAutoFit/>
          </a:bodyPr>
          <a:lstStyle/>
          <a:p>
            <a:pPr algn="ctr">
              <a:lnSpc>
                <a:spcPct val="108000"/>
              </a:lnSpc>
            </a:pPr>
            <a:r>
              <a:rPr sz="1200" b="1" i="0">
                <a:solidFill>
                  <a:srgbClr val="1F8A82"/>
                </a:solidFill>
                <a:latin typeface="Calibri"/>
              </a:rPr>
              <a:t>Policy</a:t>
            </a:r>
          </a:p>
        </p:txBody>
      </p:sp>
      <p:sp>
        <p:nvSpPr>
          <p:cNvPr id="6" name="TextBox 5"/>
          <p:cNvSpPr txBox="1"/>
          <p:nvPr/>
        </p:nvSpPr>
        <p:spPr>
          <a:xfrm>
            <a:off x="726000" y="1904752"/>
            <a:ext cx="1500000" cy="240000"/>
          </a:xfrm>
          <a:prstGeom prst="rect">
            <a:avLst/>
          </a:prstGeom>
          <a:noFill/>
        </p:spPr>
        <p:txBody>
          <a:bodyPr wrap="square" anchor="t" lIns="0" rIns="0" tIns="0" bIns="0">
            <a:spAutoFit/>
          </a:bodyPr>
          <a:lstStyle/>
          <a:p>
            <a:pPr algn="ctr">
              <a:lnSpc>
                <a:spcPct val="108000"/>
              </a:lnSpc>
            </a:pPr>
            <a:r>
              <a:rPr sz="750" b="0" i="0">
                <a:solidFill>
                  <a:srgbClr val="B9C6D1"/>
                </a:solidFill>
                <a:latin typeface="Calibri"/>
              </a:rPr>
              <a:t>Neon</a:t>
            </a:r>
          </a:p>
        </p:txBody>
      </p:sp>
      <p:sp>
        <p:nvSpPr>
          <p:cNvPr id="7" name="TextBox 6"/>
          <p:cNvSpPr txBox="1"/>
          <p:nvPr/>
        </p:nvSpPr>
        <p:spPr>
          <a:xfrm>
            <a:off x="2226000" y="1444752"/>
            <a:ext cx="60000" cy="731520"/>
          </a:xfrm>
          <a:prstGeom prst="rect">
            <a:avLst/>
          </a:prstGeom>
          <a:noFill/>
        </p:spPr>
        <p:txBody>
          <a:bodyPr wrap="square" anchor="ctr" lIns="0" rIns="0" tIns="0" bIns="0">
            <a:spAutoFit/>
          </a:bodyPr>
          <a:lstStyle/>
          <a:p>
            <a:pPr algn="ctr">
              <a:lnSpc>
                <a:spcPct val="108000"/>
              </a:lnSpc>
            </a:pPr>
            <a:r>
              <a:rPr sz="1300" b="1" i="0">
                <a:solidFill>
                  <a:srgbClr val="76858F"/>
                </a:solidFill>
                <a:latin typeface="Calibri"/>
              </a:rPr>
              <a:t>›</a:t>
            </a:r>
          </a:p>
        </p:txBody>
      </p:sp>
      <p:sp>
        <p:nvSpPr>
          <p:cNvPr id="8" name="Rectangle 7"/>
          <p:cNvSpPr/>
          <p:nvPr/>
        </p:nvSpPr>
        <p:spPr>
          <a:xfrm>
            <a:off x="2266000" y="1444752"/>
            <a:ext cx="1500000" cy="7315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66000" y="1444752"/>
            <a:ext cx="1500000" cy="550000"/>
          </a:xfrm>
          <a:prstGeom prst="rect">
            <a:avLst/>
          </a:prstGeom>
          <a:noFill/>
        </p:spPr>
        <p:txBody>
          <a:bodyPr wrap="square" anchor="ctr" lIns="0" rIns="0" tIns="0" bIns="0">
            <a:spAutoFit/>
          </a:bodyPr>
          <a:lstStyle/>
          <a:p>
            <a:pPr algn="ctr">
              <a:lnSpc>
                <a:spcPct val="108000"/>
              </a:lnSpc>
            </a:pPr>
            <a:r>
              <a:rPr sz="1200" b="1" i="0">
                <a:solidFill>
                  <a:srgbClr val="22303C"/>
                </a:solidFill>
                <a:latin typeface="Calibri"/>
              </a:rPr>
              <a:t>Condition</a:t>
            </a:r>
          </a:p>
        </p:txBody>
      </p:sp>
      <p:sp>
        <p:nvSpPr>
          <p:cNvPr id="10" name="TextBox 9"/>
          <p:cNvSpPr txBox="1"/>
          <p:nvPr/>
        </p:nvSpPr>
        <p:spPr>
          <a:xfrm>
            <a:off x="2266000" y="1904752"/>
            <a:ext cx="1500000" cy="240000"/>
          </a:xfrm>
          <a:prstGeom prst="rect">
            <a:avLst/>
          </a:prstGeom>
          <a:noFill/>
        </p:spPr>
        <p:txBody>
          <a:bodyPr wrap="square" anchor="t" lIns="0" rIns="0" tIns="0" bIns="0">
            <a:spAutoFit/>
          </a:bodyPr>
          <a:lstStyle/>
          <a:p>
            <a:pPr algn="ctr">
              <a:lnSpc>
                <a:spcPct val="108000"/>
              </a:lnSpc>
            </a:pPr>
            <a:r>
              <a:rPr sz="750" b="0" i="0">
                <a:solidFill>
                  <a:srgbClr val="76858F"/>
                </a:solidFill>
                <a:latin typeface="Calibri"/>
              </a:rPr>
              <a:t>computed</a:t>
            </a:r>
          </a:p>
        </p:txBody>
      </p:sp>
      <p:sp>
        <p:nvSpPr>
          <p:cNvPr id="11" name="TextBox 10"/>
          <p:cNvSpPr txBox="1"/>
          <p:nvPr/>
        </p:nvSpPr>
        <p:spPr>
          <a:xfrm>
            <a:off x="3766000" y="1444752"/>
            <a:ext cx="60000" cy="731520"/>
          </a:xfrm>
          <a:prstGeom prst="rect">
            <a:avLst/>
          </a:prstGeom>
          <a:noFill/>
        </p:spPr>
        <p:txBody>
          <a:bodyPr wrap="square" anchor="ctr" lIns="0" rIns="0" tIns="0" bIns="0">
            <a:spAutoFit/>
          </a:bodyPr>
          <a:lstStyle/>
          <a:p>
            <a:pPr algn="ctr">
              <a:lnSpc>
                <a:spcPct val="108000"/>
              </a:lnSpc>
            </a:pPr>
            <a:r>
              <a:rPr sz="1300" b="1" i="0">
                <a:solidFill>
                  <a:srgbClr val="76858F"/>
                </a:solidFill>
                <a:latin typeface="Calibri"/>
              </a:rPr>
              <a:t>›</a:t>
            </a:r>
          </a:p>
        </p:txBody>
      </p:sp>
      <p:sp>
        <p:nvSpPr>
          <p:cNvPr id="12" name="Rectangle 11"/>
          <p:cNvSpPr/>
          <p:nvPr/>
        </p:nvSpPr>
        <p:spPr>
          <a:xfrm>
            <a:off x="3806000" y="1444752"/>
            <a:ext cx="1500000" cy="7315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06000" y="1444752"/>
            <a:ext cx="1500000" cy="550000"/>
          </a:xfrm>
          <a:prstGeom prst="rect">
            <a:avLst/>
          </a:prstGeom>
          <a:noFill/>
        </p:spPr>
        <p:txBody>
          <a:bodyPr wrap="square" anchor="ctr" lIns="0" rIns="0" tIns="0" bIns="0">
            <a:spAutoFit/>
          </a:bodyPr>
          <a:lstStyle/>
          <a:p>
            <a:pPr algn="ctr">
              <a:lnSpc>
                <a:spcPct val="108000"/>
              </a:lnSpc>
            </a:pPr>
            <a:r>
              <a:rPr sz="1200" b="1" i="0">
                <a:solidFill>
                  <a:srgbClr val="22303C"/>
                </a:solidFill>
                <a:latin typeface="Calibri"/>
              </a:rPr>
              <a:t>Violation</a:t>
            </a:r>
          </a:p>
        </p:txBody>
      </p:sp>
      <p:sp>
        <p:nvSpPr>
          <p:cNvPr id="14" name="TextBox 13"/>
          <p:cNvSpPr txBox="1"/>
          <p:nvPr/>
        </p:nvSpPr>
        <p:spPr>
          <a:xfrm>
            <a:off x="3806000" y="1904752"/>
            <a:ext cx="1500000" cy="240000"/>
          </a:xfrm>
          <a:prstGeom prst="rect">
            <a:avLst/>
          </a:prstGeom>
          <a:noFill/>
        </p:spPr>
        <p:txBody>
          <a:bodyPr wrap="square" anchor="t" lIns="0" rIns="0" tIns="0" bIns="0">
            <a:spAutoFit/>
          </a:bodyPr>
          <a:lstStyle/>
          <a:p>
            <a:pPr algn="ctr">
              <a:lnSpc>
                <a:spcPct val="108000"/>
              </a:lnSpc>
            </a:pPr>
            <a:r>
              <a:rPr sz="750" b="0" i="0">
                <a:solidFill>
                  <a:srgbClr val="76858F"/>
                </a:solidFill>
                <a:latin typeface="Calibri"/>
              </a:rPr>
              <a:t>computed</a:t>
            </a:r>
          </a:p>
        </p:txBody>
      </p:sp>
      <p:sp>
        <p:nvSpPr>
          <p:cNvPr id="15" name="TextBox 14"/>
          <p:cNvSpPr txBox="1"/>
          <p:nvPr/>
        </p:nvSpPr>
        <p:spPr>
          <a:xfrm>
            <a:off x="5306000" y="1444752"/>
            <a:ext cx="60000" cy="731520"/>
          </a:xfrm>
          <a:prstGeom prst="rect">
            <a:avLst/>
          </a:prstGeom>
          <a:noFill/>
        </p:spPr>
        <p:txBody>
          <a:bodyPr wrap="square" anchor="ctr" lIns="0" rIns="0" tIns="0" bIns="0">
            <a:spAutoFit/>
          </a:bodyPr>
          <a:lstStyle/>
          <a:p>
            <a:pPr algn="ctr">
              <a:lnSpc>
                <a:spcPct val="108000"/>
              </a:lnSpc>
            </a:pPr>
            <a:r>
              <a:rPr sz="1300" b="1" i="0">
                <a:solidFill>
                  <a:srgbClr val="76858F"/>
                </a:solidFill>
                <a:latin typeface="Calibri"/>
              </a:rPr>
              <a:t>›</a:t>
            </a:r>
          </a:p>
        </p:txBody>
      </p:sp>
      <p:sp>
        <p:nvSpPr>
          <p:cNvPr id="16" name="Rectangle 15"/>
          <p:cNvSpPr/>
          <p:nvPr/>
        </p:nvSpPr>
        <p:spPr>
          <a:xfrm>
            <a:off x="5346000" y="1444752"/>
            <a:ext cx="1500000" cy="73152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46000" y="1444752"/>
            <a:ext cx="1500000" cy="550000"/>
          </a:xfrm>
          <a:prstGeom prst="rect">
            <a:avLst/>
          </a:prstGeom>
          <a:noFill/>
        </p:spPr>
        <p:txBody>
          <a:bodyPr wrap="square" anchor="ctr" lIns="0" rIns="0" tIns="0" bIns="0">
            <a:spAutoFit/>
          </a:bodyPr>
          <a:lstStyle/>
          <a:p>
            <a:pPr algn="ctr">
              <a:lnSpc>
                <a:spcPct val="108000"/>
              </a:lnSpc>
            </a:pPr>
            <a:r>
              <a:rPr sz="1200" b="1" i="0">
                <a:solidFill>
                  <a:srgbClr val="1F8A82"/>
                </a:solidFill>
                <a:latin typeface="Calibri"/>
              </a:rPr>
              <a:t>Finding</a:t>
            </a:r>
          </a:p>
        </p:txBody>
      </p:sp>
      <p:sp>
        <p:nvSpPr>
          <p:cNvPr id="18" name="TextBox 17"/>
          <p:cNvSpPr txBox="1"/>
          <p:nvPr/>
        </p:nvSpPr>
        <p:spPr>
          <a:xfrm>
            <a:off x="5346000" y="1904752"/>
            <a:ext cx="1500000" cy="240000"/>
          </a:xfrm>
          <a:prstGeom prst="rect">
            <a:avLst/>
          </a:prstGeom>
          <a:noFill/>
        </p:spPr>
        <p:txBody>
          <a:bodyPr wrap="square" anchor="t" lIns="0" rIns="0" tIns="0" bIns="0">
            <a:spAutoFit/>
          </a:bodyPr>
          <a:lstStyle/>
          <a:p>
            <a:pPr algn="ctr">
              <a:lnSpc>
                <a:spcPct val="108000"/>
              </a:lnSpc>
            </a:pPr>
            <a:r>
              <a:rPr sz="750" b="0" i="0">
                <a:solidFill>
                  <a:srgbClr val="B9C6D1"/>
                </a:solidFill>
                <a:latin typeface="Calibri"/>
              </a:rPr>
              <a:t>Neon</a:t>
            </a:r>
          </a:p>
        </p:txBody>
      </p:sp>
      <p:sp>
        <p:nvSpPr>
          <p:cNvPr id="19" name="TextBox 18"/>
          <p:cNvSpPr txBox="1"/>
          <p:nvPr/>
        </p:nvSpPr>
        <p:spPr>
          <a:xfrm>
            <a:off x="6846000" y="1444752"/>
            <a:ext cx="60000" cy="731520"/>
          </a:xfrm>
          <a:prstGeom prst="rect">
            <a:avLst/>
          </a:prstGeom>
          <a:noFill/>
        </p:spPr>
        <p:txBody>
          <a:bodyPr wrap="square" anchor="ctr" lIns="0" rIns="0" tIns="0" bIns="0">
            <a:spAutoFit/>
          </a:bodyPr>
          <a:lstStyle/>
          <a:p>
            <a:pPr algn="ctr">
              <a:lnSpc>
                <a:spcPct val="108000"/>
              </a:lnSpc>
            </a:pPr>
            <a:r>
              <a:rPr sz="1300" b="1" i="0">
                <a:solidFill>
                  <a:srgbClr val="76858F"/>
                </a:solidFill>
                <a:latin typeface="Calibri"/>
              </a:rPr>
              <a:t>›</a:t>
            </a:r>
          </a:p>
        </p:txBody>
      </p:sp>
      <p:sp>
        <p:nvSpPr>
          <p:cNvPr id="20" name="Rectangle 19"/>
          <p:cNvSpPr/>
          <p:nvPr/>
        </p:nvSpPr>
        <p:spPr>
          <a:xfrm>
            <a:off x="6886000" y="1444752"/>
            <a:ext cx="1500000" cy="7315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86000" y="1444752"/>
            <a:ext cx="1500000" cy="550000"/>
          </a:xfrm>
          <a:prstGeom prst="rect">
            <a:avLst/>
          </a:prstGeom>
          <a:noFill/>
        </p:spPr>
        <p:txBody>
          <a:bodyPr wrap="square" anchor="ctr" lIns="0" rIns="0" tIns="0" bIns="0">
            <a:spAutoFit/>
          </a:bodyPr>
          <a:lstStyle/>
          <a:p>
            <a:pPr algn="ctr">
              <a:lnSpc>
                <a:spcPct val="108000"/>
              </a:lnSpc>
            </a:pPr>
            <a:r>
              <a:rPr sz="1200" b="1" i="0">
                <a:solidFill>
                  <a:srgbClr val="22303C"/>
                </a:solidFill>
                <a:latin typeface="Calibri"/>
              </a:rPr>
              <a:t>Outcome</a:t>
            </a:r>
          </a:p>
        </p:txBody>
      </p:sp>
      <p:sp>
        <p:nvSpPr>
          <p:cNvPr id="22" name="TextBox 21"/>
          <p:cNvSpPr txBox="1"/>
          <p:nvPr/>
        </p:nvSpPr>
        <p:spPr>
          <a:xfrm>
            <a:off x="6886000" y="1904752"/>
            <a:ext cx="1500000" cy="240000"/>
          </a:xfrm>
          <a:prstGeom prst="rect">
            <a:avLst/>
          </a:prstGeom>
          <a:noFill/>
        </p:spPr>
        <p:txBody>
          <a:bodyPr wrap="square" anchor="t" lIns="0" rIns="0" tIns="0" bIns="0">
            <a:spAutoFit/>
          </a:bodyPr>
          <a:lstStyle/>
          <a:p>
            <a:pPr algn="ctr">
              <a:lnSpc>
                <a:spcPct val="108000"/>
              </a:lnSpc>
            </a:pPr>
            <a:r>
              <a:rPr sz="750" b="0" i="0">
                <a:solidFill>
                  <a:srgbClr val="76858F"/>
                </a:solidFill>
                <a:latin typeface="Calibri"/>
              </a:rPr>
              <a:t>computed</a:t>
            </a:r>
          </a:p>
        </p:txBody>
      </p:sp>
      <p:sp>
        <p:nvSpPr>
          <p:cNvPr id="23" name="TextBox 22"/>
          <p:cNvSpPr txBox="1"/>
          <p:nvPr/>
        </p:nvSpPr>
        <p:spPr>
          <a:xfrm>
            <a:off x="8386000" y="1444752"/>
            <a:ext cx="60000" cy="731520"/>
          </a:xfrm>
          <a:prstGeom prst="rect">
            <a:avLst/>
          </a:prstGeom>
          <a:noFill/>
        </p:spPr>
        <p:txBody>
          <a:bodyPr wrap="square" anchor="ctr" lIns="0" rIns="0" tIns="0" bIns="0">
            <a:spAutoFit/>
          </a:bodyPr>
          <a:lstStyle/>
          <a:p>
            <a:pPr algn="ctr">
              <a:lnSpc>
                <a:spcPct val="108000"/>
              </a:lnSpc>
            </a:pPr>
            <a:r>
              <a:rPr sz="1300" b="1" i="0">
                <a:solidFill>
                  <a:srgbClr val="76858F"/>
                </a:solidFill>
                <a:latin typeface="Calibri"/>
              </a:rPr>
              <a:t>›</a:t>
            </a:r>
          </a:p>
        </p:txBody>
      </p:sp>
      <p:sp>
        <p:nvSpPr>
          <p:cNvPr id="24" name="Rectangle 23"/>
          <p:cNvSpPr/>
          <p:nvPr/>
        </p:nvSpPr>
        <p:spPr>
          <a:xfrm>
            <a:off x="8426000" y="1444752"/>
            <a:ext cx="1500000" cy="73152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26000" y="1444752"/>
            <a:ext cx="1500000" cy="550000"/>
          </a:xfrm>
          <a:prstGeom prst="rect">
            <a:avLst/>
          </a:prstGeom>
          <a:noFill/>
        </p:spPr>
        <p:txBody>
          <a:bodyPr wrap="square" anchor="ctr" lIns="0" rIns="0" tIns="0" bIns="0">
            <a:spAutoFit/>
          </a:bodyPr>
          <a:lstStyle/>
          <a:p>
            <a:pPr algn="ctr">
              <a:lnSpc>
                <a:spcPct val="108000"/>
              </a:lnSpc>
            </a:pPr>
            <a:r>
              <a:rPr sz="1200" b="1" i="0">
                <a:solidFill>
                  <a:srgbClr val="1F8A82"/>
                </a:solidFill>
                <a:latin typeface="Calibri"/>
              </a:rPr>
              <a:t>Action</a:t>
            </a:r>
          </a:p>
        </p:txBody>
      </p:sp>
      <p:sp>
        <p:nvSpPr>
          <p:cNvPr id="26" name="TextBox 25"/>
          <p:cNvSpPr txBox="1"/>
          <p:nvPr/>
        </p:nvSpPr>
        <p:spPr>
          <a:xfrm>
            <a:off x="8426000" y="1904752"/>
            <a:ext cx="1500000" cy="240000"/>
          </a:xfrm>
          <a:prstGeom prst="rect">
            <a:avLst/>
          </a:prstGeom>
          <a:noFill/>
        </p:spPr>
        <p:txBody>
          <a:bodyPr wrap="square" anchor="t" lIns="0" rIns="0" tIns="0" bIns="0">
            <a:spAutoFit/>
          </a:bodyPr>
          <a:lstStyle/>
          <a:p>
            <a:pPr algn="ctr">
              <a:lnSpc>
                <a:spcPct val="108000"/>
              </a:lnSpc>
            </a:pPr>
            <a:r>
              <a:rPr sz="750" b="0" i="0">
                <a:solidFill>
                  <a:srgbClr val="B9C6D1"/>
                </a:solidFill>
                <a:latin typeface="Calibri"/>
              </a:rPr>
              <a:t>Neon</a:t>
            </a:r>
          </a:p>
        </p:txBody>
      </p:sp>
      <p:sp>
        <p:nvSpPr>
          <p:cNvPr id="27" name="TextBox 26"/>
          <p:cNvSpPr txBox="1"/>
          <p:nvPr/>
        </p:nvSpPr>
        <p:spPr>
          <a:xfrm>
            <a:off x="9926000" y="1444752"/>
            <a:ext cx="60000" cy="731520"/>
          </a:xfrm>
          <a:prstGeom prst="rect">
            <a:avLst/>
          </a:prstGeom>
          <a:noFill/>
        </p:spPr>
        <p:txBody>
          <a:bodyPr wrap="square" anchor="ctr" lIns="0" rIns="0" tIns="0" bIns="0">
            <a:spAutoFit/>
          </a:bodyPr>
          <a:lstStyle/>
          <a:p>
            <a:pPr algn="ctr">
              <a:lnSpc>
                <a:spcPct val="108000"/>
              </a:lnSpc>
            </a:pPr>
            <a:r>
              <a:rPr sz="1300" b="1" i="0">
                <a:solidFill>
                  <a:srgbClr val="76858F"/>
                </a:solidFill>
                <a:latin typeface="Calibri"/>
              </a:rPr>
              <a:t>›</a:t>
            </a:r>
          </a:p>
        </p:txBody>
      </p:sp>
      <p:sp>
        <p:nvSpPr>
          <p:cNvPr id="28" name="Rectangle 27"/>
          <p:cNvSpPr/>
          <p:nvPr/>
        </p:nvSpPr>
        <p:spPr>
          <a:xfrm>
            <a:off x="9966000" y="1444752"/>
            <a:ext cx="1500000" cy="73152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66000" y="1444752"/>
            <a:ext cx="1500000" cy="550000"/>
          </a:xfrm>
          <a:prstGeom prst="rect">
            <a:avLst/>
          </a:prstGeom>
          <a:noFill/>
        </p:spPr>
        <p:txBody>
          <a:bodyPr wrap="square" anchor="ctr" lIns="0" rIns="0" tIns="0" bIns="0">
            <a:spAutoFit/>
          </a:bodyPr>
          <a:lstStyle/>
          <a:p>
            <a:pPr algn="ctr">
              <a:lnSpc>
                <a:spcPct val="108000"/>
              </a:lnSpc>
            </a:pPr>
            <a:r>
              <a:rPr sz="1200" b="1" i="0">
                <a:solidFill>
                  <a:srgbClr val="1F8A82"/>
                </a:solidFill>
                <a:latin typeface="Calibri"/>
              </a:rPr>
              <a:t>Decision</a:t>
            </a:r>
          </a:p>
        </p:txBody>
      </p:sp>
      <p:sp>
        <p:nvSpPr>
          <p:cNvPr id="30" name="TextBox 29"/>
          <p:cNvSpPr txBox="1"/>
          <p:nvPr/>
        </p:nvSpPr>
        <p:spPr>
          <a:xfrm>
            <a:off x="9966000" y="1904752"/>
            <a:ext cx="1500000" cy="240000"/>
          </a:xfrm>
          <a:prstGeom prst="rect">
            <a:avLst/>
          </a:prstGeom>
          <a:noFill/>
        </p:spPr>
        <p:txBody>
          <a:bodyPr wrap="square" anchor="t" lIns="0" rIns="0" tIns="0" bIns="0">
            <a:spAutoFit/>
          </a:bodyPr>
          <a:lstStyle/>
          <a:p>
            <a:pPr algn="ctr">
              <a:lnSpc>
                <a:spcPct val="108000"/>
              </a:lnSpc>
            </a:pPr>
            <a:r>
              <a:rPr sz="750" b="0" i="0">
                <a:solidFill>
                  <a:srgbClr val="B9C6D1"/>
                </a:solidFill>
                <a:latin typeface="Calibri"/>
              </a:rPr>
              <a:t>Neon</a:t>
            </a:r>
          </a:p>
        </p:txBody>
      </p:sp>
      <p:sp>
        <p:nvSpPr>
          <p:cNvPr id="31" name="Rectangle 30"/>
          <p:cNvSpPr/>
          <p:nvPr/>
        </p:nvSpPr>
        <p:spPr>
          <a:xfrm>
            <a:off x="548640" y="2450592"/>
            <a:ext cx="1106424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2532888"/>
            <a:ext cx="5000000" cy="274320"/>
          </a:xfrm>
          <a:prstGeom prst="rect">
            <a:avLst/>
          </a:prstGeom>
          <a:noFill/>
        </p:spPr>
        <p:txBody>
          <a:bodyPr wrap="square" anchor="t" lIns="0" rIns="0" tIns="0" bIns="0">
            <a:spAutoFit/>
          </a:bodyPr>
          <a:lstStyle/>
          <a:p>
            <a:pPr algn="l">
              <a:lnSpc>
                <a:spcPct val="108000"/>
              </a:lnSpc>
            </a:pPr>
            <a:r>
              <a:rPr sz="1000" b="1" i="0">
                <a:solidFill>
                  <a:srgbClr val="1F8A82"/>
                </a:solidFill>
                <a:latin typeface="Courier New"/>
              </a:rPr>
              <a:t>Release 7 — governanceReasoningEngine.ts</a:t>
            </a:r>
          </a:p>
        </p:txBody>
      </p:sp>
      <p:sp>
        <p:nvSpPr>
          <p:cNvPr id="33" name="TextBox 32"/>
          <p:cNvSpPr txBox="1"/>
          <p:nvPr/>
        </p:nvSpPr>
        <p:spPr>
          <a:xfrm>
            <a:off x="5943600" y="2532888"/>
            <a:ext cx="5400000" cy="500000"/>
          </a:xfrm>
          <a:prstGeom prst="rect">
            <a:avLst/>
          </a:prstGeom>
          <a:noFill/>
        </p:spPr>
        <p:txBody>
          <a:bodyPr wrap="square" anchor="t" lIns="0" rIns="0" tIns="0" bIns="0">
            <a:spAutoFit/>
          </a:bodyPr>
          <a:lstStyle/>
          <a:p>
            <a:pPr algn="l">
              <a:lnSpc>
                <a:spcPct val="115000"/>
              </a:lnSpc>
            </a:pPr>
            <a:r>
              <a:rPr sz="900" b="0" i="0">
                <a:solidFill>
                  <a:srgbClr val="2E3B47"/>
                </a:solidFill>
                <a:latin typeface="Calibri"/>
              </a:rPr>
              <a:t>detectGovernanceConditions() · evaluatePolicyViolations() · computeGovernanceOutcome() — pure, data-in/data-out, 6 condition types</a:t>
            </a:r>
          </a:p>
        </p:txBody>
      </p:sp>
      <p:sp>
        <p:nvSpPr>
          <p:cNvPr id="34" name="Rectangle 33"/>
          <p:cNvSpPr/>
          <p:nvPr/>
        </p:nvSpPr>
        <p:spPr>
          <a:xfrm>
            <a:off x="548640" y="3200400"/>
            <a:ext cx="1106424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3282696"/>
            <a:ext cx="5000000" cy="274320"/>
          </a:xfrm>
          <a:prstGeom prst="rect">
            <a:avLst/>
          </a:prstGeom>
          <a:noFill/>
        </p:spPr>
        <p:txBody>
          <a:bodyPr wrap="square" anchor="t" lIns="0" rIns="0" tIns="0" bIns="0">
            <a:spAutoFit/>
          </a:bodyPr>
          <a:lstStyle/>
          <a:p>
            <a:pPr algn="l">
              <a:lnSpc>
                <a:spcPct val="108000"/>
              </a:lnSpc>
            </a:pPr>
            <a:r>
              <a:rPr sz="1000" b="1" i="0">
                <a:solidFill>
                  <a:srgbClr val="1F8A82"/>
                </a:solidFill>
                <a:latin typeface="Courier New"/>
              </a:rPr>
              <a:t>Release 8 — governanceActionsEngine.ts</a:t>
            </a:r>
          </a:p>
        </p:txBody>
      </p:sp>
      <p:sp>
        <p:nvSpPr>
          <p:cNvPr id="36" name="TextBox 35"/>
          <p:cNvSpPr txBox="1"/>
          <p:nvPr/>
        </p:nvSpPr>
        <p:spPr>
          <a:xfrm>
            <a:off x="5943600" y="3282696"/>
            <a:ext cx="5400000" cy="500000"/>
          </a:xfrm>
          <a:prstGeom prst="rect">
            <a:avLst/>
          </a:prstGeom>
          <a:noFill/>
        </p:spPr>
        <p:txBody>
          <a:bodyPr wrap="square" anchor="t" lIns="0" rIns="0" tIns="0" bIns="0">
            <a:spAutoFit/>
          </a:bodyPr>
          <a:lstStyle/>
          <a:p>
            <a:pPr algn="l">
              <a:lnSpc>
                <a:spcPct val="115000"/>
              </a:lnSpc>
            </a:pPr>
            <a:r>
              <a:rPr sz="900" b="0" i="0">
                <a:solidFill>
                  <a:srgbClr val="2E3B47"/>
                </a:solidFill>
                <a:latin typeface="Calibri"/>
              </a:rPr>
              <a:t>generateActionDrafts() maps Findings → tactical actions, Outcomes → procedural actions; human Accept/Reject/Defer is the only state change</a:t>
            </a:r>
          </a:p>
        </p:txBody>
      </p:sp>
      <p:sp>
        <p:nvSpPr>
          <p:cNvPr id="37" name="Rectangle 36"/>
          <p:cNvSpPr/>
          <p:nvPr/>
        </p:nvSpPr>
        <p:spPr>
          <a:xfrm>
            <a:off x="548640" y="3950208"/>
            <a:ext cx="11064240" cy="65836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032504"/>
            <a:ext cx="5000000" cy="274320"/>
          </a:xfrm>
          <a:prstGeom prst="rect">
            <a:avLst/>
          </a:prstGeom>
          <a:noFill/>
        </p:spPr>
        <p:txBody>
          <a:bodyPr wrap="square" anchor="t" lIns="0" rIns="0" tIns="0" bIns="0">
            <a:spAutoFit/>
          </a:bodyPr>
          <a:lstStyle/>
          <a:p>
            <a:pPr algn="l">
              <a:lnSpc>
                <a:spcPct val="108000"/>
              </a:lnSpc>
            </a:pPr>
            <a:r>
              <a:rPr sz="1000" b="1" i="0">
                <a:solidFill>
                  <a:srgbClr val="1F8A82"/>
                </a:solidFill>
                <a:latin typeface="Courier New"/>
              </a:rPr>
              <a:t>Release 9 — decisionTraceabilityEngine.ts</a:t>
            </a:r>
          </a:p>
        </p:txBody>
      </p:sp>
      <p:sp>
        <p:nvSpPr>
          <p:cNvPr id="39" name="TextBox 38"/>
          <p:cNvSpPr txBox="1"/>
          <p:nvPr/>
        </p:nvSpPr>
        <p:spPr>
          <a:xfrm>
            <a:off x="5943600" y="4032504"/>
            <a:ext cx="5400000" cy="500000"/>
          </a:xfrm>
          <a:prstGeom prst="rect">
            <a:avLst/>
          </a:prstGeom>
          <a:noFill/>
        </p:spPr>
        <p:txBody>
          <a:bodyPr wrap="square" anchor="t" lIns="0" rIns="0" tIns="0" bIns="0">
            <a:spAutoFit/>
          </a:bodyPr>
          <a:lstStyle/>
          <a:p>
            <a:pPr algn="l">
              <a:lnSpc>
                <a:spcPct val="115000"/>
              </a:lnSpc>
            </a:pPr>
            <a:r>
              <a:rPr sz="900" b="0" i="0">
                <a:solidFill>
                  <a:srgbClr val="2E3B47"/>
                </a:solidFill>
                <a:latin typeface="Calibri"/>
              </a:rPr>
              <a:t>buildDecisionTrace() assembles the full chain live from data every prior release already persists — no new table, no drift risk</a:t>
            </a:r>
          </a:p>
        </p:txBody>
      </p:sp>
      <p:sp>
        <p:nvSpPr>
          <p:cNvPr id="40" name="Rectangle 39"/>
          <p:cNvSpPr/>
          <p:nvPr/>
        </p:nvSpPr>
        <p:spPr>
          <a:xfrm>
            <a:off x="548640" y="4826880"/>
            <a:ext cx="11064240" cy="9500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4926000"/>
            <a:ext cx="10515600" cy="274320"/>
          </a:xfrm>
          <a:prstGeom prst="rect">
            <a:avLst/>
          </a:prstGeom>
          <a:noFill/>
        </p:spPr>
        <p:txBody>
          <a:bodyPr wrap="square" anchor="t" lIns="0" rIns="0" tIns="0" bIns="0">
            <a:spAutoFit/>
          </a:bodyPr>
          <a:lstStyle/>
          <a:p>
            <a:pPr algn="l">
              <a:lnSpc>
                <a:spcPct val="108000"/>
              </a:lnSpc>
            </a:pPr>
            <a:r>
              <a:rPr sz="1000" b="1" i="0">
                <a:solidFill>
                  <a:srgbClr val="1F8A82"/>
                </a:solidFill>
                <a:latin typeface="Courier New"/>
              </a:rPr>
              <a:t>Persisted models: GovernancePolicy · GovernanceFinding · RecommendedAction</a:t>
            </a:r>
          </a:p>
        </p:txBody>
      </p:sp>
      <p:sp>
        <p:nvSpPr>
          <p:cNvPr id="42" name="TextBox 41"/>
          <p:cNvSpPr txBox="1"/>
          <p:nvPr/>
        </p:nvSpPr>
        <p:spPr>
          <a:xfrm>
            <a:off x="822960" y="5230000"/>
            <a:ext cx="10515600" cy="470000"/>
          </a:xfrm>
          <a:prstGeom prst="rect">
            <a:avLst/>
          </a:prstGeom>
          <a:noFill/>
        </p:spPr>
        <p:txBody>
          <a:bodyPr wrap="square" anchor="t" lIns="0" rIns="0" tIns="0" bIns="0">
            <a:spAutoFit/>
          </a:bodyPr>
          <a:lstStyle/>
          <a:p>
            <a:pPr algn="l">
              <a:lnSpc>
                <a:spcPct val="115000"/>
              </a:lnSpc>
            </a:pPr>
            <a:r>
              <a:rPr sz="950" b="0" i="0">
                <a:solidFill>
                  <a:srgbClr val="E8EDF2"/>
                </a:solidFill>
                <a:latin typeface="Calibri"/>
              </a:rPr>
              <a:t>Conditions, Violations, Outcomes and Decision Traces are deliberately never persisted — computed live on every read. Every RecommendedAction carries decidedBy / decidedAt, added in Release 9 to answer "who acted."</a:t>
            </a:r>
          </a:p>
        </p:txBody>
      </p:sp>
      <p:sp>
        <p:nvSpPr>
          <p:cNvPr id="43" name="TextBox 42"/>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docs/governance/20, 21, 22 — Releases 7, 8, 9. 12 endpoints across governance-policies, governance-findings, recommended-actions.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17 · GOVERNANCE INTELLIGENCE STUDIO ARCHITECTURE</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Reasoning config becomes editable, Neon-backed rules</a:t>
            </a:r>
          </a:p>
        </p:txBody>
      </p:sp>
      <p:sp>
        <p:nvSpPr>
          <p:cNvPr id="4" name="Rectangle 3"/>
          <p:cNvSpPr/>
          <p:nvPr/>
        </p:nvSpPr>
        <p:spPr>
          <a:xfrm>
            <a:off x="548640" y="1444752"/>
            <a:ext cx="11064240" cy="49377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44752"/>
            <a:ext cx="2743200" cy="493776"/>
          </a:xfrm>
          <a:prstGeom prst="rect">
            <a:avLst/>
          </a:prstGeom>
          <a:noFill/>
        </p:spPr>
        <p:txBody>
          <a:bodyPr wrap="square" anchor="ctr" lIns="0" rIns="0" tIns="0" bIns="0">
            <a:spAutoFit/>
          </a:bodyPr>
          <a:lstStyle/>
          <a:p>
            <a:pPr algn="l">
              <a:lnSpc>
                <a:spcPct val="108000"/>
              </a:lnSpc>
            </a:pPr>
            <a:r>
              <a:rPr sz="1050" b="1" i="0">
                <a:solidFill>
                  <a:srgbClr val="1F8A82"/>
                </a:solidFill>
                <a:latin typeface="Courier New"/>
              </a:rPr>
              <a:t>ConditionDefinition</a:t>
            </a:r>
          </a:p>
        </p:txBody>
      </p:sp>
      <p:sp>
        <p:nvSpPr>
          <p:cNvPr id="6" name="TextBox 5"/>
          <p:cNvSpPr txBox="1"/>
          <p:nvPr/>
        </p:nvSpPr>
        <p:spPr>
          <a:xfrm>
            <a:off x="3565080" y="1444752"/>
            <a:ext cx="6400800" cy="49377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6 rows — one per GovernanceConditionType</a:t>
            </a:r>
          </a:p>
        </p:txBody>
      </p:sp>
      <p:sp>
        <p:nvSpPr>
          <p:cNvPr id="7" name="TextBox 6"/>
          <p:cNvSpPr txBox="1"/>
          <p:nvPr/>
        </p:nvSpPr>
        <p:spPr>
          <a:xfrm>
            <a:off x="9965880" y="1444752"/>
            <a:ext cx="1500000" cy="493776"/>
          </a:xfrm>
          <a:prstGeom prst="rect">
            <a:avLst/>
          </a:prstGeom>
          <a:noFill/>
        </p:spPr>
        <p:txBody>
          <a:bodyPr wrap="square" anchor="ctr" lIns="0" rIns="0" tIns="0" bIns="0">
            <a:spAutoFit/>
          </a:bodyPr>
          <a:lstStyle/>
          <a:p>
            <a:pPr algn="l">
              <a:lnSpc>
                <a:spcPct val="108000"/>
              </a:lnSpc>
            </a:pPr>
            <a:r>
              <a:rPr sz="900" b="1" i="0">
                <a:solidFill>
                  <a:srgbClr val="C8871B"/>
                </a:solidFill>
                <a:latin typeface="Calibri"/>
              </a:rPr>
              <a:t>no DELETE</a:t>
            </a:r>
          </a:p>
        </p:txBody>
      </p:sp>
      <p:sp>
        <p:nvSpPr>
          <p:cNvPr id="8" name="Rectangle 7"/>
          <p:cNvSpPr/>
          <p:nvPr/>
        </p:nvSpPr>
        <p:spPr>
          <a:xfrm>
            <a:off x="548640" y="1993392"/>
            <a:ext cx="11064240" cy="49377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93392"/>
            <a:ext cx="2743200" cy="493776"/>
          </a:xfrm>
          <a:prstGeom prst="rect">
            <a:avLst/>
          </a:prstGeom>
          <a:noFill/>
        </p:spPr>
        <p:txBody>
          <a:bodyPr wrap="square" anchor="ctr" lIns="0" rIns="0" tIns="0" bIns="0">
            <a:spAutoFit/>
          </a:bodyPr>
          <a:lstStyle/>
          <a:p>
            <a:pPr algn="l">
              <a:lnSpc>
                <a:spcPct val="108000"/>
              </a:lnSpc>
            </a:pPr>
            <a:r>
              <a:rPr sz="1050" b="1" i="0">
                <a:solidFill>
                  <a:srgbClr val="1F8A82"/>
                </a:solidFill>
                <a:latin typeface="Courier New"/>
              </a:rPr>
              <a:t>OutcomeRule</a:t>
            </a:r>
          </a:p>
        </p:txBody>
      </p:sp>
      <p:sp>
        <p:nvSpPr>
          <p:cNvPr id="10" name="TextBox 9"/>
          <p:cNvSpPr txBox="1"/>
          <p:nvPr/>
        </p:nvSpPr>
        <p:spPr>
          <a:xfrm>
            <a:off x="3565080" y="1993392"/>
            <a:ext cx="6400800" cy="49377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5 rows — one per GovernanceOutcomeStatus</a:t>
            </a:r>
          </a:p>
        </p:txBody>
      </p:sp>
      <p:sp>
        <p:nvSpPr>
          <p:cNvPr id="11" name="TextBox 10"/>
          <p:cNvSpPr txBox="1"/>
          <p:nvPr/>
        </p:nvSpPr>
        <p:spPr>
          <a:xfrm>
            <a:off x="9965880" y="1993392"/>
            <a:ext cx="1500000" cy="493776"/>
          </a:xfrm>
          <a:prstGeom prst="rect">
            <a:avLst/>
          </a:prstGeom>
          <a:noFill/>
        </p:spPr>
        <p:txBody>
          <a:bodyPr wrap="square" anchor="ctr" lIns="0" rIns="0" tIns="0" bIns="0">
            <a:spAutoFit/>
          </a:bodyPr>
          <a:lstStyle/>
          <a:p>
            <a:pPr algn="l">
              <a:lnSpc>
                <a:spcPct val="108000"/>
              </a:lnSpc>
            </a:pPr>
            <a:r>
              <a:rPr sz="900" b="1" i="0">
                <a:solidFill>
                  <a:srgbClr val="C8871B"/>
                </a:solidFill>
                <a:latin typeface="Calibri"/>
              </a:rPr>
              <a:t>no DELETE</a:t>
            </a:r>
          </a:p>
        </p:txBody>
      </p:sp>
      <p:sp>
        <p:nvSpPr>
          <p:cNvPr id="12" name="Rectangle 11"/>
          <p:cNvSpPr/>
          <p:nvPr/>
        </p:nvSpPr>
        <p:spPr>
          <a:xfrm>
            <a:off x="548640" y="2542032"/>
            <a:ext cx="11064240" cy="49377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42032"/>
            <a:ext cx="2743200" cy="493776"/>
          </a:xfrm>
          <a:prstGeom prst="rect">
            <a:avLst/>
          </a:prstGeom>
          <a:noFill/>
        </p:spPr>
        <p:txBody>
          <a:bodyPr wrap="square" anchor="ctr" lIns="0" rIns="0" tIns="0" bIns="0">
            <a:spAutoFit/>
          </a:bodyPr>
          <a:lstStyle/>
          <a:p>
            <a:pPr algn="l">
              <a:lnSpc>
                <a:spcPct val="108000"/>
              </a:lnSpc>
            </a:pPr>
            <a:r>
              <a:rPr sz="1050" b="1" i="0">
                <a:solidFill>
                  <a:srgbClr val="1F8A82"/>
                </a:solidFill>
                <a:latin typeface="Courier New"/>
              </a:rPr>
              <a:t>ActionRule</a:t>
            </a:r>
          </a:p>
        </p:txBody>
      </p:sp>
      <p:sp>
        <p:nvSpPr>
          <p:cNvPr id="14" name="TextBox 13"/>
          <p:cNvSpPr txBox="1"/>
          <p:nvPr/>
        </p:nvSpPr>
        <p:spPr>
          <a:xfrm>
            <a:off x="3565080" y="2542032"/>
            <a:ext cx="6400800" cy="49377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9 seeded rows, user-extensible</a:t>
            </a:r>
          </a:p>
        </p:txBody>
      </p:sp>
      <p:sp>
        <p:nvSpPr>
          <p:cNvPr id="15" name="TextBox 14"/>
          <p:cNvSpPr txBox="1"/>
          <p:nvPr/>
        </p:nvSpPr>
        <p:spPr>
          <a:xfrm>
            <a:off x="9965880" y="2542032"/>
            <a:ext cx="1500000" cy="493776"/>
          </a:xfrm>
          <a:prstGeom prst="rect">
            <a:avLst/>
          </a:prstGeom>
          <a:noFill/>
        </p:spPr>
        <p:txBody>
          <a:bodyPr wrap="square" anchor="ctr" lIns="0" rIns="0" tIns="0" bIns="0">
            <a:spAutoFit/>
          </a:bodyPr>
          <a:lstStyle/>
          <a:p>
            <a:pPr algn="l">
              <a:lnSpc>
                <a:spcPct val="108000"/>
              </a:lnSpc>
            </a:pPr>
            <a:r>
              <a:rPr sz="900" b="1" i="0">
                <a:solidFill>
                  <a:srgbClr val="2E7D64"/>
                </a:solidFill>
                <a:latin typeface="Calibri"/>
              </a:rPr>
              <a:t>full CRUD</a:t>
            </a:r>
          </a:p>
        </p:txBody>
      </p:sp>
      <p:sp>
        <p:nvSpPr>
          <p:cNvPr id="16" name="Rectangle 15"/>
          <p:cNvSpPr/>
          <p:nvPr/>
        </p:nvSpPr>
        <p:spPr>
          <a:xfrm>
            <a:off x="548640" y="3090672"/>
            <a:ext cx="11064240" cy="493776"/>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90672"/>
            <a:ext cx="2743200" cy="493776"/>
          </a:xfrm>
          <a:prstGeom prst="rect">
            <a:avLst/>
          </a:prstGeom>
          <a:noFill/>
        </p:spPr>
        <p:txBody>
          <a:bodyPr wrap="square" anchor="ctr" lIns="0" rIns="0" tIns="0" bIns="0">
            <a:spAutoFit/>
          </a:bodyPr>
          <a:lstStyle/>
          <a:p>
            <a:pPr algn="l">
              <a:lnSpc>
                <a:spcPct val="108000"/>
              </a:lnSpc>
            </a:pPr>
            <a:r>
              <a:rPr sz="1050" b="1" i="0">
                <a:solidFill>
                  <a:srgbClr val="1F8A82"/>
                </a:solidFill>
                <a:latin typeface="Courier New"/>
              </a:rPr>
              <a:t>GovernanceProfile</a:t>
            </a:r>
          </a:p>
        </p:txBody>
      </p:sp>
      <p:sp>
        <p:nvSpPr>
          <p:cNvPr id="18" name="TextBox 17"/>
          <p:cNvSpPr txBox="1"/>
          <p:nvPr/>
        </p:nvSpPr>
        <p:spPr>
          <a:xfrm>
            <a:off x="3565080" y="3090672"/>
            <a:ext cx="6400800" cy="493776"/>
          </a:xfrm>
          <a:prstGeom prst="rect">
            <a:avLst/>
          </a:prstGeom>
          <a:noFill/>
        </p:spPr>
        <p:txBody>
          <a:bodyPr wrap="square" anchor="ctr" lIns="0" rIns="0" tIns="0" bIns="0">
            <a:spAutoFit/>
          </a:bodyPr>
          <a:lstStyle/>
          <a:p>
            <a:pPr algn="l">
              <a:lnSpc>
                <a:spcPct val="108000"/>
              </a:lnSpc>
            </a:pPr>
            <a:r>
              <a:rPr sz="950" b="0" i="0">
                <a:solidFill>
                  <a:srgbClr val="2E3B47"/>
                </a:solidFill>
                <a:latin typeface="Calibri"/>
              </a:rPr>
              <a:t>5 rows — Banking, Insurance, Healthcare, Government, Enterprise</a:t>
            </a:r>
          </a:p>
        </p:txBody>
      </p:sp>
      <p:sp>
        <p:nvSpPr>
          <p:cNvPr id="19" name="TextBox 18"/>
          <p:cNvSpPr txBox="1"/>
          <p:nvPr/>
        </p:nvSpPr>
        <p:spPr>
          <a:xfrm>
            <a:off x="9965880" y="3090672"/>
            <a:ext cx="1500000" cy="493776"/>
          </a:xfrm>
          <a:prstGeom prst="rect">
            <a:avLst/>
          </a:prstGeom>
          <a:noFill/>
        </p:spPr>
        <p:txBody>
          <a:bodyPr wrap="square" anchor="ctr" lIns="0" rIns="0" tIns="0" bIns="0">
            <a:spAutoFit/>
          </a:bodyPr>
          <a:lstStyle/>
          <a:p>
            <a:pPr algn="l">
              <a:lnSpc>
                <a:spcPct val="108000"/>
              </a:lnSpc>
            </a:pPr>
            <a:r>
              <a:rPr sz="900" b="1" i="0">
                <a:solidFill>
                  <a:srgbClr val="C8871B"/>
                </a:solidFill>
                <a:latin typeface="Calibri"/>
              </a:rPr>
              <a:t>no DELETE</a:t>
            </a:r>
          </a:p>
        </p:txBody>
      </p:sp>
      <p:sp>
        <p:nvSpPr>
          <p:cNvPr id="20" name="TextBox 19"/>
          <p:cNvSpPr txBox="1"/>
          <p:nvPr/>
        </p:nvSpPr>
        <p:spPr>
          <a:xfrm>
            <a:off x="548640" y="3690000"/>
            <a:ext cx="11064240" cy="260000"/>
          </a:xfrm>
          <a:prstGeom prst="rect">
            <a:avLst/>
          </a:prstGeom>
          <a:noFill/>
        </p:spPr>
        <p:txBody>
          <a:bodyPr wrap="square" anchor="t" lIns="0" rIns="0" tIns="0" bIns="0">
            <a:spAutoFit/>
          </a:bodyPr>
          <a:lstStyle/>
          <a:p>
            <a:pPr algn="l">
              <a:lnSpc>
                <a:spcPct val="108000"/>
              </a:lnSpc>
            </a:pPr>
            <a:r>
              <a:rPr sz="1000" b="1" i="0">
                <a:solidFill>
                  <a:srgbClr val="76858F"/>
                </a:solidFill>
                <a:latin typeface="Calibri"/>
              </a:rPr>
              <a:t>SIGNATURE CHANGE — OPTIONAL, BACKWARD-COMPATIBLE FILTERS</a:t>
            </a:r>
          </a:p>
        </p:txBody>
      </p:sp>
      <p:sp>
        <p:nvSpPr>
          <p:cNvPr id="21" name="Rectangle 20"/>
          <p:cNvSpPr/>
          <p:nvPr/>
        </p:nvSpPr>
        <p:spPr>
          <a:xfrm>
            <a:off x="548640" y="4000000"/>
            <a:ext cx="110642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000000"/>
            <a:ext cx="6000000" cy="384048"/>
          </a:xfrm>
          <a:prstGeom prst="rect">
            <a:avLst/>
          </a:prstGeom>
          <a:noFill/>
        </p:spPr>
        <p:txBody>
          <a:bodyPr wrap="square" anchor="ctr" lIns="0" rIns="0" tIns="0" bIns="0">
            <a:spAutoFit/>
          </a:bodyPr>
          <a:lstStyle/>
          <a:p>
            <a:pPr algn="l">
              <a:lnSpc>
                <a:spcPct val="108000"/>
              </a:lnSpc>
            </a:pPr>
            <a:r>
              <a:rPr sz="800" b="0" i="0">
                <a:solidFill>
                  <a:srgbClr val="22303C"/>
                </a:solidFill>
                <a:latin typeface="Courier New"/>
              </a:rPr>
              <a:t>detectGovernanceConditions(..., enabledConditionTypes?)</a:t>
            </a:r>
          </a:p>
        </p:txBody>
      </p:sp>
      <p:sp>
        <p:nvSpPr>
          <p:cNvPr id="23" name="TextBox 22"/>
          <p:cNvSpPr txBox="1"/>
          <p:nvPr/>
        </p:nvSpPr>
        <p:spPr>
          <a:xfrm>
            <a:off x="6800000" y="4000000"/>
            <a:ext cx="4700000" cy="384048"/>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disabled types never raised, for any asset</a:t>
            </a:r>
          </a:p>
        </p:txBody>
      </p:sp>
      <p:sp>
        <p:nvSpPr>
          <p:cNvPr id="24" name="Rectangle 23"/>
          <p:cNvSpPr/>
          <p:nvPr/>
        </p:nvSpPr>
        <p:spPr>
          <a:xfrm>
            <a:off x="548640" y="4420624"/>
            <a:ext cx="110642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420624"/>
            <a:ext cx="6000000" cy="384048"/>
          </a:xfrm>
          <a:prstGeom prst="rect">
            <a:avLst/>
          </a:prstGeom>
          <a:noFill/>
        </p:spPr>
        <p:txBody>
          <a:bodyPr wrap="square" anchor="ctr" lIns="0" rIns="0" tIns="0" bIns="0">
            <a:spAutoFit/>
          </a:bodyPr>
          <a:lstStyle/>
          <a:p>
            <a:pPr algn="l">
              <a:lnSpc>
                <a:spcPct val="108000"/>
              </a:lnSpc>
            </a:pPr>
            <a:r>
              <a:rPr sz="800" b="0" i="0">
                <a:solidFill>
                  <a:srgbClr val="22303C"/>
                </a:solidFill>
                <a:latin typeface="Courier New"/>
              </a:rPr>
              <a:t>computeGovernanceOutcome(..., disabledOutcomes?)</a:t>
            </a:r>
          </a:p>
        </p:txBody>
      </p:sp>
      <p:sp>
        <p:nvSpPr>
          <p:cNvPr id="26" name="TextBox 25"/>
          <p:cNvSpPr txBox="1"/>
          <p:nvPr/>
        </p:nvSpPr>
        <p:spPr>
          <a:xfrm>
            <a:off x="6800000" y="4420624"/>
            <a:ext cx="4700000" cy="384048"/>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disabled tier skipped, falls through to next enabled tier</a:t>
            </a:r>
          </a:p>
        </p:txBody>
      </p:sp>
      <p:sp>
        <p:nvSpPr>
          <p:cNvPr id="27" name="Rectangle 26"/>
          <p:cNvSpPr/>
          <p:nvPr/>
        </p:nvSpPr>
        <p:spPr>
          <a:xfrm>
            <a:off x="548640" y="4841248"/>
            <a:ext cx="110642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841248"/>
            <a:ext cx="6000000" cy="384048"/>
          </a:xfrm>
          <a:prstGeom prst="rect">
            <a:avLst/>
          </a:prstGeom>
          <a:noFill/>
        </p:spPr>
        <p:txBody>
          <a:bodyPr wrap="square" anchor="ctr" lIns="0" rIns="0" tIns="0" bIns="0">
            <a:spAutoFit/>
          </a:bodyPr>
          <a:lstStyle/>
          <a:p>
            <a:pPr algn="l">
              <a:lnSpc>
                <a:spcPct val="108000"/>
              </a:lnSpc>
            </a:pPr>
            <a:r>
              <a:rPr sz="800" b="0" i="0">
                <a:solidFill>
                  <a:srgbClr val="22303C"/>
                </a:solidFill>
                <a:latin typeface="Courier New"/>
              </a:rPr>
              <a:t>generateActionDrafts(..., actionRules?)</a:t>
            </a:r>
          </a:p>
        </p:txBody>
      </p:sp>
      <p:sp>
        <p:nvSpPr>
          <p:cNvPr id="29" name="TextBox 28"/>
          <p:cNvSpPr txBox="1"/>
          <p:nvPr/>
        </p:nvSpPr>
        <p:spPr>
          <a:xfrm>
            <a:off x="6800000" y="4841248"/>
            <a:ext cx="4700000" cy="384048"/>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matching enabled rule overrides the hardcoded template; disabled rule suppresses the draft</a:t>
            </a:r>
          </a:p>
        </p:txBody>
      </p:sp>
      <p:sp>
        <p:nvSpPr>
          <p:cNvPr id="30" name="Rectangle 29"/>
          <p:cNvSpPr/>
          <p:nvPr/>
        </p:nvSpPr>
        <p:spPr>
          <a:xfrm>
            <a:off x="548640" y="5350000"/>
            <a:ext cx="11064240" cy="700000"/>
          </a:xfrm>
          <a:prstGeom prst="rect">
            <a:avLst/>
          </a:prstGeom>
          <a:solidFill>
            <a:srgbClr val="E7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450000"/>
            <a:ext cx="10515600" cy="500000"/>
          </a:xfrm>
          <a:prstGeom prst="rect">
            <a:avLst/>
          </a:prstGeom>
          <a:noFill/>
        </p:spPr>
        <p:txBody>
          <a:bodyPr wrap="square" anchor="t" lIns="0" rIns="0" tIns="0" bIns="0">
            <a:spAutoFit/>
          </a:bodyPr>
          <a:lstStyle/>
          <a:p>
            <a:pPr algn="l">
              <a:lnSpc>
                <a:spcPct val="115000"/>
              </a:lnSpc>
            </a:pPr>
            <a:r>
              <a:rPr sz="1000" b="0" i="0">
                <a:solidFill>
                  <a:srgbClr val="155F59"/>
                </a:solidFill>
                <a:latin typeface="Calibri"/>
              </a:rPr>
              <a:t>Detection mechanisms and evaluation order stay platform code, safe and tested. What's configurable is which are switched on, and what they produce — 4 endpoint groups, 13 endpoints, all Api-first from day one.</a:t>
            </a:r>
          </a:p>
        </p:txBody>
      </p:sp>
      <p:sp>
        <p:nvSpPr>
          <p:cNvPr id="32" name="TextBox 31"/>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Evidence: docs/governance/23 — Release 10. condition-definitions / outcome-rules / action-rules / governance-profiles routes in app.controller.ts.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MANDATORY · CAPABILITY STATUS MATRIX</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Implemented vs partial vs planned</a:t>
            </a:r>
          </a:p>
        </p:txBody>
      </p:sp>
      <p:sp>
        <p:nvSpPr>
          <p:cNvPr id="4" name="Rectangle 3"/>
          <p:cNvSpPr/>
          <p:nvPr/>
        </p:nvSpPr>
        <p:spPr>
          <a:xfrm>
            <a:off x="548640" y="1417320"/>
            <a:ext cx="1600200" cy="274320"/>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1600200" cy="274320"/>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Implemented</a:t>
            </a:r>
          </a:p>
        </p:txBody>
      </p:sp>
      <p:sp>
        <p:nvSpPr>
          <p:cNvPr id="6" name="Rectangle 5"/>
          <p:cNvSpPr/>
          <p:nvPr/>
        </p:nvSpPr>
        <p:spPr>
          <a:xfrm>
            <a:off x="2286000" y="1417320"/>
            <a:ext cx="1600200" cy="274320"/>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1417320"/>
            <a:ext cx="1600200" cy="274320"/>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Partial</a:t>
            </a:r>
          </a:p>
        </p:txBody>
      </p:sp>
      <p:sp>
        <p:nvSpPr>
          <p:cNvPr id="8" name="Rectangle 7"/>
          <p:cNvSpPr/>
          <p:nvPr/>
        </p:nvSpPr>
        <p:spPr>
          <a:xfrm>
            <a:off x="4023360" y="1417320"/>
            <a:ext cx="1600200" cy="274320"/>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0" y="1417320"/>
            <a:ext cx="1600200" cy="274320"/>
          </a:xfrm>
          <a:prstGeom prst="rect">
            <a:avLst/>
          </a:prstGeom>
          <a:noFill/>
        </p:spPr>
        <p:txBody>
          <a:bodyPr wrap="square" anchor="ctr" lIns="0" rIns="0" tIns="0" bIns="0">
            <a:spAutoFit/>
          </a:bodyPr>
          <a:lstStyle/>
          <a:p>
            <a:pPr algn="ctr">
              <a:lnSpc>
                <a:spcPct val="108000"/>
              </a:lnSpc>
            </a:pPr>
            <a:r>
              <a:rPr sz="1000" b="1" i="0">
                <a:solidFill>
                  <a:srgbClr val="FFFFFF"/>
                </a:solidFill>
                <a:latin typeface="Calibri"/>
              </a:rPr>
              <a:t>Planned</a:t>
            </a:r>
          </a:p>
        </p:txBody>
      </p:sp>
      <p:sp>
        <p:nvSpPr>
          <p:cNvPr id="10" name="Rectangle 9"/>
          <p:cNvSpPr/>
          <p:nvPr/>
        </p:nvSpPr>
        <p:spPr>
          <a:xfrm>
            <a:off x="548640" y="1828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828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Governance navigation — 9 domains, 56 modules</a:t>
            </a:r>
          </a:p>
        </p:txBody>
      </p:sp>
      <p:sp>
        <p:nvSpPr>
          <p:cNvPr id="12" name="Rectangle 11"/>
          <p:cNvSpPr/>
          <p:nvPr/>
        </p:nvSpPr>
        <p:spPr>
          <a:xfrm>
            <a:off x="5410200" y="1849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10200" y="1849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14" name="Rectangle 13"/>
          <p:cNvSpPr/>
          <p:nvPr/>
        </p:nvSpPr>
        <p:spPr>
          <a:xfrm>
            <a:off x="548640" y="2082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082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AI Asset Registry — 9 asset types</a:t>
            </a:r>
          </a:p>
        </p:txBody>
      </p:sp>
      <p:sp>
        <p:nvSpPr>
          <p:cNvPr id="16" name="Rectangle 15"/>
          <p:cNvSpPr/>
          <p:nvPr/>
        </p:nvSpPr>
        <p:spPr>
          <a:xfrm>
            <a:off x="5410200" y="2103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10200" y="2103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18" name="Rectangle 17"/>
          <p:cNvSpPr/>
          <p:nvPr/>
        </p:nvSpPr>
        <p:spPr>
          <a:xfrm>
            <a:off x="548640" y="2336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336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Ownership matrix — 5 RACI roles</a:t>
            </a:r>
          </a:p>
        </p:txBody>
      </p:sp>
      <p:sp>
        <p:nvSpPr>
          <p:cNvPr id="20" name="Rectangle 19"/>
          <p:cNvSpPr/>
          <p:nvPr/>
        </p:nvSpPr>
        <p:spPr>
          <a:xfrm>
            <a:off x="5410200" y="2357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10200" y="2357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22" name="Rectangle 21"/>
          <p:cNvSpPr/>
          <p:nvPr/>
        </p:nvSpPr>
        <p:spPr>
          <a:xfrm>
            <a:off x="548640" y="2590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2590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Risk classification + heatmaps</a:t>
            </a:r>
          </a:p>
        </p:txBody>
      </p:sp>
      <p:sp>
        <p:nvSpPr>
          <p:cNvPr id="24" name="Rectangle 23"/>
          <p:cNvSpPr/>
          <p:nvPr/>
        </p:nvSpPr>
        <p:spPr>
          <a:xfrm>
            <a:off x="5410200" y="2611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10200" y="2611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26" name="Rectangle 25"/>
          <p:cNvSpPr/>
          <p:nvPr/>
        </p:nvSpPr>
        <p:spPr>
          <a:xfrm>
            <a:off x="548640" y="2844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2844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Validation (6 disciplines) + findings lifecycle</a:t>
            </a:r>
          </a:p>
        </p:txBody>
      </p:sp>
      <p:sp>
        <p:nvSpPr>
          <p:cNvPr id="28" name="Rectangle 27"/>
          <p:cNvSpPr/>
          <p:nvPr/>
        </p:nvSpPr>
        <p:spPr>
          <a:xfrm>
            <a:off x="5410200" y="2865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10200" y="2865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30" name="Rectangle 29"/>
          <p:cNvSpPr/>
          <p:nvPr/>
        </p:nvSpPr>
        <p:spPr>
          <a:xfrm>
            <a:off x="548640" y="3098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3098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Evidence — 10 ODF deliverable types</a:t>
            </a:r>
          </a:p>
        </p:txBody>
      </p:sp>
      <p:sp>
        <p:nvSpPr>
          <p:cNvPr id="32" name="Rectangle 31"/>
          <p:cNvSpPr/>
          <p:nvPr/>
        </p:nvSpPr>
        <p:spPr>
          <a:xfrm>
            <a:off x="5410200" y="3119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10200" y="3119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34" name="Rectangle 33"/>
          <p:cNvSpPr/>
          <p:nvPr/>
        </p:nvSpPr>
        <p:spPr>
          <a:xfrm>
            <a:off x="548640" y="3352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352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Decision governance + readiness scoring</a:t>
            </a:r>
          </a:p>
        </p:txBody>
      </p:sp>
      <p:sp>
        <p:nvSpPr>
          <p:cNvPr id="36" name="Rectangle 35"/>
          <p:cNvSpPr/>
          <p:nvPr/>
        </p:nvSpPr>
        <p:spPr>
          <a:xfrm>
            <a:off x="5410200" y="3373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10200" y="3373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38" name="Rectangle 37"/>
          <p:cNvSpPr/>
          <p:nvPr/>
        </p:nvSpPr>
        <p:spPr>
          <a:xfrm>
            <a:off x="548640" y="3606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3606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Governance blockers</a:t>
            </a:r>
          </a:p>
        </p:txBody>
      </p:sp>
      <p:sp>
        <p:nvSpPr>
          <p:cNvPr id="40" name="Rectangle 39"/>
          <p:cNvSpPr/>
          <p:nvPr/>
        </p:nvSpPr>
        <p:spPr>
          <a:xfrm>
            <a:off x="5410200" y="3627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10200" y="3627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42" name="Rectangle 41"/>
          <p:cNvSpPr/>
          <p:nvPr/>
        </p:nvSpPr>
        <p:spPr>
          <a:xfrm>
            <a:off x="548640" y="3860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860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Operations — kill switch, override, incidents</a:t>
            </a:r>
          </a:p>
        </p:txBody>
      </p:sp>
      <p:sp>
        <p:nvSpPr>
          <p:cNvPr id="44" name="Rectangle 43"/>
          <p:cNvSpPr/>
          <p:nvPr/>
        </p:nvSpPr>
        <p:spPr>
          <a:xfrm>
            <a:off x="5410200" y="3881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10200" y="3881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46" name="Rectangle 45"/>
          <p:cNvSpPr/>
          <p:nvPr/>
        </p:nvSpPr>
        <p:spPr>
          <a:xfrm>
            <a:off x="548640" y="4114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4114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Policy governance (Ph 9) + 7 auto-detect rules</a:t>
            </a:r>
          </a:p>
        </p:txBody>
      </p:sp>
      <p:sp>
        <p:nvSpPr>
          <p:cNvPr id="48" name="Rectangle 47"/>
          <p:cNvSpPr/>
          <p:nvPr/>
        </p:nvSpPr>
        <p:spPr>
          <a:xfrm>
            <a:off x="5410200" y="4135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10200" y="4135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50" name="Rectangle 49"/>
          <p:cNvSpPr/>
          <p:nvPr/>
        </p:nvSpPr>
        <p:spPr>
          <a:xfrm>
            <a:off x="548640" y="4368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368" y="4368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Change management + 10-state machine</a:t>
            </a:r>
          </a:p>
        </p:txBody>
      </p:sp>
      <p:sp>
        <p:nvSpPr>
          <p:cNvPr id="52" name="Rectangle 51"/>
          <p:cNvSpPr/>
          <p:nvPr/>
        </p:nvSpPr>
        <p:spPr>
          <a:xfrm>
            <a:off x="5410200" y="4389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0200" y="4389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54" name="Rectangle 53"/>
          <p:cNvSpPr/>
          <p:nvPr/>
        </p:nvSpPr>
        <p:spPr>
          <a:xfrm>
            <a:off x="548640" y="4622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 y="4622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Executive hub — 4 role lenses, board reports</a:t>
            </a:r>
          </a:p>
        </p:txBody>
      </p:sp>
      <p:sp>
        <p:nvSpPr>
          <p:cNvPr id="56" name="Rectangle 55"/>
          <p:cNvSpPr/>
          <p:nvPr/>
        </p:nvSpPr>
        <p:spPr>
          <a:xfrm>
            <a:off x="5410200" y="4643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0200" y="4643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58" name="Rectangle 57"/>
          <p:cNvSpPr/>
          <p:nvPr/>
        </p:nvSpPr>
        <p:spPr>
          <a:xfrm>
            <a:off x="548640" y="4876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8" y="4876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RBAC — client route enforcement</a:t>
            </a:r>
          </a:p>
        </p:txBody>
      </p:sp>
      <p:sp>
        <p:nvSpPr>
          <p:cNvPr id="60" name="Rectangle 59"/>
          <p:cNvSpPr/>
          <p:nvPr/>
        </p:nvSpPr>
        <p:spPr>
          <a:xfrm>
            <a:off x="5410200" y="4897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0200" y="4897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62" name="Rectangle 61"/>
          <p:cNvSpPr/>
          <p:nvPr/>
        </p:nvSpPr>
        <p:spPr>
          <a:xfrm>
            <a:off x="548640" y="5130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8368" y="5130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Backend REST API — 85 endpoints, 44 models</a:t>
            </a:r>
          </a:p>
        </p:txBody>
      </p:sp>
      <p:sp>
        <p:nvSpPr>
          <p:cNvPr id="64" name="Rectangle 63"/>
          <p:cNvSpPr/>
          <p:nvPr/>
        </p:nvSpPr>
        <p:spPr>
          <a:xfrm>
            <a:off x="5410200" y="5151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10200" y="5151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66" name="Rectangle 65"/>
          <p:cNvSpPr/>
          <p:nvPr/>
        </p:nvSpPr>
        <p:spPr>
          <a:xfrm>
            <a:off x="6263640" y="1828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73368" y="1828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Server persistence — Repository Pattern, live since R4</a:t>
            </a:r>
          </a:p>
        </p:txBody>
      </p:sp>
      <p:sp>
        <p:nvSpPr>
          <p:cNvPr id="68" name="Rectangle 67"/>
          <p:cNvSpPr/>
          <p:nvPr/>
        </p:nvSpPr>
        <p:spPr>
          <a:xfrm>
            <a:off x="11125200" y="1849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125200" y="1849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70" name="Rectangle 69"/>
          <p:cNvSpPr/>
          <p:nvPr/>
        </p:nvSpPr>
        <p:spPr>
          <a:xfrm>
            <a:off x="6263640" y="2082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73368" y="2082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Compliance Pack Framework (R5/5.1)</a:t>
            </a:r>
          </a:p>
        </p:txBody>
      </p:sp>
      <p:sp>
        <p:nvSpPr>
          <p:cNvPr id="72" name="Rectangle 71"/>
          <p:cNvSpPr/>
          <p:nvPr/>
        </p:nvSpPr>
        <p:spPr>
          <a:xfrm>
            <a:off x="11125200" y="2103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25200" y="2103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74" name="Rectangle 73"/>
          <p:cNvSpPr/>
          <p:nvPr/>
        </p:nvSpPr>
        <p:spPr>
          <a:xfrm>
            <a:off x="6263640" y="2336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373368" y="2336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Regulatory Knowledge Engine (R6)</a:t>
            </a:r>
          </a:p>
        </p:txBody>
      </p:sp>
      <p:sp>
        <p:nvSpPr>
          <p:cNvPr id="76" name="Rectangle 75"/>
          <p:cNvSpPr/>
          <p:nvPr/>
        </p:nvSpPr>
        <p:spPr>
          <a:xfrm>
            <a:off x="11125200" y="2357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125200" y="2357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78" name="Rectangle 77"/>
          <p:cNvSpPr/>
          <p:nvPr/>
        </p:nvSpPr>
        <p:spPr>
          <a:xfrm>
            <a:off x="6263640" y="2590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373368" y="2590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Governance Intelligence Engine (R7)</a:t>
            </a:r>
          </a:p>
        </p:txBody>
      </p:sp>
      <p:sp>
        <p:nvSpPr>
          <p:cNvPr id="80" name="Rectangle 79"/>
          <p:cNvSpPr/>
          <p:nvPr/>
        </p:nvSpPr>
        <p:spPr>
          <a:xfrm>
            <a:off x="11125200" y="2611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1125200" y="2611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82" name="Rectangle 81"/>
          <p:cNvSpPr/>
          <p:nvPr/>
        </p:nvSpPr>
        <p:spPr>
          <a:xfrm>
            <a:off x="6263640" y="2844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373368" y="2844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Governance Actions Engine (R8)</a:t>
            </a:r>
          </a:p>
        </p:txBody>
      </p:sp>
      <p:sp>
        <p:nvSpPr>
          <p:cNvPr id="84" name="Rectangle 83"/>
          <p:cNvSpPr/>
          <p:nvPr/>
        </p:nvSpPr>
        <p:spPr>
          <a:xfrm>
            <a:off x="11125200" y="2865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25200" y="2865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86" name="Rectangle 85"/>
          <p:cNvSpPr/>
          <p:nvPr/>
        </p:nvSpPr>
        <p:spPr>
          <a:xfrm>
            <a:off x="6263640" y="3098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373368" y="3098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Governance Decision Traceability (R9)</a:t>
            </a:r>
          </a:p>
        </p:txBody>
      </p:sp>
      <p:sp>
        <p:nvSpPr>
          <p:cNvPr id="88" name="Rectangle 87"/>
          <p:cNvSpPr/>
          <p:nvPr/>
        </p:nvSpPr>
        <p:spPr>
          <a:xfrm>
            <a:off x="11125200" y="3119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125200" y="3119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90" name="Rectangle 89"/>
          <p:cNvSpPr/>
          <p:nvPr/>
        </p:nvSpPr>
        <p:spPr>
          <a:xfrm>
            <a:off x="6263640" y="3352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73368" y="3352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Governance Intelligence Studio (R10)</a:t>
            </a:r>
          </a:p>
        </p:txBody>
      </p:sp>
      <p:sp>
        <p:nvSpPr>
          <p:cNvPr id="92" name="Rectangle 91"/>
          <p:cNvSpPr/>
          <p:nvPr/>
        </p:nvSpPr>
        <p:spPr>
          <a:xfrm>
            <a:off x="11125200" y="3373374"/>
            <a:ext cx="259080" cy="187452"/>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125200" y="3373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I</a:t>
            </a:r>
          </a:p>
        </p:txBody>
      </p:sp>
      <p:sp>
        <p:nvSpPr>
          <p:cNvPr id="94" name="Rectangle 93"/>
          <p:cNvSpPr/>
          <p:nvPr/>
        </p:nvSpPr>
        <p:spPr>
          <a:xfrm>
            <a:off x="6263640" y="3606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73368" y="3606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RBAC — server enforcement (fails closed)</a:t>
            </a:r>
          </a:p>
        </p:txBody>
      </p:sp>
      <p:sp>
        <p:nvSpPr>
          <p:cNvPr id="96" name="Rectangle 95"/>
          <p:cNvSpPr/>
          <p:nvPr/>
        </p:nvSpPr>
        <p:spPr>
          <a:xfrm>
            <a:off x="11125200" y="3627374"/>
            <a:ext cx="259080" cy="187452"/>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1125200" y="3627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a:t>
            </a:r>
          </a:p>
        </p:txBody>
      </p:sp>
      <p:sp>
        <p:nvSpPr>
          <p:cNvPr id="98" name="Rectangle 97"/>
          <p:cNvSpPr/>
          <p:nvPr/>
        </p:nvSpPr>
        <p:spPr>
          <a:xfrm>
            <a:off x="6263640" y="3860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373368" y="3860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Audit log persistence — still local-only</a:t>
            </a:r>
          </a:p>
        </p:txBody>
      </p:sp>
      <p:sp>
        <p:nvSpPr>
          <p:cNvPr id="100" name="Rectangle 99"/>
          <p:cNvSpPr/>
          <p:nvPr/>
        </p:nvSpPr>
        <p:spPr>
          <a:xfrm>
            <a:off x="11125200" y="3881374"/>
            <a:ext cx="259080" cy="187452"/>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25200" y="3881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a:t>
            </a:r>
          </a:p>
        </p:txBody>
      </p:sp>
      <p:sp>
        <p:nvSpPr>
          <p:cNvPr id="102" name="Rectangle 101"/>
          <p:cNvSpPr/>
          <p:nvPr/>
        </p:nvSpPr>
        <p:spPr>
          <a:xfrm>
            <a:off x="6263640" y="4114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373368" y="4114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Alerting — computed on read, no scheduler</a:t>
            </a:r>
          </a:p>
        </p:txBody>
      </p:sp>
      <p:sp>
        <p:nvSpPr>
          <p:cNvPr id="104" name="Rectangle 103"/>
          <p:cNvSpPr/>
          <p:nvPr/>
        </p:nvSpPr>
        <p:spPr>
          <a:xfrm>
            <a:off x="11125200" y="4135374"/>
            <a:ext cx="259080" cy="187452"/>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125200" y="4135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a:t>
            </a:r>
          </a:p>
        </p:txBody>
      </p:sp>
      <p:sp>
        <p:nvSpPr>
          <p:cNvPr id="106" name="Rectangle 105"/>
          <p:cNvSpPr/>
          <p:nvPr/>
        </p:nvSpPr>
        <p:spPr>
          <a:xfrm>
            <a:off x="6263640" y="4368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373368" y="4368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Authentication / SSO</a:t>
            </a:r>
          </a:p>
        </p:txBody>
      </p:sp>
      <p:sp>
        <p:nvSpPr>
          <p:cNvPr id="108" name="Rectangle 107"/>
          <p:cNvSpPr/>
          <p:nvPr/>
        </p:nvSpPr>
        <p:spPr>
          <a:xfrm>
            <a:off x="11125200" y="4389374"/>
            <a:ext cx="259080" cy="187452"/>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125200" y="4389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F</a:t>
            </a:r>
          </a:p>
        </p:txBody>
      </p:sp>
      <p:sp>
        <p:nvSpPr>
          <p:cNvPr id="110" name="Rectangle 109"/>
          <p:cNvSpPr/>
          <p:nvPr/>
        </p:nvSpPr>
        <p:spPr>
          <a:xfrm>
            <a:off x="6263640" y="4622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373368" y="4622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Multi-tenancy</a:t>
            </a:r>
          </a:p>
        </p:txBody>
      </p:sp>
      <p:sp>
        <p:nvSpPr>
          <p:cNvPr id="112" name="Rectangle 111"/>
          <p:cNvSpPr/>
          <p:nvPr/>
        </p:nvSpPr>
        <p:spPr>
          <a:xfrm>
            <a:off x="11125200" y="4643374"/>
            <a:ext cx="259080" cy="187452"/>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1125200" y="4643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F</a:t>
            </a:r>
          </a:p>
        </p:txBody>
      </p:sp>
      <p:sp>
        <p:nvSpPr>
          <p:cNvPr id="114" name="Rectangle 113"/>
          <p:cNvSpPr/>
          <p:nvPr/>
        </p:nvSpPr>
        <p:spPr>
          <a:xfrm>
            <a:off x="6263640" y="4876800"/>
            <a:ext cx="5120640"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373368" y="4876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Automated tests / CI pipeline</a:t>
            </a:r>
          </a:p>
        </p:txBody>
      </p:sp>
      <p:sp>
        <p:nvSpPr>
          <p:cNvPr id="116" name="Rectangle 115"/>
          <p:cNvSpPr/>
          <p:nvPr/>
        </p:nvSpPr>
        <p:spPr>
          <a:xfrm>
            <a:off x="11125200" y="4897374"/>
            <a:ext cx="259080" cy="187452"/>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25200" y="4897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F</a:t>
            </a:r>
          </a:p>
        </p:txBody>
      </p:sp>
      <p:sp>
        <p:nvSpPr>
          <p:cNvPr id="118" name="Rectangle 117"/>
          <p:cNvSpPr/>
          <p:nvPr/>
        </p:nvSpPr>
        <p:spPr>
          <a:xfrm>
            <a:off x="6263640" y="5130800"/>
            <a:ext cx="5120640" cy="2286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373368" y="5130800"/>
            <a:ext cx="4720640" cy="228600"/>
          </a:xfrm>
          <a:prstGeom prst="rect">
            <a:avLst/>
          </a:prstGeom>
          <a:noFill/>
        </p:spPr>
        <p:txBody>
          <a:bodyPr wrap="square" anchor="ctr" lIns="0" rIns="0" tIns="0" bIns="0">
            <a:spAutoFit/>
          </a:bodyPr>
          <a:lstStyle/>
          <a:p>
            <a:pPr algn="l">
              <a:lnSpc>
                <a:spcPct val="108000"/>
              </a:lnSpc>
            </a:pPr>
            <a:r>
              <a:rPr sz="850" b="0" i="0">
                <a:solidFill>
                  <a:srgbClr val="2E3B47"/>
                </a:solidFill>
                <a:latin typeface="Calibri"/>
              </a:rPr>
              <a:t>ISO 42001 / EU AI Act / NIST / Basel content</a:t>
            </a:r>
          </a:p>
        </p:txBody>
      </p:sp>
      <p:sp>
        <p:nvSpPr>
          <p:cNvPr id="120" name="Rectangle 119"/>
          <p:cNvSpPr/>
          <p:nvPr/>
        </p:nvSpPr>
        <p:spPr>
          <a:xfrm>
            <a:off x="11125200" y="5151374"/>
            <a:ext cx="259080" cy="187452"/>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1125200" y="5151374"/>
            <a:ext cx="259080" cy="18745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F</a:t>
            </a:r>
          </a:p>
        </p:txBody>
      </p:sp>
      <p:sp>
        <p:nvSpPr>
          <p:cNvPr id="122" name="TextBox 121"/>
          <p:cNvSpPr txBox="1"/>
          <p:nvPr/>
        </p:nvSpPr>
        <p:spPr>
          <a:xfrm>
            <a:off x="548640" y="5484800"/>
            <a:ext cx="11064240" cy="274320"/>
          </a:xfrm>
          <a:prstGeom prst="rect">
            <a:avLst/>
          </a:prstGeom>
          <a:noFill/>
        </p:spPr>
        <p:txBody>
          <a:bodyPr wrap="square" anchor="t" lIns="0" rIns="0" tIns="0" bIns="0">
            <a:spAutoFit/>
          </a:bodyPr>
          <a:lstStyle/>
          <a:p>
            <a:pPr algn="l">
              <a:lnSpc>
                <a:spcPct val="108000"/>
              </a:lnSpc>
            </a:pPr>
            <a:r>
              <a:rPr sz="1150" b="1" i="0">
                <a:solidFill>
                  <a:srgbClr val="22303C"/>
                </a:solidFill>
                <a:latin typeface="Calibri"/>
              </a:rPr>
              <a:t>21 implemented  ·  3 partial  ·  4 planned. Nothing appears in this deck that is absent from the codebase inventory.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18 · COMPARATIVE STRENGTHS</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Measured against manual governance baselines</a:t>
            </a:r>
          </a:p>
        </p:txBody>
      </p:sp>
      <p:sp>
        <p:nvSpPr>
          <p:cNvPr id="4" name="Rectangle 3"/>
          <p:cNvSpPr/>
          <p:nvPr/>
        </p:nvSpPr>
        <p:spPr>
          <a:xfrm>
            <a:off x="548640" y="1417320"/>
            <a:ext cx="11064240" cy="502920"/>
          </a:xfrm>
          <a:prstGeom prst="rect">
            <a:avLst/>
          </a:prstGeom>
          <a:solidFill>
            <a:srgbClr val="FD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417320"/>
            <a:ext cx="10552176" cy="502920"/>
          </a:xfrm>
          <a:prstGeom prst="rect">
            <a:avLst/>
          </a:prstGeom>
          <a:noFill/>
        </p:spPr>
        <p:txBody>
          <a:bodyPr wrap="square" anchor="ctr" lIns="0" rIns="0" tIns="0" bIns="0">
            <a:spAutoFit/>
          </a:bodyPr>
          <a:lstStyle/>
          <a:p>
            <a:pPr algn="l">
              <a:lnSpc>
                <a:spcPct val="110000"/>
              </a:lnSpc>
            </a:pPr>
            <a:r>
              <a:rPr sz="1000" b="0" i="0">
                <a:solidFill>
                  <a:srgbClr val="8A5A12"/>
                </a:solidFill>
                <a:latin typeface="Calibri"/>
              </a:rPr>
              <a:t>Scope of comparison: spreadsheet-based inventories, email approval chains and fragmented ownership tracking. No claim is made against commercial governance products — no evidence exists to support one.</a:t>
            </a:r>
          </a:p>
        </p:txBody>
      </p:sp>
      <p:sp>
        <p:nvSpPr>
          <p:cNvPr id="6" name="Rectangle 5"/>
          <p:cNvSpPr/>
          <p:nvPr/>
        </p:nvSpPr>
        <p:spPr>
          <a:xfrm>
            <a:off x="548640" y="2054736"/>
            <a:ext cx="11064240" cy="32004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4736"/>
            <a:ext cx="1920240" cy="320040"/>
          </a:xfrm>
          <a:prstGeom prst="rect">
            <a:avLst/>
          </a:prstGeom>
          <a:noFill/>
        </p:spPr>
        <p:txBody>
          <a:bodyPr wrap="square" anchor="ctr" lIns="0" rIns="0" tIns="0" bIns="0">
            <a:spAutoFit/>
          </a:bodyPr>
          <a:lstStyle/>
          <a:p>
            <a:pPr algn="l">
              <a:lnSpc>
                <a:spcPct val="108000"/>
              </a:lnSpc>
            </a:pPr>
            <a:r>
              <a:rPr sz="1000" b="1" i="0">
                <a:solidFill>
                  <a:srgbClr val="FFFFFF"/>
                </a:solidFill>
                <a:latin typeface="Calibri"/>
              </a:rPr>
              <a:t>Dimension</a:t>
            </a:r>
          </a:p>
        </p:txBody>
      </p:sp>
      <p:sp>
        <p:nvSpPr>
          <p:cNvPr id="8" name="TextBox 7"/>
          <p:cNvSpPr txBox="1"/>
          <p:nvPr/>
        </p:nvSpPr>
        <p:spPr>
          <a:xfrm>
            <a:off x="2743200" y="2054736"/>
            <a:ext cx="4023360" cy="320040"/>
          </a:xfrm>
          <a:prstGeom prst="rect">
            <a:avLst/>
          </a:prstGeom>
          <a:noFill/>
        </p:spPr>
        <p:txBody>
          <a:bodyPr wrap="square" anchor="ctr" lIns="0" rIns="0" tIns="0" bIns="0">
            <a:spAutoFit/>
          </a:bodyPr>
          <a:lstStyle/>
          <a:p>
            <a:pPr algn="l">
              <a:lnSpc>
                <a:spcPct val="108000"/>
              </a:lnSpc>
            </a:pPr>
            <a:r>
              <a:rPr sz="1000" b="1" i="0">
                <a:solidFill>
                  <a:srgbClr val="FFFFFF"/>
                </a:solidFill>
                <a:latin typeface="Calibri"/>
              </a:rPr>
              <a:t>Manual baseline</a:t>
            </a:r>
          </a:p>
        </p:txBody>
      </p:sp>
      <p:sp>
        <p:nvSpPr>
          <p:cNvPr id="9" name="TextBox 8"/>
          <p:cNvSpPr txBox="1"/>
          <p:nvPr/>
        </p:nvSpPr>
        <p:spPr>
          <a:xfrm>
            <a:off x="6949440" y="2054736"/>
            <a:ext cx="4480560" cy="320040"/>
          </a:xfrm>
          <a:prstGeom prst="rect">
            <a:avLst/>
          </a:prstGeom>
          <a:noFill/>
        </p:spPr>
        <p:txBody>
          <a:bodyPr wrap="square" anchor="ctr" lIns="0" rIns="0" tIns="0" bIns="0">
            <a:spAutoFit/>
          </a:bodyPr>
          <a:lstStyle/>
          <a:p>
            <a:pPr algn="l">
              <a:lnSpc>
                <a:spcPct val="108000"/>
              </a:lnSpc>
            </a:pPr>
            <a:r>
              <a:rPr sz="1000" b="1" i="0">
                <a:solidFill>
                  <a:srgbClr val="FFFFFF"/>
                </a:solidFill>
                <a:latin typeface="Calibri"/>
              </a:rPr>
              <a:t>OMG implementation</a:t>
            </a:r>
          </a:p>
        </p:txBody>
      </p:sp>
      <p:sp>
        <p:nvSpPr>
          <p:cNvPr id="10" name="Rectangle 9"/>
          <p:cNvSpPr/>
          <p:nvPr/>
        </p:nvSpPr>
        <p:spPr>
          <a:xfrm>
            <a:off x="548640" y="2374776"/>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374776"/>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Asset inventory</a:t>
            </a:r>
          </a:p>
        </p:txBody>
      </p:sp>
      <p:sp>
        <p:nvSpPr>
          <p:cNvPr id="12" name="TextBox 11"/>
          <p:cNvSpPr txBox="1"/>
          <p:nvPr/>
        </p:nvSpPr>
        <p:spPr>
          <a:xfrm>
            <a:off x="2743200" y="2374776"/>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Spreadsheet copies diverge; no canonical list</a:t>
            </a:r>
          </a:p>
        </p:txBody>
      </p:sp>
      <p:sp>
        <p:nvSpPr>
          <p:cNvPr id="13" name="TextBox 12"/>
          <p:cNvSpPr txBox="1"/>
          <p:nvPr/>
        </p:nvSpPr>
        <p:spPr>
          <a:xfrm>
            <a:off x="6949440" y="2374776"/>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Single typed registry, 9 asset classes, one schema</a:t>
            </a:r>
          </a:p>
        </p:txBody>
      </p:sp>
      <p:sp>
        <p:nvSpPr>
          <p:cNvPr id="14" name="Rectangle 13"/>
          <p:cNvSpPr/>
          <p:nvPr/>
        </p:nvSpPr>
        <p:spPr>
          <a:xfrm>
            <a:off x="548640" y="2822832"/>
            <a:ext cx="11064240" cy="4114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822832"/>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Ownership</a:t>
            </a:r>
          </a:p>
        </p:txBody>
      </p:sp>
      <p:sp>
        <p:nvSpPr>
          <p:cNvPr id="16" name="TextBox 15"/>
          <p:cNvSpPr txBox="1"/>
          <p:nvPr/>
        </p:nvSpPr>
        <p:spPr>
          <a:xfrm>
            <a:off x="2743200" y="2822832"/>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Names in a column, stale, unvalidated</a:t>
            </a:r>
          </a:p>
        </p:txBody>
      </p:sp>
      <p:sp>
        <p:nvSpPr>
          <p:cNvPr id="17" name="TextBox 16"/>
          <p:cNvSpPr txBox="1"/>
          <p:nvPr/>
        </p:nvSpPr>
        <p:spPr>
          <a:xfrm>
            <a:off x="6949440" y="2822832"/>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5 FK roles to User; completeness scored and weighted 25%</a:t>
            </a:r>
          </a:p>
        </p:txBody>
      </p:sp>
      <p:sp>
        <p:nvSpPr>
          <p:cNvPr id="18" name="Rectangle 17"/>
          <p:cNvSpPr/>
          <p:nvPr/>
        </p:nvSpPr>
        <p:spPr>
          <a:xfrm>
            <a:off x="548640" y="3270888"/>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270888"/>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Approvals</a:t>
            </a:r>
          </a:p>
        </p:txBody>
      </p:sp>
      <p:sp>
        <p:nvSpPr>
          <p:cNvPr id="20" name="TextBox 19"/>
          <p:cNvSpPr txBox="1"/>
          <p:nvPr/>
        </p:nvSpPr>
        <p:spPr>
          <a:xfrm>
            <a:off x="2743200" y="3270888"/>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Email threads; decision rationale lost</a:t>
            </a:r>
          </a:p>
        </p:txBody>
      </p:sp>
      <p:sp>
        <p:nvSpPr>
          <p:cNvPr id="21" name="TextBox 20"/>
          <p:cNvSpPr txBox="1"/>
          <p:nvPr/>
        </p:nvSpPr>
        <p:spPr>
          <a:xfrm>
            <a:off x="6949440" y="3270888"/>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DecisionRecord with owner, justification, checklist, audit entry</a:t>
            </a:r>
          </a:p>
        </p:txBody>
      </p:sp>
      <p:sp>
        <p:nvSpPr>
          <p:cNvPr id="22" name="Rectangle 21"/>
          <p:cNvSpPr/>
          <p:nvPr/>
        </p:nvSpPr>
        <p:spPr>
          <a:xfrm>
            <a:off x="548640" y="3718944"/>
            <a:ext cx="11064240" cy="4114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3718944"/>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Readiness</a:t>
            </a:r>
          </a:p>
        </p:txBody>
      </p:sp>
      <p:sp>
        <p:nvSpPr>
          <p:cNvPr id="24" name="TextBox 23"/>
          <p:cNvSpPr txBox="1"/>
          <p:nvPr/>
        </p:nvSpPr>
        <p:spPr>
          <a:xfrm>
            <a:off x="2743200" y="3718944"/>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Subjective judgement per reviewer</a:t>
            </a:r>
          </a:p>
        </p:txBody>
      </p:sp>
      <p:sp>
        <p:nvSpPr>
          <p:cNvPr id="25" name="TextBox 24"/>
          <p:cNvSpPr txBox="1"/>
          <p:nvPr/>
        </p:nvSpPr>
        <p:spPr>
          <a:xfrm>
            <a:off x="6949440" y="3718944"/>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Deterministic 5-pillar score with explicit blockers</a:t>
            </a:r>
          </a:p>
        </p:txBody>
      </p:sp>
      <p:sp>
        <p:nvSpPr>
          <p:cNvPr id="26" name="Rectangle 25"/>
          <p:cNvSpPr/>
          <p:nvPr/>
        </p:nvSpPr>
        <p:spPr>
          <a:xfrm>
            <a:off x="548640" y="4167000"/>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4167000"/>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Policy breaches</a:t>
            </a:r>
          </a:p>
        </p:txBody>
      </p:sp>
      <p:sp>
        <p:nvSpPr>
          <p:cNvPr id="28" name="TextBox 27"/>
          <p:cNvSpPr txBox="1"/>
          <p:nvPr/>
        </p:nvSpPr>
        <p:spPr>
          <a:xfrm>
            <a:off x="2743200" y="4167000"/>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Found during audit, if at all</a:t>
            </a:r>
          </a:p>
        </p:txBody>
      </p:sp>
      <p:sp>
        <p:nvSpPr>
          <p:cNvPr id="29" name="TextBox 28"/>
          <p:cNvSpPr txBox="1"/>
          <p:nvPr/>
        </p:nvSpPr>
        <p:spPr>
          <a:xfrm>
            <a:off x="6949440" y="4167000"/>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7 enforcement rules + Governance Intelligence Engine, evaluated live</a:t>
            </a:r>
          </a:p>
        </p:txBody>
      </p:sp>
      <p:sp>
        <p:nvSpPr>
          <p:cNvPr id="30" name="Rectangle 29"/>
          <p:cNvSpPr/>
          <p:nvPr/>
        </p:nvSpPr>
        <p:spPr>
          <a:xfrm>
            <a:off x="548640" y="4615056"/>
            <a:ext cx="11064240" cy="4114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4615056"/>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Change control</a:t>
            </a:r>
          </a:p>
        </p:txBody>
      </p:sp>
      <p:sp>
        <p:nvSpPr>
          <p:cNvPr id="32" name="TextBox 31"/>
          <p:cNvSpPr txBox="1"/>
          <p:nvPr/>
        </p:nvSpPr>
        <p:spPr>
          <a:xfrm>
            <a:off x="2743200" y="4615056"/>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Re-approval depends on memory</a:t>
            </a:r>
          </a:p>
        </p:txBody>
      </p:sp>
      <p:sp>
        <p:nvSpPr>
          <p:cNvPr id="33" name="TextBox 32"/>
          <p:cNvSpPr txBox="1"/>
          <p:nvPr/>
        </p:nvSpPr>
        <p:spPr>
          <a:xfrm>
            <a:off x="6949440" y="4615056"/>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Impact scored, magnitude resolved, approvers routed automatically</a:t>
            </a:r>
          </a:p>
        </p:txBody>
      </p:sp>
      <p:sp>
        <p:nvSpPr>
          <p:cNvPr id="34" name="Rectangle 33"/>
          <p:cNvSpPr/>
          <p:nvPr/>
        </p:nvSpPr>
        <p:spPr>
          <a:xfrm>
            <a:off x="548640" y="5063112"/>
            <a:ext cx="110642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5063112"/>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Compliance mapping</a:t>
            </a:r>
          </a:p>
        </p:txBody>
      </p:sp>
      <p:sp>
        <p:nvSpPr>
          <p:cNvPr id="36" name="TextBox 35"/>
          <p:cNvSpPr txBox="1"/>
          <p:nvPr/>
        </p:nvSpPr>
        <p:spPr>
          <a:xfrm>
            <a:off x="2743200" y="5063112"/>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One spreadsheet per regulation, redone from scratch</a:t>
            </a:r>
          </a:p>
        </p:txBody>
      </p:sp>
      <p:sp>
        <p:nvSpPr>
          <p:cNvPr id="37" name="TextBox 36"/>
          <p:cNvSpPr txBox="1"/>
          <p:nvPr/>
        </p:nvSpPr>
        <p:spPr>
          <a:xfrm>
            <a:off x="6949440" y="5063112"/>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Regulatory Knowledge Engine — new regulation onboards as configuration</a:t>
            </a:r>
          </a:p>
        </p:txBody>
      </p:sp>
      <p:sp>
        <p:nvSpPr>
          <p:cNvPr id="38" name="Rectangle 37"/>
          <p:cNvSpPr/>
          <p:nvPr/>
        </p:nvSpPr>
        <p:spPr>
          <a:xfrm>
            <a:off x="548640" y="5511168"/>
            <a:ext cx="11064240" cy="4114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5511168"/>
            <a:ext cx="1920240" cy="411480"/>
          </a:xfrm>
          <a:prstGeom prst="rect">
            <a:avLst/>
          </a:prstGeom>
          <a:noFill/>
        </p:spPr>
        <p:txBody>
          <a:bodyPr wrap="square" anchor="ctr" lIns="0" rIns="0" tIns="0" bIns="0">
            <a:spAutoFit/>
          </a:bodyPr>
          <a:lstStyle/>
          <a:p>
            <a:pPr algn="l">
              <a:lnSpc>
                <a:spcPct val="108000"/>
              </a:lnSpc>
            </a:pPr>
            <a:r>
              <a:rPr sz="950" b="1" i="0">
                <a:solidFill>
                  <a:srgbClr val="22303C"/>
                </a:solidFill>
                <a:latin typeface="Calibri"/>
              </a:rPr>
              <a:t>Audit evidence</a:t>
            </a:r>
          </a:p>
        </p:txBody>
      </p:sp>
      <p:sp>
        <p:nvSpPr>
          <p:cNvPr id="40" name="TextBox 39"/>
          <p:cNvSpPr txBox="1"/>
          <p:nvPr/>
        </p:nvSpPr>
        <p:spPr>
          <a:xfrm>
            <a:off x="2743200" y="5511168"/>
            <a:ext cx="4023360" cy="411480"/>
          </a:xfrm>
          <a:prstGeom prst="rect">
            <a:avLst/>
          </a:prstGeom>
          <a:noFill/>
        </p:spPr>
        <p:txBody>
          <a:bodyPr wrap="square" anchor="ctr" lIns="0" rIns="0" tIns="0" bIns="0">
            <a:spAutoFit/>
          </a:bodyPr>
          <a:lstStyle/>
          <a:p>
            <a:pPr algn="l">
              <a:lnSpc>
                <a:spcPct val="105000"/>
              </a:lnSpc>
            </a:pPr>
            <a:r>
              <a:rPr sz="850" b="0" i="0">
                <a:solidFill>
                  <a:srgbClr val="76858F"/>
                </a:solidFill>
                <a:latin typeface="Calibri"/>
              </a:rPr>
              <a:t>Assembled retrospectively over weeks</a:t>
            </a:r>
          </a:p>
        </p:txBody>
      </p:sp>
      <p:sp>
        <p:nvSpPr>
          <p:cNvPr id="41" name="TextBox 40"/>
          <p:cNvSpPr txBox="1"/>
          <p:nvPr/>
        </p:nvSpPr>
        <p:spPr>
          <a:xfrm>
            <a:off x="6949440" y="5511168"/>
            <a:ext cx="4572000" cy="411480"/>
          </a:xfrm>
          <a:prstGeom prst="rect">
            <a:avLst/>
          </a:prstGeom>
          <a:noFill/>
        </p:spPr>
        <p:txBody>
          <a:bodyPr wrap="square" anchor="ctr" lIns="0" rIns="0" tIns="0" bIns="0">
            <a:spAutoFit/>
          </a:bodyPr>
          <a:lstStyle/>
          <a:p>
            <a:pPr algn="l">
              <a:lnSpc>
                <a:spcPct val="105000"/>
              </a:lnSpc>
            </a:pPr>
            <a:r>
              <a:rPr sz="850" b="0" i="0">
                <a:solidFill>
                  <a:srgbClr val="2E3B47"/>
                </a:solidFill>
                <a:latin typeface="Calibri"/>
              </a:rPr>
              <a:t>Append-only trail across 21 entity types; reports generated on demand</a:t>
            </a:r>
          </a:p>
        </p:txBody>
      </p:sp>
      <p:sp>
        <p:nvSpPr>
          <p:cNvPr id="42" name="TextBox 41"/>
          <p:cNvSpPr txBox="1"/>
          <p:nvPr/>
        </p:nvSpPr>
        <p:spPr>
          <a:xfrm>
            <a:off x="548640" y="6144768"/>
            <a:ext cx="11064240" cy="237744"/>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Every right-hand claim maps to a named function, type or model in the inventory. Left-hand column describes common manual practice, not any named product.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19 · TECHNICAL DEBT ANALYSIS</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Eight items, ranked by consequence</a:t>
            </a:r>
          </a:p>
        </p:txBody>
      </p:sp>
      <p:sp>
        <p:nvSpPr>
          <p:cNvPr id="4" name="Rectangle 3"/>
          <p:cNvSpPr/>
          <p:nvPr/>
        </p:nvSpPr>
        <p:spPr>
          <a:xfrm>
            <a:off x="548640" y="1417320"/>
            <a:ext cx="110642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499616"/>
            <a:ext cx="274320" cy="256032"/>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96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H</a:t>
            </a:r>
          </a:p>
        </p:txBody>
      </p:sp>
      <p:sp>
        <p:nvSpPr>
          <p:cNvPr id="7" name="TextBox 6"/>
          <p:cNvSpPr txBox="1"/>
          <p:nvPr/>
        </p:nvSpPr>
        <p:spPr>
          <a:xfrm>
            <a:off x="1024128" y="14173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Audit trail still writes client-side only</a:t>
            </a:r>
          </a:p>
        </p:txBody>
      </p:sp>
      <p:sp>
        <p:nvSpPr>
          <p:cNvPr id="8" name="TextBox 7"/>
          <p:cNvSpPr txBox="1"/>
          <p:nvPr/>
        </p:nvSpPr>
        <p:spPr>
          <a:xfrm>
            <a:off x="5029200" y="14173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addAuditLog() never made the jump to the API; timestamps client-generated, ipAddress hard-coded.</a:t>
            </a:r>
          </a:p>
        </p:txBody>
      </p:sp>
      <p:sp>
        <p:nvSpPr>
          <p:cNvPr id="9" name="Rectangle 8"/>
          <p:cNvSpPr/>
          <p:nvPr/>
        </p:nvSpPr>
        <p:spPr>
          <a:xfrm>
            <a:off x="548640" y="1874520"/>
            <a:ext cx="11064240" cy="4206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956816"/>
            <a:ext cx="274320" cy="256032"/>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568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H</a:t>
            </a:r>
          </a:p>
        </p:txBody>
      </p:sp>
      <p:sp>
        <p:nvSpPr>
          <p:cNvPr id="12" name="TextBox 11"/>
          <p:cNvSpPr txBox="1"/>
          <p:nvPr/>
        </p:nvSpPr>
        <p:spPr>
          <a:xfrm>
            <a:off x="1024128" y="18745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No authentication anywhere</a:t>
            </a:r>
          </a:p>
        </p:txBody>
      </p:sp>
      <p:sp>
        <p:nvSpPr>
          <p:cNvPr id="13" name="TextBox 12"/>
          <p:cNvSpPr txBox="1"/>
          <p:nvPr/>
        </p:nvSpPr>
        <p:spPr>
          <a:xfrm>
            <a:off x="5029200" y="18745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No password field in the codebase; RolesGuard trusts a client-supplied header.</a:t>
            </a:r>
          </a:p>
        </p:txBody>
      </p:sp>
      <p:sp>
        <p:nvSpPr>
          <p:cNvPr id="14" name="Rectangle 13"/>
          <p:cNvSpPr/>
          <p:nvPr/>
        </p:nvSpPr>
        <p:spPr>
          <a:xfrm>
            <a:off x="548640" y="2331720"/>
            <a:ext cx="110642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414016"/>
            <a:ext cx="274320" cy="256032"/>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4140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M</a:t>
            </a:r>
          </a:p>
        </p:txBody>
      </p:sp>
      <p:sp>
        <p:nvSpPr>
          <p:cNvPr id="17" name="TextBox 16"/>
          <p:cNvSpPr txBox="1"/>
          <p:nvPr/>
        </p:nvSpPr>
        <p:spPr>
          <a:xfrm>
            <a:off x="1024128" y="23317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Backend covers ~26 of 44 models</a:t>
            </a:r>
          </a:p>
        </p:txBody>
      </p:sp>
      <p:sp>
        <p:nvSpPr>
          <p:cNvPr id="18" name="TextBox 17"/>
          <p:cNvSpPr txBox="1"/>
          <p:nvPr/>
        </p:nvSpPr>
        <p:spPr>
          <a:xfrm>
            <a:off x="5029200" y="23317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No write path for RiskAssessment, ValidationRecord, DecisionRecord, or the Phase 9/10 Policy and Change domains.</a:t>
            </a:r>
          </a:p>
        </p:txBody>
      </p:sp>
      <p:sp>
        <p:nvSpPr>
          <p:cNvPr id="19" name="Rectangle 18"/>
          <p:cNvSpPr/>
          <p:nvPr/>
        </p:nvSpPr>
        <p:spPr>
          <a:xfrm>
            <a:off x="548640" y="2788920"/>
            <a:ext cx="11064240" cy="4206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2871216"/>
            <a:ext cx="274320" cy="256032"/>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28712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M</a:t>
            </a:r>
          </a:p>
        </p:txBody>
      </p:sp>
      <p:sp>
        <p:nvSpPr>
          <p:cNvPr id="22" name="TextBox 21"/>
          <p:cNvSpPr txBox="1"/>
          <p:nvPr/>
        </p:nvSpPr>
        <p:spPr>
          <a:xfrm>
            <a:off x="1024128" y="27889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Zero secondary database indexes</a:t>
            </a:r>
          </a:p>
        </p:txBody>
      </p:sp>
      <p:sp>
        <p:nvSpPr>
          <p:cNvPr id="23" name="TextBox 22"/>
          <p:cNvSpPr txBox="1"/>
          <p:nvPr/>
        </p:nvSpPr>
        <p:spPr>
          <a:xfrm>
            <a:off x="5029200" y="27889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51 relations, no @@index. Foreign-key lookups will table-scan at volume.</a:t>
            </a:r>
          </a:p>
        </p:txBody>
      </p:sp>
      <p:sp>
        <p:nvSpPr>
          <p:cNvPr id="24" name="Rectangle 23"/>
          <p:cNvSpPr/>
          <p:nvPr/>
        </p:nvSpPr>
        <p:spPr>
          <a:xfrm>
            <a:off x="548640" y="3246120"/>
            <a:ext cx="110642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3328416"/>
            <a:ext cx="274320" cy="256032"/>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3284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M</a:t>
            </a:r>
          </a:p>
        </p:txBody>
      </p:sp>
      <p:sp>
        <p:nvSpPr>
          <p:cNvPr id="27" name="TextBox 26"/>
          <p:cNvSpPr txBox="1"/>
          <p:nvPr/>
        </p:nvSpPr>
        <p:spPr>
          <a:xfrm>
            <a:off x="1024128" y="32461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No automated tests, no CI</a:t>
            </a:r>
          </a:p>
        </p:txBody>
      </p:sp>
      <p:sp>
        <p:nvSpPr>
          <p:cNvPr id="28" name="TextBox 27"/>
          <p:cNvSpPr txBox="1"/>
          <p:nvPr/>
        </p:nvSpPr>
        <p:spPr>
          <a:xfrm>
            <a:off x="5029200" y="32461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No test runner, no spec files, no pipeline, no Dockerfile or IaC.</a:t>
            </a:r>
          </a:p>
        </p:txBody>
      </p:sp>
      <p:sp>
        <p:nvSpPr>
          <p:cNvPr id="29" name="Rectangle 28"/>
          <p:cNvSpPr/>
          <p:nvPr/>
        </p:nvSpPr>
        <p:spPr>
          <a:xfrm>
            <a:off x="548640" y="3703320"/>
            <a:ext cx="11064240" cy="4206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0080" y="3785616"/>
            <a:ext cx="274320" cy="256032"/>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37856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M</a:t>
            </a:r>
          </a:p>
        </p:txBody>
      </p:sp>
      <p:sp>
        <p:nvSpPr>
          <p:cNvPr id="32" name="TextBox 31"/>
          <p:cNvSpPr txBox="1"/>
          <p:nvPr/>
        </p:nvSpPr>
        <p:spPr>
          <a:xfrm>
            <a:off x="1024128" y="37033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1,132 KB single JS chunk</a:t>
            </a:r>
          </a:p>
        </p:txBody>
      </p:sp>
      <p:sp>
        <p:nvSpPr>
          <p:cNvPr id="33" name="TextBox 32"/>
          <p:cNvSpPr txBox="1"/>
          <p:nvPr/>
        </p:nvSpPr>
        <p:spPr>
          <a:xfrm>
            <a:off x="5029200" y="37033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No code splitting or lazy routes; build warns above the 500 KB threshold — up from 772 KB as R5-R10 landed.</a:t>
            </a:r>
          </a:p>
        </p:txBody>
      </p:sp>
      <p:sp>
        <p:nvSpPr>
          <p:cNvPr id="34" name="Rectangle 33"/>
          <p:cNvSpPr/>
          <p:nvPr/>
        </p:nvSpPr>
        <p:spPr>
          <a:xfrm>
            <a:off x="548640" y="4160520"/>
            <a:ext cx="11064240" cy="4206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4242816"/>
            <a:ext cx="274320" cy="256032"/>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2428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L</a:t>
            </a:r>
          </a:p>
        </p:txBody>
      </p:sp>
      <p:sp>
        <p:nvSpPr>
          <p:cNvPr id="37" name="TextBox 36"/>
          <p:cNvSpPr txBox="1"/>
          <p:nvPr/>
        </p:nvSpPr>
        <p:spPr>
          <a:xfrm>
            <a:off x="1024128" y="41605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Dead code — 443 lines</a:t>
            </a:r>
          </a:p>
        </p:txBody>
      </p:sp>
      <p:sp>
        <p:nvSpPr>
          <p:cNvPr id="38" name="TextBox 37"/>
          <p:cNvSpPr txBox="1"/>
          <p:nvPr/>
        </p:nvSpPr>
        <p:spPr>
          <a:xfrm>
            <a:off x="5029200" y="41605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DecisionGovernancePage (222), App.css (184, Vite starter), api.ts (37) — unreferenced since before R5.</a:t>
            </a:r>
          </a:p>
        </p:txBody>
      </p:sp>
      <p:sp>
        <p:nvSpPr>
          <p:cNvPr id="39" name="Rectangle 38"/>
          <p:cNvSpPr/>
          <p:nvPr/>
        </p:nvSpPr>
        <p:spPr>
          <a:xfrm>
            <a:off x="548640" y="4617720"/>
            <a:ext cx="11064240" cy="42062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 y="4700016"/>
            <a:ext cx="274320" cy="256032"/>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700016"/>
            <a:ext cx="274320" cy="256032"/>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L</a:t>
            </a:r>
          </a:p>
        </p:txBody>
      </p:sp>
      <p:sp>
        <p:nvSpPr>
          <p:cNvPr id="42" name="TextBox 41"/>
          <p:cNvSpPr txBox="1"/>
          <p:nvPr/>
        </p:nvSpPr>
        <p:spPr>
          <a:xfrm>
            <a:off x="1024128" y="4617720"/>
            <a:ext cx="3931920" cy="420624"/>
          </a:xfrm>
          <a:prstGeom prst="rect">
            <a:avLst/>
          </a:prstGeom>
          <a:noFill/>
        </p:spPr>
        <p:txBody>
          <a:bodyPr wrap="square" anchor="ctr" lIns="0" rIns="0" tIns="0" bIns="0">
            <a:spAutoFit/>
          </a:bodyPr>
          <a:lstStyle/>
          <a:p>
            <a:pPr algn="l">
              <a:lnSpc>
                <a:spcPct val="108000"/>
              </a:lnSpc>
            </a:pPr>
            <a:r>
              <a:rPr sz="1000" b="1" i="0">
                <a:solidFill>
                  <a:srgbClr val="22303C"/>
                </a:solidFill>
                <a:latin typeface="Calibri"/>
              </a:rPr>
              <a:t>Ad hoc localStorage key versioning</a:t>
            </a:r>
          </a:p>
        </p:txBody>
      </p:sp>
      <p:sp>
        <p:nvSpPr>
          <p:cNvPr id="43" name="TextBox 42"/>
          <p:cNvSpPr txBox="1"/>
          <p:nvPr/>
        </p:nvSpPr>
        <p:spPr>
          <a:xfrm>
            <a:off x="5029200" y="4617720"/>
            <a:ext cx="6492240" cy="420624"/>
          </a:xfrm>
          <a:prstGeom prst="rect">
            <a:avLst/>
          </a:prstGeom>
          <a:noFill/>
        </p:spPr>
        <p:txBody>
          <a:bodyPr wrap="square" anchor="ctr" lIns="0" rIns="0" tIns="0" bIns="0">
            <a:spAutoFit/>
          </a:bodyPr>
          <a:lstStyle/>
          <a:p>
            <a:pPr algn="l">
              <a:lnSpc>
                <a:spcPct val="110000"/>
              </a:lnSpc>
            </a:pPr>
            <a:r>
              <a:rPr sz="900" b="0" i="0">
                <a:solidFill>
                  <a:srgbClr val="2E3B47"/>
                </a:solidFill>
                <a:latin typeface="Calibri"/>
              </a:rPr>
              <a:t>Keys are version-suffixed v7 / v10; older payloads are silently ignored, not migrated.</a:t>
            </a:r>
          </a:p>
        </p:txBody>
      </p:sp>
      <p:sp>
        <p:nvSpPr>
          <p:cNvPr id="44" name="TextBox 43"/>
          <p:cNvSpPr txBox="1"/>
          <p:nvPr/>
        </p:nvSpPr>
        <p:spPr>
          <a:xfrm>
            <a:off x="548640" y="5119920"/>
            <a:ext cx="11064240" cy="274320"/>
          </a:xfrm>
          <a:prstGeom prst="rect">
            <a:avLst/>
          </a:prstGeom>
          <a:noFill/>
        </p:spPr>
        <p:txBody>
          <a:bodyPr wrap="square" anchor="t" lIns="0" rIns="0" tIns="0" bIns="0">
            <a:spAutoFit/>
          </a:bodyPr>
          <a:lstStyle/>
          <a:p>
            <a:pPr algn="l">
              <a:lnSpc>
                <a:spcPct val="108000"/>
              </a:lnSpc>
            </a:pPr>
            <a:r>
              <a:rPr sz="900" b="0" i="0">
                <a:solidFill>
                  <a:srgbClr val="76858F"/>
                </a:solidFill>
                <a:latin typeface="Calibri"/>
              </a:rPr>
              <a:t>H = high  ·  M = medium  ·  L = low.   Resolved across R4-R10: frontend/backend integration for 26 of 44 models, RolesGuard hardened across all 85 endpoints.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64240" cy="237744"/>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20 · SCALABILITY ANALYSIS</a:t>
            </a:r>
          </a:p>
        </p:txBody>
      </p:sp>
      <p:sp>
        <p:nvSpPr>
          <p:cNvPr id="3" name="TextBox 2"/>
          <p:cNvSpPr txBox="1"/>
          <p:nvPr/>
        </p:nvSpPr>
        <p:spPr>
          <a:xfrm>
            <a:off x="548640" y="621792"/>
            <a:ext cx="11064240" cy="731520"/>
          </a:xfrm>
          <a:prstGeom prst="rect">
            <a:avLst/>
          </a:prstGeom>
          <a:noFill/>
        </p:spPr>
        <p:txBody>
          <a:bodyPr wrap="square" anchor="t" lIns="0" rIns="0" tIns="0" bIns="0">
            <a:spAutoFit/>
          </a:bodyPr>
          <a:lstStyle/>
          <a:p>
            <a:pPr algn="l">
              <a:lnSpc>
                <a:spcPct val="108000"/>
              </a:lnSpc>
            </a:pPr>
            <a:r>
              <a:rPr sz="3100" b="1" i="0">
                <a:solidFill>
                  <a:srgbClr val="22303C"/>
                </a:solidFill>
                <a:latin typeface="Cambria"/>
              </a:rPr>
              <a:t>The ceiling moved to the database — mostly</a:t>
            </a:r>
          </a:p>
        </p:txBody>
      </p:sp>
      <p:sp>
        <p:nvSpPr>
          <p:cNvPr id="4" name="Rectangle 3"/>
          <p:cNvSpPr/>
          <p:nvPr/>
        </p:nvSpPr>
        <p:spPr>
          <a:xfrm>
            <a:off x="548640" y="1417320"/>
            <a:ext cx="11064240" cy="615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457320"/>
            <a:ext cx="1828800" cy="274320"/>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Persistence (26/44 models)</a:t>
            </a:r>
          </a:p>
        </p:txBody>
      </p:sp>
      <p:sp>
        <p:nvSpPr>
          <p:cNvPr id="6" name="TextBox 5"/>
          <p:cNvSpPr txBox="1"/>
          <p:nvPr/>
        </p:nvSpPr>
        <p:spPr>
          <a:xfrm>
            <a:off x="2651760" y="1457320"/>
            <a:ext cx="4572000" cy="500000"/>
          </a:xfrm>
          <a:prstGeom prst="rect">
            <a:avLst/>
          </a:prstGeom>
          <a:noFill/>
        </p:spPr>
        <p:txBody>
          <a:bodyPr wrap="square" anchor="t" lIns="0" rIns="0" tIns="0" bIns="0">
            <a:spAutoFit/>
          </a:bodyPr>
          <a:lstStyle/>
          <a:p>
            <a:pPr algn="l">
              <a:lnSpc>
                <a:spcPct val="112000"/>
              </a:lnSpc>
            </a:pPr>
            <a:r>
              <a:rPr sz="869" b="0" i="0">
                <a:solidFill>
                  <a:srgbClr val="2E3B47"/>
                </a:solidFill>
                <a:latin typeface="Calibri"/>
              </a:rPr>
              <a:t>Neon serverless Postgres via Prisma, cache-then-network</a:t>
            </a:r>
          </a:p>
        </p:txBody>
      </p:sp>
      <p:sp>
        <p:nvSpPr>
          <p:cNvPr id="7" name="TextBox 6"/>
          <p:cNvSpPr txBox="1"/>
          <p:nvPr/>
        </p:nvSpPr>
        <p:spPr>
          <a:xfrm>
            <a:off x="7406640" y="1457320"/>
            <a:ext cx="4023360" cy="500000"/>
          </a:xfrm>
          <a:prstGeom prst="rect">
            <a:avLst/>
          </a:prstGeom>
          <a:noFill/>
        </p:spPr>
        <p:txBody>
          <a:bodyPr wrap="square" anchor="t" lIns="0" rIns="0" tIns="0" bIns="0">
            <a:spAutoFit/>
          </a:bodyPr>
          <a:lstStyle/>
          <a:p>
            <a:pPr algn="l">
              <a:lnSpc>
                <a:spcPct val="112000"/>
              </a:lnSpc>
            </a:pPr>
            <a:r>
              <a:rPr sz="869" b="0" i="0">
                <a:solidFill>
                  <a:srgbClr val="76858F"/>
                </a:solidFill>
                <a:latin typeface="Calibri"/>
              </a:rPr>
              <a:t>Shared, durable, multi-device — no per-browser ceiling for these domains</a:t>
            </a:r>
          </a:p>
        </p:txBody>
      </p:sp>
      <p:sp>
        <p:nvSpPr>
          <p:cNvPr id="8" name="Rectangle 7"/>
          <p:cNvSpPr/>
          <p:nvPr/>
        </p:nvSpPr>
        <p:spPr>
          <a:xfrm>
            <a:off x="548640" y="2077320"/>
            <a:ext cx="11064240" cy="615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117320"/>
            <a:ext cx="1828800" cy="274320"/>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Persistence (audit log)</a:t>
            </a:r>
          </a:p>
        </p:txBody>
      </p:sp>
      <p:sp>
        <p:nvSpPr>
          <p:cNvPr id="10" name="TextBox 9"/>
          <p:cNvSpPr txBox="1"/>
          <p:nvPr/>
        </p:nvSpPr>
        <p:spPr>
          <a:xfrm>
            <a:off x="2651760" y="2117320"/>
            <a:ext cx="4572000" cy="500000"/>
          </a:xfrm>
          <a:prstGeom prst="rect">
            <a:avLst/>
          </a:prstGeom>
          <a:noFill/>
        </p:spPr>
        <p:txBody>
          <a:bodyPr wrap="square" anchor="t" lIns="0" rIns="0" tIns="0" bIns="0">
            <a:spAutoFit/>
          </a:bodyPr>
          <a:lstStyle/>
          <a:p>
            <a:pPr algn="l">
              <a:lnSpc>
                <a:spcPct val="112000"/>
              </a:lnSpc>
            </a:pPr>
            <a:r>
              <a:rPr sz="869" b="0" i="0">
                <a:solidFill>
                  <a:srgbClr val="2E3B47"/>
                </a:solidFill>
                <a:latin typeface="Calibri"/>
              </a:rPr>
              <a:t>Still browser localStorage, ~5-10 MB per origin, single-device</a:t>
            </a:r>
          </a:p>
        </p:txBody>
      </p:sp>
      <p:sp>
        <p:nvSpPr>
          <p:cNvPr id="11" name="TextBox 10"/>
          <p:cNvSpPr txBox="1"/>
          <p:nvPr/>
        </p:nvSpPr>
        <p:spPr>
          <a:xfrm>
            <a:off x="7406640" y="2117320"/>
            <a:ext cx="4023360" cy="500000"/>
          </a:xfrm>
          <a:prstGeom prst="rect">
            <a:avLst/>
          </a:prstGeom>
          <a:noFill/>
        </p:spPr>
        <p:txBody>
          <a:bodyPr wrap="square" anchor="t" lIns="0" rIns="0" tIns="0" bIns="0">
            <a:spAutoFit/>
          </a:bodyPr>
          <a:lstStyle/>
          <a:p>
            <a:pPr algn="l">
              <a:lnSpc>
                <a:spcPct val="112000"/>
              </a:lnSpc>
            </a:pPr>
            <a:r>
              <a:rPr sz="869" b="0" i="0">
                <a:solidFill>
                  <a:srgbClr val="76858F"/>
                </a:solidFill>
                <a:latin typeface="Calibri"/>
              </a:rPr>
              <a:t>Same hard ceiling as before — the one domain that stayed client-only</a:t>
            </a:r>
          </a:p>
        </p:txBody>
      </p:sp>
      <p:sp>
        <p:nvSpPr>
          <p:cNvPr id="12" name="Rectangle 11"/>
          <p:cNvSpPr/>
          <p:nvPr/>
        </p:nvSpPr>
        <p:spPr>
          <a:xfrm>
            <a:off x="548640" y="2737320"/>
            <a:ext cx="11064240" cy="615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777320"/>
            <a:ext cx="1828800" cy="274320"/>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Metrics computation</a:t>
            </a:r>
          </a:p>
        </p:txBody>
      </p:sp>
      <p:sp>
        <p:nvSpPr>
          <p:cNvPr id="14" name="TextBox 13"/>
          <p:cNvSpPr txBox="1"/>
          <p:nvPr/>
        </p:nvSpPr>
        <p:spPr>
          <a:xfrm>
            <a:off x="2651760" y="2777320"/>
            <a:ext cx="4572000" cy="500000"/>
          </a:xfrm>
          <a:prstGeom prst="rect">
            <a:avLst/>
          </a:prstGeom>
          <a:noFill/>
        </p:spPr>
        <p:txBody>
          <a:bodyPr wrap="square" anchor="t" lIns="0" rIns="0" tIns="0" bIns="0">
            <a:spAutoFit/>
          </a:bodyPr>
          <a:lstStyle/>
          <a:p>
            <a:pPr algn="l">
              <a:lnSpc>
                <a:spcPct val="112000"/>
              </a:lnSpc>
            </a:pPr>
            <a:r>
              <a:rPr sz="869" b="0" i="0">
                <a:solidFill>
                  <a:srgbClr val="2E3B47"/>
                </a:solidFill>
                <a:latin typeface="Calibri"/>
              </a:rPr>
              <a:t>getGovernanceMetrics() calls multiple scorers per asset per page mount</a:t>
            </a:r>
          </a:p>
        </p:txBody>
      </p:sp>
      <p:sp>
        <p:nvSpPr>
          <p:cNvPr id="15" name="TextBox 14"/>
          <p:cNvSpPr txBox="1"/>
          <p:nvPr/>
        </p:nvSpPr>
        <p:spPr>
          <a:xfrm>
            <a:off x="7406640" y="2777320"/>
            <a:ext cx="4023360" cy="500000"/>
          </a:xfrm>
          <a:prstGeom prst="rect">
            <a:avLst/>
          </a:prstGeom>
          <a:noFill/>
        </p:spPr>
        <p:txBody>
          <a:bodyPr wrap="square" anchor="t" lIns="0" rIns="0" tIns="0" bIns="0">
            <a:spAutoFit/>
          </a:bodyPr>
          <a:lstStyle/>
          <a:p>
            <a:pPr algn="l">
              <a:lnSpc>
                <a:spcPct val="112000"/>
              </a:lnSpc>
            </a:pPr>
            <a:r>
              <a:rPr sz="869" b="0" i="0">
                <a:solidFill>
                  <a:srgbClr val="76858F"/>
                </a:solidFill>
                <a:latin typeface="Calibri"/>
              </a:rPr>
              <a:t>Roughly O(N × M), recomputed on every page mount — unchanged since R1</a:t>
            </a:r>
          </a:p>
        </p:txBody>
      </p:sp>
      <p:sp>
        <p:nvSpPr>
          <p:cNvPr id="16" name="Rectangle 15"/>
          <p:cNvSpPr/>
          <p:nvPr/>
        </p:nvSpPr>
        <p:spPr>
          <a:xfrm>
            <a:off x="548640" y="3397320"/>
            <a:ext cx="11064240" cy="615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37320"/>
            <a:ext cx="1828800" cy="274320"/>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Database access</a:t>
            </a:r>
          </a:p>
        </p:txBody>
      </p:sp>
      <p:sp>
        <p:nvSpPr>
          <p:cNvPr id="18" name="TextBox 17"/>
          <p:cNvSpPr txBox="1"/>
          <p:nvPr/>
        </p:nvSpPr>
        <p:spPr>
          <a:xfrm>
            <a:off x="2651760" y="3437320"/>
            <a:ext cx="4572000" cy="500000"/>
          </a:xfrm>
          <a:prstGeom prst="rect">
            <a:avLst/>
          </a:prstGeom>
          <a:noFill/>
        </p:spPr>
        <p:txBody>
          <a:bodyPr wrap="square" anchor="t" lIns="0" rIns="0" tIns="0" bIns="0">
            <a:spAutoFit/>
          </a:bodyPr>
          <a:lstStyle/>
          <a:p>
            <a:pPr algn="l">
              <a:lnSpc>
                <a:spcPct val="112000"/>
              </a:lnSpc>
            </a:pPr>
            <a:r>
              <a:rPr sz="869" b="0" i="0">
                <a:solidFill>
                  <a:srgbClr val="2E3B47"/>
                </a:solidFill>
                <a:latin typeface="Calibri"/>
              </a:rPr>
              <a:t>findMany() with no take or cursor except audit-logs (take: 50)</a:t>
            </a:r>
          </a:p>
        </p:txBody>
      </p:sp>
      <p:sp>
        <p:nvSpPr>
          <p:cNvPr id="19" name="TextBox 18"/>
          <p:cNvSpPr txBox="1"/>
          <p:nvPr/>
        </p:nvSpPr>
        <p:spPr>
          <a:xfrm>
            <a:off x="7406640" y="3437320"/>
            <a:ext cx="4023360" cy="500000"/>
          </a:xfrm>
          <a:prstGeom prst="rect">
            <a:avLst/>
          </a:prstGeom>
          <a:noFill/>
        </p:spPr>
        <p:txBody>
          <a:bodyPr wrap="square" anchor="t" lIns="0" rIns="0" tIns="0" bIns="0">
            <a:spAutoFit/>
          </a:bodyPr>
          <a:lstStyle/>
          <a:p>
            <a:pPr algn="l">
              <a:lnSpc>
                <a:spcPct val="112000"/>
              </a:lnSpc>
            </a:pPr>
            <a:r>
              <a:rPr sz="869" b="0" i="0">
                <a:solidFill>
                  <a:srgbClr val="76858F"/>
                </a:solidFill>
                <a:latin typeface="Calibri"/>
              </a:rPr>
              <a:t>Unbounded result sets once tables grow past demonstration volume</a:t>
            </a:r>
          </a:p>
        </p:txBody>
      </p:sp>
      <p:sp>
        <p:nvSpPr>
          <p:cNvPr id="20" name="Rectangle 19"/>
          <p:cNvSpPr/>
          <p:nvPr/>
        </p:nvSpPr>
        <p:spPr>
          <a:xfrm>
            <a:off x="548640" y="4057320"/>
            <a:ext cx="11064240" cy="615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097320"/>
            <a:ext cx="1828800" cy="274320"/>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Indexing</a:t>
            </a:r>
          </a:p>
        </p:txBody>
      </p:sp>
      <p:sp>
        <p:nvSpPr>
          <p:cNvPr id="22" name="TextBox 21"/>
          <p:cNvSpPr txBox="1"/>
          <p:nvPr/>
        </p:nvSpPr>
        <p:spPr>
          <a:xfrm>
            <a:off x="2651760" y="4097320"/>
            <a:ext cx="4572000" cy="500000"/>
          </a:xfrm>
          <a:prstGeom prst="rect">
            <a:avLst/>
          </a:prstGeom>
          <a:noFill/>
        </p:spPr>
        <p:txBody>
          <a:bodyPr wrap="square" anchor="t" lIns="0" rIns="0" tIns="0" bIns="0">
            <a:spAutoFit/>
          </a:bodyPr>
          <a:lstStyle/>
          <a:p>
            <a:pPr algn="l">
              <a:lnSpc>
                <a:spcPct val="112000"/>
              </a:lnSpc>
            </a:pPr>
            <a:r>
              <a:rPr sz="869" b="0" i="0">
                <a:solidFill>
                  <a:srgbClr val="2E3B47"/>
                </a:solidFill>
                <a:latin typeface="Calibri"/>
              </a:rPr>
              <a:t>0 secondary indexes across 44 models and 51 relations</a:t>
            </a:r>
          </a:p>
        </p:txBody>
      </p:sp>
      <p:sp>
        <p:nvSpPr>
          <p:cNvPr id="23" name="TextBox 22"/>
          <p:cNvSpPr txBox="1"/>
          <p:nvPr/>
        </p:nvSpPr>
        <p:spPr>
          <a:xfrm>
            <a:off x="7406640" y="4097320"/>
            <a:ext cx="4023360" cy="500000"/>
          </a:xfrm>
          <a:prstGeom prst="rect">
            <a:avLst/>
          </a:prstGeom>
          <a:noFill/>
        </p:spPr>
        <p:txBody>
          <a:bodyPr wrap="square" anchor="t" lIns="0" rIns="0" tIns="0" bIns="0">
            <a:spAutoFit/>
          </a:bodyPr>
          <a:lstStyle/>
          <a:p>
            <a:pPr algn="l">
              <a:lnSpc>
                <a:spcPct val="112000"/>
              </a:lnSpc>
            </a:pPr>
            <a:r>
              <a:rPr sz="869" b="0" i="0">
                <a:solidFill>
                  <a:srgbClr val="76858F"/>
                </a:solidFill>
                <a:latin typeface="Calibri"/>
              </a:rPr>
              <a:t>Relation lookups degrade to sequential scans</a:t>
            </a:r>
          </a:p>
        </p:txBody>
      </p:sp>
      <p:sp>
        <p:nvSpPr>
          <p:cNvPr id="24" name="Rectangle 23"/>
          <p:cNvSpPr/>
          <p:nvPr/>
        </p:nvSpPr>
        <p:spPr>
          <a:xfrm>
            <a:off x="548640" y="4717320"/>
            <a:ext cx="11064240" cy="615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4757320"/>
            <a:ext cx="1828800" cy="274320"/>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Client bundle</a:t>
            </a:r>
          </a:p>
        </p:txBody>
      </p:sp>
      <p:sp>
        <p:nvSpPr>
          <p:cNvPr id="26" name="TextBox 25"/>
          <p:cNvSpPr txBox="1"/>
          <p:nvPr/>
        </p:nvSpPr>
        <p:spPr>
          <a:xfrm>
            <a:off x="2651760" y="4757320"/>
            <a:ext cx="4572000" cy="500000"/>
          </a:xfrm>
          <a:prstGeom prst="rect">
            <a:avLst/>
          </a:prstGeom>
          <a:noFill/>
        </p:spPr>
        <p:txBody>
          <a:bodyPr wrap="square" anchor="t" lIns="0" rIns="0" tIns="0" bIns="0">
            <a:spAutoFit/>
          </a:bodyPr>
          <a:lstStyle/>
          <a:p>
            <a:pPr algn="l">
              <a:lnSpc>
                <a:spcPct val="112000"/>
              </a:lnSpc>
            </a:pPr>
            <a:r>
              <a:rPr sz="869" b="0" i="0">
                <a:solidFill>
                  <a:srgbClr val="2E3B47"/>
                </a:solidFill>
                <a:latin typeface="Calibri"/>
              </a:rPr>
              <a:t>1,132 KB JS in a single chunk, no route-level code splitting</a:t>
            </a:r>
          </a:p>
        </p:txBody>
      </p:sp>
      <p:sp>
        <p:nvSpPr>
          <p:cNvPr id="27" name="TextBox 26"/>
          <p:cNvSpPr txBox="1"/>
          <p:nvPr/>
        </p:nvSpPr>
        <p:spPr>
          <a:xfrm>
            <a:off x="7406640" y="4757320"/>
            <a:ext cx="4023360" cy="500000"/>
          </a:xfrm>
          <a:prstGeom prst="rect">
            <a:avLst/>
          </a:prstGeom>
          <a:noFill/>
        </p:spPr>
        <p:txBody>
          <a:bodyPr wrap="square" anchor="t" lIns="0" rIns="0" tIns="0" bIns="0">
            <a:spAutoFit/>
          </a:bodyPr>
          <a:lstStyle/>
          <a:p>
            <a:pPr algn="l">
              <a:lnSpc>
                <a:spcPct val="112000"/>
              </a:lnSpc>
            </a:pPr>
            <a:r>
              <a:rPr sz="869" b="0" i="0">
                <a:solidFill>
                  <a:srgbClr val="76858F"/>
                </a:solidFill>
                <a:latin typeface="Calibri"/>
              </a:rPr>
              <a:t>Slower first paint as more domains (R5-R10) add to the bundle</a:t>
            </a:r>
          </a:p>
        </p:txBody>
      </p:sp>
      <p:sp>
        <p:nvSpPr>
          <p:cNvPr id="28" name="Rectangle 27"/>
          <p:cNvSpPr/>
          <p:nvPr/>
        </p:nvSpPr>
        <p:spPr>
          <a:xfrm>
            <a:off x="548640" y="5377320"/>
            <a:ext cx="11064240" cy="6150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5417320"/>
            <a:ext cx="1828800" cy="274320"/>
          </a:xfrm>
          <a:prstGeom prst="rect">
            <a:avLst/>
          </a:prstGeom>
          <a:noFill/>
        </p:spPr>
        <p:txBody>
          <a:bodyPr wrap="square" anchor="t" lIns="0" rIns="0" tIns="0" bIns="0">
            <a:spAutoFit/>
          </a:bodyPr>
          <a:lstStyle/>
          <a:p>
            <a:pPr algn="l">
              <a:lnSpc>
                <a:spcPct val="108000"/>
              </a:lnSpc>
            </a:pPr>
            <a:r>
              <a:rPr sz="1050" b="1" i="0">
                <a:solidFill>
                  <a:srgbClr val="1F8A82"/>
                </a:solidFill>
                <a:latin typeface="Calibri"/>
              </a:rPr>
              <a:t>Platform</a:t>
            </a:r>
          </a:p>
        </p:txBody>
      </p:sp>
      <p:sp>
        <p:nvSpPr>
          <p:cNvPr id="30" name="TextBox 29"/>
          <p:cNvSpPr txBox="1"/>
          <p:nvPr/>
        </p:nvSpPr>
        <p:spPr>
          <a:xfrm>
            <a:off x="2651760" y="5417320"/>
            <a:ext cx="4572000" cy="500000"/>
          </a:xfrm>
          <a:prstGeom prst="rect">
            <a:avLst/>
          </a:prstGeom>
          <a:noFill/>
        </p:spPr>
        <p:txBody>
          <a:bodyPr wrap="square" anchor="t" lIns="0" rIns="0" tIns="0" bIns="0">
            <a:spAutoFit/>
          </a:bodyPr>
          <a:lstStyle/>
          <a:p>
            <a:pPr algn="l">
              <a:lnSpc>
                <a:spcPct val="112000"/>
              </a:lnSpc>
            </a:pPr>
            <a:r>
              <a:rPr sz="869" b="0" i="0">
                <a:solidFill>
                  <a:srgbClr val="2E3B47"/>
                </a:solidFill>
                <a:latin typeface="Calibri"/>
              </a:rPr>
              <a:t>Neon serverless Postgres scales; Render free tier cold-starts</a:t>
            </a:r>
          </a:p>
        </p:txBody>
      </p:sp>
      <p:sp>
        <p:nvSpPr>
          <p:cNvPr id="31" name="TextBox 30"/>
          <p:cNvSpPr txBox="1"/>
          <p:nvPr/>
        </p:nvSpPr>
        <p:spPr>
          <a:xfrm>
            <a:off x="7406640" y="5417320"/>
            <a:ext cx="4023360" cy="500000"/>
          </a:xfrm>
          <a:prstGeom prst="rect">
            <a:avLst/>
          </a:prstGeom>
          <a:noFill/>
        </p:spPr>
        <p:txBody>
          <a:bodyPr wrap="square" anchor="t" lIns="0" rIns="0" tIns="0" bIns="0">
            <a:spAutoFit/>
          </a:bodyPr>
          <a:lstStyle/>
          <a:p>
            <a:pPr algn="l">
              <a:lnSpc>
                <a:spcPct val="112000"/>
              </a:lnSpc>
            </a:pPr>
            <a:r>
              <a:rPr sz="869" b="0" i="0">
                <a:solidFill>
                  <a:srgbClr val="76858F"/>
                </a:solidFill>
                <a:latin typeface="Calibri"/>
              </a:rPr>
              <a:t>Database is not the near-term constraint</a:t>
            </a:r>
          </a:p>
        </p:txBody>
      </p:sp>
      <p:sp>
        <p:nvSpPr>
          <p:cNvPr id="32" name="Rectangle 31"/>
          <p:cNvSpPr/>
          <p:nvPr/>
        </p:nvSpPr>
        <p:spPr>
          <a:xfrm>
            <a:off x="548640" y="6077320"/>
            <a:ext cx="11064240" cy="457200"/>
          </a:xfrm>
          <a:prstGeom prst="rect">
            <a:avLst/>
          </a:prstGeom>
          <a:solidFill>
            <a:srgbClr val="223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6077320"/>
            <a:ext cx="10515600" cy="457200"/>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Realistic capacity today: multi-user pilot review for the API-backed domains (26 of 44 models); the audit trail and remaining 18 models keep the original single-user, tens-of-assets ceiling.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2303C"/>
        </a:solidFill>
        <a:effectLst/>
      </p:bgPr>
    </p:bg>
    <p:spTree>
      <p:nvGrpSpPr>
        <p:cNvPr id="1" name=""/>
        <p:cNvGrpSpPr/>
        <p:nvPr/>
      </p:nvGrpSpPr>
      <p:grpSpPr/>
      <p:sp>
        <p:nvSpPr>
          <p:cNvPr id="2" name="TextBox 1"/>
          <p:cNvSpPr txBox="1"/>
          <p:nvPr/>
        </p:nvSpPr>
        <p:spPr>
          <a:xfrm>
            <a:off x="548640" y="411480"/>
            <a:ext cx="11064240" cy="274320"/>
          </a:xfrm>
          <a:prstGeom prst="rect">
            <a:avLst/>
          </a:prstGeom>
          <a:noFill/>
        </p:spPr>
        <p:txBody>
          <a:bodyPr wrap="square" anchor="t" lIns="0" rIns="0" tIns="0" bIns="0">
            <a:spAutoFit/>
          </a:bodyPr>
          <a:lstStyle/>
          <a:p>
            <a:pPr algn="l">
              <a:lnSpc>
                <a:spcPct val="108000"/>
              </a:lnSpc>
            </a:pPr>
            <a:r>
              <a:rPr sz="1150" b="1" i="0">
                <a:solidFill>
                  <a:srgbClr val="1F8A82"/>
                </a:solidFill>
                <a:latin typeface="Calibri"/>
              </a:rPr>
              <a:t>21 + 22 · PRODUCTION READINESS AND RECOMMENDED SEQUENCE</a:t>
            </a:r>
          </a:p>
        </p:txBody>
      </p:sp>
      <p:sp>
        <p:nvSpPr>
          <p:cNvPr id="3" name="TextBox 2"/>
          <p:cNvSpPr txBox="1"/>
          <p:nvPr/>
        </p:nvSpPr>
        <p:spPr>
          <a:xfrm>
            <a:off x="548640" y="713232"/>
            <a:ext cx="11064240" cy="548640"/>
          </a:xfrm>
          <a:prstGeom prst="rect">
            <a:avLst/>
          </a:prstGeom>
          <a:noFill/>
        </p:spPr>
        <p:txBody>
          <a:bodyPr wrap="square" anchor="t" lIns="0" rIns="0" tIns="0" bIns="0">
            <a:spAutoFit/>
          </a:bodyPr>
          <a:lstStyle/>
          <a:p>
            <a:pPr algn="l">
              <a:lnSpc>
                <a:spcPct val="108000"/>
              </a:lnSpc>
            </a:pPr>
            <a:r>
              <a:rPr sz="2600" b="1" i="0">
                <a:solidFill>
                  <a:srgbClr val="FFFFFF"/>
                </a:solidFill>
                <a:latin typeface="Cambria"/>
              </a:rPr>
              <a:t>Feature-complete, persistence-backed; not yet a deployable system</a:t>
            </a:r>
          </a:p>
        </p:txBody>
      </p:sp>
      <p:sp>
        <p:nvSpPr>
          <p:cNvPr id="4" name="TextBox 3"/>
          <p:cNvSpPr txBox="1"/>
          <p:nvPr/>
        </p:nvSpPr>
        <p:spPr>
          <a:xfrm>
            <a:off x="548640" y="1371600"/>
            <a:ext cx="5486400" cy="256032"/>
          </a:xfrm>
          <a:prstGeom prst="rect">
            <a:avLst/>
          </a:prstGeom>
          <a:noFill/>
        </p:spPr>
        <p:txBody>
          <a:bodyPr wrap="square" anchor="t" lIns="0" rIns="0" tIns="0" bIns="0">
            <a:spAutoFit/>
          </a:bodyPr>
          <a:lstStyle/>
          <a:p>
            <a:pPr algn="l">
              <a:lnSpc>
                <a:spcPct val="108000"/>
              </a:lnSpc>
            </a:pPr>
            <a:r>
              <a:rPr sz="1000" b="1" i="0">
                <a:solidFill>
                  <a:srgbClr val="9FB2BF"/>
                </a:solidFill>
                <a:latin typeface="Calibri"/>
              </a:rPr>
              <a:t>READINESS BY DIMENSION</a:t>
            </a:r>
          </a:p>
        </p:txBody>
      </p:sp>
      <p:sp>
        <p:nvSpPr>
          <p:cNvPr id="5" name="TextBox 4"/>
          <p:cNvSpPr txBox="1"/>
          <p:nvPr/>
        </p:nvSpPr>
        <p:spPr>
          <a:xfrm>
            <a:off x="548640" y="1682496"/>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Functional completeness</a:t>
            </a:r>
          </a:p>
        </p:txBody>
      </p:sp>
      <p:sp>
        <p:nvSpPr>
          <p:cNvPr id="6" name="Rectangle 5"/>
          <p:cNvSpPr/>
          <p:nvPr/>
        </p:nvSpPr>
        <p:spPr>
          <a:xfrm>
            <a:off x="3063240" y="1783080"/>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63240" y="1783080"/>
            <a:ext cx="2282342" cy="137160"/>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32120" y="1682496"/>
            <a:ext cx="548640" cy="329184"/>
          </a:xfrm>
          <a:prstGeom prst="rect">
            <a:avLst/>
          </a:prstGeom>
          <a:noFill/>
        </p:spPr>
        <p:txBody>
          <a:bodyPr wrap="square" anchor="ctr" lIns="0" rIns="0" tIns="0" bIns="0">
            <a:spAutoFit/>
          </a:bodyPr>
          <a:lstStyle/>
          <a:p>
            <a:pPr algn="l">
              <a:lnSpc>
                <a:spcPct val="108000"/>
              </a:lnSpc>
            </a:pPr>
            <a:r>
              <a:rPr sz="950" b="1" i="0">
                <a:solidFill>
                  <a:srgbClr val="2E7D64"/>
                </a:solidFill>
                <a:latin typeface="Calibri"/>
              </a:rPr>
              <a:t>96%</a:t>
            </a:r>
          </a:p>
        </p:txBody>
      </p:sp>
      <p:sp>
        <p:nvSpPr>
          <p:cNvPr id="9" name="TextBox 8"/>
          <p:cNvSpPr txBox="1"/>
          <p:nvPr/>
        </p:nvSpPr>
        <p:spPr>
          <a:xfrm>
            <a:off x="548640" y="2084832"/>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Domain model quality</a:t>
            </a:r>
          </a:p>
        </p:txBody>
      </p:sp>
      <p:sp>
        <p:nvSpPr>
          <p:cNvPr id="10" name="Rectangle 9"/>
          <p:cNvSpPr/>
          <p:nvPr/>
        </p:nvSpPr>
        <p:spPr>
          <a:xfrm>
            <a:off x="3063240" y="2185416"/>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63240" y="2185416"/>
            <a:ext cx="2187244" cy="137160"/>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32120" y="2084832"/>
            <a:ext cx="548640" cy="329184"/>
          </a:xfrm>
          <a:prstGeom prst="rect">
            <a:avLst/>
          </a:prstGeom>
          <a:noFill/>
        </p:spPr>
        <p:txBody>
          <a:bodyPr wrap="square" anchor="ctr" lIns="0" rIns="0" tIns="0" bIns="0">
            <a:spAutoFit/>
          </a:bodyPr>
          <a:lstStyle/>
          <a:p>
            <a:pPr algn="l">
              <a:lnSpc>
                <a:spcPct val="108000"/>
              </a:lnSpc>
            </a:pPr>
            <a:r>
              <a:rPr sz="950" b="1" i="0">
                <a:solidFill>
                  <a:srgbClr val="2E7D64"/>
                </a:solidFill>
                <a:latin typeface="Calibri"/>
              </a:rPr>
              <a:t>92%</a:t>
            </a:r>
          </a:p>
        </p:txBody>
      </p:sp>
      <p:sp>
        <p:nvSpPr>
          <p:cNvPr id="13" name="TextBox 12"/>
          <p:cNvSpPr txBox="1"/>
          <p:nvPr/>
        </p:nvSpPr>
        <p:spPr>
          <a:xfrm>
            <a:off x="548640" y="2487168"/>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UX and accessibility</a:t>
            </a:r>
          </a:p>
        </p:txBody>
      </p:sp>
      <p:sp>
        <p:nvSpPr>
          <p:cNvPr id="14" name="Rectangle 13"/>
          <p:cNvSpPr/>
          <p:nvPr/>
        </p:nvSpPr>
        <p:spPr>
          <a:xfrm>
            <a:off x="3063240" y="2587752"/>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63240" y="2587752"/>
            <a:ext cx="1997049" cy="137160"/>
          </a:xfrm>
          <a:prstGeom prst="rect">
            <a:avLst/>
          </a:prstGeom>
          <a:solidFill>
            <a:srgbClr val="2E7D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2487168"/>
            <a:ext cx="548640" cy="329184"/>
          </a:xfrm>
          <a:prstGeom prst="rect">
            <a:avLst/>
          </a:prstGeom>
          <a:noFill/>
        </p:spPr>
        <p:txBody>
          <a:bodyPr wrap="square" anchor="ctr" lIns="0" rIns="0" tIns="0" bIns="0">
            <a:spAutoFit/>
          </a:bodyPr>
          <a:lstStyle/>
          <a:p>
            <a:pPr algn="l">
              <a:lnSpc>
                <a:spcPct val="108000"/>
              </a:lnSpc>
            </a:pPr>
            <a:r>
              <a:rPr sz="950" b="1" i="0">
                <a:solidFill>
                  <a:srgbClr val="2E7D64"/>
                </a:solidFill>
                <a:latin typeface="Calibri"/>
              </a:rPr>
              <a:t>84%</a:t>
            </a:r>
          </a:p>
        </p:txBody>
      </p:sp>
      <p:sp>
        <p:nvSpPr>
          <p:cNvPr id="17" name="TextBox 16"/>
          <p:cNvSpPr txBox="1"/>
          <p:nvPr/>
        </p:nvSpPr>
        <p:spPr>
          <a:xfrm>
            <a:off x="548640" y="2889504"/>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Data architecture</a:t>
            </a:r>
          </a:p>
        </p:txBody>
      </p:sp>
      <p:sp>
        <p:nvSpPr>
          <p:cNvPr id="18" name="Rectangle 17"/>
          <p:cNvSpPr/>
          <p:nvPr/>
        </p:nvSpPr>
        <p:spPr>
          <a:xfrm>
            <a:off x="3063240" y="2990088"/>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63240" y="2990088"/>
            <a:ext cx="1854403" cy="137160"/>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32120" y="2889504"/>
            <a:ext cx="548640" cy="329184"/>
          </a:xfrm>
          <a:prstGeom prst="rect">
            <a:avLst/>
          </a:prstGeom>
          <a:noFill/>
        </p:spPr>
        <p:txBody>
          <a:bodyPr wrap="square" anchor="ctr" lIns="0" rIns="0" tIns="0" bIns="0">
            <a:spAutoFit/>
          </a:bodyPr>
          <a:lstStyle/>
          <a:p>
            <a:pPr algn="l">
              <a:lnSpc>
                <a:spcPct val="108000"/>
              </a:lnSpc>
            </a:pPr>
            <a:r>
              <a:rPr sz="950" b="1" i="0">
                <a:solidFill>
                  <a:srgbClr val="C8871B"/>
                </a:solidFill>
                <a:latin typeface="Calibri"/>
              </a:rPr>
              <a:t>78%</a:t>
            </a:r>
          </a:p>
        </p:txBody>
      </p:sp>
      <p:sp>
        <p:nvSpPr>
          <p:cNvPr id="21" name="TextBox 20"/>
          <p:cNvSpPr txBox="1"/>
          <p:nvPr/>
        </p:nvSpPr>
        <p:spPr>
          <a:xfrm>
            <a:off x="548640" y="3291840"/>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Authorisation design</a:t>
            </a:r>
          </a:p>
        </p:txBody>
      </p:sp>
      <p:sp>
        <p:nvSpPr>
          <p:cNvPr id="22" name="Rectangle 21"/>
          <p:cNvSpPr/>
          <p:nvPr/>
        </p:nvSpPr>
        <p:spPr>
          <a:xfrm>
            <a:off x="3063240" y="3392424"/>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63240" y="3392424"/>
            <a:ext cx="1711756" cy="137160"/>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32120" y="3291840"/>
            <a:ext cx="548640" cy="329184"/>
          </a:xfrm>
          <a:prstGeom prst="rect">
            <a:avLst/>
          </a:prstGeom>
          <a:noFill/>
        </p:spPr>
        <p:txBody>
          <a:bodyPr wrap="square" anchor="ctr" lIns="0" rIns="0" tIns="0" bIns="0">
            <a:spAutoFit/>
          </a:bodyPr>
          <a:lstStyle/>
          <a:p>
            <a:pPr algn="l">
              <a:lnSpc>
                <a:spcPct val="108000"/>
              </a:lnSpc>
            </a:pPr>
            <a:r>
              <a:rPr sz="950" b="1" i="0">
                <a:solidFill>
                  <a:srgbClr val="C8871B"/>
                </a:solidFill>
                <a:latin typeface="Calibri"/>
              </a:rPr>
              <a:t>72%</a:t>
            </a:r>
          </a:p>
        </p:txBody>
      </p:sp>
      <p:sp>
        <p:nvSpPr>
          <p:cNvPr id="25" name="TextBox 24"/>
          <p:cNvSpPr txBox="1"/>
          <p:nvPr/>
        </p:nvSpPr>
        <p:spPr>
          <a:xfrm>
            <a:off x="548640" y="3694176"/>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Security posture</a:t>
            </a:r>
          </a:p>
        </p:txBody>
      </p:sp>
      <p:sp>
        <p:nvSpPr>
          <p:cNvPr id="26" name="Rectangle 25"/>
          <p:cNvSpPr/>
          <p:nvPr/>
        </p:nvSpPr>
        <p:spPr>
          <a:xfrm>
            <a:off x="3063240" y="3794760"/>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063240" y="3794760"/>
            <a:ext cx="903427" cy="137160"/>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3694176"/>
            <a:ext cx="548640" cy="329184"/>
          </a:xfrm>
          <a:prstGeom prst="rect">
            <a:avLst/>
          </a:prstGeom>
          <a:noFill/>
        </p:spPr>
        <p:txBody>
          <a:bodyPr wrap="square" anchor="ctr" lIns="0" rIns="0" tIns="0" bIns="0">
            <a:spAutoFit/>
          </a:bodyPr>
          <a:lstStyle/>
          <a:p>
            <a:pPr algn="l">
              <a:lnSpc>
                <a:spcPct val="108000"/>
              </a:lnSpc>
            </a:pPr>
            <a:r>
              <a:rPr sz="950" b="1" i="0">
                <a:solidFill>
                  <a:srgbClr val="B23A48"/>
                </a:solidFill>
                <a:latin typeface="Calibri"/>
              </a:rPr>
              <a:t>38%</a:t>
            </a:r>
          </a:p>
        </p:txBody>
      </p:sp>
      <p:sp>
        <p:nvSpPr>
          <p:cNvPr id="29" name="TextBox 28"/>
          <p:cNvSpPr txBox="1"/>
          <p:nvPr/>
        </p:nvSpPr>
        <p:spPr>
          <a:xfrm>
            <a:off x="548640" y="4096512"/>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Operational readiness</a:t>
            </a:r>
          </a:p>
        </p:txBody>
      </p:sp>
      <p:sp>
        <p:nvSpPr>
          <p:cNvPr id="30" name="Rectangle 29"/>
          <p:cNvSpPr/>
          <p:nvPr/>
        </p:nvSpPr>
        <p:spPr>
          <a:xfrm>
            <a:off x="3063240" y="4197096"/>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63240" y="4197096"/>
            <a:ext cx="594360" cy="137160"/>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32120" y="4096512"/>
            <a:ext cx="548640" cy="329184"/>
          </a:xfrm>
          <a:prstGeom prst="rect">
            <a:avLst/>
          </a:prstGeom>
          <a:noFill/>
        </p:spPr>
        <p:txBody>
          <a:bodyPr wrap="square" anchor="ctr" lIns="0" rIns="0" tIns="0" bIns="0">
            <a:spAutoFit/>
          </a:bodyPr>
          <a:lstStyle/>
          <a:p>
            <a:pPr algn="l">
              <a:lnSpc>
                <a:spcPct val="108000"/>
              </a:lnSpc>
            </a:pPr>
            <a:r>
              <a:rPr sz="950" b="1" i="0">
                <a:solidFill>
                  <a:srgbClr val="B23A48"/>
                </a:solidFill>
                <a:latin typeface="Calibri"/>
              </a:rPr>
              <a:t>25%</a:t>
            </a:r>
          </a:p>
        </p:txBody>
      </p:sp>
      <p:sp>
        <p:nvSpPr>
          <p:cNvPr id="33" name="TextBox 32"/>
          <p:cNvSpPr txBox="1"/>
          <p:nvPr/>
        </p:nvSpPr>
        <p:spPr>
          <a:xfrm>
            <a:off x="548640" y="4498848"/>
            <a:ext cx="2468880" cy="329184"/>
          </a:xfrm>
          <a:prstGeom prst="rect">
            <a:avLst/>
          </a:prstGeom>
          <a:noFill/>
        </p:spPr>
        <p:txBody>
          <a:bodyPr wrap="square" anchor="ctr" lIns="0" rIns="0" tIns="0" bIns="0">
            <a:spAutoFit/>
          </a:bodyPr>
          <a:lstStyle/>
          <a:p>
            <a:pPr algn="l">
              <a:lnSpc>
                <a:spcPct val="108000"/>
              </a:lnSpc>
            </a:pPr>
            <a:r>
              <a:rPr sz="1000" b="0" i="0">
                <a:solidFill>
                  <a:srgbClr val="E8EDF2"/>
                </a:solidFill>
                <a:latin typeface="Calibri"/>
              </a:rPr>
              <a:t>Test and CI maturity</a:t>
            </a:r>
          </a:p>
        </p:txBody>
      </p:sp>
      <p:sp>
        <p:nvSpPr>
          <p:cNvPr id="34" name="Rectangle 33"/>
          <p:cNvSpPr/>
          <p:nvPr/>
        </p:nvSpPr>
        <p:spPr>
          <a:xfrm>
            <a:off x="3063240" y="4599432"/>
            <a:ext cx="2377440" cy="137160"/>
          </a:xfrm>
          <a:prstGeom prst="rect">
            <a:avLst/>
          </a:prstGeom>
          <a:solidFill>
            <a:srgbClr val="3A4A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32120" y="4498848"/>
            <a:ext cx="548640" cy="329184"/>
          </a:xfrm>
          <a:prstGeom prst="rect">
            <a:avLst/>
          </a:prstGeom>
          <a:noFill/>
        </p:spPr>
        <p:txBody>
          <a:bodyPr wrap="square" anchor="ctr" lIns="0" rIns="0" tIns="0" bIns="0">
            <a:spAutoFit/>
          </a:bodyPr>
          <a:lstStyle/>
          <a:p>
            <a:pPr algn="l">
              <a:lnSpc>
                <a:spcPct val="108000"/>
              </a:lnSpc>
            </a:pPr>
            <a:r>
              <a:rPr sz="950" b="1" i="0">
                <a:solidFill>
                  <a:srgbClr val="B23A48"/>
                </a:solidFill>
                <a:latin typeface="Calibri"/>
              </a:rPr>
              <a:t>0%</a:t>
            </a:r>
          </a:p>
        </p:txBody>
      </p:sp>
      <p:sp>
        <p:nvSpPr>
          <p:cNvPr id="36" name="TextBox 35"/>
          <p:cNvSpPr txBox="1"/>
          <p:nvPr/>
        </p:nvSpPr>
        <p:spPr>
          <a:xfrm>
            <a:off x="6400800" y="1371600"/>
            <a:ext cx="5212080" cy="256032"/>
          </a:xfrm>
          <a:prstGeom prst="rect">
            <a:avLst/>
          </a:prstGeom>
          <a:noFill/>
        </p:spPr>
        <p:txBody>
          <a:bodyPr wrap="square" anchor="t" lIns="0" rIns="0" tIns="0" bIns="0">
            <a:spAutoFit/>
          </a:bodyPr>
          <a:lstStyle/>
          <a:p>
            <a:pPr algn="l">
              <a:lnSpc>
                <a:spcPct val="108000"/>
              </a:lnSpc>
            </a:pPr>
            <a:r>
              <a:rPr sz="1000" b="1" i="0">
                <a:solidFill>
                  <a:srgbClr val="9FB2BF"/>
                </a:solidFill>
                <a:latin typeface="Calibri"/>
              </a:rPr>
              <a:t>RECOMMENDED SEQUENCE</a:t>
            </a:r>
          </a:p>
        </p:txBody>
      </p:sp>
      <p:sp>
        <p:nvSpPr>
          <p:cNvPr id="37" name="Rectangle 36"/>
          <p:cNvSpPr/>
          <p:nvPr/>
        </p:nvSpPr>
        <p:spPr>
          <a:xfrm>
            <a:off x="6400800" y="1682496"/>
            <a:ext cx="5212080" cy="4700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37960" y="1755648"/>
            <a:ext cx="384048" cy="219456"/>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37960" y="1755648"/>
            <a:ext cx="384048" cy="219456"/>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P0</a:t>
            </a:r>
          </a:p>
        </p:txBody>
      </p:sp>
      <p:sp>
        <p:nvSpPr>
          <p:cNvPr id="40" name="TextBox 39"/>
          <p:cNvSpPr txBox="1"/>
          <p:nvPr/>
        </p:nvSpPr>
        <p:spPr>
          <a:xfrm>
            <a:off x="7022592" y="1727496"/>
            <a:ext cx="4480560" cy="219456"/>
          </a:xfrm>
          <a:prstGeom prst="rect">
            <a:avLst/>
          </a:prstGeom>
          <a:noFill/>
        </p:spPr>
        <p:txBody>
          <a:bodyPr wrap="square" anchor="t" lIns="0" rIns="0" tIns="0" bIns="0">
            <a:spAutoFit/>
          </a:bodyPr>
          <a:lstStyle/>
          <a:p>
            <a:pPr algn="l">
              <a:lnSpc>
                <a:spcPct val="108000"/>
              </a:lnSpc>
            </a:pPr>
            <a:r>
              <a:rPr sz="930" b="1" i="0">
                <a:solidFill>
                  <a:srgbClr val="FFFFFF"/>
                </a:solidFill>
                <a:latin typeface="Calibri"/>
              </a:rPr>
              <a:t>Server-side authentication</a:t>
            </a:r>
          </a:p>
        </p:txBody>
      </p:sp>
      <p:sp>
        <p:nvSpPr>
          <p:cNvPr id="41" name="TextBox 40"/>
          <p:cNvSpPr txBox="1"/>
          <p:nvPr/>
        </p:nvSpPr>
        <p:spPr>
          <a:xfrm>
            <a:off x="7022592" y="1932496"/>
            <a:ext cx="4480560" cy="210000"/>
          </a:xfrm>
          <a:prstGeom prst="rect">
            <a:avLst/>
          </a:prstGeom>
          <a:noFill/>
        </p:spPr>
        <p:txBody>
          <a:bodyPr wrap="square" anchor="t" lIns="0" rIns="0" tIns="0" bIns="0">
            <a:spAutoFit/>
          </a:bodyPr>
          <a:lstStyle/>
          <a:p>
            <a:pPr algn="l">
              <a:lnSpc>
                <a:spcPct val="105000"/>
              </a:lnSpc>
            </a:pPr>
            <a:r>
              <a:rPr sz="720" b="0" i="0">
                <a:solidFill>
                  <a:srgbClr val="9FB2BF"/>
                </a:solidFill>
                <a:latin typeface="Calibri"/>
              </a:rPr>
              <a:t>Credential verification issuing a signed session/JWT; resolve role server-side. Closes the RolesGuard residual.</a:t>
            </a:r>
          </a:p>
        </p:txBody>
      </p:sp>
      <p:sp>
        <p:nvSpPr>
          <p:cNvPr id="42" name="Rectangle 41"/>
          <p:cNvSpPr/>
          <p:nvPr/>
        </p:nvSpPr>
        <p:spPr>
          <a:xfrm>
            <a:off x="6400800" y="2167496"/>
            <a:ext cx="5212080" cy="4700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37960" y="2240648"/>
            <a:ext cx="384048" cy="219456"/>
          </a:xfrm>
          <a:prstGeom prst="rect">
            <a:avLst/>
          </a:prstGeom>
          <a:solidFill>
            <a:srgbClr val="B23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37960" y="2240648"/>
            <a:ext cx="384048" cy="219456"/>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P0</a:t>
            </a:r>
          </a:p>
        </p:txBody>
      </p:sp>
      <p:sp>
        <p:nvSpPr>
          <p:cNvPr id="45" name="TextBox 44"/>
          <p:cNvSpPr txBox="1"/>
          <p:nvPr/>
        </p:nvSpPr>
        <p:spPr>
          <a:xfrm>
            <a:off x="7022592" y="2212496"/>
            <a:ext cx="4480560" cy="219456"/>
          </a:xfrm>
          <a:prstGeom prst="rect">
            <a:avLst/>
          </a:prstGeom>
          <a:noFill/>
        </p:spPr>
        <p:txBody>
          <a:bodyPr wrap="square" anchor="t" lIns="0" rIns="0" tIns="0" bIns="0">
            <a:spAutoFit/>
          </a:bodyPr>
          <a:lstStyle/>
          <a:p>
            <a:pPr algn="l">
              <a:lnSpc>
                <a:spcPct val="108000"/>
              </a:lnSpc>
            </a:pPr>
            <a:r>
              <a:rPr sz="930" b="1" i="0">
                <a:solidFill>
                  <a:srgbClr val="FFFFFF"/>
                </a:solidFill>
                <a:latin typeface="Calibri"/>
              </a:rPr>
              <a:t>Move the audit log to the API</a:t>
            </a:r>
          </a:p>
        </p:txBody>
      </p:sp>
      <p:sp>
        <p:nvSpPr>
          <p:cNvPr id="46" name="TextBox 45"/>
          <p:cNvSpPr txBox="1"/>
          <p:nvPr/>
        </p:nvSpPr>
        <p:spPr>
          <a:xfrm>
            <a:off x="7022592" y="2417496"/>
            <a:ext cx="4480560" cy="210000"/>
          </a:xfrm>
          <a:prstGeom prst="rect">
            <a:avLst/>
          </a:prstGeom>
          <a:noFill/>
        </p:spPr>
        <p:txBody>
          <a:bodyPr wrap="square" anchor="t" lIns="0" rIns="0" tIns="0" bIns="0">
            <a:spAutoFit/>
          </a:bodyPr>
          <a:lstStyle/>
          <a:p>
            <a:pPr algn="l">
              <a:lnSpc>
                <a:spcPct val="105000"/>
              </a:lnSpc>
            </a:pPr>
            <a:r>
              <a:rPr sz="720" b="0" i="0">
                <a:solidFill>
                  <a:srgbClr val="9FB2BF"/>
                </a:solidFill>
                <a:latin typeface="Calibri"/>
              </a:rPr>
              <a:t>Server-issued timestamps, real client IP, append-only enforcement at the database. The last domain still local-only.</a:t>
            </a:r>
          </a:p>
        </p:txBody>
      </p:sp>
      <p:sp>
        <p:nvSpPr>
          <p:cNvPr id="47" name="Rectangle 46"/>
          <p:cNvSpPr/>
          <p:nvPr/>
        </p:nvSpPr>
        <p:spPr>
          <a:xfrm>
            <a:off x="6400800" y="2652496"/>
            <a:ext cx="5212080" cy="4700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37960" y="2725648"/>
            <a:ext cx="384048" cy="219456"/>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37960" y="2725648"/>
            <a:ext cx="384048" cy="219456"/>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P1</a:t>
            </a:r>
          </a:p>
        </p:txBody>
      </p:sp>
      <p:sp>
        <p:nvSpPr>
          <p:cNvPr id="50" name="TextBox 49"/>
          <p:cNvSpPr txBox="1"/>
          <p:nvPr/>
        </p:nvSpPr>
        <p:spPr>
          <a:xfrm>
            <a:off x="7022592" y="2697496"/>
            <a:ext cx="4480560" cy="219456"/>
          </a:xfrm>
          <a:prstGeom prst="rect">
            <a:avLst/>
          </a:prstGeom>
          <a:noFill/>
        </p:spPr>
        <p:txBody>
          <a:bodyPr wrap="square" anchor="t" lIns="0" rIns="0" tIns="0" bIns="0">
            <a:spAutoFit/>
          </a:bodyPr>
          <a:lstStyle/>
          <a:p>
            <a:pPr algn="l">
              <a:lnSpc>
                <a:spcPct val="108000"/>
              </a:lnSpc>
            </a:pPr>
            <a:r>
              <a:rPr sz="930" b="1" i="0">
                <a:solidFill>
                  <a:srgbClr val="FFFFFF"/>
                </a:solidFill>
                <a:latin typeface="Calibri"/>
              </a:rPr>
              <a:t>Cover the remaining 18 models</a:t>
            </a:r>
          </a:p>
        </p:txBody>
      </p:sp>
      <p:sp>
        <p:nvSpPr>
          <p:cNvPr id="51" name="TextBox 50"/>
          <p:cNvSpPr txBox="1"/>
          <p:nvPr/>
        </p:nvSpPr>
        <p:spPr>
          <a:xfrm>
            <a:off x="7022592" y="2902496"/>
            <a:ext cx="4480560" cy="210000"/>
          </a:xfrm>
          <a:prstGeom prst="rect">
            <a:avLst/>
          </a:prstGeom>
          <a:noFill/>
        </p:spPr>
        <p:txBody>
          <a:bodyPr wrap="square" anchor="t" lIns="0" rIns="0" tIns="0" bIns="0">
            <a:spAutoFit/>
          </a:bodyPr>
          <a:lstStyle/>
          <a:p>
            <a:pPr algn="l">
              <a:lnSpc>
                <a:spcPct val="105000"/>
              </a:lnSpc>
            </a:pPr>
            <a:r>
              <a:rPr sz="720" b="0" i="0">
                <a:solidFill>
                  <a:srgbClr val="9FB2BF"/>
                </a:solidFill>
                <a:latin typeface="Calibri"/>
              </a:rPr>
              <a:t>RiskAssessment, ValidationRecord, DecisionRecord, Policy (Ph9), Change (Ph10), Operations.</a:t>
            </a:r>
          </a:p>
        </p:txBody>
      </p:sp>
      <p:sp>
        <p:nvSpPr>
          <p:cNvPr id="52" name="Rectangle 51"/>
          <p:cNvSpPr/>
          <p:nvPr/>
        </p:nvSpPr>
        <p:spPr>
          <a:xfrm>
            <a:off x="6400800" y="3137496"/>
            <a:ext cx="5212080" cy="4700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37960" y="3210648"/>
            <a:ext cx="384048" cy="219456"/>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37960" y="3210648"/>
            <a:ext cx="384048" cy="219456"/>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P1</a:t>
            </a:r>
          </a:p>
        </p:txBody>
      </p:sp>
      <p:sp>
        <p:nvSpPr>
          <p:cNvPr id="55" name="TextBox 54"/>
          <p:cNvSpPr txBox="1"/>
          <p:nvPr/>
        </p:nvSpPr>
        <p:spPr>
          <a:xfrm>
            <a:off x="7022592" y="3182496"/>
            <a:ext cx="4480560" cy="219456"/>
          </a:xfrm>
          <a:prstGeom prst="rect">
            <a:avLst/>
          </a:prstGeom>
          <a:noFill/>
        </p:spPr>
        <p:txBody>
          <a:bodyPr wrap="square" anchor="t" lIns="0" rIns="0" tIns="0" bIns="0">
            <a:spAutoFit/>
          </a:bodyPr>
          <a:lstStyle/>
          <a:p>
            <a:pPr algn="l">
              <a:lnSpc>
                <a:spcPct val="108000"/>
              </a:lnSpc>
            </a:pPr>
            <a:r>
              <a:rPr sz="930" b="1" i="0">
                <a:solidFill>
                  <a:srgbClr val="FFFFFF"/>
                </a:solidFill>
                <a:latin typeface="Calibri"/>
              </a:rPr>
              <a:t>Add database indexes</a:t>
            </a:r>
          </a:p>
        </p:txBody>
      </p:sp>
      <p:sp>
        <p:nvSpPr>
          <p:cNvPr id="56" name="TextBox 55"/>
          <p:cNvSpPr txBox="1"/>
          <p:nvPr/>
        </p:nvSpPr>
        <p:spPr>
          <a:xfrm>
            <a:off x="7022592" y="3387496"/>
            <a:ext cx="4480560" cy="210000"/>
          </a:xfrm>
          <a:prstGeom prst="rect">
            <a:avLst/>
          </a:prstGeom>
          <a:noFill/>
        </p:spPr>
        <p:txBody>
          <a:bodyPr wrap="square" anchor="t" lIns="0" rIns="0" tIns="0" bIns="0">
            <a:spAutoFit/>
          </a:bodyPr>
          <a:lstStyle/>
          <a:p>
            <a:pPr algn="l">
              <a:lnSpc>
                <a:spcPct val="105000"/>
              </a:lnSpc>
            </a:pPr>
            <a:r>
              <a:rPr sz="720" b="0" i="0">
                <a:solidFill>
                  <a:srgbClr val="9FB2BF"/>
                </a:solidFill>
                <a:latin typeface="Calibri"/>
              </a:rPr>
              <a:t>Index every foreign key and common filter column before any volume load.</a:t>
            </a:r>
          </a:p>
        </p:txBody>
      </p:sp>
      <p:sp>
        <p:nvSpPr>
          <p:cNvPr id="57" name="Rectangle 56"/>
          <p:cNvSpPr/>
          <p:nvPr/>
        </p:nvSpPr>
        <p:spPr>
          <a:xfrm>
            <a:off x="6400800" y="3622496"/>
            <a:ext cx="5212080" cy="4700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537960" y="3695648"/>
            <a:ext cx="384048" cy="219456"/>
          </a:xfrm>
          <a:prstGeom prst="rect">
            <a:avLst/>
          </a:prstGeom>
          <a:solidFill>
            <a:srgbClr val="C887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37960" y="3695648"/>
            <a:ext cx="384048" cy="219456"/>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P1</a:t>
            </a:r>
          </a:p>
        </p:txBody>
      </p:sp>
      <p:sp>
        <p:nvSpPr>
          <p:cNvPr id="60" name="TextBox 59"/>
          <p:cNvSpPr txBox="1"/>
          <p:nvPr/>
        </p:nvSpPr>
        <p:spPr>
          <a:xfrm>
            <a:off x="7022592" y="3667496"/>
            <a:ext cx="4480560" cy="219456"/>
          </a:xfrm>
          <a:prstGeom prst="rect">
            <a:avLst/>
          </a:prstGeom>
          <a:noFill/>
        </p:spPr>
        <p:txBody>
          <a:bodyPr wrap="square" anchor="t" lIns="0" rIns="0" tIns="0" bIns="0">
            <a:spAutoFit/>
          </a:bodyPr>
          <a:lstStyle/>
          <a:p>
            <a:pPr algn="l">
              <a:lnSpc>
                <a:spcPct val="108000"/>
              </a:lnSpc>
            </a:pPr>
            <a:r>
              <a:rPr sz="930" b="1" i="0">
                <a:solidFill>
                  <a:srgbClr val="FFFFFF"/>
                </a:solidFill>
                <a:latin typeface="Calibri"/>
              </a:rPr>
              <a:t>Test suite and CI pipeline</a:t>
            </a:r>
          </a:p>
        </p:txBody>
      </p:sp>
      <p:sp>
        <p:nvSpPr>
          <p:cNvPr id="61" name="TextBox 60"/>
          <p:cNvSpPr txBox="1"/>
          <p:nvPr/>
        </p:nvSpPr>
        <p:spPr>
          <a:xfrm>
            <a:off x="7022592" y="3872496"/>
            <a:ext cx="4480560" cy="210000"/>
          </a:xfrm>
          <a:prstGeom prst="rect">
            <a:avLst/>
          </a:prstGeom>
          <a:noFill/>
        </p:spPr>
        <p:txBody>
          <a:bodyPr wrap="square" anchor="t" lIns="0" rIns="0" tIns="0" bIns="0">
            <a:spAutoFit/>
          </a:bodyPr>
          <a:lstStyle/>
          <a:p>
            <a:pPr algn="l">
              <a:lnSpc>
                <a:spcPct val="105000"/>
              </a:lnSpc>
            </a:pPr>
            <a:r>
              <a:rPr sz="720" b="0" i="0">
                <a:solidFill>
                  <a:srgbClr val="9FB2BF"/>
                </a:solidFill>
                <a:latin typeface="Calibri"/>
              </a:rPr>
              <a:t>Unit tests on the reasoning and rules engines first — they encode the governance logic.</a:t>
            </a:r>
          </a:p>
        </p:txBody>
      </p:sp>
      <p:sp>
        <p:nvSpPr>
          <p:cNvPr id="62" name="Rectangle 61"/>
          <p:cNvSpPr/>
          <p:nvPr/>
        </p:nvSpPr>
        <p:spPr>
          <a:xfrm>
            <a:off x="6400800" y="4107496"/>
            <a:ext cx="5212080" cy="4700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537960" y="4180648"/>
            <a:ext cx="384048" cy="219456"/>
          </a:xfrm>
          <a:prstGeom prst="rect">
            <a:avLst/>
          </a:prstGeom>
          <a:solidFill>
            <a:srgbClr val="5B6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37960" y="4180648"/>
            <a:ext cx="384048" cy="219456"/>
          </a:xfrm>
          <a:prstGeom prst="rect">
            <a:avLst/>
          </a:prstGeom>
          <a:noFill/>
        </p:spPr>
        <p:txBody>
          <a:bodyPr wrap="square" anchor="ctr" lIns="0" rIns="0" tIns="0" bIns="0">
            <a:spAutoFit/>
          </a:bodyPr>
          <a:lstStyle/>
          <a:p>
            <a:pPr algn="ctr">
              <a:lnSpc>
                <a:spcPct val="108000"/>
              </a:lnSpc>
            </a:pPr>
            <a:r>
              <a:rPr sz="850" b="1" i="0">
                <a:solidFill>
                  <a:srgbClr val="FFFFFF"/>
                </a:solidFill>
                <a:latin typeface="Calibri"/>
              </a:rPr>
              <a:t>P2</a:t>
            </a:r>
          </a:p>
        </p:txBody>
      </p:sp>
      <p:sp>
        <p:nvSpPr>
          <p:cNvPr id="65" name="TextBox 64"/>
          <p:cNvSpPr txBox="1"/>
          <p:nvPr/>
        </p:nvSpPr>
        <p:spPr>
          <a:xfrm>
            <a:off x="7022592" y="4152496"/>
            <a:ext cx="4480560" cy="219456"/>
          </a:xfrm>
          <a:prstGeom prst="rect">
            <a:avLst/>
          </a:prstGeom>
          <a:noFill/>
        </p:spPr>
        <p:txBody>
          <a:bodyPr wrap="square" anchor="t" lIns="0" rIns="0" tIns="0" bIns="0">
            <a:spAutoFit/>
          </a:bodyPr>
          <a:lstStyle/>
          <a:p>
            <a:pPr algn="l">
              <a:lnSpc>
                <a:spcPct val="108000"/>
              </a:lnSpc>
            </a:pPr>
            <a:r>
              <a:rPr sz="930" b="1" i="0">
                <a:solidFill>
                  <a:srgbClr val="FFFFFF"/>
                </a:solidFill>
                <a:latin typeface="Calibri"/>
              </a:rPr>
              <a:t>Route-level code splitting</a:t>
            </a:r>
          </a:p>
        </p:txBody>
      </p:sp>
      <p:sp>
        <p:nvSpPr>
          <p:cNvPr id="66" name="TextBox 65"/>
          <p:cNvSpPr txBox="1"/>
          <p:nvPr/>
        </p:nvSpPr>
        <p:spPr>
          <a:xfrm>
            <a:off x="7022592" y="4357496"/>
            <a:ext cx="4480560" cy="210000"/>
          </a:xfrm>
          <a:prstGeom prst="rect">
            <a:avLst/>
          </a:prstGeom>
          <a:noFill/>
        </p:spPr>
        <p:txBody>
          <a:bodyPr wrap="square" anchor="t" lIns="0" rIns="0" tIns="0" bIns="0">
            <a:spAutoFit/>
          </a:bodyPr>
          <a:lstStyle/>
          <a:p>
            <a:pPr algn="l">
              <a:lnSpc>
                <a:spcPct val="105000"/>
              </a:lnSpc>
            </a:pPr>
            <a:r>
              <a:rPr sz="720" b="0" i="0">
                <a:solidFill>
                  <a:srgbClr val="9FB2BF"/>
                </a:solidFill>
                <a:latin typeface="Calibri"/>
              </a:rPr>
              <a:t>Lazy-load domains to cut the 1,132 KB entry chunk.</a:t>
            </a:r>
          </a:p>
        </p:txBody>
      </p:sp>
      <p:sp>
        <p:nvSpPr>
          <p:cNvPr id="67" name="Rectangle 66"/>
          <p:cNvSpPr/>
          <p:nvPr/>
        </p:nvSpPr>
        <p:spPr>
          <a:xfrm>
            <a:off x="548640" y="4826000"/>
            <a:ext cx="11064240" cy="900000"/>
          </a:xfrm>
          <a:prstGeom prst="rect">
            <a:avLst/>
          </a:prstGeom>
          <a:solidFill>
            <a:srgbClr val="18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7240" y="4926000"/>
            <a:ext cx="10600000" cy="256032"/>
          </a:xfrm>
          <a:prstGeom prst="rect">
            <a:avLst/>
          </a:prstGeom>
          <a:noFill/>
        </p:spPr>
        <p:txBody>
          <a:bodyPr wrap="square" anchor="t" lIns="0" rIns="0" tIns="0" bIns="0">
            <a:spAutoFit/>
          </a:bodyPr>
          <a:lstStyle/>
          <a:p>
            <a:pPr algn="l">
              <a:lnSpc>
                <a:spcPct val="108000"/>
              </a:lnSpc>
            </a:pPr>
            <a:r>
              <a:rPr sz="1200" b="1" i="0">
                <a:solidFill>
                  <a:srgbClr val="1F8A82"/>
                </a:solidFill>
                <a:latin typeface="Calibri"/>
              </a:rPr>
              <a:t>Bottom line for the CTO</a:t>
            </a:r>
          </a:p>
        </p:txBody>
      </p:sp>
      <p:sp>
        <p:nvSpPr>
          <p:cNvPr id="69" name="TextBox 68"/>
          <p:cNvSpPr txBox="1"/>
          <p:nvPr/>
        </p:nvSpPr>
        <p:spPr>
          <a:xfrm>
            <a:off x="777240" y="5182000"/>
            <a:ext cx="10600000" cy="500000"/>
          </a:xfrm>
          <a:prstGeom prst="rect">
            <a:avLst/>
          </a:prstGeom>
          <a:noFill/>
        </p:spPr>
        <p:txBody>
          <a:bodyPr wrap="square" anchor="t" lIns="0" rIns="0" tIns="0" bIns="0">
            <a:spAutoFit/>
          </a:bodyPr>
          <a:lstStyle/>
          <a:p>
            <a:pPr algn="l">
              <a:lnSpc>
                <a:spcPct val="120000"/>
              </a:lnSpc>
            </a:pPr>
            <a:r>
              <a:rPr sz="1050" b="0" i="0">
                <a:solidFill>
                  <a:srgbClr val="E8EDF2"/>
                </a:solidFill>
                <a:latin typeface="Calibri"/>
              </a:rPr>
              <a:t>The governance domain — the hard, opinionated part — is now largely server-backed and coherent across ten releases. What remains is conventional platform engineering: identity, the last mile of persistence, and operational hardening.</a:t>
            </a:r>
          </a:p>
        </p:txBody>
      </p:sp>
      <p:sp>
        <p:nvSpPr>
          <p:cNvPr id="70" name="TextBox 69"/>
          <p:cNvSpPr txBox="1"/>
          <p:nvPr/>
        </p:nvSpPr>
        <p:spPr>
          <a:xfrm>
            <a:off x="548640" y="6144768"/>
            <a:ext cx="11064240" cy="256032"/>
          </a:xfrm>
          <a:prstGeom prst="rect">
            <a:avLst/>
          </a:prstGeom>
          <a:noFill/>
        </p:spPr>
        <p:txBody>
          <a:bodyPr wrap="square" anchor="t" lIns="0" rIns="0" tIns="0" bIns="0">
            <a:spAutoFit/>
          </a:bodyPr>
          <a:lstStyle/>
          <a:p>
            <a:pPr algn="l">
              <a:lnSpc>
                <a:spcPct val="108000"/>
              </a:lnSpc>
            </a:pPr>
            <a:r>
              <a:rPr sz="1000" b="0" i="0">
                <a:solidFill>
                  <a:srgbClr val="76858F"/>
                </a:solidFill>
                <a:latin typeface="Calibri"/>
              </a:rPr>
              <a:t>Govern Every AI.  ·  Control Every Decision.  ·  Prove Every Outcome.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