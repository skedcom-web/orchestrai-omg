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Codebase-derived technical review. Nothing is asserted that is not in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figures counted directly from the repository. The 130:1 frontend-to-backend ratio previews the central architectural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sets up technical debt, scalability and production readiness. Both halves work; they are simply not wired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dependency surface is a genuine strength: less supply-chain exposure and less upgrade churn.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against a running instance: no header 403, wrong role 403, bogus role 403, authorised role 200, health 200.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 secondary indexes is the notable gap; it is revisited in the scalability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RBAC model is well-formed. Its weakness is not the model but the absence of an authenticated identity to bind it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 discrete state unions were extracted from the type files — the domain model is unusually explicit for an application of this 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journey is derivation, not a stored column — it cannot go stale relative to the underlying facts.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Risk tier is not decorative — four distinct enforcement paths key off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Validation and evidence together account for 35% of the governance health index (20% + 15%).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recommendation is advisory; a human decision owner records the actual outcome with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Triggers are evaluated from the register on read, not stored — correcting the change stands the trigger down automatically.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Important distinction for architects: computed executive alerts vs stored GovernanceAlert records.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governance product this is the most consequential gap after authentication — an audit trail the subject can edit is not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mandatory matrix. Partial items each have a named residual, stated on their architecture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conservative. The honest comparison is against manual governance, which is what most organisations actually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top three are related: they all stem from the frontend never having been wired to the server tier.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Migrating persistence to the existing Prisma layer resolves the first four rows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Readiness percentages are qualitative architect judgements against each dimension, not measured metrics — presented as a relative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2331720"/>
            <a:ext cx="3291840" cy="914400"/>
          </a:xfrm>
          <a:prstGeom prst="roundRect">
            <a:avLst>
              <a:gd name="adj" fmla="val 7000"/>
            </a:avLst>
          </a:prstGeom>
          <a:solidFill>
            <a:srgbClr val="18222B"/>
          </a:solidFill>
          <a:ln w="12700">
            <a:solidFill>
              <a:srgbClr val="1F8A82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907792"/>
            <a:ext cx="3291840" cy="914400"/>
          </a:xfrm>
          <a:prstGeom prst="roundRect">
            <a:avLst>
              <a:gd name="adj" fmla="val 7000"/>
            </a:avLst>
          </a:prstGeom>
          <a:solidFill>
            <a:srgbClr val="18222B"/>
          </a:solidFill>
          <a:ln w="12700">
            <a:solidFill>
              <a:srgbClr val="1F8A82">
                <a:alpha val="4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38160" y="3483864"/>
            <a:ext cx="3291840" cy="914400"/>
          </a:xfrm>
          <a:prstGeom prst="roundRect">
            <a:avLst>
              <a:gd name="adj" fmla="val 7000"/>
            </a:avLst>
          </a:prstGeom>
          <a:solidFill>
            <a:srgbClr val="18222B"/>
          </a:solidFill>
          <a:ln w="12700">
            <a:solidFill>
              <a:srgbClr val="1F8A82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 BRIEFING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7315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OrchestrAI OMG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8ED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AI Governance Operating System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48640" y="340156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9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truth: codebase. Blueprint documents were not used. Every figure in this deck is traceable to a file, and capability that is incomplete is labelled as such.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343400"/>
            <a:ext cx="7315200" cy="566928"/>
          </a:xfrm>
          <a:prstGeom prst="roundRect">
            <a:avLst>
              <a:gd name="adj" fmla="val 9677"/>
            </a:avLst>
          </a:prstGeom>
          <a:solidFill>
            <a:srgbClr val="18222B"/>
          </a:solidFill>
          <a:ln w="12700">
            <a:solidFill>
              <a:srgbClr val="3A4A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34340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 CTO  ·  Enterprise &amp; Solution Architects  ·  Governance Architects  ·  Engineering Leaders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59436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pages  ·  108 service functions  ·  25 data models  ·  24 state machines  ·  7 roles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PRODUCT OVERVIEW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governance system of record for enterprise AI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6949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OMG registers every AI asset an organisation runs, assigns accountable ownership, classifies risk, runs validation, captures evidence, records formal GO / NO GO decisions, governs subsequent change, monitors operational health, and writes an append-only audit trail.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Architecturally it is a config-driven React SPA with a derivation-layered domain engine. Governance state is computed from stored facts, not entered by hand.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772400" y="14813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CODEBASE SCALE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0" y="1783080"/>
            <a:ext cx="38404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83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frontend/src/pages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784080" y="178308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files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607040" y="178308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12,438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0" y="2167128"/>
            <a:ext cx="3840480" cy="347472"/>
          </a:xfrm>
          <a:prstGeom prst="rect">
            <a:avLst/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0" y="21671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frontend/src/services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9784080" y="216712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files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607040" y="216712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5,587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0" y="2551176"/>
            <a:ext cx="38404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0" y="255117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frontend/src/components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784080" y="2551176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files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607040" y="255117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3,080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72400" y="2935224"/>
            <a:ext cx="3840480" cy="347472"/>
          </a:xfrm>
          <a:prstGeom prst="rect">
            <a:avLst/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0" y="2935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frontend/src/types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9784080" y="2935224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files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607040" y="293522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1,082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772400" y="3319272"/>
            <a:ext cx="38404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0" y="331927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frontend/src/config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784080" y="331927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file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07040" y="331927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772400" y="3703320"/>
            <a:ext cx="3840480" cy="347472"/>
          </a:xfrm>
          <a:prstGeom prst="rect">
            <a:avLst/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63840" y="37033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backend/prisma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784080" y="37033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file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607040" y="370332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612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772400" y="4087368"/>
            <a:ext cx="3840480" cy="347472"/>
          </a:xfrm>
          <a:prstGeom prst="rect">
            <a:avLst/>
          </a:prstGeom>
          <a:solidFill>
            <a:srgbClr val="FBEED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63840" y="408736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5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backend/src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784080" y="408736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files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607040" y="40873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772400" y="45537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C8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: backend ≈ 130 : 1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" y="3401568"/>
            <a:ext cx="6949440" cy="2286000"/>
          </a:xfrm>
          <a:prstGeom prst="roundRect">
            <a:avLst>
              <a:gd name="adj" fmla="val 2800"/>
            </a:avLst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3566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APPLICATION CONTAINS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22960" y="39319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822960" y="43159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domains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468880" y="39319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2468880" y="43159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114800" y="39319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4114800" y="43159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routes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60720" y="39319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5760720" y="43159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functions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822960" y="4754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822960" y="51389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2468880" y="4754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2468880" y="51389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machines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114800" y="4754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4114800" y="51389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roles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760720" y="4754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5760720" y="51389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metrics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APPLICATION 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working halves that are not yet joined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029200" cy="3566160"/>
          </a:xfrm>
          <a:prstGeom prst="roundRect">
            <a:avLst>
              <a:gd name="adj" fmla="val 2051"/>
            </a:avLst>
          </a:prstGeom>
          <a:solidFill>
            <a:srgbClr val="F4F7FA"/>
          </a:solidFill>
          <a:ln w="25400">
            <a:solidFill>
              <a:srgbClr val="1F8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54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TIER  —  fully functional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457200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99339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SPA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32688" y="22402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pages · 30 components · 3 contexts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" y="2542032"/>
            <a:ext cx="4572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7240" y="2670048"/>
            <a:ext cx="457200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74320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config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32688" y="299008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navigation.ts — 9 domains, 47 modules, RBAC keys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77240" y="3291840"/>
            <a:ext cx="4572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77240" y="3419856"/>
            <a:ext cx="457200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349300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engine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32688" y="373989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services · 108 functions · derivation layers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77240" y="4041648"/>
            <a:ext cx="4572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77240" y="4169664"/>
            <a:ext cx="4572000" cy="621792"/>
          </a:xfrm>
          <a:prstGeom prst="roundRect">
            <a:avLst>
              <a:gd name="adj" fmla="val 7353"/>
            </a:avLst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424281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32688" y="448970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keys — the actual system of record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132320" y="1417320"/>
            <a:ext cx="4480560" cy="3566160"/>
          </a:xfrm>
          <a:prstGeom prst="roundRect">
            <a:avLst>
              <a:gd name="adj" fmla="val 2051"/>
            </a:avLst>
          </a:prstGeom>
          <a:solidFill>
            <a:srgbClr val="F4F7FA"/>
          </a:solidFill>
          <a:ln w="25400">
            <a:solidFill>
              <a:srgbClr val="DC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0" y="15544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TIER  —  deployed, unused by the app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0" y="1920240"/>
            <a:ext cx="411480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70648" y="19933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NestJS 11 API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470648" y="22402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controller · 8 endpoints · 177 lines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315200" y="2542032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315200" y="2670048"/>
            <a:ext cx="411480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70648" y="27432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RolesGuard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470648" y="29900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fails closed · role claim unverified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315200" y="3291840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315200" y="3419856"/>
            <a:ext cx="411480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70648" y="34930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6.3 ORM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470648" y="37398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models · 16 enums · 34 relations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315200" y="4041648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315200" y="4169664"/>
            <a:ext cx="411480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70648" y="424281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 PostgreSQL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470648" y="448970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 in sync · 0 secondary indexes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669280" y="2788920"/>
            <a:ext cx="1325880" cy="868680"/>
          </a:xfrm>
          <a:prstGeom prst="roundRect">
            <a:avLst>
              <a:gd name="adj" fmla="val 6316"/>
            </a:avLst>
          </a:prstGeom>
          <a:solidFill>
            <a:srgbClr val="FBE9EC"/>
          </a:solidFill>
          <a:ln w="25400">
            <a:solidFill>
              <a:srgbClr val="B23A48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5669280" y="27889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8640" y="5138928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FBE9EC"/>
          </a:solidFill>
          <a:ln w="12700">
            <a:solidFill>
              <a:srgbClr val="E4B6B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2960" y="52486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architectural finding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22960" y="552297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api.ts is the only HTTP client in the frontend and is never imported. All 108 service functions read and write localStorage. Data is therefore per-browser, unshared and lost on cache clear. The API and database are real and deployed, but the product does not use them.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48640" y="614476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grep for services/api imports returns zero matches; 26 omg_* localStorage keys across storageService, policyService, changeManagementService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FRONTEND TECHNOLOGY STACK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Deliberately small dependency surface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AND BUILD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73936"/>
            <a:ext cx="54864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7393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240280" y="177393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19.2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926080" y="177393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runtime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5486400" cy="384048"/>
          </a:xfrm>
          <a:prstGeom prst="rect">
            <a:avLst/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1945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240280" y="219456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926080" y="21945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typing across 1,082 lines of domain types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615184"/>
            <a:ext cx="54864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61518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240280" y="261518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926080" y="261518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dev server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3035808"/>
            <a:ext cx="5486400" cy="384048"/>
          </a:xfrm>
          <a:prstGeom prst="rect">
            <a:avLst/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0358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240280" y="303580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7.18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926080" y="303580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routing, 50 governed routes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456432"/>
            <a:ext cx="54864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45643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240280" y="345643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4.3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926080" y="345643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styling via @tailwindcss/vite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48640" y="3877056"/>
            <a:ext cx="5486400" cy="384048"/>
          </a:xfrm>
          <a:prstGeom prst="rect">
            <a:avLst/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38770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oxlint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240280" y="387705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1.75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926080" y="387705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4370832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E7F3F1"/>
          </a:solidFill>
          <a:ln w="12700">
            <a:solidFill>
              <a:srgbClr val="9C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4370832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5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runtime dependencies: react, react-dom, react-router-dom. No state library, no UI kit, no chart library.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400800" y="146304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PATTERNS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00800" y="1773936"/>
            <a:ext cx="5212080" cy="768096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0" y="185623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Config-driven navigation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0" y="208483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navigation.ts is the single source for sidebar, breadcrumbs, command palette and the RBAC matrix — they cannot drift apart.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400800" y="2633472"/>
            <a:ext cx="5212080" cy="768096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0" y="2715768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domain services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83680" y="294436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storageService (persistence) → governanceIntelligence / policyService / changeManagementService (derivation) → executiveGovernance (aggregation).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0" y="3493008"/>
            <a:ext cx="5212080" cy="768096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0" y="35753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for cross-cutting state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83680" y="380390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AuthContext, ThemeContext, ExperienceContext. No Redux or Zustand; component state is local.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400800" y="4352544"/>
            <a:ext cx="5212080" cy="768096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83680" y="44348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Token-based design system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466344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themes (light / dark / glass) driven entirely by CSS custom properties in tokens.css.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400800" y="5212080"/>
            <a:ext cx="5212080" cy="768096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0" y="529437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Portal-rendered dialogs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83680" y="552297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Modal component rendered into document.body, avoiding ancestor transform containing-block defects.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BACKEND TECHNOLOGY STACK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thin, recently hardened API surface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NestJS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40280" y="146304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11.0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017520" y="14630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framework, DI container, guards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1883664"/>
            <a:ext cx="5486400" cy="384048"/>
          </a:xfrm>
          <a:prstGeom prst="rect">
            <a:avLst/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8366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Client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240280" y="188366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017520" y="188366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Type-safe data access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304288"/>
            <a:ext cx="54864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30428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240280" y="230428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017520" y="230428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Postgres, us-east-2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2724912"/>
            <a:ext cx="5486400" cy="384048"/>
          </a:xfrm>
          <a:prstGeom prst="rect">
            <a:avLst/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72491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240280" y="272491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5.7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017520" y="27249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via nest build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48640" y="3246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BACKEND — 6 FILES, 177 LINES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3547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▪ main.ts — bootstrap, CORS allow-list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291840" y="3547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▪ app.module.ts — single module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48640" y="38404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▪ app.controller.ts — 8 endpoints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91840" y="38404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▪ prisma.service.ts — lifecycle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48640" y="41330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▪ auth/roles.guard.ts — authorisation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291840" y="41330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▪ auth/roles.decorator.ts — @Roles()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400800" y="146304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COVERAGE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1773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30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/api/health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87000" y="177393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400800" y="20848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30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/api/assets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87000" y="20848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 roles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400800" y="23957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30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/api/users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87000" y="239572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 only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400800" y="27066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30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/api/audit-logs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87000" y="27066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roles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400800" y="3017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30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/api/monitoring/alerts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87000" y="3017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roles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400800" y="33284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30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GET|POST /api/monitoring/reviews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87000" y="332841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400800" y="36393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30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GET|POST /api/monitoring/corrective-actions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0287000" y="363931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400800" y="4023360"/>
            <a:ext cx="5212080" cy="786384"/>
          </a:xfrm>
          <a:prstGeom prst="roundRect">
            <a:avLst>
              <a:gd name="adj" fmla="val 6977"/>
            </a:avLst>
          </a:prstGeom>
          <a:solidFill>
            <a:srgbClr val="FDF3E3"/>
          </a:solidFill>
          <a:ln w="12700">
            <a:solidFill>
              <a:srgbClr val="E8C88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0" y="411480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IMPLEMENTED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583680" y="435254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endpoints cover roughly 6 of 25 data models. No write path for assets, decisions, policy or change.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48640" y="5029200"/>
            <a:ext cx="11064240" cy="987552"/>
          </a:xfrm>
          <a:prstGeom prst="roundRect">
            <a:avLst>
              <a:gd name="adj" fmla="val 6481"/>
            </a:avLst>
          </a:prstGeom>
          <a:solidFill>
            <a:srgbClr val="E7F3F1"/>
          </a:solidFill>
          <a:ln w="12700">
            <a:solidFill>
              <a:srgbClr val="9CCFC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2960" y="5138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hardening applied in this review cycle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22960" y="5413248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RolesGuard previously failed OPEN — a request with no x-user-role header, or one simply claiming SUPER_ADMIN, was admitted; several data endpoints carried no role decorator at all. The guard now fails closed, validates against the Prisma UserRole enum, has no super-user bypass, and logs denials. Every data endpoint declares required roles. CORS moved from open to an allow-list.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DATABASE 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models clustered around a single hub entity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7772400" cy="493776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44752"/>
            <a:ext cx="64008" cy="493776"/>
          </a:xfrm>
          <a:prstGeom prst="rect">
            <a:avLst/>
          </a:prstGeom>
          <a:solidFill>
            <a:srgbClr val="1F8A82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904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Core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700784"/>
            <a:ext cx="7406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 ·  AIAsset  ·  AssetOwner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48640" y="2020824"/>
            <a:ext cx="7772400" cy="493776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020824"/>
            <a:ext cx="64008" cy="493776"/>
          </a:xfrm>
          <a:prstGeom prst="rect">
            <a:avLst/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06654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7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276856"/>
            <a:ext cx="7406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RiskAssessment  ·  ValidationRecord  ·  EvidenceDocument  ·  Finding  ·  ComplianceAssessmentRecord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548640" y="2596896"/>
            <a:ext cx="7772400" cy="493776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596896"/>
            <a:ext cx="64008" cy="493776"/>
          </a:xfrm>
          <a:prstGeom prst="rect">
            <a:avLst/>
          </a:prstGeom>
          <a:solidFill>
            <a:srgbClr val="6B5B95"/>
          </a:solidFill>
          <a:ln w="12700">
            <a:solidFill>
              <a:srgbClr val="6B5B9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64261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2852928"/>
            <a:ext cx="7406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DecisionRecord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48640" y="3172968"/>
            <a:ext cx="7772400" cy="493776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172968"/>
            <a:ext cx="64008" cy="493776"/>
          </a:xfrm>
          <a:prstGeom prst="rect">
            <a:avLst/>
          </a:prstGeom>
          <a:solidFill>
            <a:srgbClr val="C8871B"/>
          </a:solidFill>
          <a:ln w="12700">
            <a:solidFill>
              <a:srgbClr val="C88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2186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3429000"/>
            <a:ext cx="7406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KillSwitchRecord  ·  OverrideRecord  ·  GovernanceIncident  ·  RetirementRecord  ·  ScheduledReview  ·  CorrectiveAction  ·  GovernanceAlert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7772400" cy="493776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749040"/>
            <a:ext cx="64008" cy="493776"/>
          </a:xfrm>
          <a:prstGeom prst="rect">
            <a:avLst/>
          </a:prstGeom>
          <a:solidFill>
            <a:srgbClr val="B5697F"/>
          </a:solidFill>
          <a:ln w="12700">
            <a:solidFill>
              <a:srgbClr val="B5697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7947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6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(Ph 9)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1520" y="4005072"/>
            <a:ext cx="7406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 ·  PolicyMapping  ·  PolicyViolation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48640" y="4325112"/>
            <a:ext cx="7772400" cy="493776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325112"/>
            <a:ext cx="64008" cy="493776"/>
          </a:xfrm>
          <a:prstGeom prst="rect">
            <a:avLst/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3708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(Ph 10)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1520" y="4581144"/>
            <a:ext cx="7406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ChangeRequest  ·  ChangeApproval  ·  StateTransition  ·  ChangeHistoryEntry  ·  GovernanceTriggerRule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548640" y="4901184"/>
            <a:ext cx="7772400" cy="493776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901184"/>
            <a:ext cx="64008" cy="493776"/>
          </a:xfrm>
          <a:prstGeom prst="rect">
            <a:avLst/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9469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1520" y="5157216"/>
            <a:ext cx="7406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AuditLog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8595360" y="14447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CHARACTERISTICS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595360" y="1755648"/>
            <a:ext cx="3017520" cy="493776"/>
          </a:xfrm>
          <a:prstGeom prst="roundRect">
            <a:avLst>
              <a:gd name="adj" fmla="val 12963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32520" y="1755648"/>
            <a:ext cx="685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9418320" y="1755648"/>
            <a:ext cx="2103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595360" y="2322576"/>
            <a:ext cx="3017520" cy="493776"/>
          </a:xfrm>
          <a:prstGeom prst="roundRect">
            <a:avLst>
              <a:gd name="adj" fmla="val 12963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32520" y="2322576"/>
            <a:ext cx="685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9418320" y="2322576"/>
            <a:ext cx="2103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595360" y="2889504"/>
            <a:ext cx="3017520" cy="493776"/>
          </a:xfrm>
          <a:prstGeom prst="roundRect">
            <a:avLst>
              <a:gd name="adj" fmla="val 12963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32520" y="2889504"/>
            <a:ext cx="685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9418320" y="2889504"/>
            <a:ext cx="2103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595360" y="3456432"/>
            <a:ext cx="3017520" cy="493776"/>
          </a:xfrm>
          <a:prstGeom prst="roundRect">
            <a:avLst>
              <a:gd name="adj" fmla="val 12963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732520" y="3456432"/>
            <a:ext cx="685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9418320" y="3456432"/>
            <a:ext cx="2103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uniques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595360" y="4023360"/>
            <a:ext cx="3017520" cy="493776"/>
          </a:xfrm>
          <a:prstGeom prst="roundRect">
            <a:avLst>
              <a:gd name="adj" fmla="val 12963"/>
            </a:avLst>
          </a:prstGeom>
          <a:solidFill>
            <a:srgbClr val="FBE9EC"/>
          </a:solidFill>
          <a:ln w="12700">
            <a:solidFill>
              <a:srgbClr val="E4B6B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32520" y="4023360"/>
            <a:ext cx="685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9418320" y="4023360"/>
            <a:ext cx="2103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indexes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8595360" y="4663440"/>
            <a:ext cx="3017520" cy="1325880"/>
          </a:xfrm>
          <a:prstGeom prst="roundRect">
            <a:avLst>
              <a:gd name="adj" fmla="val 4138"/>
            </a:avLst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759952" y="47731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AIAsset is the hub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759952" y="502920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child relations cascade on delete. Every governance artefact — validation, evidence, decision, incident, policy violation, change request — hangs off the asset.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8640" y="614476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backend/prisma/schema.prisma (612 lines). Schema verified in sync with Neon — prisma migrate diff returns an empty migration.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+ 15 · RBAC AND USER MANAGEMENT 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enforcement layers, one unresolved dependency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5486400" cy="1965960"/>
          </a:xfrm>
          <a:prstGeom prst="roundRect">
            <a:avLst>
              <a:gd name="adj" fmla="val 3256"/>
            </a:avLst>
          </a:prstGeom>
          <a:solidFill>
            <a:srgbClr val="F4F7FA"/>
          </a:solidFill>
          <a:ln w="25400">
            <a:solidFill>
              <a:srgbClr val="1F8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544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CLIENT ROUTE GUARD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847088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navigation.ts declares every route as an RBAC key. Each persona carries an allowedNav list. ProtectedRoute calls hasPermission(path) at the route boundary and renders a restriction notice instead of the module. RbacAdministrationPage renders the role-to-module matrix derived from the same config, so the matrix cannot drift from the product.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309360" y="1444752"/>
            <a:ext cx="5303520" cy="1965960"/>
          </a:xfrm>
          <a:prstGeom prst="roundRect">
            <a:avLst>
              <a:gd name="adj" fmla="val 3256"/>
            </a:avLst>
          </a:prstGeom>
          <a:solidFill>
            <a:srgbClr val="F4F7FA"/>
          </a:solidFill>
          <a:ln w="25400">
            <a:solidFill>
              <a:srgbClr val="C88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10528" y="15544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SERVER GUARD  ·  PARTIALLY IMPLEMENTED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10528" y="184708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@Roles() metadata is read by RolesGuard. The guard now fails closed: a missing, malformed or unrecognised role is denied with 403, roles are validated against the Prisma UserRole enum, and there is no implicit super-user bypass. Denials are logged.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10528" y="2798064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i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Residual: the role is a client-supplied header and is not cryptographically verified. This is authorisation, not authentication.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35844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ROLES — AUTHORISED ROUTES OF 50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30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SUPER_ADMIN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880360" y="3977640"/>
            <a:ext cx="3840480" cy="118872"/>
          </a:xfrm>
          <a:prstGeom prst="rect">
            <a:avLst/>
          </a:prstGeom>
          <a:solidFill>
            <a:srgbClr val="DCE4E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80360" y="3977640"/>
            <a:ext cx="3840480" cy="118872"/>
          </a:xfrm>
          <a:prstGeom prst="rect">
            <a:avLst/>
          </a:prstGeom>
          <a:solidFill>
            <a:srgbClr val="1F8A82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12280" y="3895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1970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30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GOVERNANCE_ADMIN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880360" y="4279392"/>
            <a:ext cx="3840480" cy="118872"/>
          </a:xfrm>
          <a:prstGeom prst="rect">
            <a:avLst/>
          </a:prstGeom>
          <a:solidFill>
            <a:srgbClr val="DCE4E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80360" y="4279392"/>
            <a:ext cx="3686861" cy="118872"/>
          </a:xfrm>
          <a:prstGeom prst="rect">
            <a:avLst/>
          </a:prstGeom>
          <a:solidFill>
            <a:srgbClr val="1F8A82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4197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4498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30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RISK_OFFICER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80360" y="4581144"/>
            <a:ext cx="3840480" cy="118872"/>
          </a:xfrm>
          <a:prstGeom prst="rect">
            <a:avLst/>
          </a:prstGeom>
          <a:solidFill>
            <a:srgbClr val="DCE4E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80360" y="4581144"/>
            <a:ext cx="2995574" cy="118872"/>
          </a:xfrm>
          <a:prstGeom prst="rect">
            <a:avLst/>
          </a:prstGeom>
          <a:solidFill>
            <a:srgbClr val="4A7FA5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4498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" y="4800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30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AUDITOR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880360" y="4882896"/>
            <a:ext cx="3840480" cy="118872"/>
          </a:xfrm>
          <a:prstGeom prst="rect">
            <a:avLst/>
          </a:prstGeom>
          <a:solidFill>
            <a:srgbClr val="DCE4E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80360" y="4882896"/>
            <a:ext cx="2995574" cy="118872"/>
          </a:xfrm>
          <a:prstGeom prst="rect">
            <a:avLst/>
          </a:prstGeom>
          <a:solidFill>
            <a:srgbClr val="4A7FA5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122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" y="5102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30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BUSINESS_OWNER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880360" y="5184648"/>
            <a:ext cx="3840480" cy="118872"/>
          </a:xfrm>
          <a:prstGeom prst="rect">
            <a:avLst/>
          </a:prstGeom>
          <a:solidFill>
            <a:srgbClr val="DCE4E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80360" y="5184648"/>
            <a:ext cx="1689811" cy="118872"/>
          </a:xfrm>
          <a:prstGeom prst="rect">
            <a:avLst/>
          </a:prstGeom>
          <a:solidFill>
            <a:srgbClr val="76858F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12280" y="5102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54041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30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VALIDATOR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880360" y="5486400"/>
            <a:ext cx="3840480" cy="118872"/>
          </a:xfrm>
          <a:prstGeom prst="rect">
            <a:avLst/>
          </a:prstGeom>
          <a:solidFill>
            <a:srgbClr val="DCE4E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80360" y="5486400"/>
            <a:ext cx="1689811" cy="118872"/>
          </a:xfrm>
          <a:prstGeom prst="rect">
            <a:avLst/>
          </a:prstGeom>
          <a:solidFill>
            <a:srgbClr val="76858F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12280" y="5404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8640" y="57058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30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VIEWER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880360" y="5788152"/>
            <a:ext cx="3840480" cy="118872"/>
          </a:xfrm>
          <a:prstGeom prst="rect">
            <a:avLst/>
          </a:prstGeom>
          <a:solidFill>
            <a:srgbClr val="DCE4E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80360" y="5788152"/>
            <a:ext cx="1152144" cy="118872"/>
          </a:xfrm>
          <a:prstGeom prst="rect">
            <a:avLst/>
          </a:prstGeom>
          <a:solidFill>
            <a:srgbClr val="76858F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12280" y="57058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589520" y="3584448"/>
            <a:ext cx="4023360" cy="2423160"/>
          </a:xfrm>
          <a:prstGeom prst="roundRect">
            <a:avLst>
              <a:gd name="adj" fmla="val 2642"/>
            </a:avLst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90688" y="36941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(§15)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882128" y="3986784"/>
            <a:ext cx="3566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25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model — id, email (unique), name, role, department, status</a:t>
            </a:r>
            <a:endParaRPr lang="en-US" sz="950" dirty="0"/>
          </a:p>
          <a:p>
            <a:pPr marL="342900" indent="-342900">
              <a:lnSpc>
                <a:spcPts val="125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UserManagementPage — create user, edit role, activate / deactivate</a:t>
            </a:r>
            <a:endParaRPr lang="en-US" sz="950" dirty="0"/>
          </a:p>
          <a:p>
            <a:pPr marL="342900" indent="-342900">
              <a:lnSpc>
                <a:spcPts val="125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storageService — saveUser(), toggleUserStatus(), getUsers()</a:t>
            </a:r>
            <a:endParaRPr lang="en-US" sz="950" dirty="0"/>
          </a:p>
          <a:p>
            <a:pPr marL="342900" indent="-342900">
              <a:lnSpc>
                <a:spcPts val="125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switching drives the demo identity model</a:t>
            </a:r>
            <a:endParaRPr lang="en-US" sz="950" dirty="0"/>
          </a:p>
          <a:p>
            <a:pPr marL="342900" indent="-342900">
              <a:lnSpc>
                <a:spcPts val="125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password field exists anywhere in the codebase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GOVERNANCE DOMAIN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domains, twenty-four state machines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3566160" cy="786384"/>
          </a:xfrm>
          <a:prstGeom prst="roundRect">
            <a:avLst>
              <a:gd name="adj" fmla="val 8140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52704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Governance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13232" y="1764792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enterprise AI under control?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11880" y="15270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8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97680" y="1444752"/>
            <a:ext cx="3566160" cy="786384"/>
          </a:xfrm>
          <a:prstGeom prst="roundRect">
            <a:avLst>
              <a:gd name="adj" fmla="val 8140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62272" y="152704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Governance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62272" y="1764792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rules govern our AI?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60920" y="15270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8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046720" y="1444752"/>
            <a:ext cx="3566160" cy="786384"/>
          </a:xfrm>
          <a:prstGeom prst="roundRect">
            <a:avLst>
              <a:gd name="adj" fmla="val 8140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152704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Governance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11312" y="1764792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changed, who approved it?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09960" y="15270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8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2377440"/>
            <a:ext cx="3566160" cy="786384"/>
          </a:xfrm>
          <a:prstGeom prst="roundRect">
            <a:avLst>
              <a:gd name="adj" fmla="val 8140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2459736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 Registry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13232" y="269748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AI exists?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11880" y="245973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8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297680" y="2377440"/>
            <a:ext cx="3566160" cy="786384"/>
          </a:xfrm>
          <a:prstGeom prst="roundRect">
            <a:avLst>
              <a:gd name="adj" fmla="val 8140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62272" y="2459736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Compliance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462272" y="269748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this AI be trusted?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60920" y="245973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8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8046720" y="2377440"/>
            <a:ext cx="3566160" cy="786384"/>
          </a:xfrm>
          <a:prstGeom prst="roundRect">
            <a:avLst>
              <a:gd name="adj" fmla="val 8140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11312" y="2459736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Governance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11312" y="269748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this AI move?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109960" y="245973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8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548640" y="3310128"/>
            <a:ext cx="3566160" cy="786384"/>
          </a:xfrm>
          <a:prstGeom prst="roundRect">
            <a:avLst>
              <a:gd name="adj" fmla="val 8140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3392424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&amp; Monitoring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3232" y="3630168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happening now?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11880" y="339242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8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297680" y="3310128"/>
            <a:ext cx="3566160" cy="786384"/>
          </a:xfrm>
          <a:prstGeom prst="roundRect">
            <a:avLst>
              <a:gd name="adj" fmla="val 8140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62272" y="3392424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Oversight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462272" y="3630168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what happened.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60920" y="339242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8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8046720" y="3310128"/>
            <a:ext cx="3566160" cy="786384"/>
          </a:xfrm>
          <a:prstGeom prst="roundRect">
            <a:avLst>
              <a:gd name="adj" fmla="val 8140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11312" y="3392424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11312" y="3630168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do what?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09960" y="339242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8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548640" y="4370832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DERIVATION LAYERS — GOVERNANCE STATE IS COMPUTED, NOT ENTERED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4681728"/>
            <a:ext cx="11064240" cy="384048"/>
          </a:xfrm>
          <a:prstGeom prst="roundRect">
            <a:avLst>
              <a:gd name="adj" fmla="val 11905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1520" y="468172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30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storageService.ts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943600" y="468172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+ CRUD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0241280" y="468172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1,446 ln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48640" y="5065776"/>
            <a:ext cx="110642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8640" y="5138928"/>
            <a:ext cx="11064240" cy="384048"/>
          </a:xfrm>
          <a:prstGeom prst="roundRect">
            <a:avLst>
              <a:gd name="adj" fmla="val 11905"/>
            </a:avLst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513892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governanceIntelligence · policyService · changeManagementService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943600" y="513892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derivation and rules engines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241280" y="513892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1,880 ln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48640" y="5522976"/>
            <a:ext cx="110642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48640" y="5596128"/>
            <a:ext cx="11064240" cy="384048"/>
          </a:xfrm>
          <a:prstGeom prst="roundRect">
            <a:avLst>
              <a:gd name="adj" fmla="val 11905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31520" y="559612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30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executiveGovernance.ts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5943600" y="559612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Aggregation, scorecards, reports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10241280" y="559612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734 ln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+ 9 · AI ASSET REGISTRY AND RACI 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hub entity and its five-way accountability record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AIAsset — 9 supported types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830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3160" y="1783080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7830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7830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16712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6712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23160" y="216712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216712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97680" y="216712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0" y="216712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RAG_SYSTEM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551176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55117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AI_WORKFLOW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23160" y="2551176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23160" y="255117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MULTI_AGENT_SYSTEM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297680" y="2551176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0" y="255117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THIRD_PARTY_SERVICE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0632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fields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331012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· name · type · description · department · version · status · operationalStatus · riskLevel · techStack[] · dataSensitivity · validationScore · decisionOutcome · tags[] · createdAt · updatedAt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48640" y="41605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status enum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407408"/>
            <a:ext cx="859536" cy="292608"/>
          </a:xfrm>
          <a:prstGeom prst="roundRect">
            <a:avLst>
              <a:gd name="adj" fmla="val 15625"/>
            </a:avLst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40740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408176" y="4407408"/>
            <a:ext cx="73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481328" y="4407408"/>
            <a:ext cx="859536" cy="292608"/>
          </a:xfrm>
          <a:prstGeom prst="roundRect">
            <a:avLst>
              <a:gd name="adj" fmla="val 15625"/>
            </a:avLst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481328" y="440740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340864" y="4407408"/>
            <a:ext cx="73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414016" y="4407408"/>
            <a:ext cx="859536" cy="292608"/>
          </a:xfrm>
          <a:prstGeom prst="roundRect">
            <a:avLst>
              <a:gd name="adj" fmla="val 15625"/>
            </a:avLst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14016" y="440740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273552" y="4407408"/>
            <a:ext cx="73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346704" y="4407408"/>
            <a:ext cx="859536" cy="292608"/>
          </a:xfrm>
          <a:prstGeom prst="roundRect">
            <a:avLst>
              <a:gd name="adj" fmla="val 15625"/>
            </a:avLst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46704" y="440740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206240" y="4407408"/>
            <a:ext cx="73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279392" y="4407408"/>
            <a:ext cx="859536" cy="292608"/>
          </a:xfrm>
          <a:prstGeom prst="roundRect">
            <a:avLst>
              <a:gd name="adj" fmla="val 15625"/>
            </a:avLst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79392" y="440740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138928" y="4407408"/>
            <a:ext cx="73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212080" y="4407408"/>
            <a:ext cx="859536" cy="292608"/>
          </a:xfrm>
          <a:prstGeom prst="roundRect">
            <a:avLst>
              <a:gd name="adj" fmla="val 15625"/>
            </a:avLst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12080" y="440740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Retirement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00800" y="1444752"/>
            <a:ext cx="5212080" cy="3255264"/>
          </a:xfrm>
          <a:prstGeom prst="roundRect">
            <a:avLst>
              <a:gd name="adj" fmla="val 1966"/>
            </a:avLst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01968" y="15727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AssetOwner — five foreign keys to User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6693408" y="193852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businessOwner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549640" y="193852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B9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business outcome and residual risk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693408" y="2441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technicalOwner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549640" y="244144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B9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build, deployment and operation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693408" y="294436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riskOwner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8549640" y="294436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B9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risk classification and mitigating controls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693408" y="34472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complianceOwner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8549640" y="344728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B9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policy and regulatory adherence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6693408" y="39502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approver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549640" y="395020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B9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authority to permit production use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601968" y="4480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AssetOwner row per asset (assetId is @unique). Completeness is scored and weighted 25% — the heaviest single weight in the health index.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48640" y="4937760"/>
            <a:ext cx="11064240" cy="1051560"/>
          </a:xfrm>
          <a:prstGeom prst="roundRect">
            <a:avLst>
              <a:gd name="adj" fmla="val 6087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50292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Eight-stage governance journey — derived, not stored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4672" y="5349240"/>
            <a:ext cx="1243584" cy="310896"/>
          </a:xfrm>
          <a:prstGeom prst="roundRect">
            <a:avLst>
              <a:gd name="adj" fmla="val 14706"/>
            </a:avLst>
          </a:prstGeom>
          <a:solidFill>
            <a:srgbClr val="1F8A82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04672" y="534924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Asset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2048256" y="5349240"/>
            <a:ext cx="109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157984" y="5349240"/>
            <a:ext cx="1243584" cy="310896"/>
          </a:xfrm>
          <a:prstGeom prst="roundRect">
            <a:avLst>
              <a:gd name="adj" fmla="val 14706"/>
            </a:avLst>
          </a:prstGeom>
          <a:solidFill>
            <a:srgbClr val="1F8A82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157984" y="534924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401568" y="5349240"/>
            <a:ext cx="109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511296" y="5349240"/>
            <a:ext cx="1243584" cy="310896"/>
          </a:xfrm>
          <a:prstGeom prst="roundRect">
            <a:avLst>
              <a:gd name="adj" fmla="val 14706"/>
            </a:avLst>
          </a:prstGeom>
          <a:solidFill>
            <a:srgbClr val="1F8A82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511296" y="534924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Review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4754880" y="5349240"/>
            <a:ext cx="109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864608" y="5349240"/>
            <a:ext cx="1243584" cy="310896"/>
          </a:xfrm>
          <a:prstGeom prst="roundRect">
            <a:avLst>
              <a:gd name="adj" fmla="val 14706"/>
            </a:avLst>
          </a:prstGeom>
          <a:solidFill>
            <a:srgbClr val="1F8A82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64608" y="534924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108192" y="5349240"/>
            <a:ext cx="109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217920" y="5349240"/>
            <a:ext cx="1243584" cy="310896"/>
          </a:xfrm>
          <a:prstGeom prst="roundRect">
            <a:avLst>
              <a:gd name="adj" fmla="val 14706"/>
            </a:avLst>
          </a:prstGeom>
          <a:solidFill>
            <a:srgbClr val="1F8A82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0" y="534924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7461504" y="5349240"/>
            <a:ext cx="109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571232" y="5349240"/>
            <a:ext cx="1243584" cy="310896"/>
          </a:xfrm>
          <a:prstGeom prst="roundRect">
            <a:avLst>
              <a:gd name="adj" fmla="val 14706"/>
            </a:avLst>
          </a:prstGeom>
          <a:solidFill>
            <a:srgbClr val="1F8A82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571232" y="534924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8814816" y="5349240"/>
            <a:ext cx="109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8924544" y="5349240"/>
            <a:ext cx="1243584" cy="310896"/>
          </a:xfrm>
          <a:prstGeom prst="roundRect">
            <a:avLst>
              <a:gd name="adj" fmla="val 14706"/>
            </a:avLst>
          </a:prstGeom>
          <a:solidFill>
            <a:srgbClr val="1F8A82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924544" y="534924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10168128" y="5349240"/>
            <a:ext cx="109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277856" y="5349240"/>
            <a:ext cx="1243584" cy="310896"/>
          </a:xfrm>
          <a:prstGeom prst="roundRect">
            <a:avLst>
              <a:gd name="adj" fmla="val 14706"/>
            </a:avLst>
          </a:prstGeom>
          <a:solidFill>
            <a:srgbClr val="1F8A82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277856" y="534924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804672" y="5687568"/>
            <a:ext cx="10552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getAssetJourneyPositions() computes each asset's furthest consecutively-cleared stage from live governance state.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RISK MANAGEMENT 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tier drives how much governance applies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44752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55848" y="1444752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C8871B"/>
          </a:solidFill>
          <a:ln w="12700">
            <a:solidFill>
              <a:srgbClr val="C887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55848" y="1444752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Risk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63056" y="1444752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D2691E"/>
          </a:solidFill>
          <a:ln w="12700">
            <a:solidFill>
              <a:srgbClr val="D2691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63056" y="1444752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970264" y="1444752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70264" y="1444752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Risk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286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RiskAssessment model — five assessment dimensions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596896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▪ context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871216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▪ dataSensitivity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3145536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▪ decisionImpact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3419856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▪ operationalImpact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694176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▪ controlOversight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4023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produces overallRiskTier plus assessedBy attribution. Risk is one of the five governance pillars, weighted 20%.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2286000"/>
            <a:ext cx="5212080" cy="2194560"/>
          </a:xfrm>
          <a:prstGeom prst="roundRect">
            <a:avLst>
              <a:gd name="adj" fmla="val 2917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01968" y="239572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analytics surfaces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75120" y="27066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getRiskHeatmap()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915400" y="270662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× AI category concentration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675120" y="30449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getBusinessUnitHeatmap()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915400" y="304495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× business unit, with health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675120" y="33832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getAssetTypeHeatmap()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915400" y="33832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× asset type, with health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75120" y="37216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getRiskStageHeatmap()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915400" y="37216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× lifecycle stage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75120" y="40599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getGovernanceBlockers()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915400" y="405993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stops by category and severity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4667"/>
            </a:avLst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47365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Risk-driven enforcement — where the tier actually changes behaviour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32688" y="5029200"/>
            <a:ext cx="10296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250"/>
              </a:lnSpc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and Critical assets require an approved independent validation before production, enforced by policy rule REQUIRE_VALIDATION_FOR_HIGH_RISK.</a:t>
            </a:r>
            <a:endParaRPr lang="en-US" sz="950" dirty="0"/>
          </a:p>
          <a:p>
            <a:pPr marL="342900" indent="-342900">
              <a:lnSpc>
                <a:spcPts val="1250"/>
              </a:lnSpc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and Critical assets must evidence human oversight — a kill switch or recorded override — via REQUIRE_HUMAN_OVERSIGHT_HIGH_RISK.</a:t>
            </a:r>
            <a:endParaRPr lang="en-US" sz="950" dirty="0"/>
          </a:p>
          <a:p>
            <a:pPr marL="342900" indent="-342900">
              <a:lnSpc>
                <a:spcPts val="1250"/>
              </a:lnSpc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and Critical assets without a scheduled review breach REQUIRE_PERIODIC_REVIEW; quarterly cadence, all others annual.</a:t>
            </a:r>
            <a:endParaRPr lang="en-US" sz="950" dirty="0"/>
          </a:p>
          <a:p>
            <a:pPr marL="342900" indent="-342900">
              <a:lnSpc>
                <a:spcPts val="1250"/>
              </a:lnSpc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proposeImpact() escalates every change impact rating by one level when the underlying asset is High or Critical risk.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VALIDATION AND EVIDENCE 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 review, tracked defects, evidence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ValidationRecord — six disciplines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7556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556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3160" y="17556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7556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7680" y="17556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7556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139696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3969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23160" y="2139696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213969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97680" y="2139696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0" y="213969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2578608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Fields: category · reviewer · reviewerRole · reviewDate · status · score · findings · recommendations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8640" y="298094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Draft → In Review → Approved | Rejected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48640" y="33649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— four-state defect lifecycle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675888"/>
            <a:ext cx="1261872" cy="310896"/>
          </a:xfrm>
          <a:prstGeom prst="roundRect">
            <a:avLst>
              <a:gd name="adj" fmla="val 14706"/>
            </a:avLst>
          </a:prstGeom>
          <a:solidFill>
            <a:srgbClr val="76858F"/>
          </a:solidFill>
          <a:ln w="12700">
            <a:solidFill>
              <a:srgbClr val="7685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675888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810512" y="3675888"/>
            <a:ext cx="109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20240" y="3675888"/>
            <a:ext cx="1261872" cy="310896"/>
          </a:xfrm>
          <a:prstGeom prst="roundRect">
            <a:avLst>
              <a:gd name="adj" fmla="val 14706"/>
            </a:avLst>
          </a:prstGeom>
          <a:solidFill>
            <a:srgbClr val="76858F"/>
          </a:solidFill>
          <a:ln w="12700">
            <a:solidFill>
              <a:srgbClr val="7685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20240" y="3675888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182112" y="3675888"/>
            <a:ext cx="109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91840" y="3675888"/>
            <a:ext cx="1261872" cy="310896"/>
          </a:xfrm>
          <a:prstGeom prst="roundRect">
            <a:avLst>
              <a:gd name="adj" fmla="val 14706"/>
            </a:avLst>
          </a:prstGeom>
          <a:solidFill>
            <a:srgbClr val="76858F"/>
          </a:solidFill>
          <a:ln w="12700">
            <a:solidFill>
              <a:srgbClr val="76858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3675888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53712" y="3675888"/>
            <a:ext cx="109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675888"/>
            <a:ext cx="1261872" cy="310896"/>
          </a:xfrm>
          <a:prstGeom prst="roundRect">
            <a:avLst>
              <a:gd name="adj" fmla="val 14706"/>
            </a:avLst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3675888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405993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Low → Critical, with assignedTo and reportedBy attribution. Closure requires independent verification, not self-certification.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00800" y="1444752"/>
            <a:ext cx="5212080" cy="3657600"/>
          </a:xfrm>
          <a:prstGeom prst="roundRect">
            <a:avLst>
              <a:gd name="adj" fmla="val 1750"/>
            </a:avLst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01968" y="15727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EvidenceDocument — 10 mandatory ODF deliverables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93408" y="1920240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Executive Solution Blueprint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693408" y="2185416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Functional Requirements Specification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693408" y="2450592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Solution Architecture Blueprint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693408" y="2715768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Database Design Document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693408" y="2980944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API Design Specification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693408" y="3246120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Security Review Document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693408" y="3511296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Test Strategy &amp; Evidence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693408" y="3776472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Deployment Blueprint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693408" y="4041648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Production Readiness Assessment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693408" y="4306824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 Project Closure Report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601968" y="461772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artefact is versioned, attributed to an uploader and carries a status: Draft → Submitted → Approved | Rejected | Archived.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48640" y="4617720"/>
            <a:ext cx="5486400" cy="1371600"/>
          </a:xfrm>
          <a:prstGeom prst="roundRect">
            <a:avLst>
              <a:gd name="adj" fmla="val 4667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7240" y="47365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completeness rule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77240" y="50292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is treated as evidence-complete at three or more approved artefacts; zero artefacts is classified missing, anything between is review-required. Production assets below the threshold raise policy rule REQUIRE_EVIDENCE_FOR_PRODUCTION automatically.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DECISION GOVERNANCE 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Scored readiness, blockers, then a recorded decision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2084832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72768"/>
            <a:ext cx="310896" cy="310896"/>
          </a:xfrm>
          <a:prstGeom prst="ellipse">
            <a:avLst/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72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78992" y="1591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965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calculateAssetGovernanceScore()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pillars × 20 points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633472" y="1444752"/>
            <a:ext cx="164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98064" y="1444752"/>
            <a:ext cx="2084832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35224" y="1572768"/>
            <a:ext cx="310896" cy="310896"/>
          </a:xfrm>
          <a:prstGeom prst="ellipse">
            <a:avLst/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35224" y="1572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28416" y="1591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935224" y="1965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Ready / Conditionally Ready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 Not Ready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882896" y="1444752"/>
            <a:ext cx="164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47488" y="1444752"/>
            <a:ext cx="2084832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84648" y="1572768"/>
            <a:ext cx="310896" cy="310896"/>
          </a:xfrm>
          <a:prstGeom prst="ellipse">
            <a:avLst/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84648" y="1572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577840" y="1591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84648" y="1965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getGovernanceBlockers()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category + severity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132320" y="1444752"/>
            <a:ext cx="164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296912" y="1444752"/>
            <a:ext cx="2084832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4072" y="1572768"/>
            <a:ext cx="310896" cy="310896"/>
          </a:xfrm>
          <a:prstGeom prst="ellipse">
            <a:avLst/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34072" y="1572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827264" y="1591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434072" y="1965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recommendedOutcome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derived from score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9381744" y="1444752"/>
            <a:ext cx="164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9546336" y="1444752"/>
            <a:ext cx="2084832" cy="1371600"/>
          </a:xfrm>
          <a:prstGeom prst="roundRect">
            <a:avLst>
              <a:gd name="adj" fmla="val 4000"/>
            </a:avLst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83496" y="1572768"/>
            <a:ext cx="310896" cy="310896"/>
          </a:xfrm>
          <a:prstGeom prst="ellipse">
            <a:avLst/>
          </a:prstGeom>
          <a:solidFill>
            <a:srgbClr val="1F8A82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83496" y="1572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76688" y="1591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683496" y="1965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recordDecision()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audit log entry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01752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SCORING PILLARS — HEALTH INDEX WEIGHTS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332841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57400" y="3429000"/>
            <a:ext cx="3291840" cy="137160"/>
          </a:xfrm>
          <a:prstGeom prst="rect">
            <a:avLst/>
          </a:prstGeom>
          <a:solidFill>
            <a:srgbClr val="DCE4E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57400" y="3429000"/>
            <a:ext cx="3291840" cy="137160"/>
          </a:xfrm>
          <a:prstGeom prst="rect">
            <a:avLst/>
          </a:prstGeom>
          <a:solidFill>
            <a:srgbClr val="1F8A82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40680" y="332841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48640" y="371246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57400" y="3813048"/>
            <a:ext cx="3291840" cy="137160"/>
          </a:xfrm>
          <a:prstGeom prst="rect">
            <a:avLst/>
          </a:prstGeom>
          <a:solidFill>
            <a:srgbClr val="DCE4E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57400" y="3813048"/>
            <a:ext cx="2633472" cy="137160"/>
          </a:xfrm>
          <a:prstGeom prst="rect">
            <a:avLst/>
          </a:prstGeom>
          <a:solidFill>
            <a:srgbClr val="4A7FA5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40680" y="371246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48640" y="409651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057400" y="4197096"/>
            <a:ext cx="3291840" cy="137160"/>
          </a:xfrm>
          <a:prstGeom prst="rect">
            <a:avLst/>
          </a:prstGeom>
          <a:solidFill>
            <a:srgbClr val="DCE4E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057400" y="4197096"/>
            <a:ext cx="2633472" cy="137160"/>
          </a:xfrm>
          <a:prstGeom prst="rect">
            <a:avLst/>
          </a:prstGeom>
          <a:solidFill>
            <a:srgbClr val="4A7FA5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40680" y="409651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48640" y="448056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057400" y="4581144"/>
            <a:ext cx="3291840" cy="137160"/>
          </a:xfrm>
          <a:prstGeom prst="rect">
            <a:avLst/>
          </a:prstGeom>
          <a:solidFill>
            <a:srgbClr val="DCE4E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57400" y="4581144"/>
            <a:ext cx="2633472" cy="137160"/>
          </a:xfrm>
          <a:prstGeom prst="rect">
            <a:avLst/>
          </a:prstGeom>
          <a:solidFill>
            <a:srgbClr val="4A7FA5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40680" y="448056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548640" y="486460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057400" y="4965192"/>
            <a:ext cx="3291840" cy="137160"/>
          </a:xfrm>
          <a:prstGeom prst="rect">
            <a:avLst/>
          </a:prstGeom>
          <a:solidFill>
            <a:srgbClr val="DCE4E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057400" y="4965192"/>
            <a:ext cx="1975104" cy="137160"/>
          </a:xfrm>
          <a:prstGeom prst="rect">
            <a:avLst/>
          </a:prstGeom>
          <a:solidFill>
            <a:srgbClr val="4A7FA5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440680" y="486460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400800" y="301752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OUTCOMES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400800" y="3328416"/>
            <a:ext cx="521208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2E7D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83680" y="332841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595360" y="332841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for production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6400800" y="3803904"/>
            <a:ext cx="521208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C8871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83680" y="380390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GO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8595360" y="380390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with conditions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400800" y="4279392"/>
            <a:ext cx="521208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B23A4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83680" y="427939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GO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8595360" y="427939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6400800" y="4754880"/>
            <a:ext cx="521208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4A7FA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0" y="475488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7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8595360" y="475488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authority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48640" y="5321808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22960" y="532180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DecisionRecord persists outcome, decisionOwner, justification and a JSON readiness checklist. generateDecisionPackage() assembles an exportable briefing; every decision writes an immutable audit entry.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7B · CHANGE GOVERNANCE 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Approval is not permanent — change re-enters governance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2084832" cy="1417320"/>
          </a:xfrm>
          <a:prstGeom prst="roundRect">
            <a:avLst>
              <a:gd name="adj" fmla="val 3871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554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94944" y="1865376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categories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· Vendor · Data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· Policy · Operational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633472" y="1444752"/>
            <a:ext cx="1645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98064" y="1444752"/>
            <a:ext cx="2084832" cy="1417320"/>
          </a:xfrm>
          <a:prstGeom prst="roundRect">
            <a:avLst>
              <a:gd name="adj" fmla="val 3871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44368" y="1554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impact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944368" y="1865376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governance areas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rated No → Critical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882896" y="1444752"/>
            <a:ext cx="1645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47488" y="1444752"/>
            <a:ext cx="2084832" cy="1417320"/>
          </a:xfrm>
          <a:prstGeom prst="roundRect">
            <a:avLst>
              <a:gd name="adj" fmla="val 3871"/>
            </a:avLst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3792" y="1554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93792" y="1865376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Weighted 0–100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1.6 · Compliance 1.5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 1.4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132320" y="1444752"/>
            <a:ext cx="1645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96912" y="1444752"/>
            <a:ext cx="2084832" cy="1417320"/>
          </a:xfrm>
          <a:prstGeom prst="roundRect">
            <a:avLst>
              <a:gd name="adj" fmla="val 3871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43216" y="1554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rule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43216" y="1865376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Minor / Moderate /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Major / Critical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9381744" y="1444752"/>
            <a:ext cx="1645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546336" y="1444752"/>
            <a:ext cx="2084832" cy="1417320"/>
          </a:xfrm>
          <a:prstGeom prst="roundRect">
            <a:avLst>
              <a:gd name="adj" fmla="val 3871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0" y="1554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approvals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92640" y="1865376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to 6 approvers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 to real asset owners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48640" y="303580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REASSESSMENT RULES ENGINE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346704"/>
            <a:ext cx="56692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B23A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34670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737360" y="3346704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 70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423160" y="33467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Executive Approval Required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3749040"/>
            <a:ext cx="56692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2691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37490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737360" y="374904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 45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423160" y="37490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Full Governance Review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8640" y="4151376"/>
            <a:ext cx="56692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C8871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415137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737360" y="415137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 20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2423160" y="41513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Risk Review Required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48640" y="4553712"/>
            <a:ext cx="56692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2E7D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455371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737360" y="4553712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8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 0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423160" y="455371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No Reassessment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400800" y="303580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STATE MACHINE — 10 STATES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400800" y="3346704"/>
            <a:ext cx="2514600" cy="347472"/>
          </a:xfrm>
          <a:prstGeom prst="roundRect">
            <a:avLst>
              <a:gd name="adj" fmla="val 13158"/>
            </a:avLst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0" y="334670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052560" y="3346704"/>
            <a:ext cx="2514600" cy="347472"/>
          </a:xfrm>
          <a:prstGeom prst="roundRect">
            <a:avLst>
              <a:gd name="adj" fmla="val 13158"/>
            </a:avLst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052560" y="334670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400800" y="3749040"/>
            <a:ext cx="2514600" cy="347472"/>
          </a:xfrm>
          <a:prstGeom prst="roundRect">
            <a:avLst>
              <a:gd name="adj" fmla="val 13158"/>
            </a:avLst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0" y="374904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9052560" y="3749040"/>
            <a:ext cx="2514600" cy="347472"/>
          </a:xfrm>
          <a:prstGeom prst="roundRect">
            <a:avLst>
              <a:gd name="adj" fmla="val 13158"/>
            </a:avLst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052560" y="374904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400800" y="4151376"/>
            <a:ext cx="2514600" cy="347472"/>
          </a:xfrm>
          <a:prstGeom prst="roundRect">
            <a:avLst>
              <a:gd name="adj" fmla="val 13158"/>
            </a:avLst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0800" y="4151376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052560" y="4151376"/>
            <a:ext cx="2514600" cy="347472"/>
          </a:xfrm>
          <a:prstGeom prst="roundRect">
            <a:avLst>
              <a:gd name="adj" fmla="val 13158"/>
            </a:avLst>
          </a:prstGeom>
          <a:solidFill>
            <a:srgbClr val="6B5B95"/>
          </a:solidFill>
          <a:ln w="12700">
            <a:solidFill>
              <a:srgbClr val="6B5B9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052560" y="4151376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Requested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400800" y="4553712"/>
            <a:ext cx="2514600" cy="347472"/>
          </a:xfrm>
          <a:prstGeom prst="roundRect">
            <a:avLst>
              <a:gd name="adj" fmla="val 13158"/>
            </a:avLst>
          </a:prstGeom>
          <a:solidFill>
            <a:srgbClr val="6B5B95"/>
          </a:solidFill>
          <a:ln w="12700">
            <a:solidFill>
              <a:srgbClr val="6B5B9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00800" y="455371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Assessment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9052560" y="4553712"/>
            <a:ext cx="2514600" cy="347472"/>
          </a:xfrm>
          <a:prstGeom prst="roundRect">
            <a:avLst>
              <a:gd name="adj" fmla="val 13158"/>
            </a:avLst>
          </a:prstGeom>
          <a:solidFill>
            <a:srgbClr val="6B5B95"/>
          </a:solidFill>
          <a:ln w="12700">
            <a:solidFill>
              <a:srgbClr val="6B5B9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052560" y="455371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Reassessment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400800" y="4956048"/>
            <a:ext cx="2514600" cy="347472"/>
          </a:xfrm>
          <a:prstGeom prst="roundRect">
            <a:avLst>
              <a:gd name="adj" fmla="val 13158"/>
            </a:avLst>
          </a:prstGeom>
          <a:solidFill>
            <a:srgbClr val="6B5B95"/>
          </a:solidFill>
          <a:ln w="12700">
            <a:solidFill>
              <a:srgbClr val="6B5B9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00800" y="495604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Reapproved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9052560" y="4956048"/>
            <a:ext cx="2514600" cy="347472"/>
          </a:xfrm>
          <a:prstGeom prst="roundRect">
            <a:avLst>
              <a:gd name="adj" fmla="val 13158"/>
            </a:avLst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052560" y="495604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Retirement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48640" y="5394960"/>
            <a:ext cx="11064240" cy="822960"/>
          </a:xfrm>
          <a:prstGeom prst="roundRect">
            <a:avLst>
              <a:gd name="adj" fmla="val 7778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22960" y="547725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trigger rules convert change conditions into governance work automatically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822960" y="5733288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Changed → Create Review  ·  Policy Updated → Identify Affected Assets  ·  Critical Risk Increased → Executive Escalation  ·  Model Replaced → Require Revalidation  ·  New Data Source → Notify Compliance  ·  Monitoring Control Changed → Require Evidence Refresh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MONITORING 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Continuous health scoring plus operational intervention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calculateAssetGovernanceHealthScore() — five health pillars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773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▪ ownershipHealth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20482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▪ riskHealth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23225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▪ validationHealth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59689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▪ complianceHealth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8712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▪ operationalHealth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318211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Rolls up to Healthy / Watchlist / Attention Required, and to a tenant-level governance health score.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365760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CONTROL SURFACES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9684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KillSwitchRecord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286000" y="396849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→ Approved → Activated → Under Investigation → Released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48640" y="437083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OverrideRecord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286000" y="43708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intervention with trigger reason and approver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48640" y="477316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GovernanceIncident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286000" y="47731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→ Investigating → Mitigation → Resolved → Closed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48640" y="517550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CorrectiveAction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286000" y="51755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→ Assigned → In Progress → Completed → Verified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48640" y="55778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ScheduledReview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286000" y="5577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→ In Progress → Completed / Overdue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400800" y="1444752"/>
            <a:ext cx="5212080" cy="2377440"/>
          </a:xfrm>
          <a:prstGeom prst="roundRect">
            <a:avLst>
              <a:gd name="adj" fmla="val 2692"/>
            </a:avLst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01968" y="15544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alerting — computed on read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01968" y="186537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getExecutiveAlerts() derives four alert classes live from governance state: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693408" y="221284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Critical Risk — high/critical asset without a GO decision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693408" y="25603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Missing Ownership — unassigned accountability roles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3408" y="290779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Policy Violation — open or under-review breaches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3408" y="325526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Expired Review — overdue scheduled reviews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400800" y="3950208"/>
            <a:ext cx="5212080" cy="1234440"/>
          </a:xfrm>
          <a:prstGeom prst="roundRect">
            <a:avLst>
              <a:gd name="adj" fmla="val 5185"/>
            </a:avLst>
          </a:prstGeom>
          <a:solidFill>
            <a:srgbClr val="FDF3E3"/>
          </a:solidFill>
          <a:ln w="12700">
            <a:solidFill>
              <a:srgbClr val="E8C88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01968" y="40599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IMPLEMENTED — alerting is not event-driven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01968" y="4334256"/>
            <a:ext cx="4846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GovernanceAlert records are read from storage as seeded data; only executive alerts are computed. There is no scheduler, no background job and no notification channel — alerts surface when a user opens the page.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614476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getGovernanceAlerts() returns getItem(STORAGE_KEYS.ALERTS, INITIAL_GOVERNANCE_ALERTS); getExecutiveAlerts() derives from live asset, review and violation state.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· AUDIT 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Append-only trail, plus four reconstruction views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5669280" cy="2286000"/>
          </a:xfrm>
          <a:prstGeom prst="roundRect">
            <a:avLst>
              <a:gd name="adj" fmla="val 2800"/>
            </a:avLst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544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addAuditLog() — the single write path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77240" y="186537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per entry: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· timestamp · userId · userName · userRole · action · entityType · entityId · entityName · details · ipAddress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77240" y="2724912"/>
            <a:ext cx="5212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entity types are auditable, spanning Asset, Ownership, Risk, Decision, Validation, Evidence, Finding, Compliance, KillSwitch, Override, Incident, Retirement, Review, CorrectiveAction, Policy, PolicyMapping, PolicyViolation, ChangeRequest, StateTransition and report generation.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0" y="14447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RECONSTRUCTION VIEWS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0" y="1755648"/>
            <a:ext cx="5212080" cy="438912"/>
          </a:xfrm>
          <a:prstGeom prst="roundRect">
            <a:avLst>
              <a:gd name="adj" fmla="val 14583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792224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Timeline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0" y="1975104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getGovernanceTimeline(assetId) merges 8 event types into one chronology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400800" y="2267712"/>
            <a:ext cx="5212080" cy="438912"/>
          </a:xfrm>
          <a:prstGeom prst="roundRect">
            <a:avLst>
              <a:gd name="adj" fmla="val 14583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30428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History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0" y="248716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entries merged with narrative derived from the change register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400800" y="2779776"/>
            <a:ext cx="5212080" cy="438912"/>
          </a:xfrm>
          <a:prstGeom prst="roundRect">
            <a:avLst>
              <a:gd name="adj" fmla="val 14583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2816352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&amp; Regulator Reporting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0" y="2999232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buildExecutiveGovernanceReport() + buildAuditReadinessReport()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0" y="3291840"/>
            <a:ext cx="5212080" cy="438912"/>
          </a:xfrm>
          <a:prstGeom prst="roundRect">
            <a:avLst>
              <a:gd name="adj" fmla="val 14583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332841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 module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0" y="351129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searchable record; generating a report is itself audited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3858768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7F3F1"/>
          </a:solidFill>
          <a:ln w="12700">
            <a:solidFill>
              <a:srgbClr val="9CCFC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95020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by construction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77240" y="4206240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Entries are unshifted onto the front of the collection. No update or delete path for audit records exists anywhere in the codebase.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48640" y="4956048"/>
            <a:ext cx="11064240" cy="1024128"/>
          </a:xfrm>
          <a:prstGeom prst="roundRect">
            <a:avLst>
              <a:gd name="adj" fmla="val 6250"/>
            </a:avLst>
          </a:prstGeom>
          <a:solidFill>
            <a:srgbClr val="FDF3E3"/>
          </a:solidFill>
          <a:ln w="12700">
            <a:solidFill>
              <a:srgbClr val="E8C88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506577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IMPLEMENTED — immutability is a convention, not a control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22960" y="534009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is enforced by application discipline. Records live in browser localStorage where any user can edit or clear them via developer tools; timestamps are client-generated and ipAddress is hard-coded to 127.0.0.1 (Local). A tamper-evident audit trail requires server-side writes, database-level append-only constraints or WORM storage, and server-issued timestamps.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· CAPABILITY STATUS MATRIX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Implemented vs partial vs planned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600200" cy="274320"/>
          </a:xfrm>
          <a:prstGeom prst="roundRect">
            <a:avLst>
              <a:gd name="adj" fmla="val 16667"/>
            </a:avLst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0" y="1417320"/>
            <a:ext cx="1600200" cy="274320"/>
          </a:xfrm>
          <a:prstGeom prst="roundRect">
            <a:avLst>
              <a:gd name="adj" fmla="val 16667"/>
            </a:avLst>
          </a:prstGeom>
          <a:solidFill>
            <a:srgbClr val="C8871B"/>
          </a:solidFill>
          <a:ln w="12700">
            <a:solidFill>
              <a:srgbClr val="C887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1417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23360" y="1417320"/>
            <a:ext cx="1600200" cy="274320"/>
          </a:xfrm>
          <a:prstGeom prst="roundRect">
            <a:avLst>
              <a:gd name="adj" fmla="val 16667"/>
            </a:avLst>
          </a:prstGeom>
          <a:solidFill>
            <a:srgbClr val="5B6B8C"/>
          </a:solidFill>
          <a:ln w="12700">
            <a:solidFill>
              <a:srgbClr val="5B6B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23360" y="1417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1828800"/>
            <a:ext cx="5120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828800"/>
            <a:ext cx="50292" cy="237744"/>
          </a:xfrm>
          <a:prstGeom prst="rect">
            <a:avLst/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" y="182880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navigation — 9 domains, 47 modules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212080" y="182880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2093976"/>
            <a:ext cx="5120640" cy="237744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093976"/>
            <a:ext cx="50292" cy="237744"/>
          </a:xfrm>
          <a:prstGeom prst="rect">
            <a:avLst/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" y="20939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Asset Registry — 9 asset types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212080" y="2093976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48640" y="2359152"/>
            <a:ext cx="5120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2359152"/>
            <a:ext cx="50292" cy="237744"/>
          </a:xfrm>
          <a:prstGeom prst="rect">
            <a:avLst/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235915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matrix — 5 RACI roles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12080" y="235915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2624328"/>
            <a:ext cx="5120640" cy="237744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24328"/>
            <a:ext cx="50292" cy="237744"/>
          </a:xfrm>
          <a:prstGeom prst="rect">
            <a:avLst/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4944" y="262432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classification + heatmaps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212080" y="2624328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2889504"/>
            <a:ext cx="5120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2889504"/>
            <a:ext cx="50292" cy="237744"/>
          </a:xfrm>
          <a:prstGeom prst="rect">
            <a:avLst/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" y="288950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(6 disciplines) + findings lifecycle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212080" y="288950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3154680"/>
            <a:ext cx="5120640" cy="237744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3154680"/>
            <a:ext cx="50292" cy="237744"/>
          </a:xfrm>
          <a:prstGeom prst="rect">
            <a:avLst/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4944" y="315468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— 10 ODF deliverable types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212080" y="315468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48640" y="3419856"/>
            <a:ext cx="5120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3419856"/>
            <a:ext cx="50292" cy="237744"/>
          </a:xfrm>
          <a:prstGeom prst="rect">
            <a:avLst/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4944" y="341985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governance + readiness scoring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212080" y="3419856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685032"/>
            <a:ext cx="5120640" cy="237744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685032"/>
            <a:ext cx="50292" cy="237744"/>
          </a:xfrm>
          <a:prstGeom prst="rect">
            <a:avLst/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4944" y="368503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blockers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212080" y="368503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3950208"/>
            <a:ext cx="5120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3950208"/>
            <a:ext cx="50292" cy="237744"/>
          </a:xfrm>
          <a:prstGeom prst="rect">
            <a:avLst/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4944" y="395020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— kill switch, override, incidents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212080" y="3950208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48640" y="4215384"/>
            <a:ext cx="5120640" cy="237744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48640" y="4215384"/>
            <a:ext cx="50292" cy="237744"/>
          </a:xfrm>
          <a:prstGeom prst="rect">
            <a:avLst/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" y="421538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governance + 7 auto-detect rules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212080" y="421538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48640" y="4480560"/>
            <a:ext cx="5120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48640" y="4480560"/>
            <a:ext cx="50292" cy="237744"/>
          </a:xfrm>
          <a:prstGeom prst="rect">
            <a:avLst/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94944" y="448056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+ 10-state machine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5212080" y="448056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745736"/>
            <a:ext cx="5120640" cy="237744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745736"/>
            <a:ext cx="50292" cy="237744"/>
          </a:xfrm>
          <a:prstGeom prst="rect">
            <a:avLst/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94944" y="474573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hub — 4 role lenses, board reports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5212080" y="4745736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548640" y="5010912"/>
            <a:ext cx="5120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10912"/>
            <a:ext cx="50292" cy="237744"/>
          </a:xfrm>
          <a:prstGeom prst="rect">
            <a:avLst/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94944" y="50109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client route enforcement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5212080" y="501091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263640" y="1828800"/>
            <a:ext cx="5120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63640" y="1828800"/>
            <a:ext cx="50292" cy="237744"/>
          </a:xfrm>
          <a:prstGeom prst="rect">
            <a:avLst/>
          </a:prstGeom>
          <a:solidFill>
            <a:srgbClr val="C8871B"/>
          </a:solidFill>
          <a:ln w="12700">
            <a:solidFill>
              <a:srgbClr val="C8871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409944" y="182880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server enforcement (fails closed)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10927080" y="182880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8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263640" y="2093976"/>
            <a:ext cx="5120640" cy="237744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263640" y="2093976"/>
            <a:ext cx="50292" cy="237744"/>
          </a:xfrm>
          <a:prstGeom prst="rect">
            <a:avLst/>
          </a:prstGeom>
          <a:solidFill>
            <a:srgbClr val="C8871B"/>
          </a:solidFill>
          <a:ln w="12700">
            <a:solidFill>
              <a:srgbClr val="C8871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09944" y="20939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REST API — 8 endpoints, ~6 of 25 models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10927080" y="2093976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8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6263640" y="2359152"/>
            <a:ext cx="5120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263640" y="2359152"/>
            <a:ext cx="50292" cy="237744"/>
          </a:xfrm>
          <a:prstGeom prst="rect">
            <a:avLst/>
          </a:prstGeom>
          <a:solidFill>
            <a:srgbClr val="C8871B"/>
          </a:solidFill>
          <a:ln w="12700">
            <a:solidFill>
              <a:srgbClr val="C8871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09944" y="235915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persistence — schema live, app unused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10927080" y="235915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8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263640" y="2624328"/>
            <a:ext cx="5120640" cy="237744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263640" y="2624328"/>
            <a:ext cx="50292" cy="237744"/>
          </a:xfrm>
          <a:prstGeom prst="rect">
            <a:avLst/>
          </a:prstGeom>
          <a:solidFill>
            <a:srgbClr val="C8871B"/>
          </a:solidFill>
          <a:ln w="12700">
            <a:solidFill>
              <a:srgbClr val="C8871B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09944" y="262432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immutability — convention, not enforced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10927080" y="2624328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8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6263640" y="2889504"/>
            <a:ext cx="5120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263640" y="2889504"/>
            <a:ext cx="50292" cy="237744"/>
          </a:xfrm>
          <a:prstGeom prst="rect">
            <a:avLst/>
          </a:prstGeom>
          <a:solidFill>
            <a:srgbClr val="C8871B"/>
          </a:solidFill>
          <a:ln w="12700">
            <a:solidFill>
              <a:srgbClr val="C8871B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409944" y="288950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 — computed on read, no scheduler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10927080" y="288950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8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6263640" y="3154680"/>
            <a:ext cx="5120640" cy="237744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263640" y="3154680"/>
            <a:ext cx="50292" cy="237744"/>
          </a:xfrm>
          <a:prstGeom prst="rect">
            <a:avLst/>
          </a:prstGeom>
          <a:solidFill>
            <a:srgbClr val="C8871B"/>
          </a:solidFill>
          <a:ln w="12700">
            <a:solidFill>
              <a:srgbClr val="C8871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409944" y="315468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control library — 10 seeded controls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10927080" y="315468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8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263640" y="3419856"/>
            <a:ext cx="5120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263640" y="3419856"/>
            <a:ext cx="50292" cy="237744"/>
          </a:xfrm>
          <a:prstGeom prst="rect">
            <a:avLst/>
          </a:prstGeom>
          <a:solidFill>
            <a:srgbClr val="5B6B8C"/>
          </a:solidFill>
          <a:ln w="12700">
            <a:solidFill>
              <a:srgbClr val="5B6B8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409944" y="341985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/ SSO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10927080" y="3419856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6263640" y="3685032"/>
            <a:ext cx="5120640" cy="237744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263640" y="3685032"/>
            <a:ext cx="50292" cy="237744"/>
          </a:xfrm>
          <a:prstGeom prst="rect">
            <a:avLst/>
          </a:prstGeom>
          <a:solidFill>
            <a:srgbClr val="5B6B8C"/>
          </a:solidFill>
          <a:ln w="12700">
            <a:solidFill>
              <a:srgbClr val="5B6B8C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409944" y="368503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Multi-tenancy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10927080" y="368503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263640" y="3950208"/>
            <a:ext cx="5120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263640" y="3950208"/>
            <a:ext cx="50292" cy="237744"/>
          </a:xfrm>
          <a:prstGeom prst="rect">
            <a:avLst/>
          </a:prstGeom>
          <a:solidFill>
            <a:srgbClr val="5B6B8C"/>
          </a:solidFill>
          <a:ln w="12700">
            <a:solidFill>
              <a:srgbClr val="5B6B8C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409944" y="395020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Compliance Center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10927080" y="3950208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6263640" y="4215384"/>
            <a:ext cx="5120640" cy="237744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263640" y="4215384"/>
            <a:ext cx="50292" cy="237744"/>
          </a:xfrm>
          <a:prstGeom prst="rect">
            <a:avLst/>
          </a:prstGeom>
          <a:solidFill>
            <a:srgbClr val="5B6B8C"/>
          </a:solidFill>
          <a:ln w="12700">
            <a:solidFill>
              <a:srgbClr val="5B6B8C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409944" y="421538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Control Library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10927080" y="421538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6263640" y="4480560"/>
            <a:ext cx="5120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263640" y="4480560"/>
            <a:ext cx="50292" cy="237744"/>
          </a:xfrm>
          <a:prstGeom prst="rect">
            <a:avLst/>
          </a:prstGeom>
          <a:solidFill>
            <a:srgbClr val="5B6B8C"/>
          </a:solidFill>
          <a:ln w="12700">
            <a:solidFill>
              <a:srgbClr val="5B6B8C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409944" y="448056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Reporting Suite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10927080" y="448056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6263640" y="4745736"/>
            <a:ext cx="5120640" cy="237744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263640" y="4745736"/>
            <a:ext cx="50292" cy="237744"/>
          </a:xfrm>
          <a:prstGeom prst="rect">
            <a:avLst/>
          </a:prstGeom>
          <a:solidFill>
            <a:srgbClr val="5B6B8C"/>
          </a:solidFill>
          <a:ln w="12700">
            <a:solidFill>
              <a:srgbClr val="5B6B8C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6409944" y="474573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/ CI pipeline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10927080" y="4745736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6263640" y="5010912"/>
            <a:ext cx="5120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6263640" y="5010912"/>
            <a:ext cx="50292" cy="237744"/>
          </a:xfrm>
          <a:prstGeom prst="rect">
            <a:avLst/>
          </a:prstGeom>
          <a:solidFill>
            <a:srgbClr val="5B6B8C"/>
          </a:solidFill>
          <a:ln w="12700">
            <a:solidFill>
              <a:srgbClr val="5B6B8C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409944" y="50109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42001 / EU AI Act / NIST / Basel</a:t>
            </a:r>
            <a:endParaRPr lang="en-US" sz="850" dirty="0"/>
          </a:p>
        </p:txBody>
      </p:sp>
      <p:sp>
        <p:nvSpPr>
          <p:cNvPr id="113" name="Text 111"/>
          <p:cNvSpPr/>
          <p:nvPr/>
        </p:nvSpPr>
        <p:spPr>
          <a:xfrm>
            <a:off x="10927080" y="501091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850" dirty="0"/>
          </a:p>
        </p:txBody>
      </p:sp>
      <p:sp>
        <p:nvSpPr>
          <p:cNvPr id="114" name="Text 112"/>
          <p:cNvSpPr/>
          <p:nvPr/>
        </p:nvSpPr>
        <p:spPr>
          <a:xfrm>
            <a:off x="548640" y="5440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implemented  ·  7 partial  ·  7 planned. Nothing appears in this deck that is absent from the codebase inventory.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· COMPARATIVE STRENGTHS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against manual governance baselines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 w="12700">
            <a:solidFill>
              <a:srgbClr val="E8C8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17320"/>
            <a:ext cx="10552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comparison: spreadsheet-based inventories, email approval chains and fragmented ownership tracking. No claim is made against commercial governance products — no evidence exists to support one.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11064240" cy="329184"/>
          </a:xfrm>
          <a:prstGeom prst="rect">
            <a:avLst/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1214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743200" y="212140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baseline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949440" y="2121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OMG implementation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450592"/>
            <a:ext cx="11064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4505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inventory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743200" y="24505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 copies diverge; no canonical list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9440" y="245059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typed registry, 9 asset classes, one schema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2953512"/>
            <a:ext cx="1106424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9535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743200" y="295351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in a column, stale, unvalidated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949440" y="295351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FK roles to User; completeness scored and weighted 25%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3456432"/>
            <a:ext cx="11064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34564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743200" y="34564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threads; decision rationale lost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949440" y="345643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DecisionRecord with owner, justification, checklist, audit entry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959352"/>
            <a:ext cx="1106424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9593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743200" y="39593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Subjective judgement per reviewer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949440" y="395935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5-pillar score with explicit blockers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4462272"/>
            <a:ext cx="11064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46227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breaches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743200" y="446227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during audit, if at all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949440" y="446227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enforcement rules evaluated continuously from live state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4965192"/>
            <a:ext cx="1106424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49651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control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743200" y="49651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Re-approval depends on memory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49440" y="496519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scored, magnitude resolved, approvers routed automatically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5468112"/>
            <a:ext cx="11064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232" y="54681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evidence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2743200" y="546811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Assembled retrospectively over weeks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49440" y="546811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trail across 21 entity types; reports generated on demand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8640" y="614476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right-hand claim maps to a named function, type or model in the inventory. Left-hand column describes common manual practice, not any named product.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· TECHNICAL DEBT ANALYSIS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items, ranked by consequence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996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9961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24128" y="14173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and backend not integrated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0" y="1417320"/>
            <a:ext cx="6492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api.ts never imported; all state in 26 localStorage keys. Data is per-browser and unshared.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11064240" cy="420624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9568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5681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24128" y="18745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authentication anywhere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0" y="1874520"/>
            <a:ext cx="6492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password field in the codebase; RolesGuard trusts a client-supplied header.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2331720"/>
            <a:ext cx="110642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4140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41401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24128" y="23317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immutability unenforced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0" y="2331720"/>
            <a:ext cx="6492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by convention; localStorage is user-editable, timestamps client-generated.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2788920"/>
            <a:ext cx="11064240" cy="420624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28712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C8871B"/>
          </a:solidFill>
          <a:ln w="12700">
            <a:solidFill>
              <a:srgbClr val="C887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87121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24128" y="27889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covers ~6 of 25 models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29200" y="2788920"/>
            <a:ext cx="6492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write path for assets, decisions, policy or change.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3246120"/>
            <a:ext cx="110642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33284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C8871B"/>
          </a:solidFill>
          <a:ln w="12700">
            <a:solidFill>
              <a:srgbClr val="C8871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32841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24128" y="32461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secondary database indexes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0" y="3246120"/>
            <a:ext cx="6492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relations, no @@index. Foreign-key lookups will table-scan at volume.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" y="3703320"/>
            <a:ext cx="11064240" cy="420624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37856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C8871B"/>
          </a:solidFill>
          <a:ln w="12700">
            <a:solidFill>
              <a:srgbClr val="C8871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378561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24128" y="37033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tests, no CI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3703320"/>
            <a:ext cx="6492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 runner, no spec files, no pipeline, no Dockerfile or IaC.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4160520"/>
            <a:ext cx="110642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42428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C8871B"/>
          </a:solidFill>
          <a:ln w="12700">
            <a:solidFill>
              <a:srgbClr val="C8871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424281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24128" y="41605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772 KB single JS chunk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029200" y="4160520"/>
            <a:ext cx="6492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splitting or lazy routes; build warns above the 500 KB threshold.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8640" y="4617720"/>
            <a:ext cx="11064240" cy="420624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47000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5B6B8C"/>
          </a:solidFill>
          <a:ln w="12700">
            <a:solidFill>
              <a:srgbClr val="5B6B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470001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24128" y="46177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code — 443 lines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029200" y="4617720"/>
            <a:ext cx="6492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DecisionGovernancePage (222), App.css (184, Vite starter), api.ts (37).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48640" y="5074920"/>
            <a:ext cx="110642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0080" y="51572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5B6B8C"/>
          </a:solidFill>
          <a:ln w="12700">
            <a:solidFill>
              <a:srgbClr val="5B6B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515721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024128" y="50749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localStorage migration strategy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029200" y="5074920"/>
            <a:ext cx="6492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are version-suffixed v7/v9/v10; older payloads are silently ignored.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48640" y="5532120"/>
            <a:ext cx="11064240" cy="420624"/>
          </a:xfrm>
          <a:prstGeom prst="rect">
            <a:avLst/>
          </a:prstGeom>
          <a:solidFill>
            <a:srgbClr val="F4F7FA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0080" y="56144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5B6B8C"/>
          </a:solidFill>
          <a:ln w="12700">
            <a:solidFill>
              <a:srgbClr val="5B6B8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080" y="561441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1024128" y="55321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data compiled into the bundle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029200" y="5532120"/>
            <a:ext cx="6492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~1,490 lines of demo fixtures ship to every client.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high  ·  M = medium  ·  L = low.   Resolved this cycle: RolesGuard fail-open, unscoped endpoints, open CORS, stale version string.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· SCALABILITY ANALYSIS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ceiling is demonstration volume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676656"/>
          </a:xfrm>
          <a:prstGeom prst="roundRect">
            <a:avLst>
              <a:gd name="adj" fmla="val 9459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4721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651760" y="148132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localStorage, ~5–10 MB per origin, synchronous, single-device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406640" y="148132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ceiling in the low thousands of records; no concurrency, no sharing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2167128"/>
            <a:ext cx="11064240" cy="676656"/>
          </a:xfrm>
          <a:prstGeom prst="roundRect">
            <a:avLst>
              <a:gd name="adj" fmla="val 9459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2219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computation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651760" y="22311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getGovernanceMetrics() calls 3 scorers per asset; each re-reads and re-parses full collections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406640" y="223113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O(N × M) with repeated JSON.parse — recomputed on every page mount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916936"/>
            <a:ext cx="11064240" cy="676656"/>
          </a:xfrm>
          <a:prstGeom prst="roundRect">
            <a:avLst>
              <a:gd name="adj" fmla="val 9459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access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651760" y="298094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findMany() with no take or cursor except audit-logs (take: 50)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406640" y="298094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Unbounded result sets once tables grow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666744"/>
            <a:ext cx="11064240" cy="676656"/>
          </a:xfrm>
          <a:prstGeom prst="roundRect">
            <a:avLst>
              <a:gd name="adj" fmla="val 9459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721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51760" y="373075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secondary indexes across 25 models and 34 relations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406640" y="37307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lookups degrade to sequential scans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4416552"/>
            <a:ext cx="11064240" cy="676656"/>
          </a:xfrm>
          <a:prstGeom prst="roundRect">
            <a:avLst>
              <a:gd name="adj" fmla="val 9459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44714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bundle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651760" y="4480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772 KB JS in a single chunk, no route-level code splitting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406640" y="44805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first paint on constrained networks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5166360"/>
            <a:ext cx="11064240" cy="676656"/>
          </a:xfrm>
          <a:prstGeom prst="roundRect">
            <a:avLst>
              <a:gd name="adj" fmla="val 9459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9808" y="52212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651760" y="52303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2E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 serverless Postgres scales; Render free tier cold-starts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406640" y="523036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i="1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is not the near-term constraint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870448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22303C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58704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capacity today: single-user demonstration and pilot review at tens of assets. Nothing above is a design flaw — it is the consequence of the client-only architecture.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+ 20 · PRODUCTION READINESS AND RECOMMENDED SEQUENCE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Feature-complete product; not a deployable system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BY DIMENSION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68249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completeness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063240" y="1783080"/>
            <a:ext cx="2377440" cy="137160"/>
          </a:xfrm>
          <a:prstGeom prst="rect">
            <a:avLst/>
          </a:prstGeom>
          <a:solidFill>
            <a:srgbClr val="3A4A58"/>
          </a:solidFill>
          <a:ln w="12700">
            <a:solidFill>
              <a:srgbClr val="3A4A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063240" y="1783080"/>
            <a:ext cx="2187245" cy="137160"/>
          </a:xfrm>
          <a:prstGeom prst="rect">
            <a:avLst/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32120" y="168249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208483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model quality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063240" y="2185416"/>
            <a:ext cx="2377440" cy="137160"/>
          </a:xfrm>
          <a:prstGeom prst="rect">
            <a:avLst/>
          </a:prstGeom>
          <a:solidFill>
            <a:srgbClr val="3A4A58"/>
          </a:solidFill>
          <a:ln w="12700">
            <a:solidFill>
              <a:srgbClr val="3A4A5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63240" y="2185416"/>
            <a:ext cx="2092147" cy="137160"/>
          </a:xfrm>
          <a:prstGeom prst="rect">
            <a:avLst/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208483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48716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and accessibility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063240" y="2587752"/>
            <a:ext cx="2377440" cy="137160"/>
          </a:xfrm>
          <a:prstGeom prst="rect">
            <a:avLst/>
          </a:prstGeom>
          <a:solidFill>
            <a:srgbClr val="3A4A58"/>
          </a:solidFill>
          <a:ln w="12700">
            <a:solidFill>
              <a:srgbClr val="3A4A5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63240" y="2587752"/>
            <a:ext cx="1949501" cy="137160"/>
          </a:xfrm>
          <a:prstGeom prst="rect">
            <a:avLst/>
          </a:prstGeom>
          <a:solidFill>
            <a:srgbClr val="2E7D64"/>
          </a:solidFill>
          <a:ln w="12700">
            <a:solidFill>
              <a:srgbClr val="2E7D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32120" y="24871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288950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Authorisation design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063240" y="2990088"/>
            <a:ext cx="2377440" cy="137160"/>
          </a:xfrm>
          <a:prstGeom prst="rect">
            <a:avLst/>
          </a:prstGeom>
          <a:solidFill>
            <a:srgbClr val="3A4A58"/>
          </a:solidFill>
          <a:ln w="12700">
            <a:solidFill>
              <a:srgbClr val="3A4A5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63240" y="2990088"/>
            <a:ext cx="1664208" cy="137160"/>
          </a:xfrm>
          <a:prstGeom prst="rect">
            <a:avLst/>
          </a:prstGeom>
          <a:solidFill>
            <a:srgbClr val="C8871B"/>
          </a:solidFill>
          <a:ln w="12700">
            <a:solidFill>
              <a:srgbClr val="C88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32120" y="288950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8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329184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architecture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063240" y="3392424"/>
            <a:ext cx="2377440" cy="137160"/>
          </a:xfrm>
          <a:prstGeom prst="rect">
            <a:avLst/>
          </a:prstGeom>
          <a:solidFill>
            <a:srgbClr val="3A4A58"/>
          </a:solidFill>
          <a:ln w="12700">
            <a:solidFill>
              <a:srgbClr val="3A4A5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63240" y="3392424"/>
            <a:ext cx="1069848" cy="137160"/>
          </a:xfrm>
          <a:prstGeom prst="rect">
            <a:avLst/>
          </a:prstGeom>
          <a:solidFill>
            <a:srgbClr val="C8871B"/>
          </a:solidFill>
          <a:ln w="12700">
            <a:solidFill>
              <a:srgbClr val="C887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329184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8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8640" y="369417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posture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063240" y="3794760"/>
            <a:ext cx="2377440" cy="137160"/>
          </a:xfrm>
          <a:prstGeom prst="rect">
            <a:avLst/>
          </a:prstGeom>
          <a:solidFill>
            <a:srgbClr val="3A4A58"/>
          </a:solidFill>
          <a:ln w="12700">
            <a:solidFill>
              <a:srgbClr val="3A4A5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63240" y="3794760"/>
            <a:ext cx="713232" cy="1371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32120" y="369417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09651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readiness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063240" y="4197096"/>
            <a:ext cx="2377440" cy="137160"/>
          </a:xfrm>
          <a:prstGeom prst="rect">
            <a:avLst/>
          </a:prstGeom>
          <a:solidFill>
            <a:srgbClr val="3A4A58"/>
          </a:solidFill>
          <a:ln w="12700">
            <a:solidFill>
              <a:srgbClr val="3A4A5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63240" y="4197096"/>
            <a:ext cx="475488" cy="1371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32120" y="409651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48640" y="449884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and CI maturity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063240" y="4599432"/>
            <a:ext cx="2377440" cy="137160"/>
          </a:xfrm>
          <a:prstGeom prst="rect">
            <a:avLst/>
          </a:prstGeom>
          <a:solidFill>
            <a:srgbClr val="3A4A58"/>
          </a:solidFill>
          <a:ln w="12700">
            <a:solidFill>
              <a:srgbClr val="3A4A5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32120" y="449884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00800" y="13716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SEQUENCE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400800" y="1682496"/>
            <a:ext cx="5212080" cy="548640"/>
          </a:xfrm>
          <a:prstGeom prst="roundRect">
            <a:avLst>
              <a:gd name="adj" fmla="val 8333"/>
            </a:avLst>
          </a:prstGeom>
          <a:solidFill>
            <a:srgbClr val="18222B"/>
          </a:solidFill>
          <a:ln w="12700">
            <a:solidFill>
              <a:srgbClr val="3A4A5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37960" y="1755648"/>
            <a:ext cx="384048" cy="237744"/>
          </a:xfrm>
          <a:prstGeom prst="roundRect">
            <a:avLst>
              <a:gd name="adj" fmla="val 19231"/>
            </a:avLst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37960" y="17556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022592" y="172821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and server-side identity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022592" y="19476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verification issuing a signed session/JWT; resolve role server-side from the user record. Closes the RolesGuard residual.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400800" y="2304288"/>
            <a:ext cx="5212080" cy="548640"/>
          </a:xfrm>
          <a:prstGeom prst="roundRect">
            <a:avLst>
              <a:gd name="adj" fmla="val 8333"/>
            </a:avLst>
          </a:prstGeom>
          <a:solidFill>
            <a:srgbClr val="18222B"/>
          </a:solidFill>
          <a:ln w="12700">
            <a:solidFill>
              <a:srgbClr val="3A4A5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537960" y="2377440"/>
            <a:ext cx="384048" cy="237744"/>
          </a:xfrm>
          <a:prstGeom prst="roundRect">
            <a:avLst>
              <a:gd name="adj" fmla="val 19231"/>
            </a:avLst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37960" y="237744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022592" y="235000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persistence to Prisma/Neon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022592" y="256946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REST surface across the remaining 19 models and replace localStorage with API calls. Unlocks multi-user, sharing and durability.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400800" y="2926080"/>
            <a:ext cx="5212080" cy="548640"/>
          </a:xfrm>
          <a:prstGeom prst="roundRect">
            <a:avLst>
              <a:gd name="adj" fmla="val 8333"/>
            </a:avLst>
          </a:prstGeom>
          <a:solidFill>
            <a:srgbClr val="18222B"/>
          </a:solidFill>
          <a:ln w="12700">
            <a:solidFill>
              <a:srgbClr val="3A4A5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37960" y="2999232"/>
            <a:ext cx="384048" cy="237744"/>
          </a:xfrm>
          <a:prstGeom prst="roundRect">
            <a:avLst>
              <a:gd name="adj" fmla="val 19231"/>
            </a:avLst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37960" y="2999232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022592" y="297180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audit writes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022592" y="319125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Server-issued timestamps, real client IP, append-only enforcement at the database. Makes the trail defensible.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6400800" y="3547872"/>
            <a:ext cx="5212080" cy="548640"/>
          </a:xfrm>
          <a:prstGeom prst="roundRect">
            <a:avLst>
              <a:gd name="adj" fmla="val 8333"/>
            </a:avLst>
          </a:prstGeom>
          <a:solidFill>
            <a:srgbClr val="18222B"/>
          </a:solidFill>
          <a:ln w="12700">
            <a:solidFill>
              <a:srgbClr val="3A4A5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537960" y="3621024"/>
            <a:ext cx="384048" cy="237744"/>
          </a:xfrm>
          <a:prstGeom prst="roundRect">
            <a:avLst>
              <a:gd name="adj" fmla="val 19231"/>
            </a:avLst>
          </a:prstGeom>
          <a:solidFill>
            <a:srgbClr val="C8871B"/>
          </a:solidFill>
          <a:ln w="12700">
            <a:solidFill>
              <a:srgbClr val="C8871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37960" y="3621024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022592" y="359359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database indexes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7022592" y="38130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every foreign key and the common filter columns before any volume load.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6400800" y="4169664"/>
            <a:ext cx="5212080" cy="548640"/>
          </a:xfrm>
          <a:prstGeom prst="roundRect">
            <a:avLst>
              <a:gd name="adj" fmla="val 8333"/>
            </a:avLst>
          </a:prstGeom>
          <a:solidFill>
            <a:srgbClr val="18222B"/>
          </a:solidFill>
          <a:ln w="12700">
            <a:solidFill>
              <a:srgbClr val="3A4A5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537960" y="4242816"/>
            <a:ext cx="384048" cy="237744"/>
          </a:xfrm>
          <a:prstGeom prst="roundRect">
            <a:avLst>
              <a:gd name="adj" fmla="val 19231"/>
            </a:avLst>
          </a:prstGeom>
          <a:solidFill>
            <a:srgbClr val="C8871B"/>
          </a:solidFill>
          <a:ln w="12700">
            <a:solidFill>
              <a:srgbClr val="C8871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4242816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022592" y="421538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 and CI pipeline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022592" y="443484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on the scoring and rules engines first — they encode the governance logic.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6400800" y="4791456"/>
            <a:ext cx="5212080" cy="548640"/>
          </a:xfrm>
          <a:prstGeom prst="roundRect">
            <a:avLst>
              <a:gd name="adj" fmla="val 8333"/>
            </a:avLst>
          </a:prstGeom>
          <a:solidFill>
            <a:srgbClr val="18222B"/>
          </a:solidFill>
          <a:ln w="12700">
            <a:solidFill>
              <a:srgbClr val="3A4A5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537960" y="4864608"/>
            <a:ext cx="384048" cy="237744"/>
          </a:xfrm>
          <a:prstGeom prst="roundRect">
            <a:avLst>
              <a:gd name="adj" fmla="val 19231"/>
            </a:avLst>
          </a:prstGeom>
          <a:solidFill>
            <a:srgbClr val="5B6B8C"/>
          </a:solidFill>
          <a:ln w="12700">
            <a:solidFill>
              <a:srgbClr val="5B6B8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37960" y="486460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22592" y="48371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Route-level code splitting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7022592" y="505663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Lazy-load domains to cut the 772 KB entry chunk.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400800" y="5413248"/>
            <a:ext cx="5212080" cy="548640"/>
          </a:xfrm>
          <a:prstGeom prst="roundRect">
            <a:avLst>
              <a:gd name="adj" fmla="val 8333"/>
            </a:avLst>
          </a:prstGeom>
          <a:solidFill>
            <a:srgbClr val="18222B"/>
          </a:solidFill>
          <a:ln w="12700">
            <a:solidFill>
              <a:srgbClr val="3A4A5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537960" y="5486400"/>
            <a:ext cx="384048" cy="237744"/>
          </a:xfrm>
          <a:prstGeom prst="roundRect">
            <a:avLst>
              <a:gd name="adj" fmla="val 19231"/>
            </a:avLst>
          </a:prstGeom>
          <a:solidFill>
            <a:srgbClr val="5B6B8C"/>
          </a:solidFill>
          <a:ln w="12700">
            <a:solidFill>
              <a:srgbClr val="5B6B8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537960" y="548640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7022592" y="545896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dead code, externalise seed data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7022592" y="567842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443 dead lines; move fixtures out of the shipped bundle.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548640" y="502920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18222B"/>
          </a:solidFill>
          <a:ln w="12700">
            <a:solidFill>
              <a:srgbClr val="1F8A82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77240" y="512064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 for the CTO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777240" y="5376672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 domain — the hard, opinionated part — is built and coherent. What remains is conventional platform engineering: identity, persistence and operational hardening.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548640" y="61447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8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Every AI.  ·  Control Every Decision.  ·  Prove Every Outcome.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OrchestrAI OMG — Technical Architecture Briefing</dc:title>
  <dc:subject>PptxGenJS Presentation</dc:subject>
  <dc:creator>OrchestrAI</dc:creator>
  <cp:lastModifiedBy>OrchestrAI</cp:lastModifiedBy>
  <cp:revision>1</cp:revision>
  <dcterms:created xsi:type="dcterms:W3CDTF">2026-08-10T07:20:38Z</dcterms:created>
  <dcterms:modified xsi:type="dcterms:W3CDTF">2026-08-10T07:20:38Z</dcterms:modified>
</cp:coreProperties>
</file>