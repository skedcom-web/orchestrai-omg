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0000" cy="6858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5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1334A"/>
                </a:solidFill>
                <a:latin typeface="Arial"/>
              </a:rPr>
              <a:t>TECHNICAL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0000"/>
            <a:ext cx="900000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 i="0">
                <a:solidFill>
                  <a:srgbClr val="FFFFFF"/>
                </a:solidFill>
                <a:latin typeface="Arial"/>
              </a:rPr>
              <a:t>OrchestrAI OMG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50000"/>
            <a:ext cx="900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D9D9D9"/>
                </a:solidFill>
                <a:latin typeface="Arial"/>
              </a:rPr>
              <a:t>Enterprise AI Governance Operating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50000"/>
            <a:ext cx="720000" cy="6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50000"/>
            <a:ext cx="92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D9D9D9"/>
                </a:solidFill>
                <a:latin typeface="Arial"/>
              </a:rPr>
              <a:t>Source of truth: codebase. Every figure in this deck is traceable to a file, and capability that is incomplete is labelled as such.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0000"/>
            <a:ext cx="8800000" cy="55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1520" y="4750000"/>
            <a:ext cx="82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D9D9D9"/>
                </a:solidFill>
                <a:latin typeface="Arial"/>
              </a:rPr>
              <a:t>Audience:  CTO  ·  Enterprise &amp; Solution Architects  ·  Governance Architects  ·  Engineering Leaders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50000"/>
            <a:ext cx="92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1334A"/>
                </a:solidFill>
                <a:latin typeface="Arial"/>
              </a:rPr>
              <a:t>62 pages  ·  244 service functions  ·  44 data models  ·  85 API endpoints  ·  7 roles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A governance system of record for enterprise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OMG registers every AI asset, assigns ownership, classifies risk, runs validation, captures evidence, records formal decisions, reasons over governance state, and writes an audit trail.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0000"/>
            <a:ext cx="1072896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520" y="2650000"/>
            <a:ext cx="1002896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Architecturally: a config-driven React SPA with a derivation-layered domain engine, backed since Release 4 by a genuinely server-persisted NestJS + Prisma + Neon API — Repository Pattern, cache-then-network.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WHAT THE APPLICATION CONTAINS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50000"/>
            <a:ext cx="1735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0000"/>
            <a:ext cx="1735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1334A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20000"/>
            <a:ext cx="1735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6520" y="4050000"/>
            <a:ext cx="1735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6520" y="4200000"/>
            <a:ext cx="1735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1334A"/>
                </a:solidFill>
                <a:latin typeface="Arial"/>
              </a:rPr>
              <a:t>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6520" y="4720000"/>
            <a:ext cx="1735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1520" y="4050000"/>
            <a:ext cx="1735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1520" y="4200000"/>
            <a:ext cx="1735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1334A"/>
                </a:solidFill>
                <a:latin typeface="Arial"/>
              </a:rPr>
              <a:t>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1520" y="4720000"/>
            <a:ext cx="1735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520" y="4050000"/>
            <a:ext cx="1735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520" y="4200000"/>
            <a:ext cx="1735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1334A"/>
                </a:solidFill>
                <a:latin typeface="Arial"/>
              </a:rPr>
              <a:t>244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520" y="4720000"/>
            <a:ext cx="1735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functions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1520" y="4050000"/>
            <a:ext cx="1735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1520" y="4200000"/>
            <a:ext cx="1735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1334A"/>
                </a:solidFill>
                <a:latin typeface="Arial"/>
              </a:rPr>
              <a:t>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1520" y="4720000"/>
            <a:ext cx="1735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6520" y="4050000"/>
            <a:ext cx="1735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6520" y="4200000"/>
            <a:ext cx="1735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1334A"/>
                </a:solidFill>
                <a:latin typeface="Arial"/>
              </a:rPr>
              <a:t>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6520" y="4720000"/>
            <a:ext cx="1735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Frontend : backend ≈ 39 : 1 by line count — see Codebase Scale for the breakdown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Where the code actually lives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10728960" cy="4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520" y="2350000"/>
            <a:ext cx="42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frontend/src/pages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1520" y="235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62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1520" y="235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17,419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40000"/>
            <a:ext cx="10728960" cy="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1520" y="2840000"/>
            <a:ext cx="42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frontend/src/services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1520" y="284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10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1520" y="284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8,804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0000"/>
            <a:ext cx="10728960" cy="4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1520" y="3330000"/>
            <a:ext cx="42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frontend/src/repositories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1520" y="333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8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520" y="333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2,050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20000"/>
            <a:ext cx="10728960" cy="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1520" y="3820000"/>
            <a:ext cx="42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frontend/src/components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1520" y="382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35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520" y="382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4,179 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10000"/>
            <a:ext cx="10728960" cy="4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1520" y="4310000"/>
            <a:ext cx="42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frontend/src/config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1520" y="431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11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520" y="431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2,758 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000"/>
            <a:ext cx="10728960" cy="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1520" y="4800000"/>
            <a:ext cx="42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1334A"/>
                </a:solidFill>
                <a:latin typeface="Arial"/>
              </a:rPr>
              <a:t>backend/prisma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520" y="480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1 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520" y="480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1,345 lines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90000"/>
            <a:ext cx="10728960" cy="4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1520" y="5290000"/>
            <a:ext cx="42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1334A"/>
                </a:solidFill>
                <a:latin typeface="Arial"/>
              </a:rPr>
              <a:t>backend/src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31520" y="529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6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520" y="5290000"/>
            <a:ext cx="2500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946 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30000"/>
            <a:ext cx="1072896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Frontend : backend ≈ 39 : 1 — the governance domain logic lives in the client; the API is a thin, hardened surface.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Nearly every domain is joined — one exception remains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5100000" cy="3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520" y="2530000"/>
            <a:ext cx="4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1334A"/>
                </a:solidFill>
                <a:latin typeface="Arial"/>
              </a:rPr>
              <a:t>BROWSER TIER — presentation +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1520" y="2950000"/>
            <a:ext cx="4500000" cy="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520" y="3060000"/>
            <a:ext cx="4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React 19 SPA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520" y="3370000"/>
            <a:ext cx="4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62 pages · 35 components · 3 contexts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1520" y="3750000"/>
            <a:ext cx="4500000" cy="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1520" y="3860000"/>
            <a:ext cx="4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Repository 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1520" y="4170000"/>
            <a:ext cx="4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20 factories — Api-first since Release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1520" y="4550000"/>
            <a:ext cx="4500000" cy="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520" y="4660000"/>
            <a:ext cx="4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localStorage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1520" y="4970000"/>
            <a:ext cx="4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38 keys — cache + fallback, not the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880" y="2350000"/>
            <a:ext cx="5100000" cy="30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2880" y="2530000"/>
            <a:ext cx="4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BAD48"/>
                </a:solidFill>
                <a:latin typeface="Arial"/>
              </a:rPr>
              <a:t>SERVER TIER — live system of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2880" y="2950000"/>
            <a:ext cx="4500000" cy="70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2880" y="3060000"/>
            <a:ext cx="4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NestJS 11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880" y="3370000"/>
            <a:ext cx="4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1 controller · 85 endpoints · 785 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2880" y="3750000"/>
            <a:ext cx="4500000" cy="70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2880" y="3860000"/>
            <a:ext cx="4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Prisma 6.19 + Neon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880" y="4170000"/>
            <a:ext cx="4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44 models · 42 enums · 51 relations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2880" y="4550000"/>
            <a:ext cx="4500000" cy="70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2880" y="4660000"/>
            <a:ext cx="4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RolesGuard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880" y="4970000"/>
            <a:ext cx="4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fails closed · role claim unverified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00000"/>
            <a:ext cx="10728960" cy="900000"/>
          </a:xfrm>
          <a:prstGeom prst="roundRect">
            <a:avLst>
              <a:gd name="adj" fmla="val 7000"/>
            </a:avLst>
          </a:prstGeom>
          <a:solidFill>
            <a:srgbClr val="FE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520" y="5700000"/>
            <a:ext cx="101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1334A"/>
                </a:solidFill>
                <a:latin typeface="Arial"/>
              </a:rPr>
              <a:t>Central architectural finding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520" y="5980000"/>
            <a:ext cx="1012896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1F1F"/>
                </a:solidFill>
                <a:latin typeface="Arial"/>
              </a:rPr>
              <a:t>Every domain from Release 4 onward reads and writes live to Neon via the Repository Pattern. The one exception: the audit log itself is still written client-side only, to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FRONTEND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Deliberately small dependency surface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510000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520" y="2350000"/>
            <a:ext cx="14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1520" y="2350000"/>
            <a:ext cx="7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19.2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1520" y="2350000"/>
            <a:ext cx="25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UI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70000"/>
            <a:ext cx="5100000" cy="4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520" y="2870000"/>
            <a:ext cx="14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1520" y="2870000"/>
            <a:ext cx="7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6.0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1520" y="2870000"/>
            <a:ext cx="25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Strict typing across 1,718 lines of domain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90000"/>
            <a:ext cx="510000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520" y="3390000"/>
            <a:ext cx="14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520" y="3390000"/>
            <a:ext cx="7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8.2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1520" y="3390000"/>
            <a:ext cx="25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Build and dev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10000"/>
            <a:ext cx="5100000" cy="4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520" y="3910000"/>
            <a:ext cx="14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React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520" y="3910000"/>
            <a:ext cx="7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7.18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1520" y="3910000"/>
            <a:ext cx="25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Client-side routing, 59 governed routes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0000"/>
            <a:ext cx="510000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520" y="4430000"/>
            <a:ext cx="14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Tailwind 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1520" y="4430000"/>
            <a:ext cx="7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4.3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1520" y="4430000"/>
            <a:ext cx="25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Utility styling via @tailwindcss/vite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50000"/>
            <a:ext cx="5100000" cy="7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520" y="5050000"/>
            <a:ext cx="4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9D9D9"/>
                </a:solidFill>
                <a:latin typeface="Arial"/>
              </a:rPr>
              <a:t>Only 3 runtime dependencies: react, react-dom, react-router-dom. No state library, no UI kit.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880" y="235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B0B0B0"/>
                </a:solidFill>
                <a:latin typeface="Arial"/>
              </a:rPr>
              <a:t>ARCHITECTURAL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62880" y="2700000"/>
            <a:ext cx="5100000" cy="7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2880" y="281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Repository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2880" y="3120000"/>
            <a:ext cx="46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4A4A"/>
                </a:solidFill>
                <a:latin typeface="Arial"/>
              </a:rPr>
              <a:t>Api + Local behind one interface — Api-first since Release 6.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62880" y="3580000"/>
            <a:ext cx="5100000" cy="7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2880" y="369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Cache-then-network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2880" y="4000000"/>
            <a:ext cx="46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4A4A"/>
                </a:solidFill>
                <a:latin typeface="Arial"/>
              </a:rPr>
              <a:t>Reads are synchronous; writes persist, then reconcile.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62880" y="4460000"/>
            <a:ext cx="5100000" cy="7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2880" y="457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Layered domain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2880" y="4880000"/>
            <a:ext cx="46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4A4A"/>
                </a:solidFill>
                <a:latin typeface="Arial"/>
              </a:rPr>
              <a:t>storageService → reasoning engines → executiveGovernance.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62880" y="5340000"/>
            <a:ext cx="5100000" cy="7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2880" y="545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Token-based design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2880" y="5760000"/>
            <a:ext cx="46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4A4A"/>
                </a:solidFill>
                <a:latin typeface="Arial"/>
              </a:rPr>
              <a:t>Themes driven entirely by CSS custom properties.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BACKEND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A single controller, grown to 85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5100000" cy="5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520" y="2350000"/>
            <a:ext cx="15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NestJS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1520" y="2350000"/>
            <a:ext cx="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11.0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1520" y="2350000"/>
            <a:ext cx="23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A4A4A"/>
                </a:solidFill>
                <a:latin typeface="Arial"/>
              </a:rPr>
              <a:t>HTTP framework, DI container, guards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00000"/>
            <a:ext cx="5100000" cy="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520" y="2900000"/>
            <a:ext cx="15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Prisma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1520" y="2900000"/>
            <a:ext cx="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6.19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1520" y="2900000"/>
            <a:ext cx="23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A4A4A"/>
                </a:solidFill>
                <a:latin typeface="Arial"/>
              </a:rPr>
              <a:t>Type-safe data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50000"/>
            <a:ext cx="5100000" cy="5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520" y="3450000"/>
            <a:ext cx="15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1520" y="3450000"/>
            <a:ext cx="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Neon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520" y="3450000"/>
            <a:ext cx="23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A4A4A"/>
                </a:solidFill>
                <a:latin typeface="Arial"/>
              </a:rPr>
              <a:t>Serverless Postgres, us-east-2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5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B0B0B0"/>
                </a:solidFill>
                <a:latin typeface="Arial"/>
              </a:rPr>
              <a:t>ENTIRE BACKEND — 6 FILES, 946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00000"/>
            <a:ext cx="5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▪  main.ts — bootstrap, CORS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000"/>
            <a:ext cx="5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▪  app.controller.ts — 85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00000"/>
            <a:ext cx="5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▪  auth/roles.guard.ts — 90 ln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00000"/>
            <a:ext cx="51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▪  prisma.service.ts — lifecycle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62880" y="2350000"/>
            <a:ext cx="5100000" cy="13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2880" y="250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B0B0B0"/>
                </a:solidFill>
                <a:latin typeface="Arial"/>
              </a:rPr>
              <a:t>API DOMAIN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2880" y="2870000"/>
            <a:ext cx="4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1F1F"/>
                </a:solidFill>
                <a:latin typeface="Arial"/>
              </a:rPr>
              <a:t>Assets · Evidence · Compliance · Regulatory Knowledge · Governance Intelligence · Actions · Studio — full CRUD.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62880" y="3800000"/>
            <a:ext cx="5100000" cy="900000"/>
          </a:xfrm>
          <a:prstGeom prst="roundRect">
            <a:avLst>
              <a:gd name="adj" fmla="val 7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2880" y="3930000"/>
            <a:ext cx="460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926C05"/>
                </a:solidFill>
                <a:latin typeface="Arial"/>
              </a:rPr>
              <a:t>STILL LOCAL-ONLY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2880" y="4180000"/>
            <a:ext cx="46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1F1F1F"/>
                </a:solidFill>
                <a:latin typeface="Arial"/>
              </a:rPr>
              <a:t>~18 of 44 models — RiskAssessment, ValidationRecord, DecisionRecord, Phase 9/10 Policy and Change, Operations.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62880" y="4850000"/>
            <a:ext cx="5100000" cy="12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2880" y="498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BAD48"/>
                </a:solidFill>
                <a:latin typeface="Arial"/>
              </a:rPr>
              <a:t>Security hardening, Releases 4-10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2880" y="5300000"/>
            <a:ext cx="4600000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D9D9D9"/>
                </a:solidFill>
                <a:latin typeface="Arial"/>
              </a:rPr>
              <a:t>RolesGuard fails closed, validates against the Prisma enum, no super-user bypass. Residual: the role claim is a header, not cryptographically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44 models across ten releases of governance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2531520" cy="12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00000"/>
            <a:ext cx="253152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1F1F1F"/>
                </a:solidFill>
                <a:latin typeface="Arial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80000"/>
            <a:ext cx="25315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3040" y="2350000"/>
            <a:ext cx="2531520" cy="12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3040" y="2500000"/>
            <a:ext cx="253152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1F1F1F"/>
                </a:solidFill>
                <a:latin typeface="Arial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3040" y="3080000"/>
            <a:ext cx="25315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enums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4560" y="2350000"/>
            <a:ext cx="2531520" cy="12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4560" y="2500000"/>
            <a:ext cx="253152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1F1F1F"/>
                </a:solidFill>
                <a:latin typeface="Arial"/>
              </a:rP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4560" y="3080000"/>
            <a:ext cx="25315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relations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6080" y="2350000"/>
            <a:ext cx="2531520" cy="1250000"/>
          </a:xfrm>
          <a:prstGeom prst="roundRect">
            <a:avLst>
              <a:gd name="adj" fmla="val 7000"/>
            </a:avLst>
          </a:prstGeom>
          <a:solidFill>
            <a:srgbClr val="FE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6080" y="2500000"/>
            <a:ext cx="253152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1334A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6080" y="3080000"/>
            <a:ext cx="25315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secondary indexes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00000"/>
            <a:ext cx="10728960" cy="15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1520" y="4080000"/>
            <a:ext cx="1002896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1334A"/>
                </a:solidFill>
                <a:latin typeface="Arial"/>
              </a:rPr>
              <a:t>AIAsset is still the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520" y="4480000"/>
            <a:ext cx="100289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9D9D9"/>
                </a:solidFill>
                <a:latin typeface="Arial"/>
              </a:rPr>
              <a:t>15+ child relations cascade on delete. Every governance artefact hangs off the asset — now including Conditions, Outcomes and Recommended Actions from Release 7-10.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backend/prisma/schema.prisma (1,345 lines). Schema pushed and verified in sync with Neon after every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Twelve domain clusters, five vintages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50000"/>
            <a:ext cx="60000" cy="90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1520" y="255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Identity &amp;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520" y="292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3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840" y="235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840" y="2350000"/>
            <a:ext cx="60000" cy="90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7840" y="255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840" y="292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5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160" y="235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4160" y="2350000"/>
            <a:ext cx="60000" cy="90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4160" y="255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4160" y="292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1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0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500000"/>
            <a:ext cx="60000" cy="90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520" y="370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520" y="407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7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840" y="350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840" y="3500000"/>
            <a:ext cx="60000" cy="90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7840" y="370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Policy (Ph 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840" y="407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3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4160" y="350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4160" y="3500000"/>
            <a:ext cx="60000" cy="90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4160" y="370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Change (Ph 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4160" y="407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5 models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65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650000"/>
            <a:ext cx="60000" cy="900000"/>
          </a:xfrm>
          <a:prstGeom prst="rect">
            <a:avLst/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1520" y="485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Continuity (R3-4)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520" y="522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3 models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7840" y="465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07840" y="4650000"/>
            <a:ext cx="60000" cy="900000"/>
          </a:xfrm>
          <a:prstGeom prst="rect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7840" y="485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Compliance Pack (R5)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840" y="522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4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4160" y="465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84160" y="4650000"/>
            <a:ext cx="60000" cy="900000"/>
          </a:xfrm>
          <a:prstGeom prst="rect">
            <a:avLst/>
          </a:prstGeom>
          <a:solidFill>
            <a:srgbClr val="5D0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4160" y="485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Regulatory Knowledge (R6)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4160" y="522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5 models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80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800000"/>
            <a:ext cx="60000" cy="90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1520" y="600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Gov. Intelligence (R7-9)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520" y="637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3 models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07840" y="580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07840" y="5800000"/>
            <a:ext cx="60000" cy="9000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7840" y="600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Governance Studio (R10)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7840" y="637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4 models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84160" y="5800000"/>
            <a:ext cx="337632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84160" y="5800000"/>
            <a:ext cx="60000" cy="90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44160" y="6000000"/>
            <a:ext cx="28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Audit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4160" y="6370000"/>
            <a:ext cx="28763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1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Blue/Green/Purple/Amber/Coral mark the Release 5-10 additions — everything else predates Release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RBAC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Two enforcement layers, one unresolved dependency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520" y="2500000"/>
            <a:ext cx="4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1334A"/>
                </a:solidFill>
                <a:latin typeface="Arial"/>
              </a:rPr>
              <a:t>LAYER 1 — CLIENT ROUTE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520" y="2850000"/>
            <a:ext cx="450000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navigation.ts declares every route as an RBAC key; ProtectedRoute enforces it at the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62880" y="235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2880" y="2500000"/>
            <a:ext cx="4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1334A"/>
                </a:solidFill>
                <a:latin typeface="Arial"/>
              </a:rPr>
              <a:t>LAYER 2 — SERVER GUARD, HARDENED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880" y="2850000"/>
            <a:ext cx="450000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RolesGuard fails closed across all 85 endpoints. The role claim is a header — not cryptographically verified.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5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AUTHORISED ROUTES OF 59, BY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0000"/>
            <a:ext cx="22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Super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31520" y="4080000"/>
            <a:ext cx="6800000" cy="18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31520" y="4080000"/>
            <a:ext cx="6800000" cy="18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1520" y="4020000"/>
            <a:ext cx="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0000"/>
            <a:ext cx="22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Governance 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31520" y="4400000"/>
            <a:ext cx="6800000" cy="18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31520" y="4400000"/>
            <a:ext cx="5647457" cy="18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1520" y="4340000"/>
            <a:ext cx="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0000"/>
            <a:ext cx="22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Risk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31520" y="4720000"/>
            <a:ext cx="6800000" cy="18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31520" y="4720000"/>
            <a:ext cx="4610169" cy="18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1520" y="4660000"/>
            <a:ext cx="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80000"/>
            <a:ext cx="22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Auditor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31520" y="5040000"/>
            <a:ext cx="6800000" cy="18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31520" y="5040000"/>
            <a:ext cx="4610169" cy="18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1520" y="4980000"/>
            <a:ext cx="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0000"/>
            <a:ext cx="22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Business 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31520" y="5360000"/>
            <a:ext cx="6800000" cy="18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31520" y="5360000"/>
            <a:ext cx="2650847" cy="18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1520" y="5300000"/>
            <a:ext cx="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0000"/>
            <a:ext cx="22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Validator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1520" y="5680000"/>
            <a:ext cx="6800000" cy="18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31520" y="5680000"/>
            <a:ext cx="2535593" cy="18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1520" y="5620000"/>
            <a:ext cx="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40000"/>
            <a:ext cx="22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Viewer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31520" y="6000000"/>
            <a:ext cx="6800000" cy="18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031520" y="6000000"/>
            <a:ext cx="1613559" cy="18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31520" y="5940000"/>
            <a:ext cx="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DEMO_PERSONAS[].allowedNav in mockData.ts; SUPER_ADMIN bypasses allowedNav entirely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GOVERNANCE DOMAIN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Nine domains, nineteen persisted state lifecycles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1520" y="250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Executive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7840" y="235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840" y="235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7840" y="250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Policy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4160" y="235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4160" y="235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4160" y="250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Change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0480" y="235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7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1520" y="342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AI Governance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840" y="327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840" y="327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7840" y="342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Risk, Compliance &amp;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4160" y="327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160" y="327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4160" y="342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Decision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0480" y="327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9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520" y="434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Operations &amp;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840" y="419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840" y="419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7840" y="434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Audit &amp; Oversight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4160" y="419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4160" y="4190000"/>
            <a:ext cx="337632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4160" y="4340000"/>
            <a:ext cx="24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Administration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0480" y="4190000"/>
            <a:ext cx="4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1334A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5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B0B0B0"/>
                </a:solidFill>
                <a:latin typeface="Arial"/>
              </a:rPr>
              <a:t>DERIVATION LAYERS — GOVERNANCE STATE IS COMPUTED, NOT ENTERED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00000"/>
            <a:ext cx="3476320" cy="5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520" y="5600000"/>
            <a:ext cx="31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1334A"/>
                </a:solidFill>
                <a:latin typeface="Arial"/>
              </a:rPr>
              <a:t>storageService.ts — persistence, 3,486 ln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7840" y="5600000"/>
            <a:ext cx="3476320" cy="5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840" y="5600000"/>
            <a:ext cx="31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1334A"/>
                </a:solidFill>
                <a:latin typeface="Arial"/>
              </a:rPr>
              <a:t>reasoning + actions + traceability engines (R7-R9)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4160" y="5600000"/>
            <a:ext cx="3476320" cy="5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4160" y="5600000"/>
            <a:ext cx="31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1334A"/>
                </a:solidFill>
                <a:latin typeface="Arial"/>
              </a:rPr>
              <a:t>executiveGovernance.ts — aggregation, 734 ln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AI ASSET REGISTRY &amp; RACI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The hub entity and its five-way accountability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1F1F"/>
                </a:solidFill>
                <a:latin typeface="Arial"/>
              </a:rPr>
              <a:t>AIAsset — 9 supported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5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5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840" y="275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7840" y="275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4160" y="275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4160" y="275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3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840" y="323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7840" y="323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Copilot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4160" y="323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4160" y="323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RAG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1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1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AI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7840" y="371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7840" y="371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Multi-Agent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4160" y="3710000"/>
            <a:ext cx="3376320" cy="40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4160" y="3710000"/>
            <a:ext cx="33763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Third-Party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5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1F1F"/>
                </a:solidFill>
                <a:latin typeface="Arial"/>
              </a:rPr>
              <a:t>AssetOwner — five foreign keys to User, weighted 25% of the health index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50000"/>
            <a:ext cx="2065792" cy="5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50000"/>
            <a:ext cx="2065792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FFFFFF"/>
                </a:solidFill>
                <a:latin typeface="Arial"/>
              </a:rPr>
              <a:t>Business Owner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97312" y="4950000"/>
            <a:ext cx="2065792" cy="5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97312" y="4950000"/>
            <a:ext cx="2065792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FFFFFF"/>
                </a:solidFill>
                <a:latin typeface="Arial"/>
              </a:rPr>
              <a:t>Technical 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104" y="4950000"/>
            <a:ext cx="2065792" cy="5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3104" y="4950000"/>
            <a:ext cx="2065792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FFFFFF"/>
                </a:solidFill>
                <a:latin typeface="Arial"/>
              </a:rPr>
              <a:t>Risk Owner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8896" y="4950000"/>
            <a:ext cx="2065792" cy="5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8896" y="4950000"/>
            <a:ext cx="2065792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FFFFFF"/>
                </a:solidFill>
                <a:latin typeface="Arial"/>
              </a:rPr>
              <a:t>Compliance 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94688" y="4950000"/>
            <a:ext cx="2065792" cy="5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4688" y="4950000"/>
            <a:ext cx="2065792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1" i="0">
                <a:solidFill>
                  <a:srgbClr val="FFFFFF"/>
                </a:solidFill>
                <a:latin typeface="Arial"/>
              </a:rPr>
              <a:t>Approver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AIAsset &amp; AssetOwner models, backend/prisma/schema.prisma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RISK MANAGEMENT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Risk tier drives how much governance applies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2532240" cy="700000"/>
          </a:xfrm>
          <a:prstGeom prst="roundRect">
            <a:avLst>
              <a:gd name="adj" fmla="val 7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50000"/>
            <a:ext cx="253224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Low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3760" y="2350000"/>
            <a:ext cx="2532240" cy="7000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3760" y="2350000"/>
            <a:ext cx="253224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Medium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2350000"/>
            <a:ext cx="2532240" cy="700000"/>
          </a:xfrm>
          <a:prstGeom prst="roundRect">
            <a:avLst>
              <a:gd name="adj" fmla="val 7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0" y="2350000"/>
            <a:ext cx="253224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High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350000"/>
            <a:ext cx="2532240" cy="700000"/>
          </a:xfrm>
          <a:prstGeom prst="roundRect">
            <a:avLst>
              <a:gd name="adj" fmla="val 7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350000"/>
            <a:ext cx="253224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Critical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5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FIVE ASSESSMENT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▪ 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3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▪  Data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6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▪  Decision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9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▪  Operational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▪  Control Oversight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2880" y="3350000"/>
            <a:ext cx="5100000" cy="1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2880" y="350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Risk-driven enforcement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880" y="3900000"/>
            <a:ext cx="4500000" cy="1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High and Critical assets require approved independent validation before production — enforced automatically by policy rule REQUIRE_VALIDATION_FOR_HIGH_RISK.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RiskAssessment model; getRiskHeatmap(), getBusinessUnitHeatmap(), getGovernanceBlockers()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VALIDATION &amp; EVIDENCE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Independent review, tracked defects,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SIX VALIDATION DISCIPLINES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00000"/>
            <a:ext cx="2400000" cy="400000"/>
          </a:xfrm>
          <a:prstGeom prst="roundRect">
            <a:avLst>
              <a:gd name="adj" fmla="val 7000"/>
            </a:avLst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00000"/>
            <a:ext cx="24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Business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1520" y="2700000"/>
            <a:ext cx="2400000" cy="400000"/>
          </a:xfrm>
          <a:prstGeom prst="roundRect">
            <a:avLst>
              <a:gd name="adj" fmla="val 7000"/>
            </a:avLst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1520" y="2700000"/>
            <a:ext cx="24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Technical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80000"/>
            <a:ext cx="2400000" cy="400000"/>
          </a:xfrm>
          <a:prstGeom prst="roundRect">
            <a:avLst>
              <a:gd name="adj" fmla="val 7000"/>
            </a:avLst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0000"/>
            <a:ext cx="24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1520" y="3180000"/>
            <a:ext cx="2400000" cy="400000"/>
          </a:xfrm>
          <a:prstGeom prst="roundRect">
            <a:avLst>
              <a:gd name="adj" fmla="val 7000"/>
            </a:avLst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1520" y="3180000"/>
            <a:ext cx="24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60000"/>
            <a:ext cx="2400000" cy="400000"/>
          </a:xfrm>
          <a:prstGeom prst="roundRect">
            <a:avLst>
              <a:gd name="adj" fmla="val 7000"/>
            </a:avLst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60000"/>
            <a:ext cx="24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1520" y="3660000"/>
            <a:ext cx="2400000" cy="400000"/>
          </a:xfrm>
          <a:prstGeom prst="roundRect">
            <a:avLst>
              <a:gd name="adj" fmla="val 7000"/>
            </a:avLst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1520" y="3660000"/>
            <a:ext cx="24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0000"/>
            <a:ext cx="51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Findings: Open → In Progress → Resolved → Verified. Closure requires independent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2880" y="2350000"/>
            <a:ext cx="5100000" cy="2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2880" y="2500000"/>
            <a:ext cx="4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10 mandatory ODF 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880" y="28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Executive Solution Blueprint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2880" y="28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Functional Requirements Spec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880" y="31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Solution Architecture Blueprint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2880" y="31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Database Design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880" y="34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API Design Specification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2880" y="34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Security Review 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880" y="37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Test Strategy &amp;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2880" y="37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Deployment Blueprint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880" y="40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Production Readiness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2880" y="4080000"/>
            <a:ext cx="225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F1F1F"/>
                </a:solidFill>
                <a:latin typeface="Arial"/>
              </a:rPr>
              <a:t>•  Project Closure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EvidenceDocument model; evidence-complete at 3+ approved artefacts, policy rule REQUIRE_EVIDENCE_FOR_PRODUCTION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DECISION GOVERNANCE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Scored readiness, blockers, then a recorded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350000"/>
            <a:ext cx="200000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2350000"/>
            <a:ext cx="20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1F1F"/>
                </a:solidFill>
                <a:latin typeface="Arial"/>
              </a:rPr>
              <a:t>1.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6000" y="2350000"/>
            <a:ext cx="12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6000" y="2350000"/>
            <a:ext cx="200000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6000" y="2350000"/>
            <a:ext cx="20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1F1F"/>
                </a:solidFill>
                <a:latin typeface="Arial"/>
              </a:rPr>
              <a:t>2.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6000" y="2350000"/>
            <a:ext cx="12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6000" y="2350000"/>
            <a:ext cx="200000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6000" y="2350000"/>
            <a:ext cx="20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1F1F"/>
                </a:solidFill>
                <a:latin typeface="Arial"/>
              </a:rPr>
              <a:t>3. Blockers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6000" y="2350000"/>
            <a:ext cx="12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6000" y="2350000"/>
            <a:ext cx="200000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6000" y="2350000"/>
            <a:ext cx="20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1F1F"/>
                </a:solidFill>
                <a:latin typeface="Arial"/>
              </a:rPr>
              <a:t>4. Recommend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6000" y="2350000"/>
            <a:ext cx="12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56000" y="2350000"/>
            <a:ext cx="2000000" cy="700000"/>
          </a:xfrm>
          <a:prstGeom prst="roundRect">
            <a:avLst>
              <a:gd name="adj" fmla="val 7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6000" y="2350000"/>
            <a:ext cx="20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5.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0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FIVE SCORING PILLARS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50000"/>
            <a:ext cx="2065792" cy="8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70000"/>
            <a:ext cx="206579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1334A"/>
                </a:solidFill>
                <a:latin typeface="Arial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20000"/>
            <a:ext cx="206579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7312" y="3750000"/>
            <a:ext cx="2065792" cy="8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7312" y="3870000"/>
            <a:ext cx="206579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1334A"/>
                </a:solidFill>
                <a:latin typeface="Arial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7312" y="4320000"/>
            <a:ext cx="206579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3104" y="3750000"/>
            <a:ext cx="2065792" cy="8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3104" y="3870000"/>
            <a:ext cx="206579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1334A"/>
                </a:solidFill>
                <a:latin typeface="Arial"/>
              </a:rP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3104" y="4320000"/>
            <a:ext cx="206579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8896" y="3750000"/>
            <a:ext cx="2065792" cy="8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8896" y="3870000"/>
            <a:ext cx="206579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1334A"/>
                </a:solidFill>
                <a:latin typeface="Arial"/>
              </a:rPr>
              <a:t>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8896" y="4320000"/>
            <a:ext cx="206579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14688" y="3750000"/>
            <a:ext cx="2065792" cy="8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4688" y="3870000"/>
            <a:ext cx="206579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1334A"/>
                </a:solidFill>
                <a:latin typeface="Arial"/>
              </a:rPr>
              <a:t>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4688" y="4320000"/>
            <a:ext cx="206579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50000"/>
            <a:ext cx="2531520" cy="550000"/>
          </a:xfrm>
          <a:prstGeom prst="roundRect">
            <a:avLst>
              <a:gd name="adj" fmla="val 7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850000"/>
            <a:ext cx="253152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GO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93040" y="4850000"/>
            <a:ext cx="2531520" cy="5500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93040" y="4850000"/>
            <a:ext cx="253152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CONDITIONAL 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54560" y="4850000"/>
            <a:ext cx="2531520" cy="550000"/>
          </a:xfrm>
          <a:prstGeom prst="roundRect">
            <a:avLst>
              <a:gd name="adj" fmla="val 7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4560" y="4850000"/>
            <a:ext cx="253152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NO GO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16080" y="4850000"/>
            <a:ext cx="2531520" cy="550000"/>
          </a:xfrm>
          <a:prstGeom prst="roundRect">
            <a:avLst>
              <a:gd name="adj" fmla="val 7000"/>
            </a:avLst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6080" y="4850000"/>
            <a:ext cx="253152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PENDING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calculateAssetGovernanceScore(), recordDecision(); Decision Authority, Governance Blockers modules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CHANGE GOVERNANCE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Approval is not permanent — change re-enters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350000"/>
            <a:ext cx="200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2350000"/>
            <a:ext cx="200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1. Classify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6000" y="2350000"/>
            <a:ext cx="12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6000" y="2350000"/>
            <a:ext cx="200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6000" y="2350000"/>
            <a:ext cx="200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2. Assess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6000" y="2350000"/>
            <a:ext cx="12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6000" y="2350000"/>
            <a:ext cx="200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6000" y="2350000"/>
            <a:ext cx="200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3.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6000" y="2350000"/>
            <a:ext cx="12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6000" y="2350000"/>
            <a:ext cx="200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6000" y="2350000"/>
            <a:ext cx="200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4. Resolve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6000" y="2350000"/>
            <a:ext cx="12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56000" y="2350000"/>
            <a:ext cx="200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6000" y="2350000"/>
            <a:ext cx="200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5. Route Approvals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0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REASSESSMENT RULES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0000"/>
            <a:ext cx="10728960" cy="4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650000"/>
            <a:ext cx="60000" cy="42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520" y="3650000"/>
            <a:ext cx="18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1520" y="3650000"/>
            <a:ext cx="80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1F1F"/>
                </a:solidFill>
                <a:latin typeface="Arial"/>
              </a:rPr>
              <a:t>≥ 70 → Executive Approval Required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20000"/>
            <a:ext cx="10728960" cy="4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20000"/>
            <a:ext cx="60000" cy="4200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1520" y="4120000"/>
            <a:ext cx="18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F7A59"/>
                </a:solidFill>
                <a:latin typeface="Arial"/>
              </a:rPr>
              <a:t>Major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1520" y="4120000"/>
            <a:ext cx="80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1F1F"/>
                </a:solidFill>
                <a:latin typeface="Arial"/>
              </a:rPr>
              <a:t>≥ 45 → Full Governance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90000"/>
            <a:ext cx="10728960" cy="4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590000"/>
            <a:ext cx="60000" cy="42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520" y="4590000"/>
            <a:ext cx="18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9E0B"/>
                </a:solidFill>
                <a:latin typeface="Arial"/>
              </a:rPr>
              <a:t>Moderate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1520" y="4590000"/>
            <a:ext cx="80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1F1F"/>
                </a:solidFill>
                <a:latin typeface="Arial"/>
              </a:rPr>
              <a:t>≥ 20 → Risk Review Required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60000"/>
            <a:ext cx="10728960" cy="4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060000"/>
            <a:ext cx="60000" cy="420000"/>
          </a:xfrm>
          <a:prstGeom prst="rect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1520" y="5060000"/>
            <a:ext cx="18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BAD48"/>
                </a:solidFill>
                <a:latin typeface="Arial"/>
              </a:rPr>
              <a:t>Minor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1520" y="5060000"/>
            <a:ext cx="80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1F1F"/>
                </a:solidFill>
                <a:latin typeface="Arial"/>
              </a:rPr>
              <a:t>≥ 0 → No Reassessment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10-state governance state machine; 6 trigger rules convert change into governance work automatically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MONITORING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Continuous health scoring plus operational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FIVE HEALTH PILLARS  ·  calculateAssetGovernanceHealthScore()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80000"/>
            <a:ext cx="2065792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0000"/>
            <a:ext cx="2065792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Ownership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7312" y="2680000"/>
            <a:ext cx="2065792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7312" y="2680000"/>
            <a:ext cx="2065792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3104" y="2680000"/>
            <a:ext cx="2065792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3104" y="2680000"/>
            <a:ext cx="2065792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8896" y="2680000"/>
            <a:ext cx="2065792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8896" y="2680000"/>
            <a:ext cx="2065792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14688" y="2680000"/>
            <a:ext cx="2065792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14688" y="2680000"/>
            <a:ext cx="2065792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Operational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0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OPERATIONAL CONTROL SURFACES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50000"/>
            <a:ext cx="5100000" cy="5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520" y="3840000"/>
            <a:ext cx="460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Kill Switch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520" y="4080000"/>
            <a:ext cx="4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9" b="0" i="0">
                <a:solidFill>
                  <a:srgbClr val="4A4A4A"/>
                </a:solidFill>
                <a:latin typeface="Arial"/>
              </a:rPr>
              <a:t>Requested → Approved → Activated → Released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1520" y="3750000"/>
            <a:ext cx="5100000" cy="5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1520" y="3840000"/>
            <a:ext cx="460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Override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520" y="4080000"/>
            <a:ext cx="4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9" b="0" i="0">
                <a:solidFill>
                  <a:srgbClr val="4A4A4A"/>
                </a:solidFill>
                <a:latin typeface="Arial"/>
              </a:rPr>
              <a:t>Human intervention, trigger reason recorded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00000"/>
            <a:ext cx="5100000" cy="5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1520" y="4590000"/>
            <a:ext cx="460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Incident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20" y="4830000"/>
            <a:ext cx="4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9" b="0" i="0">
                <a:solidFill>
                  <a:srgbClr val="4A4A4A"/>
                </a:solidFill>
                <a:latin typeface="Arial"/>
              </a:rPr>
              <a:t>Open → Investigating → Mitigation → Closed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1520" y="4500000"/>
            <a:ext cx="5100000" cy="5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1520" y="4590000"/>
            <a:ext cx="460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Corrective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520" y="4830000"/>
            <a:ext cx="4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9" b="0" i="0">
                <a:solidFill>
                  <a:srgbClr val="4A4A4A"/>
                </a:solidFill>
                <a:latin typeface="Arial"/>
              </a:rPr>
              <a:t>Open → In Progress → Verified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50000"/>
            <a:ext cx="10728960" cy="900000"/>
          </a:xfrm>
          <a:prstGeom prst="roundRect">
            <a:avLst>
              <a:gd name="adj" fmla="val 7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1520" y="5150000"/>
            <a:ext cx="101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26C05"/>
                </a:solidFill>
                <a:latin typeface="Arial"/>
              </a:rPr>
              <a:t>Partially implemented — alerting is not event-driven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520" y="5480000"/>
            <a:ext cx="1012896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1F1F"/>
                </a:solidFill>
                <a:latin typeface="Arial"/>
              </a:rPr>
              <a:t>No scheduler, no background job, no notification channel — alerts surface only when a user opens the page.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AUDIT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Append-only trail, plus four reconstruction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5100000" cy="17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520" y="250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1334A"/>
                </a:solidFill>
                <a:latin typeface="Arial"/>
              </a:rPr>
              <a:t>addAuditLog() — the single write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520" y="2950000"/>
            <a:ext cx="45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D9D9D9"/>
                </a:solidFill>
                <a:latin typeface="Arial"/>
              </a:rPr>
              <a:t>21 entity types are auditable. Entries are unshifted onto the collection — no update or delete path exists anywhere in the codebase.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2880" y="2350000"/>
            <a:ext cx="51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B0B0B0"/>
                </a:solidFill>
                <a:latin typeface="Arial"/>
              </a:rPr>
              <a:t>FOUR RECONSTRUCTION 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2880" y="2700000"/>
            <a:ext cx="5100000" cy="33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2880" y="2700000"/>
            <a:ext cx="460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Governance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2880" y="3070000"/>
            <a:ext cx="5100000" cy="33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2880" y="3070000"/>
            <a:ext cx="460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Change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62880" y="3440000"/>
            <a:ext cx="5100000" cy="33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2880" y="3440000"/>
            <a:ext cx="460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Board &amp; Regulator Reporting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2880" y="3810000"/>
            <a:ext cx="5100000" cy="33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2880" y="3810000"/>
            <a:ext cx="460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Decision Traceability (R9)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00000"/>
            <a:ext cx="10728960" cy="1550000"/>
          </a:xfrm>
          <a:prstGeom prst="roundRect">
            <a:avLst>
              <a:gd name="adj" fmla="val 7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1520" y="4450000"/>
            <a:ext cx="1012896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926C05"/>
                </a:solidFill>
                <a:latin typeface="Arial"/>
              </a:rPr>
              <a:t>Still true today — immutability is a convention, not a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520" y="4850000"/>
            <a:ext cx="101289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Records live in browser localStorage where any user can edit or clear them via developer tools; timestamps are client-generated and ipAddress is hard-coded. Uniquely among domains, this one never moved server-side.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COMPLIANCE &amp; REGULATORY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A reusable foundation every regulation plugs into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5100000" cy="22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520" y="253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1F1F"/>
                </a:solidFill>
                <a:latin typeface="Arial"/>
              </a:rPr>
              <a:t>Compliance Pack Framework (R5/5.1)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520" y="2950000"/>
            <a:ext cx="4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Pack › Requirement › Control ›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520" y="3350000"/>
            <a:ext cx="4500000" cy="10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5 endpoints, full CRUD. Coverage computed from real linkage — never a fabricated percentage.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2880" y="2350000"/>
            <a:ext cx="5100000" cy="22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2880" y="253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Regulatory Knowledge Engine (R6)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880" y="2950000"/>
            <a:ext cx="45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1334A"/>
                </a:solidFill>
                <a:latin typeface="Arial"/>
              </a:rPr>
              <a:t>Source › Requirement › Obligation ›</a:t>
            </a:r>
          </a:p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1334A"/>
                </a:solidFill>
                <a:latin typeface="Arial"/>
              </a:rPr>
              <a:t>Control ›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880" y="3450000"/>
            <a:ext cx="4500000" cy="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9D9D9"/>
                </a:solidFill>
                <a:latin typeface="Arial"/>
              </a:rPr>
              <a:t>5 endpoints, full CRUD. The foundation every future regulation — RBI, ISO 42001, EU AI Act — plugs into as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000"/>
            <a:ext cx="10728960" cy="900000"/>
          </a:xfrm>
          <a:prstGeom prst="roundRect">
            <a:avLst>
              <a:gd name="adj" fmla="val 7000"/>
            </a:avLst>
          </a:prstGeom>
          <a:solidFill>
            <a:srgbClr val="E9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1520" y="4900000"/>
            <a:ext cx="101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339849"/>
                </a:solidFill>
                <a:latin typeface="Arial"/>
              </a:rPr>
              <a:t>Both chains are Api-first from day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520" y="5230000"/>
            <a:ext cx="1012896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1F1F"/>
                </a:solidFill>
                <a:latin typeface="Arial"/>
              </a:rPr>
              <a:t>Local remains a fallback utility only — the pattern every release from 6 through 10 has followed.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docs/governance/17 &amp;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GOVERNANCE INTELLIGENCE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Reasoning, recommendation, traceability in one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1000" y="2350000"/>
            <a:ext cx="1750000" cy="6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1000" y="2350000"/>
            <a:ext cx="175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000" y="2780000"/>
            <a:ext cx="17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F1334A"/>
                </a:solidFill>
                <a:latin typeface="Arial"/>
              </a:rPr>
              <a:t>Neon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1000" y="2350000"/>
            <a:ext cx="8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1000" y="2350000"/>
            <a:ext cx="175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1000" y="2350000"/>
            <a:ext cx="175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1000" y="2780000"/>
            <a:ext cx="17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B0B0B0"/>
                </a:solidFill>
                <a:latin typeface="Arial"/>
              </a:rPr>
              <a:t>computed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1000" y="2350000"/>
            <a:ext cx="8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1000" y="2350000"/>
            <a:ext cx="1750000" cy="6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1000" y="2350000"/>
            <a:ext cx="175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1000" y="2780000"/>
            <a:ext cx="17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F1334A"/>
                </a:solidFill>
                <a:latin typeface="Arial"/>
              </a:rPr>
              <a:t>Neon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000" y="2350000"/>
            <a:ext cx="8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1000" y="2350000"/>
            <a:ext cx="175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1000" y="2350000"/>
            <a:ext cx="175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1000" y="2780000"/>
            <a:ext cx="17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B0B0B0"/>
                </a:solidFill>
                <a:latin typeface="Arial"/>
              </a:rPr>
              <a:t>computed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1000" y="2350000"/>
            <a:ext cx="8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1000" y="2350000"/>
            <a:ext cx="1750000" cy="6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1000" y="2350000"/>
            <a:ext cx="175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1000" y="2780000"/>
            <a:ext cx="17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F1334A"/>
                </a:solidFill>
                <a:latin typeface="Arial"/>
              </a:rPr>
              <a:t>Neon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1000" y="2350000"/>
            <a:ext cx="8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21000" y="2350000"/>
            <a:ext cx="1750000" cy="6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21000" y="2350000"/>
            <a:ext cx="175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1000" y="2780000"/>
            <a:ext cx="17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F1334A"/>
                </a:solidFill>
                <a:latin typeface="Arial"/>
              </a:rPr>
              <a:t>Neon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300000"/>
            <a:ext cx="10728960" cy="5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520" y="3300000"/>
            <a:ext cx="15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Release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31520" y="3300000"/>
            <a:ext cx="85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F1F1F"/>
                </a:solidFill>
                <a:latin typeface="Arial"/>
              </a:rPr>
              <a:t>governanceReasoningEngine.ts — 6 condition types, pure data-in/data-out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910000"/>
            <a:ext cx="10728960" cy="5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520" y="3910000"/>
            <a:ext cx="15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Release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1520" y="3910000"/>
            <a:ext cx="85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F1F1F"/>
                </a:solidFill>
                <a:latin typeface="Arial"/>
              </a:rPr>
              <a:t>governanceActionsEngine.ts — human Accept/Reject/Defer is the only state change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520000"/>
            <a:ext cx="10728960" cy="5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520" y="4520000"/>
            <a:ext cx="15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Release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1520" y="4520000"/>
            <a:ext cx="85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F1F1F"/>
                </a:solidFill>
                <a:latin typeface="Arial"/>
              </a:rPr>
              <a:t>decisionTraceabilityEngine.ts — assembles the full chain live, no new 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Persisted models: GovernancePolicy · GovernanceFinding · RecommendedAction (decidedBy / decidedAt added in R9)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GOVERNANCE INTELLIGENCE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Reasoning config becomes editable, Neon-backed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2531520" cy="10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1520" y="2500000"/>
            <a:ext cx="20915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ConditionDefinition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1520" y="2950000"/>
            <a:ext cx="20915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6 rows, no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3040" y="2350000"/>
            <a:ext cx="2531520" cy="10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3040" y="2500000"/>
            <a:ext cx="20915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OutcomeRule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3040" y="2950000"/>
            <a:ext cx="20915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5 rows, no DELETE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4560" y="2350000"/>
            <a:ext cx="2531520" cy="10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60" y="2500000"/>
            <a:ext cx="20915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ActionRule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60" y="2950000"/>
            <a:ext cx="20915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9 seeded, full CRUD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6080" y="2350000"/>
            <a:ext cx="2531520" cy="10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6080" y="2500000"/>
            <a:ext cx="20915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GovernanceProfile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6080" y="2950000"/>
            <a:ext cx="20915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5 profiles, no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B0B0B0"/>
                </a:solidFill>
                <a:latin typeface="Arial"/>
              </a:rPr>
              <a:t>SIGNATURE CHANGE — OPTIONAL, BACKWARD-COMPATIBLE FILTERS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50000"/>
            <a:ext cx="10728960" cy="4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520" y="4050000"/>
            <a:ext cx="1022896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detectGovernanceConditions(..., enabledConditionTypes?)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00000"/>
            <a:ext cx="10728960" cy="4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520" y="4500000"/>
            <a:ext cx="1022896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computeGovernanceOutcome(..., disabledOutcomes?)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50000"/>
            <a:ext cx="10728960" cy="4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520" y="4950000"/>
            <a:ext cx="1022896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F1F1F"/>
                </a:solidFill>
                <a:latin typeface="Arial"/>
              </a:rPr>
              <a:t>generateActionDrafts(..., actionRules?)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50000"/>
            <a:ext cx="10728960" cy="700000"/>
          </a:xfrm>
          <a:prstGeom prst="roundRect">
            <a:avLst>
              <a:gd name="adj" fmla="val 7000"/>
            </a:avLst>
          </a:prstGeom>
          <a:solidFill>
            <a:srgbClr val="E9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520" y="5450000"/>
            <a:ext cx="1012896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9849"/>
                </a:solidFill>
                <a:latin typeface="Arial"/>
              </a:rPr>
              <a:t>Detection mechanisms and evaluation order stay platform code. What's configurable is which are switched on, and what they produce.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docs/governance/23 — 13 endpoints across 4 groups, all Api-first from day 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CAPABILITY STATUS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21 capabilities implemented and verified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1520" y="23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Governance navigation — 9 domains, 56 modules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1520" y="27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AI Asset Registry — 9 asset types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1520" y="31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Ownership matrix — 5 RACI roles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520" y="35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Risk classification + heatmaps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1520" y="39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Validation (6 disciplines) + findings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520" y="43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Evidence — 10 ODF deliverable types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1520" y="47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Decision governance + readiness scoring</a:t>
            </a:r>
          </a:p>
        </p:txBody>
      </p:sp>
      <p:sp>
        <p:nvSpPr>
          <p:cNvPr id="19" name="Oval 18"/>
          <p:cNvSpPr/>
          <p:nvPr/>
        </p:nvSpPr>
        <p:spPr>
          <a:xfrm>
            <a:off x="4357840" y="24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7840" y="23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Governance blockers</a:t>
            </a:r>
          </a:p>
        </p:txBody>
      </p:sp>
      <p:sp>
        <p:nvSpPr>
          <p:cNvPr id="21" name="Oval 20"/>
          <p:cNvSpPr/>
          <p:nvPr/>
        </p:nvSpPr>
        <p:spPr>
          <a:xfrm>
            <a:off x="4357840" y="28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7840" y="27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Operations — kill switch, override, incidents</a:t>
            </a:r>
          </a:p>
        </p:txBody>
      </p:sp>
      <p:sp>
        <p:nvSpPr>
          <p:cNvPr id="23" name="Oval 22"/>
          <p:cNvSpPr/>
          <p:nvPr/>
        </p:nvSpPr>
        <p:spPr>
          <a:xfrm>
            <a:off x="4357840" y="32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7840" y="31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Policy governance (Ph 9) + 7 rules</a:t>
            </a:r>
          </a:p>
        </p:txBody>
      </p:sp>
      <p:sp>
        <p:nvSpPr>
          <p:cNvPr id="25" name="Oval 24"/>
          <p:cNvSpPr/>
          <p:nvPr/>
        </p:nvSpPr>
        <p:spPr>
          <a:xfrm>
            <a:off x="4357840" y="36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7840" y="35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Change management + 10-state machine</a:t>
            </a:r>
          </a:p>
        </p:txBody>
      </p:sp>
      <p:sp>
        <p:nvSpPr>
          <p:cNvPr id="27" name="Oval 26"/>
          <p:cNvSpPr/>
          <p:nvPr/>
        </p:nvSpPr>
        <p:spPr>
          <a:xfrm>
            <a:off x="4357840" y="40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7840" y="39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Executive hub — 4 role lenses</a:t>
            </a:r>
          </a:p>
        </p:txBody>
      </p:sp>
      <p:sp>
        <p:nvSpPr>
          <p:cNvPr id="29" name="Oval 28"/>
          <p:cNvSpPr/>
          <p:nvPr/>
        </p:nvSpPr>
        <p:spPr>
          <a:xfrm>
            <a:off x="4357840" y="44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7840" y="43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RBAC — client route enforcement</a:t>
            </a:r>
          </a:p>
        </p:txBody>
      </p:sp>
      <p:sp>
        <p:nvSpPr>
          <p:cNvPr id="31" name="Oval 30"/>
          <p:cNvSpPr/>
          <p:nvPr/>
        </p:nvSpPr>
        <p:spPr>
          <a:xfrm>
            <a:off x="4357840" y="48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7840" y="47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Backend REST API — 85 endpoints</a:t>
            </a:r>
          </a:p>
        </p:txBody>
      </p:sp>
      <p:sp>
        <p:nvSpPr>
          <p:cNvPr id="33" name="Oval 32"/>
          <p:cNvSpPr/>
          <p:nvPr/>
        </p:nvSpPr>
        <p:spPr>
          <a:xfrm>
            <a:off x="7984160" y="24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4160" y="23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Server persistence, live since R4</a:t>
            </a:r>
          </a:p>
        </p:txBody>
      </p:sp>
      <p:sp>
        <p:nvSpPr>
          <p:cNvPr id="35" name="Oval 34"/>
          <p:cNvSpPr/>
          <p:nvPr/>
        </p:nvSpPr>
        <p:spPr>
          <a:xfrm>
            <a:off x="7984160" y="28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4160" y="27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Compliance Pack Framework (R5)</a:t>
            </a:r>
          </a:p>
        </p:txBody>
      </p:sp>
      <p:sp>
        <p:nvSpPr>
          <p:cNvPr id="37" name="Oval 36"/>
          <p:cNvSpPr/>
          <p:nvPr/>
        </p:nvSpPr>
        <p:spPr>
          <a:xfrm>
            <a:off x="7984160" y="32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4160" y="31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Regulatory Knowledge Engine (R6)</a:t>
            </a:r>
          </a:p>
        </p:txBody>
      </p:sp>
      <p:sp>
        <p:nvSpPr>
          <p:cNvPr id="39" name="Oval 38"/>
          <p:cNvSpPr/>
          <p:nvPr/>
        </p:nvSpPr>
        <p:spPr>
          <a:xfrm>
            <a:off x="7984160" y="36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4160" y="35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Governance Intelligence Engine (R7)</a:t>
            </a:r>
          </a:p>
        </p:txBody>
      </p:sp>
      <p:sp>
        <p:nvSpPr>
          <p:cNvPr id="41" name="Oval 40"/>
          <p:cNvSpPr/>
          <p:nvPr/>
        </p:nvSpPr>
        <p:spPr>
          <a:xfrm>
            <a:off x="7984160" y="40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4160" y="39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Governance Actions Engine (R8)</a:t>
            </a:r>
          </a:p>
        </p:txBody>
      </p:sp>
      <p:sp>
        <p:nvSpPr>
          <p:cNvPr id="43" name="Oval 42"/>
          <p:cNvSpPr/>
          <p:nvPr/>
        </p:nvSpPr>
        <p:spPr>
          <a:xfrm>
            <a:off x="7984160" y="44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4160" y="43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Decision Traceability (R9)</a:t>
            </a:r>
          </a:p>
        </p:txBody>
      </p:sp>
      <p:sp>
        <p:nvSpPr>
          <p:cNvPr id="45" name="Oval 44"/>
          <p:cNvSpPr/>
          <p:nvPr/>
        </p:nvSpPr>
        <p:spPr>
          <a:xfrm>
            <a:off x="7984160" y="4810000"/>
            <a:ext cx="100000" cy="10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4160" y="4750000"/>
            <a:ext cx="325632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1F1F"/>
                </a:solidFill>
                <a:latin typeface="Arial"/>
              </a:rPr>
              <a:t>Governance Intelligence Studio (R10)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400000"/>
            <a:ext cx="10728960" cy="5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1520" y="5400000"/>
            <a:ext cx="1012896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21 implemented · 3 partial · 4 planned. Nothing appears in this deck that is absent from the codebase.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CAPABILITY STATUS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What is partial, and what is planned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50000"/>
            <a:ext cx="70000" cy="48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1520" y="2460000"/>
            <a:ext cx="1300000" cy="2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1520" y="2460000"/>
            <a:ext cx="130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59E0B"/>
                </a:solidFill>
                <a:latin typeface="Arial"/>
              </a:rPr>
              <a:t>PARTIAL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1520" y="2410000"/>
            <a:ext cx="4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RBAC — server enforcement fails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1520" y="235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Role claim is a header, not a verified credential.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80000"/>
            <a:ext cx="70000" cy="48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1520" y="2990000"/>
            <a:ext cx="1300000" cy="2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520" y="2990000"/>
            <a:ext cx="130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59E0B"/>
                </a:solidFill>
                <a:latin typeface="Arial"/>
              </a:rPr>
              <a:t>PARTIAL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1520" y="2940000"/>
            <a:ext cx="4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Audit log persistence — still local-only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520" y="288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The one domain that never moved server-side.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1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10000"/>
            <a:ext cx="70000" cy="48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1520" y="3520000"/>
            <a:ext cx="1300000" cy="2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520" y="3520000"/>
            <a:ext cx="130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59E0B"/>
                </a:solidFill>
                <a:latin typeface="Arial"/>
              </a:rPr>
              <a:t>PARTIAL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1520" y="3470000"/>
            <a:ext cx="4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Alerting — computed on read, no 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520" y="341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No background job, no notification channel.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4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40000"/>
            <a:ext cx="70000" cy="4800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1520" y="4050000"/>
            <a:ext cx="1300000" cy="2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520" y="4050000"/>
            <a:ext cx="130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B0B0B0"/>
                </a:solidFill>
                <a:latin typeface="Arial"/>
              </a:rPr>
              <a:t>PLANNED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1520" y="4000000"/>
            <a:ext cx="4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Authentication / SSO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1520" y="394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Credential verification and signed sessions.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7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470000"/>
            <a:ext cx="70000" cy="4800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1520" y="4580000"/>
            <a:ext cx="1300000" cy="2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520" y="4580000"/>
            <a:ext cx="130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B0B0B0"/>
                </a:solidFill>
                <a:latin typeface="Arial"/>
              </a:rP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1520" y="4530000"/>
            <a:ext cx="4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Multi-tenancy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31520" y="447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Single-tenant today.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0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000000"/>
            <a:ext cx="70000" cy="4800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1520" y="5110000"/>
            <a:ext cx="1300000" cy="2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520" y="5110000"/>
            <a:ext cx="130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B0B0B0"/>
                </a:solidFill>
                <a:latin typeface="Arial"/>
              </a:rPr>
              <a:t>PLANNED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1520" y="5060000"/>
            <a:ext cx="4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Automated tests / CI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520" y="500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No test runner, no pipeline exists yet.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53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530000"/>
            <a:ext cx="70000" cy="4800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1520" y="5640000"/>
            <a:ext cx="1300000" cy="2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520" y="5640000"/>
            <a:ext cx="130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B0B0B0"/>
                </a:solidFill>
                <a:latin typeface="Arial"/>
              </a:rPr>
              <a:t>PLANNED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1520" y="5590000"/>
            <a:ext cx="4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ISO 42001 / EU AI Act / NIST / Basel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1520" y="553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Mechanism exists; regulatory content does not.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COMPARATIVE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Measured against manual governance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Scope: spreadsheets, email approval chains, fragmented ownership tracking. No claim is made against commercial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520" y="2650000"/>
            <a:ext cx="1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Asset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520" y="2650000"/>
            <a:ext cx="3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B0B0B0"/>
                </a:solidFill>
                <a:latin typeface="Arial"/>
              </a:rPr>
              <a:t>Spreadsheet copies diverge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1520" y="265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1F1F1F"/>
                </a:solidFill>
                <a:latin typeface="Arial"/>
              </a:rPr>
              <a:t>Single typed registry, one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7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520" y="3170000"/>
            <a:ext cx="1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1520" y="3170000"/>
            <a:ext cx="3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B0B0B0"/>
                </a:solidFill>
                <a:latin typeface="Arial"/>
              </a:rPr>
              <a:t>Names in a column, stale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1520" y="317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1F1F1F"/>
                </a:solidFill>
                <a:latin typeface="Arial"/>
              </a:rPr>
              <a:t>5 FK roles, completeness scored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9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520" y="3690000"/>
            <a:ext cx="1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1520" y="3690000"/>
            <a:ext cx="3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B0B0B0"/>
                </a:solidFill>
                <a:latin typeface="Arial"/>
              </a:rPr>
              <a:t>Email threads, rationale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1520" y="369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1F1F1F"/>
                </a:solidFill>
                <a:latin typeface="Arial"/>
              </a:rPr>
              <a:t>DecisionRecord with owner + justification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1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520" y="4210000"/>
            <a:ext cx="1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1520" y="4210000"/>
            <a:ext cx="3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B0B0B0"/>
                </a:solidFill>
                <a:latin typeface="Arial"/>
              </a:rPr>
              <a:t>Subjective per 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520" y="421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1F1F1F"/>
                </a:solidFill>
                <a:latin typeface="Arial"/>
              </a:rPr>
              <a:t>Deterministic 5-pillar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3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520" y="4730000"/>
            <a:ext cx="1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Compliance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1520" y="4730000"/>
            <a:ext cx="3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B0B0B0"/>
                </a:solidFill>
                <a:latin typeface="Arial"/>
              </a:rPr>
              <a:t>One spreadsheet per regulation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1520" y="473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1F1F1F"/>
                </a:solidFill>
                <a:latin typeface="Arial"/>
              </a:rPr>
              <a:t>Regulatory Knowledge Engine — configuration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50000"/>
            <a:ext cx="10728960" cy="4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520" y="5250000"/>
            <a:ext cx="1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Audit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1520" y="5250000"/>
            <a:ext cx="3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B0B0B0"/>
                </a:solidFill>
                <a:latin typeface="Arial"/>
              </a:rPr>
              <a:t>Assembled over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1520" y="5250000"/>
            <a:ext cx="43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1F1F1F"/>
                </a:solidFill>
                <a:latin typeface="Arial"/>
              </a:rPr>
              <a:t>Append-only trail, on-demand reports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TECHNICAL DEBT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Eight items, ranked by consequence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10728960" cy="46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1520" y="2465000"/>
            <a:ext cx="500000" cy="23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1520" y="2465000"/>
            <a:ext cx="500000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1520" y="2350000"/>
            <a:ext cx="39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Audit trail still writes client-side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1520" y="2350000"/>
            <a:ext cx="55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Never made the jump to the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50000"/>
            <a:ext cx="10728960" cy="46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1520" y="2965000"/>
            <a:ext cx="500000" cy="23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520" y="2965000"/>
            <a:ext cx="500000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1520" y="2850000"/>
            <a:ext cx="39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No authentication anywhere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1520" y="2850000"/>
            <a:ext cx="55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RolesGuard trusts a client-supplied header.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50000"/>
            <a:ext cx="10728960" cy="46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1520" y="3465000"/>
            <a:ext cx="500000" cy="23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1520" y="3465000"/>
            <a:ext cx="500000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1520" y="3350000"/>
            <a:ext cx="39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Backend covers ~26 of 44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1520" y="3350000"/>
            <a:ext cx="55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No write path for Risk, Validation, Decision, Policy Ph9/10.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50000"/>
            <a:ext cx="10728960" cy="46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1520" y="3965000"/>
            <a:ext cx="500000" cy="23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520" y="3965000"/>
            <a:ext cx="500000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1520" y="3850000"/>
            <a:ext cx="39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Zero secondary database indexes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1520" y="3850000"/>
            <a:ext cx="55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51 relations, no @@index.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50000"/>
            <a:ext cx="10728960" cy="46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1520" y="4465000"/>
            <a:ext cx="500000" cy="23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520" y="4465000"/>
            <a:ext cx="500000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31520" y="4350000"/>
            <a:ext cx="39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No automated tests, no 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1520" y="4350000"/>
            <a:ext cx="55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No test runner, no pipeline.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850000"/>
            <a:ext cx="10728960" cy="46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1520" y="4965000"/>
            <a:ext cx="500000" cy="23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520" y="4965000"/>
            <a:ext cx="500000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1520" y="4850000"/>
            <a:ext cx="39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1,132 KB single JS chunk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1520" y="4850000"/>
            <a:ext cx="55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No code splitting — up from 772 KB as R5-R10 landed.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350000"/>
            <a:ext cx="10728960" cy="46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31520" y="5465000"/>
            <a:ext cx="500000" cy="230000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1520" y="5465000"/>
            <a:ext cx="500000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31520" y="5350000"/>
            <a:ext cx="39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Dead code — 443 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1520" y="5350000"/>
            <a:ext cx="55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Unreferenced since before Release 5.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850000"/>
            <a:ext cx="10728960" cy="46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1520" y="5965000"/>
            <a:ext cx="500000" cy="230000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1520" y="5965000"/>
            <a:ext cx="500000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31520" y="5850000"/>
            <a:ext cx="39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Ad hoc localStorage key versioning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1520" y="5850000"/>
            <a:ext cx="550000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Older payloads are silently ignored.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H = high · M = medium · L = low. Resolved across R4-R10: 26 of 44 models joined, RolesGuard hardened across 85 endpoints.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SCALABILITY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The ceiling moved to the database — mostly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10728960" cy="6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520" y="2430000"/>
            <a:ext cx="3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Persistence (26/44 models)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1520" y="2350000"/>
            <a:ext cx="69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Neon via Prisma, cache-then-network — shared, durable, no per-browser ceiling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0000"/>
            <a:ext cx="10728960" cy="6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1520" y="3090000"/>
            <a:ext cx="3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Persistence (audit 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1520" y="3010000"/>
            <a:ext cx="69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Still browser localStorage — the one domain that stayed client-only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70000"/>
            <a:ext cx="10728960" cy="6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1520" y="3750000"/>
            <a:ext cx="3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Database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1520" y="3670000"/>
            <a:ext cx="69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findMany() with no take/cursor except audit-logs — unbounded at volume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0000"/>
            <a:ext cx="10728960" cy="6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1520" y="4410000"/>
            <a:ext cx="3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Indexing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20" y="4330000"/>
            <a:ext cx="69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0 secondary indexes across 44 models — relation lookups degrade to scans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90000"/>
            <a:ext cx="10728960" cy="6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1520" y="5070000"/>
            <a:ext cx="3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Client bundle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1520" y="4990000"/>
            <a:ext cx="69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1,132 KB single chunk, no code splitting — slower first paint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50000"/>
            <a:ext cx="10728960" cy="62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1520" y="5730000"/>
            <a:ext cx="3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1520" y="5650000"/>
            <a:ext cx="69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1F1F1F"/>
                </a:solidFill>
                <a:latin typeface="Arial"/>
              </a:rPr>
              <a:t>Neon scales; Render free tier cold-starts — not the near-term constraint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Feature-complete, persistence-backed; not yet deployable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50000"/>
            <a:ext cx="30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Functional completeness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520" y="2560000"/>
            <a:ext cx="6800000" cy="14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31520" y="2560000"/>
            <a:ext cx="6528000" cy="140000"/>
          </a:xfrm>
          <a:prstGeom prst="roundRect">
            <a:avLst>
              <a:gd name="adj" fmla="val 50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520" y="2450000"/>
            <a:ext cx="7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BAD48"/>
                </a:solidFill>
                <a:latin typeface="Arial"/>
              </a:rPr>
              <a:t>96%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30000"/>
            <a:ext cx="30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Domain model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520" y="3040000"/>
            <a:ext cx="6800000" cy="14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1520" y="3040000"/>
            <a:ext cx="6256000" cy="140000"/>
          </a:xfrm>
          <a:prstGeom prst="roundRect">
            <a:avLst>
              <a:gd name="adj" fmla="val 50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520" y="2930000"/>
            <a:ext cx="7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BAD48"/>
                </a:solidFill>
                <a:latin typeface="Arial"/>
              </a:rPr>
              <a:t>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10000"/>
            <a:ext cx="30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UX and accessibility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520" y="3520000"/>
            <a:ext cx="6800000" cy="14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31520" y="3520000"/>
            <a:ext cx="5712000" cy="140000"/>
          </a:xfrm>
          <a:prstGeom prst="roundRect">
            <a:avLst>
              <a:gd name="adj" fmla="val 50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520" y="3410000"/>
            <a:ext cx="7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BAD48"/>
                </a:solidFill>
                <a:latin typeface="Arial"/>
              </a:rPr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90000"/>
            <a:ext cx="30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Data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520" y="4000000"/>
            <a:ext cx="6800000" cy="14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31520" y="4000000"/>
            <a:ext cx="5304000" cy="14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520" y="3890000"/>
            <a:ext cx="7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9E0B"/>
                </a:solidFill>
                <a:latin typeface="Arial"/>
              </a:rPr>
              <a:t>78%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70000"/>
            <a:ext cx="30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Authorisation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520" y="4480000"/>
            <a:ext cx="6800000" cy="14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31520" y="4480000"/>
            <a:ext cx="4896000" cy="14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520" y="4370000"/>
            <a:ext cx="7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9E0B"/>
                </a:solidFill>
                <a:latin typeface="Arial"/>
              </a:rPr>
              <a:t>72%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50000"/>
            <a:ext cx="30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Security posture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520" y="4960000"/>
            <a:ext cx="6800000" cy="14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31520" y="4960000"/>
            <a:ext cx="2584000" cy="14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520" y="4850000"/>
            <a:ext cx="7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38%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30000"/>
            <a:ext cx="30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Operational readiness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520" y="5440000"/>
            <a:ext cx="6800000" cy="14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31520" y="5440000"/>
            <a:ext cx="1700000" cy="14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520" y="5330000"/>
            <a:ext cx="7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10000"/>
            <a:ext cx="30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Test and CI maturity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520" y="5920000"/>
            <a:ext cx="6800000" cy="140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81520" y="5810000"/>
            <a:ext cx="7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1334A"/>
                </a:solidFill>
                <a:latin typeface="Arial"/>
              </a:rPr>
              <a:t>0%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RECOMMENDED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What closes the gap between complete and deployable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50000"/>
            <a:ext cx="10728960" cy="5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1520" y="2605000"/>
            <a:ext cx="550000" cy="26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1520" y="2605000"/>
            <a:ext cx="55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1520" y="2520000"/>
            <a:ext cx="39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Server-side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1520" y="2790000"/>
            <a:ext cx="89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Signed session/JWT; resolve role server-side. Closes the RolesGuard residual.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0000"/>
            <a:ext cx="10728960" cy="5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1520" y="3215000"/>
            <a:ext cx="550000" cy="260000"/>
          </a:xfrm>
          <a:prstGeom prst="roundRect">
            <a:avLst>
              <a:gd name="adj" fmla="val 50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520" y="3215000"/>
            <a:ext cx="55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1520" y="3130000"/>
            <a:ext cx="39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Move the audit log to the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1520" y="3400000"/>
            <a:ext cx="89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Server-issued timestamps, database-level append-only enforcement.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70000"/>
            <a:ext cx="10728960" cy="5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1520" y="3825000"/>
            <a:ext cx="550000" cy="26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1520" y="3825000"/>
            <a:ext cx="55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1520" y="3740000"/>
            <a:ext cx="39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Cover the remaining 18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1520" y="4010000"/>
            <a:ext cx="89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Risk, Validation, Decision, Policy (Ph9), Change (Ph10), Operations.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80000"/>
            <a:ext cx="10728960" cy="5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1520" y="4435000"/>
            <a:ext cx="550000" cy="26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520" y="4435000"/>
            <a:ext cx="55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1520" y="4350000"/>
            <a:ext cx="39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Add database indexes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1520" y="4620000"/>
            <a:ext cx="89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Index every foreign key before any volume load.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90000"/>
            <a:ext cx="10728960" cy="5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1520" y="5045000"/>
            <a:ext cx="550000" cy="26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520" y="5045000"/>
            <a:ext cx="55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1520" y="4960000"/>
            <a:ext cx="39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Test suite and CI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1520" y="5230000"/>
            <a:ext cx="89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Unit tests on the reasoning engines first.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00000"/>
            <a:ext cx="10728960" cy="5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1520" y="5655000"/>
            <a:ext cx="550000" cy="260000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520" y="5655000"/>
            <a:ext cx="55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81520" y="5570000"/>
            <a:ext cx="39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Route-level code splitting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81520" y="5840000"/>
            <a:ext cx="89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4A4A4A"/>
                </a:solidFill>
                <a:latin typeface="Arial"/>
              </a:rPr>
              <a:t>Lazy-load domains to cut the 1,132 KB entry chunk.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0000" cy="6858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0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1334A"/>
                </a:solidFill>
                <a:latin typeface="Arial"/>
              </a:rPr>
              <a:t>BOTTOM LINE FOR THE 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50000"/>
            <a:ext cx="1072896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The hard part is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000"/>
            <a:ext cx="95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D9D9D9"/>
                </a:solidFill>
                <a:latin typeface="Arial"/>
              </a:rPr>
              <a:t>The governance domain — the opinionated, hard-to-get-right part — is now largely server-backed and coherent across ten releases. What remains is conventional platform engineering: identity, the last mile of persistence, and operational hardening.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0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0B0B0"/>
                </a:solidFill>
                <a:latin typeface="Arial"/>
              </a:rPr>
              <a:t>Govern Every AI.   ·   Control Every Decision.   ·   Prove Every Outcome.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