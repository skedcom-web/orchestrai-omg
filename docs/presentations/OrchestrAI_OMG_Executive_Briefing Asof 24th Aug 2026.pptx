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366760" y="1828800"/>
            <a:ext cx="3200400" cy="3200400"/>
          </a:xfrm>
          <a:prstGeom prst="ellipse">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32520" y="2194560"/>
            <a:ext cx="2468880" cy="2468880"/>
          </a:xfrm>
          <a:prstGeom prst="ellipse">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98280" y="2560320"/>
            <a:ext cx="1737360" cy="1737360"/>
          </a:xfrm>
          <a:prstGeom prst="ellipse">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92640" y="3127248"/>
            <a:ext cx="603504" cy="6035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80000"/>
            <a:ext cx="7863840"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ORCHESTRAI</a:t>
            </a:r>
          </a:p>
        </p:txBody>
      </p:sp>
      <p:sp>
        <p:nvSpPr>
          <p:cNvPr id="7" name="TextBox 6"/>
          <p:cNvSpPr txBox="1"/>
          <p:nvPr/>
        </p:nvSpPr>
        <p:spPr>
          <a:xfrm>
            <a:off x="548640" y="1570000"/>
            <a:ext cx="7863840" cy="1350000"/>
          </a:xfrm>
          <a:prstGeom prst="rect">
            <a:avLst/>
          </a:prstGeom>
          <a:noFill/>
        </p:spPr>
        <p:txBody>
          <a:bodyPr wrap="square" anchor="t" lIns="0" rIns="0" tIns="0" bIns="0">
            <a:spAutoFit/>
          </a:bodyPr>
          <a:lstStyle/>
          <a:p>
            <a:pPr algn="l">
              <a:lnSpc>
                <a:spcPct val="108000"/>
              </a:lnSpc>
            </a:pPr>
            <a:r>
              <a:rPr sz="8400" b="1" i="0">
                <a:solidFill>
                  <a:srgbClr val="FFFFFF"/>
                </a:solidFill>
                <a:latin typeface="Cambria"/>
              </a:rPr>
              <a:t>OMG</a:t>
            </a:r>
          </a:p>
        </p:txBody>
      </p:sp>
      <p:sp>
        <p:nvSpPr>
          <p:cNvPr id="8" name="TextBox 7"/>
          <p:cNvSpPr txBox="1"/>
          <p:nvPr/>
        </p:nvSpPr>
        <p:spPr>
          <a:xfrm>
            <a:off x="548640" y="2990000"/>
            <a:ext cx="7863840" cy="457200"/>
          </a:xfrm>
          <a:prstGeom prst="rect">
            <a:avLst/>
          </a:prstGeom>
          <a:noFill/>
        </p:spPr>
        <p:txBody>
          <a:bodyPr wrap="square" anchor="t" lIns="0" rIns="0" tIns="0" bIns="0">
            <a:spAutoFit/>
          </a:bodyPr>
          <a:lstStyle/>
          <a:p>
            <a:pPr algn="l">
              <a:lnSpc>
                <a:spcPct val="108000"/>
              </a:lnSpc>
            </a:pPr>
            <a:r>
              <a:rPr sz="2500" b="0" i="0">
                <a:solidFill>
                  <a:srgbClr val="CADCFC"/>
                </a:solidFill>
                <a:latin typeface="Cambria"/>
              </a:rPr>
              <a:t>Enterprise AI Governance Operating Platform</a:t>
            </a:r>
          </a:p>
        </p:txBody>
      </p:sp>
      <p:sp>
        <p:nvSpPr>
          <p:cNvPr id="9" name="TextBox 8"/>
          <p:cNvSpPr txBox="1"/>
          <p:nvPr/>
        </p:nvSpPr>
        <p:spPr>
          <a:xfrm>
            <a:off x="548640" y="3540000"/>
            <a:ext cx="7863840" cy="500000"/>
          </a:xfrm>
          <a:prstGeom prst="rect">
            <a:avLst/>
          </a:prstGeom>
          <a:noFill/>
        </p:spPr>
        <p:txBody>
          <a:bodyPr wrap="square" anchor="t" lIns="0" rIns="0" tIns="0" bIns="0">
            <a:spAutoFit/>
          </a:bodyPr>
          <a:lstStyle/>
          <a:p>
            <a:pPr algn="l">
              <a:lnSpc>
                <a:spcPct val="108000"/>
              </a:lnSpc>
            </a:pPr>
            <a:r>
              <a:rPr sz="1700" b="1" i="0">
                <a:solidFill>
                  <a:srgbClr val="FFFFFF"/>
                </a:solidFill>
                <a:latin typeface="Calibri"/>
              </a:rPr>
              <a:t>Built Once. Configured Together. Governed Continuously.</a:t>
            </a:r>
          </a:p>
        </p:txBody>
      </p:sp>
      <p:sp>
        <p:nvSpPr>
          <p:cNvPr id="10" name="TextBox 9"/>
          <p:cNvSpPr txBox="1"/>
          <p:nvPr/>
        </p:nvSpPr>
        <p:spPr>
          <a:xfrm>
            <a:off x="548640" y="4080000"/>
            <a:ext cx="7863840" cy="329184"/>
          </a:xfrm>
          <a:prstGeom prst="rect">
            <a:avLst/>
          </a:prstGeom>
          <a:noFill/>
        </p:spPr>
        <p:txBody>
          <a:bodyPr wrap="square" anchor="t" lIns="0" rIns="0" tIns="0" bIns="0">
            <a:spAutoFit/>
          </a:bodyPr>
          <a:lstStyle/>
          <a:p>
            <a:pPr algn="l">
              <a:lnSpc>
                <a:spcPct val="108000"/>
              </a:lnSpc>
            </a:pPr>
            <a:r>
              <a:rPr sz="1400" b="0" i="0">
                <a:solidFill>
                  <a:srgbClr val="A8BDE8"/>
                </a:solidFill>
                <a:latin typeface="Calibri"/>
              </a:rPr>
              <a:t>Govern Every AI.   ·   Control Every Decision.   ·   Prove Every Outcome.</a:t>
            </a:r>
          </a:p>
        </p:txBody>
      </p:sp>
      <p:sp>
        <p:nvSpPr>
          <p:cNvPr id="11" name="Rectangle 10"/>
          <p:cNvSpPr/>
          <p:nvPr/>
        </p:nvSpPr>
        <p:spPr>
          <a:xfrm>
            <a:off x="548640" y="4620000"/>
            <a:ext cx="900000" cy="6096"/>
          </a:xfrm>
          <a:prstGeom prst="rect">
            <a:avLst/>
          </a:prstGeom>
          <a:solidFill>
            <a:srgbClr val="A8B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989320"/>
            <a:ext cx="7863840" cy="274320"/>
          </a:xfrm>
          <a:prstGeom prst="rect">
            <a:avLst/>
          </a:prstGeom>
          <a:noFill/>
        </p:spPr>
        <p:txBody>
          <a:bodyPr wrap="square" anchor="t" lIns="0" rIns="0" tIns="0" bIns="0">
            <a:spAutoFit/>
          </a:bodyPr>
          <a:lstStyle/>
          <a:p>
            <a:pPr algn="l">
              <a:lnSpc>
                <a:spcPct val="108000"/>
              </a:lnSpc>
            </a:pPr>
            <a:r>
              <a:rPr sz="1100" b="1" i="0">
                <a:solidFill>
                  <a:srgbClr val="A8BDE8"/>
                </a:solidFill>
                <a:latin typeface="Calibri"/>
              </a:rPr>
              <a:t>Executive Briefing  ·  Core Platform v1.0 Complete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THE BUSINESS PROBLEM</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AI adoption is outpacing AI control</a:t>
            </a:r>
          </a:p>
        </p:txBody>
      </p:sp>
      <p:sp>
        <p:nvSpPr>
          <p:cNvPr id="4" name="Rectangle 3"/>
          <p:cNvSpPr/>
          <p:nvPr/>
        </p:nvSpPr>
        <p:spPr>
          <a:xfrm>
            <a:off x="548640" y="1600200"/>
            <a:ext cx="3657600" cy="42062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65960"/>
            <a:ext cx="3017520" cy="914400"/>
          </a:xfrm>
          <a:prstGeom prst="rect">
            <a:avLst/>
          </a:prstGeom>
          <a:noFill/>
        </p:spPr>
        <p:txBody>
          <a:bodyPr wrap="square" anchor="t" lIns="0" rIns="0" tIns="0" bIns="0">
            <a:spAutoFit/>
          </a:bodyPr>
          <a:lstStyle/>
          <a:p>
            <a:pPr algn="l">
              <a:lnSpc>
                <a:spcPct val="115000"/>
              </a:lnSpc>
            </a:pPr>
            <a:r>
              <a:rPr sz="1900" b="1" i="0">
                <a:solidFill>
                  <a:srgbClr val="FFFFFF"/>
                </a:solidFill>
                <a:latin typeface="Cambria"/>
              </a:rPr>
              <a:t>Most organisations can name their AI projects.</a:t>
            </a:r>
          </a:p>
        </p:txBody>
      </p:sp>
      <p:sp>
        <p:nvSpPr>
          <p:cNvPr id="6" name="TextBox 5"/>
          <p:cNvSpPr txBox="1"/>
          <p:nvPr/>
        </p:nvSpPr>
        <p:spPr>
          <a:xfrm>
            <a:off x="868680" y="2971800"/>
            <a:ext cx="3017520" cy="1554480"/>
          </a:xfrm>
          <a:prstGeom prst="rect">
            <a:avLst/>
          </a:prstGeom>
          <a:noFill/>
        </p:spPr>
        <p:txBody>
          <a:bodyPr wrap="square" anchor="t" lIns="0" rIns="0" tIns="0" bIns="0">
            <a:spAutoFit/>
          </a:bodyPr>
          <a:lstStyle/>
          <a:p>
            <a:pPr algn="l">
              <a:lnSpc>
                <a:spcPct val="125000"/>
              </a:lnSpc>
            </a:pPr>
            <a:r>
              <a:rPr sz="1350" b="0" i="0">
                <a:solidFill>
                  <a:srgbClr val="CADCFC"/>
                </a:solidFill>
                <a:latin typeface="Calibri"/>
              </a:rPr>
              <a:t>Very few can answer, on demand, who owns each one, what risk it carries, who approved it, and what evidence exists to prove it.</a:t>
            </a:r>
          </a:p>
        </p:txBody>
      </p:sp>
      <p:sp>
        <p:nvSpPr>
          <p:cNvPr id="7" name="TextBox 6"/>
          <p:cNvSpPr txBox="1"/>
          <p:nvPr/>
        </p:nvSpPr>
        <p:spPr>
          <a:xfrm>
            <a:off x="868680" y="4983480"/>
            <a:ext cx="3017520" cy="457200"/>
          </a:xfrm>
          <a:prstGeom prst="rect">
            <a:avLst/>
          </a:prstGeom>
          <a:noFill/>
        </p:spPr>
        <p:txBody>
          <a:bodyPr wrap="square" anchor="t" lIns="0" rIns="0" tIns="0" bIns="0">
            <a:spAutoFit/>
          </a:bodyPr>
          <a:lstStyle/>
          <a:p>
            <a:pPr algn="l">
              <a:lnSpc>
                <a:spcPct val="108000"/>
              </a:lnSpc>
            </a:pPr>
            <a:r>
              <a:rPr sz="1300" b="1" i="0">
                <a:solidFill>
                  <a:srgbClr val="FFFFFF"/>
                </a:solidFill>
                <a:latin typeface="Calibri"/>
              </a:rPr>
              <a:t>That gap is what OMG closes.</a:t>
            </a:r>
          </a:p>
        </p:txBody>
      </p:sp>
      <p:sp>
        <p:nvSpPr>
          <p:cNvPr id="8" name="Rectangle 7"/>
          <p:cNvSpPr/>
          <p:nvPr/>
        </p:nvSpPr>
        <p:spPr>
          <a:xfrm>
            <a:off x="4526280" y="1600200"/>
            <a:ext cx="7086600" cy="75895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27448" y="180136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7448" y="1801368"/>
            <a:ext cx="365760" cy="365760"/>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1</a:t>
            </a:r>
          </a:p>
        </p:txBody>
      </p:sp>
      <p:sp>
        <p:nvSpPr>
          <p:cNvPr id="11" name="TextBox 10"/>
          <p:cNvSpPr txBox="1"/>
          <p:nvPr/>
        </p:nvSpPr>
        <p:spPr>
          <a:xfrm>
            <a:off x="5239512" y="1691640"/>
            <a:ext cx="6172200" cy="274320"/>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Unknown AI inventory</a:t>
            </a:r>
          </a:p>
        </p:txBody>
      </p:sp>
      <p:sp>
        <p:nvSpPr>
          <p:cNvPr id="12" name="TextBox 11"/>
          <p:cNvSpPr txBox="1"/>
          <p:nvPr/>
        </p:nvSpPr>
        <p:spPr>
          <a:xfrm>
            <a:off x="5239512" y="1956816"/>
            <a:ext cx="6172200" cy="347472"/>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No single list of every application, agent, model, copilot and third-party AI service in use.</a:t>
            </a:r>
          </a:p>
        </p:txBody>
      </p:sp>
      <p:sp>
        <p:nvSpPr>
          <p:cNvPr id="13" name="Rectangle 12"/>
          <p:cNvSpPr/>
          <p:nvPr/>
        </p:nvSpPr>
        <p:spPr>
          <a:xfrm>
            <a:off x="4526280" y="2468880"/>
            <a:ext cx="7086600" cy="75895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27448" y="267004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2670048"/>
            <a:ext cx="365760" cy="365760"/>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2</a:t>
            </a:r>
          </a:p>
        </p:txBody>
      </p:sp>
      <p:sp>
        <p:nvSpPr>
          <p:cNvPr id="16" name="TextBox 15"/>
          <p:cNvSpPr txBox="1"/>
          <p:nvPr/>
        </p:nvSpPr>
        <p:spPr>
          <a:xfrm>
            <a:off x="5239512" y="2560320"/>
            <a:ext cx="6172200" cy="274320"/>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No named ownership</a:t>
            </a:r>
          </a:p>
        </p:txBody>
      </p:sp>
      <p:sp>
        <p:nvSpPr>
          <p:cNvPr id="17" name="TextBox 16"/>
          <p:cNvSpPr txBox="1"/>
          <p:nvPr/>
        </p:nvSpPr>
        <p:spPr>
          <a:xfrm>
            <a:off x="5239512" y="2825496"/>
            <a:ext cx="6172200" cy="347472"/>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When something goes wrong, there is no agreed business, technical, risk or compliance owner.</a:t>
            </a:r>
          </a:p>
        </p:txBody>
      </p:sp>
      <p:sp>
        <p:nvSpPr>
          <p:cNvPr id="18" name="Rectangle 17"/>
          <p:cNvSpPr/>
          <p:nvPr/>
        </p:nvSpPr>
        <p:spPr>
          <a:xfrm>
            <a:off x="4526280" y="3337560"/>
            <a:ext cx="7086600" cy="75895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27448" y="353872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27448" y="3538728"/>
            <a:ext cx="365760" cy="365760"/>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3</a:t>
            </a:r>
          </a:p>
        </p:txBody>
      </p:sp>
      <p:sp>
        <p:nvSpPr>
          <p:cNvPr id="21" name="TextBox 20"/>
          <p:cNvSpPr txBox="1"/>
          <p:nvPr/>
        </p:nvSpPr>
        <p:spPr>
          <a:xfrm>
            <a:off x="5239512" y="3429000"/>
            <a:ext cx="6172200" cy="274320"/>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Fragmented approvals</a:t>
            </a:r>
          </a:p>
        </p:txBody>
      </p:sp>
      <p:sp>
        <p:nvSpPr>
          <p:cNvPr id="22" name="TextBox 21"/>
          <p:cNvSpPr txBox="1"/>
          <p:nvPr/>
        </p:nvSpPr>
        <p:spPr>
          <a:xfrm>
            <a:off x="5239512" y="3694176"/>
            <a:ext cx="6172200" cy="347472"/>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Approvals live in email and slide decks. There is no record of who authorised production use.</a:t>
            </a:r>
          </a:p>
        </p:txBody>
      </p:sp>
      <p:sp>
        <p:nvSpPr>
          <p:cNvPr id="23" name="Rectangle 22"/>
          <p:cNvSpPr/>
          <p:nvPr/>
        </p:nvSpPr>
        <p:spPr>
          <a:xfrm>
            <a:off x="4526280" y="4206240"/>
            <a:ext cx="7086600" cy="75895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27448" y="440740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27448" y="4407408"/>
            <a:ext cx="365760" cy="365760"/>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4</a:t>
            </a:r>
          </a:p>
        </p:txBody>
      </p:sp>
      <p:sp>
        <p:nvSpPr>
          <p:cNvPr id="26" name="TextBox 25"/>
          <p:cNvSpPr txBox="1"/>
          <p:nvPr/>
        </p:nvSpPr>
        <p:spPr>
          <a:xfrm>
            <a:off x="5239512" y="4297680"/>
            <a:ext cx="6172200" cy="274320"/>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Missing audit trail</a:t>
            </a:r>
          </a:p>
        </p:txBody>
      </p:sp>
      <p:sp>
        <p:nvSpPr>
          <p:cNvPr id="27" name="TextBox 26"/>
          <p:cNvSpPr txBox="1"/>
          <p:nvPr/>
        </p:nvSpPr>
        <p:spPr>
          <a:xfrm>
            <a:off x="5239512" y="4562856"/>
            <a:ext cx="6172200" cy="347472"/>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Regulators and auditors ask what happened and when. The answer takes weeks to assemble.</a:t>
            </a:r>
          </a:p>
        </p:txBody>
      </p:sp>
      <p:sp>
        <p:nvSpPr>
          <p:cNvPr id="28" name="Rectangle 27"/>
          <p:cNvSpPr/>
          <p:nvPr/>
        </p:nvSpPr>
        <p:spPr>
          <a:xfrm>
            <a:off x="4526280" y="5074920"/>
            <a:ext cx="7086600" cy="75895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27448" y="527608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27448" y="5276088"/>
            <a:ext cx="365760" cy="365760"/>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5</a:t>
            </a:r>
          </a:p>
        </p:txBody>
      </p:sp>
      <p:sp>
        <p:nvSpPr>
          <p:cNvPr id="31" name="TextBox 30"/>
          <p:cNvSpPr txBox="1"/>
          <p:nvPr/>
        </p:nvSpPr>
        <p:spPr>
          <a:xfrm>
            <a:off x="5239512" y="5166360"/>
            <a:ext cx="6172200" cy="274320"/>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No governance visibility</a:t>
            </a:r>
          </a:p>
        </p:txBody>
      </p:sp>
      <p:sp>
        <p:nvSpPr>
          <p:cNvPr id="32" name="TextBox 31"/>
          <p:cNvSpPr txBox="1"/>
          <p:nvPr/>
        </p:nvSpPr>
        <p:spPr>
          <a:xfrm>
            <a:off x="5239512" y="5431536"/>
            <a:ext cx="6172200" cy="347472"/>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Leadership cannot see, in one place, whether enterprise AI is under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WHAT IS OMG</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One configurable system, start to finish</a:t>
            </a:r>
          </a:p>
        </p:txBody>
      </p:sp>
      <p:sp>
        <p:nvSpPr>
          <p:cNvPr id="4" name="TextBox 3"/>
          <p:cNvSpPr txBox="1"/>
          <p:nvPr/>
        </p:nvSpPr>
        <p:spPr>
          <a:xfrm>
            <a:off x="548640" y="1572768"/>
            <a:ext cx="6583680" cy="1234440"/>
          </a:xfrm>
          <a:prstGeom prst="rect">
            <a:avLst/>
          </a:prstGeom>
          <a:noFill/>
        </p:spPr>
        <p:txBody>
          <a:bodyPr wrap="square" anchor="t" lIns="0" rIns="0" tIns="0" bIns="0">
            <a:spAutoFit/>
          </a:bodyPr>
          <a:lstStyle/>
          <a:p>
            <a:pPr algn="l">
              <a:lnSpc>
                <a:spcPct val="120000"/>
              </a:lnSpc>
            </a:pPr>
            <a:r>
              <a:rPr sz="1500" b="0" i="0">
                <a:solidFill>
                  <a:srgbClr val="2B3350"/>
                </a:solidFill>
                <a:latin typeface="Calibri"/>
              </a:rPr>
              <a:t>OMG is a single web application where an organisation records every AI system it uses, assigns accountable owners, classifies risk, runs validation, captures evidence, records formal approval decisions, monitors what is running, and keeps a permanent audit trail.</a:t>
            </a:r>
          </a:p>
        </p:txBody>
      </p:sp>
      <p:sp>
        <p:nvSpPr>
          <p:cNvPr id="5" name="TextBox 4"/>
          <p:cNvSpPr txBox="1"/>
          <p:nvPr/>
        </p:nvSpPr>
        <p:spPr>
          <a:xfrm>
            <a:off x="548640" y="2880360"/>
            <a:ext cx="6583680" cy="640080"/>
          </a:xfrm>
          <a:prstGeom prst="rect">
            <a:avLst/>
          </a:prstGeom>
          <a:noFill/>
        </p:spPr>
        <p:txBody>
          <a:bodyPr wrap="square" anchor="t" lIns="0" rIns="0" tIns="0" bIns="0">
            <a:spAutoFit/>
          </a:bodyPr>
          <a:lstStyle/>
          <a:p>
            <a:pPr algn="l">
              <a:lnSpc>
                <a:spcPct val="120000"/>
              </a:lnSpc>
            </a:pPr>
            <a:r>
              <a:rPr sz="1400" b="1" i="0">
                <a:solidFill>
                  <a:srgbClr val="1E2761"/>
                </a:solidFill>
                <a:latin typeface="Calibri"/>
              </a:rPr>
              <a:t>Think of it as the system of record for AI accountability — the equivalent of a general ledger, but for AI decisions.</a:t>
            </a:r>
          </a:p>
        </p:txBody>
      </p:sp>
      <p:sp>
        <p:nvSpPr>
          <p:cNvPr id="6" name="TextBox 5"/>
          <p:cNvSpPr txBox="1"/>
          <p:nvPr/>
        </p:nvSpPr>
        <p:spPr>
          <a:xfrm>
            <a:off x="548640" y="3703320"/>
            <a:ext cx="6583680" cy="274320"/>
          </a:xfrm>
          <a:prstGeom prst="rect">
            <a:avLst/>
          </a:prstGeom>
          <a:noFill/>
        </p:spPr>
        <p:txBody>
          <a:bodyPr wrap="square" anchor="t" lIns="0" rIns="0" tIns="0" bIns="0">
            <a:spAutoFit/>
          </a:bodyPr>
          <a:lstStyle/>
          <a:p>
            <a:pPr algn="l">
              <a:lnSpc>
                <a:spcPct val="108000"/>
              </a:lnSpc>
            </a:pPr>
            <a:r>
              <a:rPr sz="1200" b="1" i="0">
                <a:solidFill>
                  <a:srgbClr val="6B7391"/>
                </a:solidFill>
                <a:latin typeface="Calibri"/>
              </a:rPr>
              <a:t>OMG exists to answer nine questions:</a:t>
            </a:r>
          </a:p>
        </p:txBody>
      </p:sp>
      <p:sp>
        <p:nvSpPr>
          <p:cNvPr id="7" name="TextBox 6"/>
          <p:cNvSpPr txBox="1"/>
          <p:nvPr/>
        </p:nvSpPr>
        <p:spPr>
          <a:xfrm>
            <a:off x="640080" y="404164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What AI exists?</a:t>
            </a:r>
          </a:p>
        </p:txBody>
      </p:sp>
      <p:sp>
        <p:nvSpPr>
          <p:cNvPr id="8" name="TextBox 7"/>
          <p:cNvSpPr txBox="1"/>
          <p:nvPr/>
        </p:nvSpPr>
        <p:spPr>
          <a:xfrm>
            <a:off x="640080" y="425500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Who owns it?</a:t>
            </a:r>
          </a:p>
        </p:txBody>
      </p:sp>
      <p:sp>
        <p:nvSpPr>
          <p:cNvPr id="9" name="TextBox 8"/>
          <p:cNvSpPr txBox="1"/>
          <p:nvPr/>
        </p:nvSpPr>
        <p:spPr>
          <a:xfrm>
            <a:off x="640080" y="446836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What rules govern it?</a:t>
            </a:r>
          </a:p>
        </p:txBody>
      </p:sp>
      <p:sp>
        <p:nvSpPr>
          <p:cNvPr id="10" name="TextBox 9"/>
          <p:cNvSpPr txBox="1"/>
          <p:nvPr/>
        </p:nvSpPr>
        <p:spPr>
          <a:xfrm>
            <a:off x="640080" y="468172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Can it be trusted?</a:t>
            </a:r>
          </a:p>
        </p:txBody>
      </p:sp>
      <p:sp>
        <p:nvSpPr>
          <p:cNvPr id="11" name="TextBox 10"/>
          <p:cNvSpPr txBox="1"/>
          <p:nvPr/>
        </p:nvSpPr>
        <p:spPr>
          <a:xfrm>
            <a:off x="640080" y="489508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Can it move to production?</a:t>
            </a:r>
          </a:p>
        </p:txBody>
      </p:sp>
      <p:sp>
        <p:nvSpPr>
          <p:cNvPr id="12" name="TextBox 11"/>
          <p:cNvSpPr txBox="1"/>
          <p:nvPr/>
        </p:nvSpPr>
        <p:spPr>
          <a:xfrm>
            <a:off x="640080" y="510844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What is happening now?</a:t>
            </a:r>
          </a:p>
        </p:txBody>
      </p:sp>
      <p:sp>
        <p:nvSpPr>
          <p:cNvPr id="13" name="TextBox 12"/>
          <p:cNvSpPr txBox="1"/>
          <p:nvPr/>
        </p:nvSpPr>
        <p:spPr>
          <a:xfrm>
            <a:off x="640080" y="532180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What changed, and who approved it?</a:t>
            </a:r>
          </a:p>
        </p:txBody>
      </p:sp>
      <p:sp>
        <p:nvSpPr>
          <p:cNvPr id="14" name="TextBox 13"/>
          <p:cNvSpPr txBox="1"/>
          <p:nvPr/>
        </p:nvSpPr>
        <p:spPr>
          <a:xfrm>
            <a:off x="640080" y="553516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Can we prove all of the above?</a:t>
            </a:r>
          </a:p>
        </p:txBody>
      </p:sp>
      <p:sp>
        <p:nvSpPr>
          <p:cNvPr id="15" name="TextBox 14"/>
          <p:cNvSpPr txBox="1"/>
          <p:nvPr/>
        </p:nvSpPr>
        <p:spPr>
          <a:xfrm>
            <a:off x="640080" y="5748528"/>
            <a:ext cx="6492240" cy="24000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  Can it be configured to our own governance model?</a:t>
            </a:r>
          </a:p>
        </p:txBody>
      </p:sp>
      <p:sp>
        <p:nvSpPr>
          <p:cNvPr id="16" name="Rectangle 15"/>
          <p:cNvSpPr/>
          <p:nvPr/>
        </p:nvSpPr>
        <p:spPr>
          <a:xfrm>
            <a:off x="7360920" y="1572768"/>
            <a:ext cx="4251960"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1719072"/>
            <a:ext cx="3657600" cy="274320"/>
          </a:xfrm>
          <a:prstGeom prst="rect">
            <a:avLst/>
          </a:prstGeom>
          <a:noFill/>
        </p:spPr>
        <p:txBody>
          <a:bodyPr wrap="square" anchor="t" lIns="0" rIns="0" tIns="0" bIns="0">
            <a:spAutoFit/>
          </a:bodyPr>
          <a:lstStyle/>
          <a:p>
            <a:pPr algn="l">
              <a:lnSpc>
                <a:spcPct val="108000"/>
              </a:lnSpc>
            </a:pPr>
            <a:r>
              <a:rPr sz="1200" b="1" i="0">
                <a:solidFill>
                  <a:srgbClr val="1E2761"/>
                </a:solidFill>
                <a:latin typeface="Calibri"/>
              </a:rPr>
              <a:t>REGISTER</a:t>
            </a:r>
          </a:p>
        </p:txBody>
      </p:sp>
      <p:sp>
        <p:nvSpPr>
          <p:cNvPr id="18" name="TextBox 17"/>
          <p:cNvSpPr txBox="1"/>
          <p:nvPr/>
        </p:nvSpPr>
        <p:spPr>
          <a:xfrm>
            <a:off x="7635240" y="2048256"/>
            <a:ext cx="3703320" cy="685800"/>
          </a:xfrm>
          <a:prstGeom prst="rect">
            <a:avLst/>
          </a:prstGeom>
          <a:noFill/>
        </p:spPr>
        <p:txBody>
          <a:bodyPr wrap="square" anchor="t" lIns="0" rIns="0" tIns="0" bIns="0">
            <a:spAutoFit/>
          </a:bodyPr>
          <a:lstStyle/>
          <a:p>
            <a:pPr algn="l">
              <a:lnSpc>
                <a:spcPct val="115000"/>
              </a:lnSpc>
            </a:pPr>
            <a:r>
              <a:rPr sz="1200" b="0" i="0">
                <a:solidFill>
                  <a:srgbClr val="2B3350"/>
                </a:solidFill>
                <a:latin typeface="Calibri"/>
              </a:rPr>
              <a:t>Every AI asset is entered into one inventory with a named owner.</a:t>
            </a:r>
          </a:p>
        </p:txBody>
      </p:sp>
      <p:sp>
        <p:nvSpPr>
          <p:cNvPr id="19" name="TextBox 18"/>
          <p:cNvSpPr txBox="1"/>
          <p:nvPr/>
        </p:nvSpPr>
        <p:spPr>
          <a:xfrm>
            <a:off x="7360920" y="2889936"/>
            <a:ext cx="4251960" cy="219456"/>
          </a:xfrm>
          <a:prstGeom prst="rect">
            <a:avLst/>
          </a:prstGeom>
          <a:noFill/>
        </p:spPr>
        <p:txBody>
          <a:bodyPr wrap="square" anchor="t" lIns="0" rIns="0" tIns="0" bIns="0">
            <a:spAutoFit/>
          </a:bodyPr>
          <a:lstStyle/>
          <a:p>
            <a:pPr algn="ctr">
              <a:lnSpc>
                <a:spcPct val="108000"/>
              </a:lnSpc>
            </a:pPr>
            <a:r>
              <a:rPr sz="1100" b="0" i="0">
                <a:solidFill>
                  <a:srgbClr val="6B7391"/>
                </a:solidFill>
                <a:latin typeface="Calibri"/>
              </a:rPr>
              <a:t>▼</a:t>
            </a:r>
          </a:p>
        </p:txBody>
      </p:sp>
      <p:sp>
        <p:nvSpPr>
          <p:cNvPr id="20" name="Rectangle 19"/>
          <p:cNvSpPr/>
          <p:nvPr/>
        </p:nvSpPr>
        <p:spPr>
          <a:xfrm>
            <a:off x="7360920" y="3108960"/>
            <a:ext cx="4251960" cy="12984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35240" y="3255264"/>
            <a:ext cx="3657600" cy="274320"/>
          </a:xfrm>
          <a:prstGeom prst="rect">
            <a:avLst/>
          </a:prstGeom>
          <a:noFill/>
        </p:spPr>
        <p:txBody>
          <a:bodyPr wrap="square" anchor="t" lIns="0" rIns="0" tIns="0" bIns="0">
            <a:spAutoFit/>
          </a:bodyPr>
          <a:lstStyle/>
          <a:p>
            <a:pPr algn="l">
              <a:lnSpc>
                <a:spcPct val="108000"/>
              </a:lnSpc>
            </a:pPr>
            <a:r>
              <a:rPr sz="1200" b="1" i="0">
                <a:solidFill>
                  <a:srgbClr val="CADCFC"/>
                </a:solidFill>
                <a:latin typeface="Calibri"/>
              </a:rPr>
              <a:t>GOVERN</a:t>
            </a:r>
          </a:p>
        </p:txBody>
      </p:sp>
      <p:sp>
        <p:nvSpPr>
          <p:cNvPr id="22" name="TextBox 21"/>
          <p:cNvSpPr txBox="1"/>
          <p:nvPr/>
        </p:nvSpPr>
        <p:spPr>
          <a:xfrm>
            <a:off x="7635240" y="3584448"/>
            <a:ext cx="3703320" cy="685800"/>
          </a:xfrm>
          <a:prstGeom prst="rect">
            <a:avLst/>
          </a:prstGeom>
          <a:noFill/>
        </p:spPr>
        <p:txBody>
          <a:bodyPr wrap="square" anchor="t" lIns="0" rIns="0" tIns="0" bIns="0">
            <a:spAutoFit/>
          </a:bodyPr>
          <a:lstStyle/>
          <a:p>
            <a:pPr algn="l">
              <a:lnSpc>
                <a:spcPct val="115000"/>
              </a:lnSpc>
            </a:pPr>
            <a:r>
              <a:rPr sz="1200" b="0" i="0">
                <a:solidFill>
                  <a:srgbClr val="FFFFFF"/>
                </a:solidFill>
                <a:latin typeface="Calibri"/>
              </a:rPr>
              <a:t>Risk, validation, evidence and formal approval are applied before production.</a:t>
            </a:r>
          </a:p>
        </p:txBody>
      </p:sp>
      <p:sp>
        <p:nvSpPr>
          <p:cNvPr id="23" name="TextBox 22"/>
          <p:cNvSpPr txBox="1"/>
          <p:nvPr/>
        </p:nvSpPr>
        <p:spPr>
          <a:xfrm>
            <a:off x="7360920" y="4426128"/>
            <a:ext cx="4251960" cy="219456"/>
          </a:xfrm>
          <a:prstGeom prst="rect">
            <a:avLst/>
          </a:prstGeom>
          <a:noFill/>
        </p:spPr>
        <p:txBody>
          <a:bodyPr wrap="square" anchor="t" lIns="0" rIns="0" tIns="0" bIns="0">
            <a:spAutoFit/>
          </a:bodyPr>
          <a:lstStyle/>
          <a:p>
            <a:pPr algn="ctr">
              <a:lnSpc>
                <a:spcPct val="108000"/>
              </a:lnSpc>
            </a:pPr>
            <a:r>
              <a:rPr sz="1100" b="0" i="0">
                <a:solidFill>
                  <a:srgbClr val="6B7391"/>
                </a:solidFill>
                <a:latin typeface="Calibri"/>
              </a:rPr>
              <a:t>▼</a:t>
            </a:r>
          </a:p>
        </p:txBody>
      </p:sp>
      <p:sp>
        <p:nvSpPr>
          <p:cNvPr id="24" name="Rectangle 23"/>
          <p:cNvSpPr/>
          <p:nvPr/>
        </p:nvSpPr>
        <p:spPr>
          <a:xfrm>
            <a:off x="7360920" y="4645152"/>
            <a:ext cx="4251960"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4791456"/>
            <a:ext cx="3657600" cy="274320"/>
          </a:xfrm>
          <a:prstGeom prst="rect">
            <a:avLst/>
          </a:prstGeom>
          <a:noFill/>
        </p:spPr>
        <p:txBody>
          <a:bodyPr wrap="square" anchor="t" lIns="0" rIns="0" tIns="0" bIns="0">
            <a:spAutoFit/>
          </a:bodyPr>
          <a:lstStyle/>
          <a:p>
            <a:pPr algn="l">
              <a:lnSpc>
                <a:spcPct val="108000"/>
              </a:lnSpc>
            </a:pPr>
            <a:r>
              <a:rPr sz="1200" b="1" i="0">
                <a:solidFill>
                  <a:srgbClr val="1E2761"/>
                </a:solidFill>
                <a:latin typeface="Calibri"/>
              </a:rPr>
              <a:t>CONFIGURE &amp; PROVE</a:t>
            </a:r>
          </a:p>
        </p:txBody>
      </p:sp>
      <p:sp>
        <p:nvSpPr>
          <p:cNvPr id="26" name="TextBox 25"/>
          <p:cNvSpPr txBox="1"/>
          <p:nvPr/>
        </p:nvSpPr>
        <p:spPr>
          <a:xfrm>
            <a:off x="7635240" y="5120640"/>
            <a:ext cx="3703320" cy="685800"/>
          </a:xfrm>
          <a:prstGeom prst="rect">
            <a:avLst/>
          </a:prstGeom>
          <a:noFill/>
        </p:spPr>
        <p:txBody>
          <a:bodyPr wrap="square" anchor="t" lIns="0" rIns="0" tIns="0" bIns="0">
            <a:spAutoFit/>
          </a:bodyPr>
          <a:lstStyle/>
          <a:p>
            <a:pPr algn="l">
              <a:lnSpc>
                <a:spcPct val="115000"/>
              </a:lnSpc>
            </a:pPr>
            <a:r>
              <a:rPr sz="1200" b="0" i="0">
                <a:solidFill>
                  <a:srgbClr val="2B3350"/>
                </a:solidFill>
                <a:latin typeface="Calibri"/>
              </a:rPr>
              <a:t>Governance logic is tuned to the customer, and every action is written to an audit trail.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WHAT OMG GOVERNS</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Nine asset categories, governed identically</a:t>
            </a:r>
          </a:p>
        </p:txBody>
      </p:sp>
      <p:sp>
        <p:nvSpPr>
          <p:cNvPr id="4" name="TextBox 3"/>
          <p:cNvSpPr txBox="1"/>
          <p:nvPr/>
        </p:nvSpPr>
        <p:spPr>
          <a:xfrm>
            <a:off x="548640" y="1481328"/>
            <a:ext cx="10058400" cy="475488"/>
          </a:xfrm>
          <a:prstGeom prst="rect">
            <a:avLst/>
          </a:prstGeom>
          <a:noFill/>
        </p:spPr>
        <p:txBody>
          <a:bodyPr wrap="square" anchor="t" lIns="0" rIns="0" tIns="0" bIns="0">
            <a:spAutoFit/>
          </a:bodyPr>
          <a:lstStyle/>
          <a:p>
            <a:pPr algn="l">
              <a:lnSpc>
                <a:spcPct val="108000"/>
              </a:lnSpc>
            </a:pPr>
            <a:r>
              <a:rPr sz="1400" b="0" i="0">
                <a:solidFill>
                  <a:srgbClr val="2B3350"/>
                </a:solidFill>
                <a:latin typeface="Calibri"/>
              </a:rPr>
              <a:t>OMG does not govern only machine-learning models. Every form of AI the enterprise runs is registered and held to the same standard.</a:t>
            </a:r>
          </a:p>
        </p:txBody>
      </p:sp>
      <p:sp>
        <p:nvSpPr>
          <p:cNvPr id="5" name="Rectangle 4"/>
          <p:cNvSpPr/>
          <p:nvPr/>
        </p:nvSpPr>
        <p:spPr>
          <a:xfrm>
            <a:off x="548640" y="2029968"/>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8096" y="2267712"/>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267712"/>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1</a:t>
            </a:r>
          </a:p>
        </p:txBody>
      </p:sp>
      <p:sp>
        <p:nvSpPr>
          <p:cNvPr id="8" name="TextBox 7"/>
          <p:cNvSpPr txBox="1"/>
          <p:nvPr/>
        </p:nvSpPr>
        <p:spPr>
          <a:xfrm>
            <a:off x="1188720" y="2212848"/>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Applications</a:t>
            </a:r>
          </a:p>
        </p:txBody>
      </p:sp>
      <p:sp>
        <p:nvSpPr>
          <p:cNvPr id="9" name="TextBox 8"/>
          <p:cNvSpPr txBox="1"/>
          <p:nvPr/>
        </p:nvSpPr>
        <p:spPr>
          <a:xfrm>
            <a:off x="1188720" y="2542032"/>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AI-infused enterprise applications</a:t>
            </a:r>
          </a:p>
        </p:txBody>
      </p:sp>
      <p:sp>
        <p:nvSpPr>
          <p:cNvPr id="10" name="Rectangle 9"/>
          <p:cNvSpPr/>
          <p:nvPr/>
        </p:nvSpPr>
        <p:spPr>
          <a:xfrm>
            <a:off x="4315968" y="2029968"/>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35424" y="2267712"/>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2267712"/>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2</a:t>
            </a:r>
          </a:p>
        </p:txBody>
      </p:sp>
      <p:sp>
        <p:nvSpPr>
          <p:cNvPr id="13" name="TextBox 12"/>
          <p:cNvSpPr txBox="1"/>
          <p:nvPr/>
        </p:nvSpPr>
        <p:spPr>
          <a:xfrm>
            <a:off x="4956048" y="2212848"/>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Agents</a:t>
            </a:r>
          </a:p>
        </p:txBody>
      </p:sp>
      <p:sp>
        <p:nvSpPr>
          <p:cNvPr id="14" name="TextBox 13"/>
          <p:cNvSpPr txBox="1"/>
          <p:nvPr/>
        </p:nvSpPr>
        <p:spPr>
          <a:xfrm>
            <a:off x="4956048" y="2542032"/>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Autonomous goal-driven task agents</a:t>
            </a:r>
          </a:p>
        </p:txBody>
      </p:sp>
      <p:sp>
        <p:nvSpPr>
          <p:cNvPr id="15" name="Rectangle 14"/>
          <p:cNvSpPr/>
          <p:nvPr/>
        </p:nvSpPr>
        <p:spPr>
          <a:xfrm>
            <a:off x="8083296" y="2029968"/>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02752" y="2267712"/>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267712"/>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3</a:t>
            </a:r>
          </a:p>
        </p:txBody>
      </p:sp>
      <p:sp>
        <p:nvSpPr>
          <p:cNvPr id="18" name="TextBox 17"/>
          <p:cNvSpPr txBox="1"/>
          <p:nvPr/>
        </p:nvSpPr>
        <p:spPr>
          <a:xfrm>
            <a:off x="8723376" y="2212848"/>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Models</a:t>
            </a:r>
          </a:p>
        </p:txBody>
      </p:sp>
      <p:sp>
        <p:nvSpPr>
          <p:cNvPr id="19" name="TextBox 18"/>
          <p:cNvSpPr txBox="1"/>
          <p:nvPr/>
        </p:nvSpPr>
        <p:spPr>
          <a:xfrm>
            <a:off x="8723376" y="2542032"/>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Predictive and classification models</a:t>
            </a:r>
          </a:p>
        </p:txBody>
      </p:sp>
      <p:sp>
        <p:nvSpPr>
          <p:cNvPr id="20" name="Rectangle 19"/>
          <p:cNvSpPr/>
          <p:nvPr/>
        </p:nvSpPr>
        <p:spPr>
          <a:xfrm>
            <a:off x="548640" y="3420400"/>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68096" y="3658144"/>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658144"/>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4</a:t>
            </a:r>
          </a:p>
        </p:txBody>
      </p:sp>
      <p:sp>
        <p:nvSpPr>
          <p:cNvPr id="23" name="TextBox 22"/>
          <p:cNvSpPr txBox="1"/>
          <p:nvPr/>
        </p:nvSpPr>
        <p:spPr>
          <a:xfrm>
            <a:off x="1188720" y="3603280"/>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LLMs</a:t>
            </a:r>
          </a:p>
        </p:txBody>
      </p:sp>
      <p:sp>
        <p:nvSpPr>
          <p:cNvPr id="24" name="TextBox 23"/>
          <p:cNvSpPr txBox="1"/>
          <p:nvPr/>
        </p:nvSpPr>
        <p:spPr>
          <a:xfrm>
            <a:off x="1188720" y="3932464"/>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Foundation and fine-tuned language models</a:t>
            </a:r>
          </a:p>
        </p:txBody>
      </p:sp>
      <p:sp>
        <p:nvSpPr>
          <p:cNvPr id="25" name="Rectangle 24"/>
          <p:cNvSpPr/>
          <p:nvPr/>
        </p:nvSpPr>
        <p:spPr>
          <a:xfrm>
            <a:off x="4315968" y="3420400"/>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35424" y="3658144"/>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35424" y="3658144"/>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5</a:t>
            </a:r>
          </a:p>
        </p:txBody>
      </p:sp>
      <p:sp>
        <p:nvSpPr>
          <p:cNvPr id="28" name="TextBox 27"/>
          <p:cNvSpPr txBox="1"/>
          <p:nvPr/>
        </p:nvSpPr>
        <p:spPr>
          <a:xfrm>
            <a:off x="4956048" y="3603280"/>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Copilots</a:t>
            </a:r>
          </a:p>
        </p:txBody>
      </p:sp>
      <p:sp>
        <p:nvSpPr>
          <p:cNvPr id="29" name="TextBox 28"/>
          <p:cNvSpPr txBox="1"/>
          <p:nvPr/>
        </p:nvSpPr>
        <p:spPr>
          <a:xfrm>
            <a:off x="4956048" y="3932464"/>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Human-in-the-loop assistants</a:t>
            </a:r>
          </a:p>
        </p:txBody>
      </p:sp>
      <p:sp>
        <p:nvSpPr>
          <p:cNvPr id="30" name="Rectangle 29"/>
          <p:cNvSpPr/>
          <p:nvPr/>
        </p:nvSpPr>
        <p:spPr>
          <a:xfrm>
            <a:off x="8083296" y="3420400"/>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302752" y="3658144"/>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2752" y="3658144"/>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6</a:t>
            </a:r>
          </a:p>
        </p:txBody>
      </p:sp>
      <p:sp>
        <p:nvSpPr>
          <p:cNvPr id="33" name="TextBox 32"/>
          <p:cNvSpPr txBox="1"/>
          <p:nvPr/>
        </p:nvSpPr>
        <p:spPr>
          <a:xfrm>
            <a:off x="8723376" y="3603280"/>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RAG Systems</a:t>
            </a:r>
          </a:p>
        </p:txBody>
      </p:sp>
      <p:sp>
        <p:nvSpPr>
          <p:cNvPr id="34" name="TextBox 33"/>
          <p:cNvSpPr txBox="1"/>
          <p:nvPr/>
        </p:nvSpPr>
        <p:spPr>
          <a:xfrm>
            <a:off x="8723376" y="3932464"/>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Retrieval-augmented knowledge systems</a:t>
            </a:r>
          </a:p>
        </p:txBody>
      </p:sp>
      <p:sp>
        <p:nvSpPr>
          <p:cNvPr id="35" name="Rectangle 34"/>
          <p:cNvSpPr/>
          <p:nvPr/>
        </p:nvSpPr>
        <p:spPr>
          <a:xfrm>
            <a:off x="548640" y="4810832"/>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8096" y="5048576"/>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5048576"/>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7</a:t>
            </a:r>
          </a:p>
        </p:txBody>
      </p:sp>
      <p:sp>
        <p:nvSpPr>
          <p:cNvPr id="38" name="TextBox 37"/>
          <p:cNvSpPr txBox="1"/>
          <p:nvPr/>
        </p:nvSpPr>
        <p:spPr>
          <a:xfrm>
            <a:off x="1188720" y="4993712"/>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AI Workflows</a:t>
            </a:r>
          </a:p>
        </p:txBody>
      </p:sp>
      <p:sp>
        <p:nvSpPr>
          <p:cNvPr id="39" name="TextBox 38"/>
          <p:cNvSpPr txBox="1"/>
          <p:nvPr/>
        </p:nvSpPr>
        <p:spPr>
          <a:xfrm>
            <a:off x="1188720" y="5322896"/>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Orchestrated multi-step AI pipelines</a:t>
            </a:r>
          </a:p>
        </p:txBody>
      </p:sp>
      <p:sp>
        <p:nvSpPr>
          <p:cNvPr id="40" name="Rectangle 39"/>
          <p:cNvSpPr/>
          <p:nvPr/>
        </p:nvSpPr>
        <p:spPr>
          <a:xfrm>
            <a:off x="4315968" y="4810832"/>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35424" y="5048576"/>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35424" y="5048576"/>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8</a:t>
            </a:r>
          </a:p>
        </p:txBody>
      </p:sp>
      <p:sp>
        <p:nvSpPr>
          <p:cNvPr id="43" name="TextBox 42"/>
          <p:cNvSpPr txBox="1"/>
          <p:nvPr/>
        </p:nvSpPr>
        <p:spPr>
          <a:xfrm>
            <a:off x="4956048" y="4993712"/>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Multi-Agent Systems</a:t>
            </a:r>
          </a:p>
        </p:txBody>
      </p:sp>
      <p:sp>
        <p:nvSpPr>
          <p:cNvPr id="44" name="TextBox 43"/>
          <p:cNvSpPr txBox="1"/>
          <p:nvPr/>
        </p:nvSpPr>
        <p:spPr>
          <a:xfrm>
            <a:off x="4956048" y="5322896"/>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Collaborative agent networks</a:t>
            </a:r>
          </a:p>
        </p:txBody>
      </p:sp>
      <p:sp>
        <p:nvSpPr>
          <p:cNvPr id="45" name="Rectangle 44"/>
          <p:cNvSpPr/>
          <p:nvPr/>
        </p:nvSpPr>
        <p:spPr>
          <a:xfrm>
            <a:off x="8083296" y="4810832"/>
            <a:ext cx="3538728" cy="1170432"/>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302752" y="5048576"/>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02752" y="5048576"/>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9</a:t>
            </a:r>
          </a:p>
        </p:txBody>
      </p:sp>
      <p:sp>
        <p:nvSpPr>
          <p:cNvPr id="48" name="TextBox 47"/>
          <p:cNvSpPr txBox="1"/>
          <p:nvPr/>
        </p:nvSpPr>
        <p:spPr>
          <a:xfrm>
            <a:off x="8723376" y="4993712"/>
            <a:ext cx="2878728"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Third-Party AI Services</a:t>
            </a:r>
          </a:p>
        </p:txBody>
      </p:sp>
      <p:sp>
        <p:nvSpPr>
          <p:cNvPr id="49" name="TextBox 48"/>
          <p:cNvSpPr txBox="1"/>
          <p:nvPr/>
        </p:nvSpPr>
        <p:spPr>
          <a:xfrm>
            <a:off x="8723376" y="5322896"/>
            <a:ext cx="2878728" cy="548640"/>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External vendor AI and APIs</a:t>
            </a:r>
          </a:p>
        </p:txBody>
      </p:sp>
      <p:sp>
        <p:nvSpPr>
          <p:cNvPr id="50" name="TextBox 49"/>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AssetType definition, frontend/src/types/index.ts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CAPABILITY OVERVIEW</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Nine domains, nine executive questions</a:t>
            </a:r>
          </a:p>
        </p:txBody>
      </p:sp>
      <p:sp>
        <p:nvSpPr>
          <p:cNvPr id="4" name="Rectangle 3"/>
          <p:cNvSpPr/>
          <p:nvPr/>
        </p:nvSpPr>
        <p:spPr>
          <a:xfrm>
            <a:off x="548640" y="1572768"/>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728216"/>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Executive Governance</a:t>
            </a:r>
          </a:p>
        </p:txBody>
      </p:sp>
      <p:sp>
        <p:nvSpPr>
          <p:cNvPr id="6" name="TextBox 5"/>
          <p:cNvSpPr txBox="1"/>
          <p:nvPr/>
        </p:nvSpPr>
        <p:spPr>
          <a:xfrm>
            <a:off x="786384" y="2029968"/>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Is enterprise AI under control?</a:t>
            </a:r>
          </a:p>
        </p:txBody>
      </p:sp>
      <p:sp>
        <p:nvSpPr>
          <p:cNvPr id="7" name="TextBox 6"/>
          <p:cNvSpPr txBox="1"/>
          <p:nvPr/>
        </p:nvSpPr>
        <p:spPr>
          <a:xfrm>
            <a:off x="786384" y="2368296"/>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5 modules</a:t>
            </a:r>
          </a:p>
        </p:txBody>
      </p:sp>
      <p:sp>
        <p:nvSpPr>
          <p:cNvPr id="8" name="Rectangle 7"/>
          <p:cNvSpPr/>
          <p:nvPr/>
        </p:nvSpPr>
        <p:spPr>
          <a:xfrm>
            <a:off x="4315968" y="1572768"/>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728216"/>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Policy Governance</a:t>
            </a:r>
          </a:p>
        </p:txBody>
      </p:sp>
      <p:sp>
        <p:nvSpPr>
          <p:cNvPr id="10" name="TextBox 9"/>
          <p:cNvSpPr txBox="1"/>
          <p:nvPr/>
        </p:nvSpPr>
        <p:spPr>
          <a:xfrm>
            <a:off x="4553712" y="2029968"/>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What rules govern our AI?</a:t>
            </a:r>
          </a:p>
        </p:txBody>
      </p:sp>
      <p:sp>
        <p:nvSpPr>
          <p:cNvPr id="11" name="TextBox 10"/>
          <p:cNvSpPr txBox="1"/>
          <p:nvPr/>
        </p:nvSpPr>
        <p:spPr>
          <a:xfrm>
            <a:off x="4553712" y="2368296"/>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3 modules</a:t>
            </a:r>
          </a:p>
        </p:txBody>
      </p:sp>
      <p:sp>
        <p:nvSpPr>
          <p:cNvPr id="12" name="Rectangle 11"/>
          <p:cNvSpPr/>
          <p:nvPr/>
        </p:nvSpPr>
        <p:spPr>
          <a:xfrm>
            <a:off x="8083296" y="1572768"/>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728216"/>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Change Governance</a:t>
            </a:r>
          </a:p>
        </p:txBody>
      </p:sp>
      <p:sp>
        <p:nvSpPr>
          <p:cNvPr id="14" name="TextBox 13"/>
          <p:cNvSpPr txBox="1"/>
          <p:nvPr/>
        </p:nvSpPr>
        <p:spPr>
          <a:xfrm>
            <a:off x="8321040" y="2029968"/>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What changed, and who approved it?</a:t>
            </a:r>
          </a:p>
        </p:txBody>
      </p:sp>
      <p:sp>
        <p:nvSpPr>
          <p:cNvPr id="15" name="TextBox 14"/>
          <p:cNvSpPr txBox="1"/>
          <p:nvPr/>
        </p:nvSpPr>
        <p:spPr>
          <a:xfrm>
            <a:off x="8321040" y="2368296"/>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5 modules</a:t>
            </a:r>
          </a:p>
        </p:txBody>
      </p:sp>
      <p:sp>
        <p:nvSpPr>
          <p:cNvPr id="16" name="Rectangle 15"/>
          <p:cNvSpPr/>
          <p:nvPr/>
        </p:nvSpPr>
        <p:spPr>
          <a:xfrm>
            <a:off x="548640" y="2926624"/>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3082072"/>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AI Governance Registry</a:t>
            </a:r>
          </a:p>
        </p:txBody>
      </p:sp>
      <p:sp>
        <p:nvSpPr>
          <p:cNvPr id="18" name="TextBox 17"/>
          <p:cNvSpPr txBox="1"/>
          <p:nvPr/>
        </p:nvSpPr>
        <p:spPr>
          <a:xfrm>
            <a:off x="786384" y="3383824"/>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What AI exists?</a:t>
            </a:r>
          </a:p>
        </p:txBody>
      </p:sp>
      <p:sp>
        <p:nvSpPr>
          <p:cNvPr id="19" name="TextBox 18"/>
          <p:cNvSpPr txBox="1"/>
          <p:nvPr/>
        </p:nvSpPr>
        <p:spPr>
          <a:xfrm>
            <a:off x="786384" y="3722152"/>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4 modules</a:t>
            </a:r>
          </a:p>
        </p:txBody>
      </p:sp>
      <p:sp>
        <p:nvSpPr>
          <p:cNvPr id="20" name="Rectangle 19"/>
          <p:cNvSpPr/>
          <p:nvPr/>
        </p:nvSpPr>
        <p:spPr>
          <a:xfrm>
            <a:off x="4315968" y="2926624"/>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3712" y="3082072"/>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Risk, Compliance &amp; Intelligence</a:t>
            </a:r>
          </a:p>
        </p:txBody>
      </p:sp>
      <p:sp>
        <p:nvSpPr>
          <p:cNvPr id="22" name="TextBox 21"/>
          <p:cNvSpPr txBox="1"/>
          <p:nvPr/>
        </p:nvSpPr>
        <p:spPr>
          <a:xfrm>
            <a:off x="4553712" y="3383824"/>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Can this AI be trusted?</a:t>
            </a:r>
          </a:p>
        </p:txBody>
      </p:sp>
      <p:sp>
        <p:nvSpPr>
          <p:cNvPr id="23" name="TextBox 22"/>
          <p:cNvSpPr txBox="1"/>
          <p:nvPr/>
        </p:nvSpPr>
        <p:spPr>
          <a:xfrm>
            <a:off x="4553712" y="3722152"/>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19 modules</a:t>
            </a:r>
          </a:p>
        </p:txBody>
      </p:sp>
      <p:sp>
        <p:nvSpPr>
          <p:cNvPr id="24" name="Rectangle 23"/>
          <p:cNvSpPr/>
          <p:nvPr/>
        </p:nvSpPr>
        <p:spPr>
          <a:xfrm>
            <a:off x="8083296" y="2926624"/>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3082072"/>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Decision Governance</a:t>
            </a:r>
          </a:p>
        </p:txBody>
      </p:sp>
      <p:sp>
        <p:nvSpPr>
          <p:cNvPr id="26" name="TextBox 25"/>
          <p:cNvSpPr txBox="1"/>
          <p:nvPr/>
        </p:nvSpPr>
        <p:spPr>
          <a:xfrm>
            <a:off x="8321040" y="3383824"/>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Can this AI move?</a:t>
            </a:r>
          </a:p>
        </p:txBody>
      </p:sp>
      <p:sp>
        <p:nvSpPr>
          <p:cNvPr id="27" name="TextBox 26"/>
          <p:cNvSpPr txBox="1"/>
          <p:nvPr/>
        </p:nvSpPr>
        <p:spPr>
          <a:xfrm>
            <a:off x="8321040" y="3722152"/>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5 modules</a:t>
            </a:r>
          </a:p>
        </p:txBody>
      </p:sp>
      <p:sp>
        <p:nvSpPr>
          <p:cNvPr id="28" name="Rectangle 27"/>
          <p:cNvSpPr/>
          <p:nvPr/>
        </p:nvSpPr>
        <p:spPr>
          <a:xfrm>
            <a:off x="548640" y="4280480"/>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4435928"/>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Operations &amp; Monitoring</a:t>
            </a:r>
          </a:p>
        </p:txBody>
      </p:sp>
      <p:sp>
        <p:nvSpPr>
          <p:cNvPr id="30" name="TextBox 29"/>
          <p:cNvSpPr txBox="1"/>
          <p:nvPr/>
        </p:nvSpPr>
        <p:spPr>
          <a:xfrm>
            <a:off x="786384" y="4737680"/>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What is happening now?</a:t>
            </a:r>
          </a:p>
        </p:txBody>
      </p:sp>
      <p:sp>
        <p:nvSpPr>
          <p:cNvPr id="31" name="TextBox 30"/>
          <p:cNvSpPr txBox="1"/>
          <p:nvPr/>
        </p:nvSpPr>
        <p:spPr>
          <a:xfrm>
            <a:off x="786384" y="5076008"/>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8 modules</a:t>
            </a:r>
          </a:p>
        </p:txBody>
      </p:sp>
      <p:sp>
        <p:nvSpPr>
          <p:cNvPr id="32" name="Rectangle 31"/>
          <p:cNvSpPr/>
          <p:nvPr/>
        </p:nvSpPr>
        <p:spPr>
          <a:xfrm>
            <a:off x="4315968" y="4280480"/>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3712" y="4435928"/>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Audit &amp; Oversight</a:t>
            </a:r>
          </a:p>
        </p:txBody>
      </p:sp>
      <p:sp>
        <p:nvSpPr>
          <p:cNvPr id="34" name="TextBox 33"/>
          <p:cNvSpPr txBox="1"/>
          <p:nvPr/>
        </p:nvSpPr>
        <p:spPr>
          <a:xfrm>
            <a:off x="4553712" y="4737680"/>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Prove what happened, and why.</a:t>
            </a:r>
          </a:p>
        </p:txBody>
      </p:sp>
      <p:sp>
        <p:nvSpPr>
          <p:cNvPr id="35" name="TextBox 34"/>
          <p:cNvSpPr txBox="1"/>
          <p:nvPr/>
        </p:nvSpPr>
        <p:spPr>
          <a:xfrm>
            <a:off x="4553712" y="5076008"/>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4 modules</a:t>
            </a:r>
          </a:p>
        </p:txBody>
      </p:sp>
      <p:sp>
        <p:nvSpPr>
          <p:cNvPr id="36" name="Rectangle 35"/>
          <p:cNvSpPr/>
          <p:nvPr/>
        </p:nvSpPr>
        <p:spPr>
          <a:xfrm>
            <a:off x="8083296" y="4280480"/>
            <a:ext cx="3538728" cy="113385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4435928"/>
            <a:ext cx="3063240"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Administration</a:t>
            </a:r>
          </a:p>
        </p:txBody>
      </p:sp>
      <p:sp>
        <p:nvSpPr>
          <p:cNvPr id="38" name="TextBox 37"/>
          <p:cNvSpPr txBox="1"/>
          <p:nvPr/>
        </p:nvSpPr>
        <p:spPr>
          <a:xfrm>
            <a:off x="8321040" y="4737680"/>
            <a:ext cx="3063240" cy="310896"/>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Who can do what?</a:t>
            </a:r>
          </a:p>
        </p:txBody>
      </p:sp>
      <p:sp>
        <p:nvSpPr>
          <p:cNvPr id="39" name="TextBox 38"/>
          <p:cNvSpPr txBox="1"/>
          <p:nvPr/>
        </p:nvSpPr>
        <p:spPr>
          <a:xfrm>
            <a:off x="8321040" y="5076008"/>
            <a:ext cx="3063240" cy="237744"/>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3 modules</a:t>
            </a:r>
          </a:p>
        </p:txBody>
      </p:sp>
      <p:sp>
        <p:nvSpPr>
          <p:cNvPr id="40" name="Rectangle 39"/>
          <p:cNvSpPr/>
          <p:nvPr/>
        </p:nvSpPr>
        <p:spPr>
          <a:xfrm>
            <a:off x="548640" y="5596128"/>
            <a:ext cx="11064240"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9924" y="5688299"/>
            <a:ext cx="1106424" cy="362102"/>
          </a:xfrm>
          <a:prstGeom prst="rect">
            <a:avLst/>
          </a:prstGeom>
          <a:noFill/>
        </p:spPr>
        <p:txBody>
          <a:bodyPr wrap="square" anchor="ctr" lIns="0" rIns="0" tIns="0" bIns="0">
            <a:spAutoFit/>
          </a:bodyPr>
          <a:lstStyle/>
          <a:p>
            <a:pPr algn="l">
              <a:lnSpc>
                <a:spcPct val="108000"/>
              </a:lnSpc>
            </a:pPr>
            <a:r>
              <a:rPr sz="2400" b="1" i="0">
                <a:solidFill>
                  <a:srgbClr val="CADCFC"/>
                </a:solidFill>
                <a:latin typeface="Cambria"/>
              </a:rPr>
              <a:t>9</a:t>
            </a:r>
          </a:p>
        </p:txBody>
      </p:sp>
      <p:sp>
        <p:nvSpPr>
          <p:cNvPr id="42" name="TextBox 41"/>
          <p:cNvSpPr txBox="1"/>
          <p:nvPr/>
        </p:nvSpPr>
        <p:spPr>
          <a:xfrm>
            <a:off x="1710385" y="5793638"/>
            <a:ext cx="1659636" cy="263347"/>
          </a:xfrm>
          <a:prstGeom prst="rect">
            <a:avLst/>
          </a:prstGeom>
          <a:noFill/>
        </p:spPr>
        <p:txBody>
          <a:bodyPr wrap="square" anchor="ctr" lIns="0" rIns="0" tIns="0" bIns="0">
            <a:spAutoFit/>
          </a:bodyPr>
          <a:lstStyle/>
          <a:p>
            <a:pPr algn="l">
              <a:lnSpc>
                <a:spcPct val="108000"/>
              </a:lnSpc>
            </a:pPr>
            <a:r>
              <a:rPr sz="1200" b="0" i="0">
                <a:solidFill>
                  <a:srgbClr val="FFFFFF"/>
                </a:solidFill>
                <a:latin typeface="Calibri"/>
              </a:rPr>
              <a:t>governance domains</a:t>
            </a:r>
          </a:p>
        </p:txBody>
      </p:sp>
      <p:sp>
        <p:nvSpPr>
          <p:cNvPr id="43" name="TextBox 42"/>
          <p:cNvSpPr txBox="1"/>
          <p:nvPr/>
        </p:nvSpPr>
        <p:spPr>
          <a:xfrm>
            <a:off x="3535984" y="5688299"/>
            <a:ext cx="1106424" cy="362102"/>
          </a:xfrm>
          <a:prstGeom prst="rect">
            <a:avLst/>
          </a:prstGeom>
          <a:noFill/>
        </p:spPr>
        <p:txBody>
          <a:bodyPr wrap="square" anchor="ctr" lIns="0" rIns="0" tIns="0" bIns="0">
            <a:spAutoFit/>
          </a:bodyPr>
          <a:lstStyle/>
          <a:p>
            <a:pPr algn="l">
              <a:lnSpc>
                <a:spcPct val="108000"/>
              </a:lnSpc>
            </a:pPr>
            <a:r>
              <a:rPr sz="2400" b="1" i="0">
                <a:solidFill>
                  <a:srgbClr val="CADCFC"/>
                </a:solidFill>
                <a:latin typeface="Cambria"/>
              </a:rPr>
              <a:t>56</a:t>
            </a:r>
          </a:p>
        </p:txBody>
      </p:sp>
      <p:sp>
        <p:nvSpPr>
          <p:cNvPr id="44" name="TextBox 43"/>
          <p:cNvSpPr txBox="1"/>
          <p:nvPr/>
        </p:nvSpPr>
        <p:spPr>
          <a:xfrm>
            <a:off x="4476445" y="5793638"/>
            <a:ext cx="1659636" cy="263347"/>
          </a:xfrm>
          <a:prstGeom prst="rect">
            <a:avLst/>
          </a:prstGeom>
          <a:noFill/>
        </p:spPr>
        <p:txBody>
          <a:bodyPr wrap="square" anchor="ctr" lIns="0" rIns="0" tIns="0" bIns="0">
            <a:spAutoFit/>
          </a:bodyPr>
          <a:lstStyle/>
          <a:p>
            <a:pPr algn="l">
              <a:lnSpc>
                <a:spcPct val="108000"/>
              </a:lnSpc>
            </a:pPr>
            <a:r>
              <a:rPr sz="1200" b="0" i="0">
                <a:solidFill>
                  <a:srgbClr val="FFFFFF"/>
                </a:solidFill>
                <a:latin typeface="Calibri"/>
              </a:rPr>
              <a:t>governance modules</a:t>
            </a:r>
          </a:p>
        </p:txBody>
      </p:sp>
      <p:sp>
        <p:nvSpPr>
          <p:cNvPr id="45" name="TextBox 44"/>
          <p:cNvSpPr txBox="1"/>
          <p:nvPr/>
        </p:nvSpPr>
        <p:spPr>
          <a:xfrm>
            <a:off x="6302044" y="5688299"/>
            <a:ext cx="1106424" cy="362102"/>
          </a:xfrm>
          <a:prstGeom prst="rect">
            <a:avLst/>
          </a:prstGeom>
          <a:noFill/>
        </p:spPr>
        <p:txBody>
          <a:bodyPr wrap="square" anchor="ctr" lIns="0" rIns="0" tIns="0" bIns="0">
            <a:spAutoFit/>
          </a:bodyPr>
          <a:lstStyle/>
          <a:p>
            <a:pPr algn="l">
              <a:lnSpc>
                <a:spcPct val="108000"/>
              </a:lnSpc>
            </a:pPr>
            <a:r>
              <a:rPr sz="2400" b="1" i="0">
                <a:solidFill>
                  <a:srgbClr val="CADCFC"/>
                </a:solidFill>
                <a:latin typeface="Cambria"/>
              </a:rPr>
              <a:t>59</a:t>
            </a:r>
          </a:p>
        </p:txBody>
      </p:sp>
      <p:sp>
        <p:nvSpPr>
          <p:cNvPr id="46" name="TextBox 45"/>
          <p:cNvSpPr txBox="1"/>
          <p:nvPr/>
        </p:nvSpPr>
        <p:spPr>
          <a:xfrm>
            <a:off x="7242505" y="5793638"/>
            <a:ext cx="1659636" cy="263347"/>
          </a:xfrm>
          <a:prstGeom prst="rect">
            <a:avLst/>
          </a:prstGeom>
          <a:noFill/>
        </p:spPr>
        <p:txBody>
          <a:bodyPr wrap="square" anchor="ctr" lIns="0" rIns="0" tIns="0" bIns="0">
            <a:spAutoFit/>
          </a:bodyPr>
          <a:lstStyle/>
          <a:p>
            <a:pPr algn="l">
              <a:lnSpc>
                <a:spcPct val="108000"/>
              </a:lnSpc>
            </a:pPr>
            <a:r>
              <a:rPr sz="1200" b="0" i="0">
                <a:solidFill>
                  <a:srgbClr val="FFFFFF"/>
                </a:solidFill>
                <a:latin typeface="Calibri"/>
              </a:rPr>
              <a:t>governed routes</a:t>
            </a:r>
          </a:p>
        </p:txBody>
      </p:sp>
      <p:sp>
        <p:nvSpPr>
          <p:cNvPr id="47" name="TextBox 46"/>
          <p:cNvSpPr txBox="1"/>
          <p:nvPr/>
        </p:nvSpPr>
        <p:spPr>
          <a:xfrm>
            <a:off x="9068104" y="5688299"/>
            <a:ext cx="1106424" cy="362102"/>
          </a:xfrm>
          <a:prstGeom prst="rect">
            <a:avLst/>
          </a:prstGeom>
          <a:noFill/>
        </p:spPr>
        <p:txBody>
          <a:bodyPr wrap="square" anchor="ctr" lIns="0" rIns="0" tIns="0" bIns="0">
            <a:spAutoFit/>
          </a:bodyPr>
          <a:lstStyle/>
          <a:p>
            <a:pPr algn="l">
              <a:lnSpc>
                <a:spcPct val="108000"/>
              </a:lnSpc>
            </a:pPr>
            <a:r>
              <a:rPr sz="2400" b="1" i="0">
                <a:solidFill>
                  <a:srgbClr val="CADCFC"/>
                </a:solidFill>
                <a:latin typeface="Cambria"/>
              </a:rPr>
              <a:t>7</a:t>
            </a:r>
          </a:p>
        </p:txBody>
      </p:sp>
      <p:sp>
        <p:nvSpPr>
          <p:cNvPr id="48" name="TextBox 47"/>
          <p:cNvSpPr txBox="1"/>
          <p:nvPr/>
        </p:nvSpPr>
        <p:spPr>
          <a:xfrm>
            <a:off x="10008565" y="5793638"/>
            <a:ext cx="1659636" cy="263347"/>
          </a:xfrm>
          <a:prstGeom prst="rect">
            <a:avLst/>
          </a:prstGeom>
          <a:noFill/>
        </p:spPr>
        <p:txBody>
          <a:bodyPr wrap="square" anchor="ctr" lIns="0" rIns="0" tIns="0" bIns="0">
            <a:spAutoFit/>
          </a:bodyPr>
          <a:lstStyle/>
          <a:p>
            <a:pPr algn="l">
              <a:lnSpc>
                <a:spcPct val="108000"/>
              </a:lnSpc>
            </a:pPr>
            <a:r>
              <a:rPr sz="1200" b="0" i="0">
                <a:solidFill>
                  <a:srgbClr val="FFFFFF"/>
                </a:solidFill>
                <a:latin typeface="Calibri"/>
              </a:rPr>
              <a:t>user roles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AI GOVERNANCE LIFECYCLE</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One eight-stage path for every AI asset</a:t>
            </a:r>
          </a:p>
        </p:txBody>
      </p:sp>
      <p:sp>
        <p:nvSpPr>
          <p:cNvPr id="4" name="Rectangle 3"/>
          <p:cNvSpPr/>
          <p:nvPr/>
        </p:nvSpPr>
        <p:spPr>
          <a:xfrm>
            <a:off x="582168"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7656"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7656"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1</a:t>
            </a:r>
          </a:p>
        </p:txBody>
      </p:sp>
      <p:sp>
        <p:nvSpPr>
          <p:cNvPr id="7" name="TextBox 6"/>
          <p:cNvSpPr txBox="1"/>
          <p:nvPr/>
        </p:nvSpPr>
        <p:spPr>
          <a:xfrm>
            <a:off x="536448"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AI Asset</a:t>
            </a:r>
          </a:p>
        </p:txBody>
      </p:sp>
      <p:sp>
        <p:nvSpPr>
          <p:cNvPr id="8" name="TextBox 7"/>
          <p:cNvSpPr txBox="1"/>
          <p:nvPr/>
        </p:nvSpPr>
        <p:spPr>
          <a:xfrm>
            <a:off x="1880616"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9" name="Rectangle 8"/>
          <p:cNvSpPr/>
          <p:nvPr/>
        </p:nvSpPr>
        <p:spPr>
          <a:xfrm>
            <a:off x="1972056"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47544"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7544"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2</a:t>
            </a:r>
          </a:p>
        </p:txBody>
      </p:sp>
      <p:sp>
        <p:nvSpPr>
          <p:cNvPr id="12" name="TextBox 11"/>
          <p:cNvSpPr txBox="1"/>
          <p:nvPr/>
        </p:nvSpPr>
        <p:spPr>
          <a:xfrm>
            <a:off x="1926336"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Ownership</a:t>
            </a:r>
          </a:p>
        </p:txBody>
      </p:sp>
      <p:sp>
        <p:nvSpPr>
          <p:cNvPr id="13" name="TextBox 12"/>
          <p:cNvSpPr txBox="1"/>
          <p:nvPr/>
        </p:nvSpPr>
        <p:spPr>
          <a:xfrm>
            <a:off x="3270504"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14" name="Rectangle 13"/>
          <p:cNvSpPr/>
          <p:nvPr/>
        </p:nvSpPr>
        <p:spPr>
          <a:xfrm>
            <a:off x="3361944"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837432"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7432"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3</a:t>
            </a:r>
          </a:p>
        </p:txBody>
      </p:sp>
      <p:sp>
        <p:nvSpPr>
          <p:cNvPr id="17" name="TextBox 16"/>
          <p:cNvSpPr txBox="1"/>
          <p:nvPr/>
        </p:nvSpPr>
        <p:spPr>
          <a:xfrm>
            <a:off x="3316224"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Risk Review</a:t>
            </a:r>
          </a:p>
        </p:txBody>
      </p:sp>
      <p:sp>
        <p:nvSpPr>
          <p:cNvPr id="18" name="TextBox 17"/>
          <p:cNvSpPr txBox="1"/>
          <p:nvPr/>
        </p:nvSpPr>
        <p:spPr>
          <a:xfrm>
            <a:off x="4660392"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19" name="Rectangle 18"/>
          <p:cNvSpPr/>
          <p:nvPr/>
        </p:nvSpPr>
        <p:spPr>
          <a:xfrm>
            <a:off x="4751832"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27320"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7320"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4</a:t>
            </a:r>
          </a:p>
        </p:txBody>
      </p:sp>
      <p:sp>
        <p:nvSpPr>
          <p:cNvPr id="22" name="TextBox 21"/>
          <p:cNvSpPr txBox="1"/>
          <p:nvPr/>
        </p:nvSpPr>
        <p:spPr>
          <a:xfrm>
            <a:off x="4706112"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Validation</a:t>
            </a:r>
          </a:p>
        </p:txBody>
      </p:sp>
      <p:sp>
        <p:nvSpPr>
          <p:cNvPr id="23" name="TextBox 22"/>
          <p:cNvSpPr txBox="1"/>
          <p:nvPr/>
        </p:nvSpPr>
        <p:spPr>
          <a:xfrm>
            <a:off x="6050280"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24" name="Rectangle 23"/>
          <p:cNvSpPr/>
          <p:nvPr/>
        </p:nvSpPr>
        <p:spPr>
          <a:xfrm>
            <a:off x="6141720"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17208"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7208"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5</a:t>
            </a:r>
          </a:p>
        </p:txBody>
      </p:sp>
      <p:sp>
        <p:nvSpPr>
          <p:cNvPr id="27" name="TextBox 26"/>
          <p:cNvSpPr txBox="1"/>
          <p:nvPr/>
        </p:nvSpPr>
        <p:spPr>
          <a:xfrm>
            <a:off x="6096000"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Evidence</a:t>
            </a:r>
          </a:p>
        </p:txBody>
      </p:sp>
      <p:sp>
        <p:nvSpPr>
          <p:cNvPr id="28" name="TextBox 27"/>
          <p:cNvSpPr txBox="1"/>
          <p:nvPr/>
        </p:nvSpPr>
        <p:spPr>
          <a:xfrm>
            <a:off x="7440168"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29" name="Rectangle 28"/>
          <p:cNvSpPr/>
          <p:nvPr/>
        </p:nvSpPr>
        <p:spPr>
          <a:xfrm>
            <a:off x="7531608"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07096"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7096"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6</a:t>
            </a:r>
          </a:p>
        </p:txBody>
      </p:sp>
      <p:sp>
        <p:nvSpPr>
          <p:cNvPr id="32" name="TextBox 31"/>
          <p:cNvSpPr txBox="1"/>
          <p:nvPr/>
        </p:nvSpPr>
        <p:spPr>
          <a:xfrm>
            <a:off x="7485888"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Decision</a:t>
            </a:r>
          </a:p>
        </p:txBody>
      </p:sp>
      <p:sp>
        <p:nvSpPr>
          <p:cNvPr id="33" name="TextBox 32"/>
          <p:cNvSpPr txBox="1"/>
          <p:nvPr/>
        </p:nvSpPr>
        <p:spPr>
          <a:xfrm>
            <a:off x="8830056"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34" name="Rectangle 33"/>
          <p:cNvSpPr/>
          <p:nvPr/>
        </p:nvSpPr>
        <p:spPr>
          <a:xfrm>
            <a:off x="8921496" y="1874520"/>
            <a:ext cx="1298448" cy="13716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396984" y="155448"/>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96984" y="155448"/>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7</a:t>
            </a:r>
          </a:p>
        </p:txBody>
      </p:sp>
      <p:sp>
        <p:nvSpPr>
          <p:cNvPr id="37" name="TextBox 36"/>
          <p:cNvSpPr txBox="1"/>
          <p:nvPr/>
        </p:nvSpPr>
        <p:spPr>
          <a:xfrm>
            <a:off x="8875776" y="612648"/>
            <a:ext cx="1389888" cy="603504"/>
          </a:xfrm>
          <a:prstGeom prst="rect">
            <a:avLst/>
          </a:prstGeom>
          <a:noFill/>
        </p:spPr>
        <p:txBody>
          <a:bodyPr wrap="square" anchor="t" lIns="0" rIns="0" tIns="0" bIns="0">
            <a:spAutoFit/>
          </a:bodyPr>
          <a:lstStyle/>
          <a:p>
            <a:pPr algn="ctr">
              <a:lnSpc>
                <a:spcPct val="108000"/>
              </a:lnSpc>
            </a:pPr>
            <a:r>
              <a:rPr sz="1150" b="1" i="0">
                <a:solidFill>
                  <a:srgbClr val="1E2761"/>
                </a:solidFill>
                <a:latin typeface="Calibri"/>
              </a:rPr>
              <a:t>Production</a:t>
            </a:r>
          </a:p>
        </p:txBody>
      </p:sp>
      <p:sp>
        <p:nvSpPr>
          <p:cNvPr id="38" name="TextBox 37"/>
          <p:cNvSpPr txBox="1"/>
          <p:nvPr/>
        </p:nvSpPr>
        <p:spPr>
          <a:xfrm>
            <a:off x="10219944" y="457200"/>
            <a:ext cx="182880" cy="411480"/>
          </a:xfrm>
          <a:prstGeom prst="rect">
            <a:avLst/>
          </a:prstGeom>
          <a:noFill/>
        </p:spPr>
        <p:txBody>
          <a:bodyPr wrap="square" anchor="t" lIns="0" rIns="0" tIns="0" bIns="0">
            <a:spAutoFit/>
          </a:bodyPr>
          <a:lstStyle/>
          <a:p>
            <a:pPr algn="l">
              <a:lnSpc>
                <a:spcPct val="108000"/>
              </a:lnSpc>
            </a:pPr>
            <a:r>
              <a:rPr sz="1600" b="1" i="0">
                <a:solidFill>
                  <a:srgbClr val="6B7391"/>
                </a:solidFill>
                <a:latin typeface="Calibri"/>
              </a:rPr>
              <a:t>›</a:t>
            </a:r>
          </a:p>
        </p:txBody>
      </p:sp>
      <p:sp>
        <p:nvSpPr>
          <p:cNvPr id="39" name="Rectangle 38"/>
          <p:cNvSpPr/>
          <p:nvPr/>
        </p:nvSpPr>
        <p:spPr>
          <a:xfrm>
            <a:off x="10311384" y="1874520"/>
            <a:ext cx="1298448"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786872" y="155448"/>
            <a:ext cx="347472" cy="34747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786872" y="155448"/>
            <a:ext cx="347472" cy="347472"/>
          </a:xfrm>
          <a:prstGeom prst="rect">
            <a:avLst/>
          </a:prstGeom>
          <a:noFill/>
        </p:spPr>
        <p:txBody>
          <a:bodyPr wrap="square" anchor="ctr" lIns="0" rIns="0" tIns="0" bIns="0">
            <a:spAutoFit/>
          </a:bodyPr>
          <a:lstStyle/>
          <a:p>
            <a:pPr algn="ctr">
              <a:lnSpc>
                <a:spcPct val="108000"/>
              </a:lnSpc>
            </a:pPr>
            <a:r>
              <a:rPr sz="1200" b="1" i="0">
                <a:solidFill>
                  <a:srgbClr val="1E2761"/>
                </a:solidFill>
                <a:latin typeface="Calibri"/>
              </a:rPr>
              <a:t>8</a:t>
            </a:r>
          </a:p>
        </p:txBody>
      </p:sp>
      <p:sp>
        <p:nvSpPr>
          <p:cNvPr id="42" name="TextBox 41"/>
          <p:cNvSpPr txBox="1"/>
          <p:nvPr/>
        </p:nvSpPr>
        <p:spPr>
          <a:xfrm>
            <a:off x="10265664" y="612648"/>
            <a:ext cx="1389888" cy="603504"/>
          </a:xfrm>
          <a:prstGeom prst="rect">
            <a:avLst/>
          </a:prstGeom>
          <a:noFill/>
        </p:spPr>
        <p:txBody>
          <a:bodyPr wrap="square" anchor="t" lIns="0" rIns="0" tIns="0" bIns="0">
            <a:spAutoFit/>
          </a:bodyPr>
          <a:lstStyle/>
          <a:p>
            <a:pPr algn="ctr">
              <a:lnSpc>
                <a:spcPct val="108000"/>
              </a:lnSpc>
            </a:pPr>
            <a:r>
              <a:rPr sz="1150" b="1" i="0">
                <a:solidFill>
                  <a:srgbClr val="FFFFFF"/>
                </a:solidFill>
                <a:latin typeface="Calibri"/>
              </a:rPr>
              <a:t>Monitoring</a:t>
            </a:r>
          </a:p>
        </p:txBody>
      </p:sp>
      <p:sp>
        <p:nvSpPr>
          <p:cNvPr id="43" name="TextBox 42"/>
          <p:cNvSpPr txBox="1"/>
          <p:nvPr/>
        </p:nvSpPr>
        <p:spPr>
          <a:xfrm>
            <a:off x="548640" y="3429000"/>
            <a:ext cx="11064240" cy="320040"/>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At each stage the application records how many assets are cleared, pending, or blocked — so progress is measured, not assumed.</a:t>
            </a:r>
          </a:p>
        </p:txBody>
      </p:sp>
      <p:sp>
        <p:nvSpPr>
          <p:cNvPr id="44" name="TextBox 43"/>
          <p:cNvSpPr txBox="1"/>
          <p:nvPr/>
        </p:nvSpPr>
        <p:spPr>
          <a:xfrm>
            <a:off x="548640" y="3977640"/>
            <a:ext cx="11064240" cy="274320"/>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WHEN SOMETHING CHANGES, THE ASSET RE-ENTERS GOVERNANCE</a:t>
            </a:r>
          </a:p>
        </p:txBody>
      </p:sp>
      <p:sp>
        <p:nvSpPr>
          <p:cNvPr id="45" name="Rectangle 44"/>
          <p:cNvSpPr/>
          <p:nvPr/>
        </p:nvSpPr>
        <p:spPr>
          <a:xfrm>
            <a:off x="627888" y="4343400"/>
            <a:ext cx="2084832" cy="658368"/>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7888" y="4343400"/>
            <a:ext cx="2084832" cy="658368"/>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Change Requested</a:t>
            </a:r>
          </a:p>
        </p:txBody>
      </p:sp>
      <p:sp>
        <p:nvSpPr>
          <p:cNvPr id="47" name="TextBox 46"/>
          <p:cNvSpPr txBox="1"/>
          <p:nvPr/>
        </p:nvSpPr>
        <p:spPr>
          <a:xfrm>
            <a:off x="2712720" y="4343400"/>
            <a:ext cx="128016" cy="658368"/>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48" name="Rectangle 47"/>
          <p:cNvSpPr/>
          <p:nvPr/>
        </p:nvSpPr>
        <p:spPr>
          <a:xfrm>
            <a:off x="2840736" y="4343400"/>
            <a:ext cx="2084832" cy="658368"/>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40736" y="4343400"/>
            <a:ext cx="2084832" cy="658368"/>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Impact Assessment</a:t>
            </a:r>
          </a:p>
        </p:txBody>
      </p:sp>
      <p:sp>
        <p:nvSpPr>
          <p:cNvPr id="50" name="TextBox 49"/>
          <p:cNvSpPr txBox="1"/>
          <p:nvPr/>
        </p:nvSpPr>
        <p:spPr>
          <a:xfrm>
            <a:off x="4925568" y="4343400"/>
            <a:ext cx="128016" cy="658368"/>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51" name="Rectangle 50"/>
          <p:cNvSpPr/>
          <p:nvPr/>
        </p:nvSpPr>
        <p:spPr>
          <a:xfrm>
            <a:off x="5053584" y="4343400"/>
            <a:ext cx="2084832" cy="658368"/>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53584" y="4343400"/>
            <a:ext cx="2084832" cy="658368"/>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Reassessment</a:t>
            </a:r>
          </a:p>
        </p:txBody>
      </p:sp>
      <p:sp>
        <p:nvSpPr>
          <p:cNvPr id="53" name="TextBox 52"/>
          <p:cNvSpPr txBox="1"/>
          <p:nvPr/>
        </p:nvSpPr>
        <p:spPr>
          <a:xfrm>
            <a:off x="7138416" y="4343400"/>
            <a:ext cx="128016" cy="658368"/>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54" name="Rectangle 53"/>
          <p:cNvSpPr/>
          <p:nvPr/>
        </p:nvSpPr>
        <p:spPr>
          <a:xfrm>
            <a:off x="7266432" y="4343400"/>
            <a:ext cx="2084832" cy="658368"/>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66432" y="4343400"/>
            <a:ext cx="2084832" cy="658368"/>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Reapproved</a:t>
            </a:r>
          </a:p>
        </p:txBody>
      </p:sp>
      <p:sp>
        <p:nvSpPr>
          <p:cNvPr id="56" name="TextBox 55"/>
          <p:cNvSpPr txBox="1"/>
          <p:nvPr/>
        </p:nvSpPr>
        <p:spPr>
          <a:xfrm>
            <a:off x="9351264" y="4343400"/>
            <a:ext cx="128016" cy="658368"/>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57" name="Rectangle 56"/>
          <p:cNvSpPr/>
          <p:nvPr/>
        </p:nvSpPr>
        <p:spPr>
          <a:xfrm>
            <a:off x="9479280" y="4343400"/>
            <a:ext cx="2084832" cy="658368"/>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79280" y="4343400"/>
            <a:ext cx="2084832" cy="65836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Production</a:t>
            </a:r>
          </a:p>
        </p:txBody>
      </p:sp>
      <p:sp>
        <p:nvSpPr>
          <p:cNvPr id="59" name="Rectangle 58"/>
          <p:cNvSpPr/>
          <p:nvPr/>
        </p:nvSpPr>
        <p:spPr>
          <a:xfrm>
            <a:off x="548640" y="5230368"/>
            <a:ext cx="11064240" cy="8412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 y="5349240"/>
            <a:ext cx="2743200" cy="274320"/>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Approval is not permanent.</a:t>
            </a:r>
          </a:p>
        </p:txBody>
      </p:sp>
      <p:sp>
        <p:nvSpPr>
          <p:cNvPr id="61" name="TextBox 60"/>
          <p:cNvSpPr txBox="1"/>
          <p:nvPr/>
        </p:nvSpPr>
        <p:spPr>
          <a:xfrm>
            <a:off x="822960" y="5632704"/>
            <a:ext cx="10515600" cy="347472"/>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A model upgrade, vendor switch, new data source, prompt change or policy revision pushes the asset back through impact assessment and reapproval before it may proceed.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OWNERSHIP &amp; ACCOUNTABILITY</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Five named owners on every AI asset</a:t>
            </a:r>
          </a:p>
        </p:txBody>
      </p:sp>
      <p:sp>
        <p:nvSpPr>
          <p:cNvPr id="4" name="TextBox 3"/>
          <p:cNvSpPr txBox="1"/>
          <p:nvPr/>
        </p:nvSpPr>
        <p:spPr>
          <a:xfrm>
            <a:off x="548640" y="1481328"/>
            <a:ext cx="10241280" cy="475488"/>
          </a:xfrm>
          <a:prstGeom prst="rect">
            <a:avLst/>
          </a:prstGeom>
          <a:noFill/>
        </p:spPr>
        <p:txBody>
          <a:bodyPr wrap="square" anchor="t" lIns="0" rIns="0" tIns="0" bIns="0">
            <a:spAutoFit/>
          </a:bodyPr>
          <a:lstStyle/>
          <a:p>
            <a:pPr algn="l">
              <a:lnSpc>
                <a:spcPct val="108000"/>
              </a:lnSpc>
            </a:pPr>
            <a:r>
              <a:rPr sz="1400" b="0" i="0">
                <a:solidFill>
                  <a:srgbClr val="2B3350"/>
                </a:solidFill>
                <a:latin typeface="Calibri"/>
              </a:rPr>
              <a:t>An AI asset with no named owner cannot be escalated, reviewed or defended. OMG requires five distinct accountable roles on every asset.</a:t>
            </a:r>
          </a:p>
        </p:txBody>
      </p:sp>
      <p:sp>
        <p:nvSpPr>
          <p:cNvPr id="5" name="Rectangle 4"/>
          <p:cNvSpPr/>
          <p:nvPr/>
        </p:nvSpPr>
        <p:spPr>
          <a:xfrm>
            <a:off x="455088" y="2057400"/>
            <a:ext cx="212140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14624" y="2103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4624" y="210312"/>
            <a:ext cx="402336" cy="40233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1</a:t>
            </a:r>
          </a:p>
        </p:txBody>
      </p:sp>
      <p:sp>
        <p:nvSpPr>
          <p:cNvPr id="8" name="TextBox 7"/>
          <p:cNvSpPr txBox="1"/>
          <p:nvPr/>
        </p:nvSpPr>
        <p:spPr>
          <a:xfrm>
            <a:off x="564816" y="731520"/>
            <a:ext cx="1901952" cy="457200"/>
          </a:xfrm>
          <a:prstGeom prst="rect">
            <a:avLst/>
          </a:prstGeom>
          <a:noFill/>
        </p:spPr>
        <p:txBody>
          <a:bodyPr wrap="square" anchor="t" lIns="0" rIns="0" tIns="0" bIns="0">
            <a:spAutoFit/>
          </a:bodyPr>
          <a:lstStyle/>
          <a:p>
            <a:pPr algn="ctr">
              <a:lnSpc>
                <a:spcPct val="108000"/>
              </a:lnSpc>
            </a:pPr>
            <a:r>
              <a:rPr sz="1500" b="1" i="0">
                <a:solidFill>
                  <a:srgbClr val="1E2761"/>
                </a:solidFill>
                <a:latin typeface="Calibri"/>
              </a:rPr>
              <a:t>Business Owner</a:t>
            </a:r>
          </a:p>
        </p:txBody>
      </p:sp>
      <p:sp>
        <p:nvSpPr>
          <p:cNvPr id="9" name="TextBox 8"/>
          <p:cNvSpPr txBox="1"/>
          <p:nvPr/>
        </p:nvSpPr>
        <p:spPr>
          <a:xfrm>
            <a:off x="601392" y="1188720"/>
            <a:ext cx="1828800" cy="868680"/>
          </a:xfrm>
          <a:prstGeom prst="rect">
            <a:avLst/>
          </a:prstGeom>
          <a:noFill/>
        </p:spPr>
        <p:txBody>
          <a:bodyPr wrap="square" anchor="t" lIns="0" rIns="0" tIns="0" bIns="0">
            <a:spAutoFit/>
          </a:bodyPr>
          <a:lstStyle/>
          <a:p>
            <a:pPr algn="ctr">
              <a:lnSpc>
                <a:spcPct val="120000"/>
              </a:lnSpc>
            </a:pPr>
            <a:r>
              <a:rPr sz="1100" b="0" i="0">
                <a:solidFill>
                  <a:srgbClr val="2B3350"/>
                </a:solidFill>
                <a:latin typeface="Calibri"/>
              </a:rPr>
              <a:t>Owns the business outcome and accepts the residual risk of using the asset.</a:t>
            </a:r>
          </a:p>
        </p:txBody>
      </p:sp>
      <p:sp>
        <p:nvSpPr>
          <p:cNvPr id="10" name="Rectangle 9"/>
          <p:cNvSpPr/>
          <p:nvPr/>
        </p:nvSpPr>
        <p:spPr>
          <a:xfrm>
            <a:off x="2745192" y="2057400"/>
            <a:ext cx="212140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04728" y="2103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4728" y="210312"/>
            <a:ext cx="402336" cy="40233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2</a:t>
            </a:r>
          </a:p>
        </p:txBody>
      </p:sp>
      <p:sp>
        <p:nvSpPr>
          <p:cNvPr id="13" name="TextBox 12"/>
          <p:cNvSpPr txBox="1"/>
          <p:nvPr/>
        </p:nvSpPr>
        <p:spPr>
          <a:xfrm>
            <a:off x="2854920" y="731520"/>
            <a:ext cx="1901952" cy="457200"/>
          </a:xfrm>
          <a:prstGeom prst="rect">
            <a:avLst/>
          </a:prstGeom>
          <a:noFill/>
        </p:spPr>
        <p:txBody>
          <a:bodyPr wrap="square" anchor="t" lIns="0" rIns="0" tIns="0" bIns="0">
            <a:spAutoFit/>
          </a:bodyPr>
          <a:lstStyle/>
          <a:p>
            <a:pPr algn="ctr">
              <a:lnSpc>
                <a:spcPct val="108000"/>
              </a:lnSpc>
            </a:pPr>
            <a:r>
              <a:rPr sz="1500" b="1" i="0">
                <a:solidFill>
                  <a:srgbClr val="1E2761"/>
                </a:solidFill>
                <a:latin typeface="Calibri"/>
              </a:rPr>
              <a:t>Technical Owner</a:t>
            </a:r>
          </a:p>
        </p:txBody>
      </p:sp>
      <p:sp>
        <p:nvSpPr>
          <p:cNvPr id="14" name="TextBox 13"/>
          <p:cNvSpPr txBox="1"/>
          <p:nvPr/>
        </p:nvSpPr>
        <p:spPr>
          <a:xfrm>
            <a:off x="2891496" y="1188720"/>
            <a:ext cx="1828800" cy="868680"/>
          </a:xfrm>
          <a:prstGeom prst="rect">
            <a:avLst/>
          </a:prstGeom>
          <a:noFill/>
        </p:spPr>
        <p:txBody>
          <a:bodyPr wrap="square" anchor="t" lIns="0" rIns="0" tIns="0" bIns="0">
            <a:spAutoFit/>
          </a:bodyPr>
          <a:lstStyle/>
          <a:p>
            <a:pPr algn="ctr">
              <a:lnSpc>
                <a:spcPct val="120000"/>
              </a:lnSpc>
            </a:pPr>
            <a:r>
              <a:rPr sz="1100" b="0" i="0">
                <a:solidFill>
                  <a:srgbClr val="2B3350"/>
                </a:solidFill>
                <a:latin typeface="Calibri"/>
              </a:rPr>
              <a:t>Accountable for how the asset is built, deployed and maintained.</a:t>
            </a:r>
          </a:p>
        </p:txBody>
      </p:sp>
      <p:sp>
        <p:nvSpPr>
          <p:cNvPr id="15" name="Rectangle 14"/>
          <p:cNvSpPr/>
          <p:nvPr/>
        </p:nvSpPr>
        <p:spPr>
          <a:xfrm>
            <a:off x="5035296" y="2057400"/>
            <a:ext cx="212140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94832" y="2103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4832" y="210312"/>
            <a:ext cx="402336" cy="40233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3</a:t>
            </a:r>
          </a:p>
        </p:txBody>
      </p:sp>
      <p:sp>
        <p:nvSpPr>
          <p:cNvPr id="18" name="TextBox 17"/>
          <p:cNvSpPr txBox="1"/>
          <p:nvPr/>
        </p:nvSpPr>
        <p:spPr>
          <a:xfrm>
            <a:off x="5145024" y="731520"/>
            <a:ext cx="1901952" cy="457200"/>
          </a:xfrm>
          <a:prstGeom prst="rect">
            <a:avLst/>
          </a:prstGeom>
          <a:noFill/>
        </p:spPr>
        <p:txBody>
          <a:bodyPr wrap="square" anchor="t" lIns="0" rIns="0" tIns="0" bIns="0">
            <a:spAutoFit/>
          </a:bodyPr>
          <a:lstStyle/>
          <a:p>
            <a:pPr algn="ctr">
              <a:lnSpc>
                <a:spcPct val="108000"/>
              </a:lnSpc>
            </a:pPr>
            <a:r>
              <a:rPr sz="1500" b="1" i="0">
                <a:solidFill>
                  <a:srgbClr val="1E2761"/>
                </a:solidFill>
                <a:latin typeface="Calibri"/>
              </a:rPr>
              <a:t>Risk Owner</a:t>
            </a:r>
          </a:p>
        </p:txBody>
      </p:sp>
      <p:sp>
        <p:nvSpPr>
          <p:cNvPr id="19" name="TextBox 18"/>
          <p:cNvSpPr txBox="1"/>
          <p:nvPr/>
        </p:nvSpPr>
        <p:spPr>
          <a:xfrm>
            <a:off x="5181600" y="1188720"/>
            <a:ext cx="1828800" cy="868680"/>
          </a:xfrm>
          <a:prstGeom prst="rect">
            <a:avLst/>
          </a:prstGeom>
          <a:noFill/>
        </p:spPr>
        <p:txBody>
          <a:bodyPr wrap="square" anchor="t" lIns="0" rIns="0" tIns="0" bIns="0">
            <a:spAutoFit/>
          </a:bodyPr>
          <a:lstStyle/>
          <a:p>
            <a:pPr algn="ctr">
              <a:lnSpc>
                <a:spcPct val="120000"/>
              </a:lnSpc>
            </a:pPr>
            <a:r>
              <a:rPr sz="1100" b="0" i="0">
                <a:solidFill>
                  <a:srgbClr val="2B3350"/>
                </a:solidFill>
                <a:latin typeface="Calibri"/>
              </a:rPr>
              <a:t>Accountable for the asset's risk classification and mitigation.</a:t>
            </a:r>
          </a:p>
        </p:txBody>
      </p:sp>
      <p:sp>
        <p:nvSpPr>
          <p:cNvPr id="20" name="Rectangle 19"/>
          <p:cNvSpPr/>
          <p:nvPr/>
        </p:nvSpPr>
        <p:spPr>
          <a:xfrm>
            <a:off x="7325400" y="2057400"/>
            <a:ext cx="212140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84936" y="2103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4936" y="210312"/>
            <a:ext cx="402336" cy="40233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4</a:t>
            </a:r>
          </a:p>
        </p:txBody>
      </p:sp>
      <p:sp>
        <p:nvSpPr>
          <p:cNvPr id="23" name="TextBox 22"/>
          <p:cNvSpPr txBox="1"/>
          <p:nvPr/>
        </p:nvSpPr>
        <p:spPr>
          <a:xfrm>
            <a:off x="7435128" y="731520"/>
            <a:ext cx="1901952" cy="457200"/>
          </a:xfrm>
          <a:prstGeom prst="rect">
            <a:avLst/>
          </a:prstGeom>
          <a:noFill/>
        </p:spPr>
        <p:txBody>
          <a:bodyPr wrap="square" anchor="t" lIns="0" rIns="0" tIns="0" bIns="0">
            <a:spAutoFit/>
          </a:bodyPr>
          <a:lstStyle/>
          <a:p>
            <a:pPr algn="ctr">
              <a:lnSpc>
                <a:spcPct val="108000"/>
              </a:lnSpc>
            </a:pPr>
            <a:r>
              <a:rPr sz="1500" b="1" i="0">
                <a:solidFill>
                  <a:srgbClr val="1E2761"/>
                </a:solidFill>
                <a:latin typeface="Calibri"/>
              </a:rPr>
              <a:t>Compliance Owner</a:t>
            </a:r>
          </a:p>
        </p:txBody>
      </p:sp>
      <p:sp>
        <p:nvSpPr>
          <p:cNvPr id="24" name="TextBox 23"/>
          <p:cNvSpPr txBox="1"/>
          <p:nvPr/>
        </p:nvSpPr>
        <p:spPr>
          <a:xfrm>
            <a:off x="7471704" y="1188720"/>
            <a:ext cx="1828800" cy="868680"/>
          </a:xfrm>
          <a:prstGeom prst="rect">
            <a:avLst/>
          </a:prstGeom>
          <a:noFill/>
        </p:spPr>
        <p:txBody>
          <a:bodyPr wrap="square" anchor="t" lIns="0" rIns="0" tIns="0" bIns="0">
            <a:spAutoFit/>
          </a:bodyPr>
          <a:lstStyle/>
          <a:p>
            <a:pPr algn="ctr">
              <a:lnSpc>
                <a:spcPct val="120000"/>
              </a:lnSpc>
            </a:pPr>
            <a:r>
              <a:rPr sz="1100" b="0" i="0">
                <a:solidFill>
                  <a:srgbClr val="2B3350"/>
                </a:solidFill>
                <a:latin typeface="Calibri"/>
              </a:rPr>
              <a:t>Accountable for regulatory and policy alignment.</a:t>
            </a:r>
          </a:p>
        </p:txBody>
      </p:sp>
      <p:sp>
        <p:nvSpPr>
          <p:cNvPr id="25" name="Rectangle 24"/>
          <p:cNvSpPr/>
          <p:nvPr/>
        </p:nvSpPr>
        <p:spPr>
          <a:xfrm>
            <a:off x="9615504" y="2057400"/>
            <a:ext cx="212140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475040" y="21031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75040" y="210312"/>
            <a:ext cx="402336" cy="40233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5</a:t>
            </a:r>
          </a:p>
        </p:txBody>
      </p:sp>
      <p:sp>
        <p:nvSpPr>
          <p:cNvPr id="28" name="TextBox 27"/>
          <p:cNvSpPr txBox="1"/>
          <p:nvPr/>
        </p:nvSpPr>
        <p:spPr>
          <a:xfrm>
            <a:off x="9725232" y="731520"/>
            <a:ext cx="1901952" cy="457200"/>
          </a:xfrm>
          <a:prstGeom prst="rect">
            <a:avLst/>
          </a:prstGeom>
          <a:noFill/>
        </p:spPr>
        <p:txBody>
          <a:bodyPr wrap="square" anchor="t" lIns="0" rIns="0" tIns="0" bIns="0">
            <a:spAutoFit/>
          </a:bodyPr>
          <a:lstStyle/>
          <a:p>
            <a:pPr algn="ctr">
              <a:lnSpc>
                <a:spcPct val="108000"/>
              </a:lnSpc>
            </a:pPr>
            <a:r>
              <a:rPr sz="1500" b="1" i="0">
                <a:solidFill>
                  <a:srgbClr val="1E2761"/>
                </a:solidFill>
                <a:latin typeface="Calibri"/>
              </a:rPr>
              <a:t>Approver</a:t>
            </a:r>
          </a:p>
        </p:txBody>
      </p:sp>
      <p:sp>
        <p:nvSpPr>
          <p:cNvPr id="29" name="TextBox 28"/>
          <p:cNvSpPr txBox="1"/>
          <p:nvPr/>
        </p:nvSpPr>
        <p:spPr>
          <a:xfrm>
            <a:off x="9761808" y="1188720"/>
            <a:ext cx="1828800" cy="868680"/>
          </a:xfrm>
          <a:prstGeom prst="rect">
            <a:avLst/>
          </a:prstGeom>
          <a:noFill/>
        </p:spPr>
        <p:txBody>
          <a:bodyPr wrap="square" anchor="t" lIns="0" rIns="0" tIns="0" bIns="0">
            <a:spAutoFit/>
          </a:bodyPr>
          <a:lstStyle/>
          <a:p>
            <a:pPr algn="ctr">
              <a:lnSpc>
                <a:spcPct val="120000"/>
              </a:lnSpc>
            </a:pPr>
            <a:r>
              <a:rPr sz="1100" b="0" i="0">
                <a:solidFill>
                  <a:srgbClr val="2B3350"/>
                </a:solidFill>
                <a:latin typeface="Calibri"/>
              </a:rPr>
              <a:t>The named authority who records the GO / CONDITIONAL GO / NO GO decision.</a:t>
            </a:r>
          </a:p>
        </p:txBody>
      </p:sp>
      <p:sp>
        <p:nvSpPr>
          <p:cNvPr id="30" name="Rectangle 29"/>
          <p:cNvSpPr/>
          <p:nvPr/>
        </p:nvSpPr>
        <p:spPr>
          <a:xfrm>
            <a:off x="548640" y="4663440"/>
            <a:ext cx="11064240"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791456"/>
            <a:ext cx="10424160" cy="841248"/>
          </a:xfrm>
          <a:prstGeom prst="rect">
            <a:avLst/>
          </a:prstGeom>
          <a:noFill/>
        </p:spPr>
        <p:txBody>
          <a:bodyPr wrap="square" anchor="ctr" lIns="0" rIns="0" tIns="0" bIns="0">
            <a:spAutoFit/>
          </a:bodyPr>
          <a:lstStyle/>
          <a:p>
            <a:pPr algn="l">
              <a:lnSpc>
                <a:spcPct val="120000"/>
              </a:lnSpc>
            </a:pPr>
            <a:r>
              <a:rPr sz="1350" b="0" i="0">
                <a:solidFill>
                  <a:srgbClr val="FFFFFF"/>
                </a:solidFill>
                <a:latin typeface="Calibri"/>
              </a:rPr>
              <a:t>Every asset also carries a Human Oversight Classification and an Autonomy Classification (Level 0-5) — so accountability covers not just who owns the asset, but how closely a human supervises it.</a:t>
            </a:r>
          </a:p>
        </p:txBody>
      </p:sp>
      <p:sp>
        <p:nvSpPr>
          <p:cNvPr id="32" name="TextBox 31"/>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Governance Authority Profile — Release 1, frontend/src/config/governanceAuthority.ts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RISK &amp; VALIDATION</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Risk classified, validation evidenced</a:t>
            </a:r>
          </a:p>
        </p:txBody>
      </p:sp>
      <p:sp>
        <p:nvSpPr>
          <p:cNvPr id="4" name="TextBox 3"/>
          <p:cNvSpPr txBox="1"/>
          <p:nvPr/>
        </p:nvSpPr>
        <p:spPr>
          <a:xfrm>
            <a:off x="548640" y="1572768"/>
            <a:ext cx="5212080" cy="274320"/>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RISK CLASSIFICATION</a:t>
            </a:r>
          </a:p>
        </p:txBody>
      </p:sp>
      <p:sp>
        <p:nvSpPr>
          <p:cNvPr id="5" name="TextBox 4"/>
          <p:cNvSpPr txBox="1"/>
          <p:nvPr/>
        </p:nvSpPr>
        <p:spPr>
          <a:xfrm>
            <a:off x="548640" y="1874520"/>
            <a:ext cx="5212080" cy="457200"/>
          </a:xfrm>
          <a:prstGeom prst="rect">
            <a:avLst/>
          </a:prstGeom>
          <a:noFill/>
        </p:spPr>
        <p:txBody>
          <a:bodyPr wrap="square" anchor="t" lIns="0" rIns="0" tIns="0" bIns="0">
            <a:spAutoFit/>
          </a:bodyPr>
          <a:lstStyle/>
          <a:p>
            <a:pPr algn="l">
              <a:lnSpc>
                <a:spcPct val="108000"/>
              </a:lnSpc>
            </a:pPr>
            <a:r>
              <a:rPr sz="1250" b="0" i="0">
                <a:solidFill>
                  <a:srgbClr val="2B3350"/>
                </a:solidFill>
                <a:latin typeface="Calibri"/>
              </a:rPr>
              <a:t>Every asset is assigned one of four risk tiers, which drives how much governance it must pass.</a:t>
            </a:r>
          </a:p>
        </p:txBody>
      </p:sp>
      <p:sp>
        <p:nvSpPr>
          <p:cNvPr id="6" name="Rectangle 5"/>
          <p:cNvSpPr/>
          <p:nvPr/>
        </p:nvSpPr>
        <p:spPr>
          <a:xfrm>
            <a:off x="548640" y="2450592"/>
            <a:ext cx="5212080" cy="4754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587752"/>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50592"/>
            <a:ext cx="1828800" cy="475488"/>
          </a:xfrm>
          <a:prstGeom prst="rect">
            <a:avLst/>
          </a:prstGeom>
          <a:noFill/>
        </p:spPr>
        <p:txBody>
          <a:bodyPr wrap="square" anchor="ctr" lIns="0" rIns="0" tIns="0" bIns="0">
            <a:spAutoFit/>
          </a:bodyPr>
          <a:lstStyle/>
          <a:p>
            <a:pPr algn="l">
              <a:lnSpc>
                <a:spcPct val="108000"/>
              </a:lnSpc>
            </a:pPr>
            <a:r>
              <a:rPr sz="1300" b="1" i="0">
                <a:solidFill>
                  <a:srgbClr val="1E2761"/>
                </a:solidFill>
                <a:latin typeface="Calibri"/>
              </a:rPr>
              <a:t>Low Risk</a:t>
            </a:r>
          </a:p>
        </p:txBody>
      </p:sp>
      <p:sp>
        <p:nvSpPr>
          <p:cNvPr id="9" name="Rectangle 8"/>
          <p:cNvSpPr/>
          <p:nvPr/>
        </p:nvSpPr>
        <p:spPr>
          <a:xfrm>
            <a:off x="548640" y="3017520"/>
            <a:ext cx="5212080" cy="4754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3154680"/>
            <a:ext cx="201168" cy="201168"/>
          </a:xfrm>
          <a:prstGeom prst="ellipse">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17520"/>
            <a:ext cx="1828800" cy="475488"/>
          </a:xfrm>
          <a:prstGeom prst="rect">
            <a:avLst/>
          </a:prstGeom>
          <a:noFill/>
        </p:spPr>
        <p:txBody>
          <a:bodyPr wrap="square" anchor="ctr" lIns="0" rIns="0" tIns="0" bIns="0">
            <a:spAutoFit/>
          </a:bodyPr>
          <a:lstStyle/>
          <a:p>
            <a:pPr algn="l">
              <a:lnSpc>
                <a:spcPct val="108000"/>
              </a:lnSpc>
            </a:pPr>
            <a:r>
              <a:rPr sz="1300" b="1" i="0">
                <a:solidFill>
                  <a:srgbClr val="1E2761"/>
                </a:solidFill>
                <a:latin typeface="Calibri"/>
              </a:rPr>
              <a:t>Medium Risk</a:t>
            </a:r>
          </a:p>
        </p:txBody>
      </p:sp>
      <p:sp>
        <p:nvSpPr>
          <p:cNvPr id="12" name="Rectangle 11"/>
          <p:cNvSpPr/>
          <p:nvPr/>
        </p:nvSpPr>
        <p:spPr>
          <a:xfrm>
            <a:off x="548640" y="3584448"/>
            <a:ext cx="5212080" cy="4754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721608"/>
            <a:ext cx="201168" cy="201168"/>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584448"/>
            <a:ext cx="1828800" cy="475488"/>
          </a:xfrm>
          <a:prstGeom prst="rect">
            <a:avLst/>
          </a:prstGeom>
          <a:noFill/>
        </p:spPr>
        <p:txBody>
          <a:bodyPr wrap="square" anchor="ctr" lIns="0" rIns="0" tIns="0" bIns="0">
            <a:spAutoFit/>
          </a:bodyPr>
          <a:lstStyle/>
          <a:p>
            <a:pPr algn="l">
              <a:lnSpc>
                <a:spcPct val="108000"/>
              </a:lnSpc>
            </a:pPr>
            <a:r>
              <a:rPr sz="1300" b="1" i="0">
                <a:solidFill>
                  <a:srgbClr val="1E2761"/>
                </a:solidFill>
                <a:latin typeface="Calibri"/>
              </a:rPr>
              <a:t>High Risk</a:t>
            </a:r>
          </a:p>
        </p:txBody>
      </p:sp>
      <p:sp>
        <p:nvSpPr>
          <p:cNvPr id="15" name="Rectangle 14"/>
          <p:cNvSpPr/>
          <p:nvPr/>
        </p:nvSpPr>
        <p:spPr>
          <a:xfrm>
            <a:off x="548640" y="4151376"/>
            <a:ext cx="5212080" cy="4754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288536"/>
            <a:ext cx="201168" cy="201168"/>
          </a:xfrm>
          <a:prstGeom prst="ellipse">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51376"/>
            <a:ext cx="1828800" cy="475488"/>
          </a:xfrm>
          <a:prstGeom prst="rect">
            <a:avLst/>
          </a:prstGeom>
          <a:noFill/>
        </p:spPr>
        <p:txBody>
          <a:bodyPr wrap="square" anchor="ctr" lIns="0" rIns="0" tIns="0" bIns="0">
            <a:spAutoFit/>
          </a:bodyPr>
          <a:lstStyle/>
          <a:p>
            <a:pPr algn="l">
              <a:lnSpc>
                <a:spcPct val="108000"/>
              </a:lnSpc>
            </a:pPr>
            <a:r>
              <a:rPr sz="1300" b="1" i="0">
                <a:solidFill>
                  <a:srgbClr val="1E2761"/>
                </a:solidFill>
                <a:latin typeface="Calibri"/>
              </a:rPr>
              <a:t>Critical Risk</a:t>
            </a:r>
          </a:p>
        </p:txBody>
      </p:sp>
      <p:sp>
        <p:nvSpPr>
          <p:cNvPr id="18" name="Rectangle 17"/>
          <p:cNvSpPr/>
          <p:nvPr/>
        </p:nvSpPr>
        <p:spPr>
          <a:xfrm>
            <a:off x="548640" y="4828032"/>
            <a:ext cx="5212080" cy="1143000"/>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56048"/>
            <a:ext cx="4754880" cy="274320"/>
          </a:xfrm>
          <a:prstGeom prst="rect">
            <a:avLst/>
          </a:prstGeom>
          <a:noFill/>
        </p:spPr>
        <p:txBody>
          <a:bodyPr wrap="square" anchor="t" lIns="0" rIns="0" tIns="0" bIns="0">
            <a:spAutoFit/>
          </a:bodyPr>
          <a:lstStyle/>
          <a:p>
            <a:pPr algn="l">
              <a:lnSpc>
                <a:spcPct val="108000"/>
              </a:lnSpc>
            </a:pPr>
            <a:r>
              <a:rPr sz="1250" b="1" i="0">
                <a:solidFill>
                  <a:srgbClr val="8A5A12"/>
                </a:solidFill>
                <a:latin typeface="Calibri"/>
              </a:rPr>
              <a:t>High and Critical assets are held to a stricter bar</a:t>
            </a:r>
          </a:p>
        </p:txBody>
      </p:sp>
      <p:sp>
        <p:nvSpPr>
          <p:cNvPr id="20" name="TextBox 19"/>
          <p:cNvSpPr txBox="1"/>
          <p:nvPr/>
        </p:nvSpPr>
        <p:spPr>
          <a:xfrm>
            <a:off x="777240" y="5248656"/>
            <a:ext cx="4754880" cy="658368"/>
          </a:xfrm>
          <a:prstGeom prst="rect">
            <a:avLst/>
          </a:prstGeom>
          <a:noFill/>
        </p:spPr>
        <p:txBody>
          <a:bodyPr wrap="square" anchor="t" lIns="0" rIns="0" tIns="0" bIns="0">
            <a:spAutoFit/>
          </a:bodyPr>
          <a:lstStyle/>
          <a:p>
            <a:pPr algn="l">
              <a:lnSpc>
                <a:spcPct val="115000"/>
              </a:lnSpc>
            </a:pPr>
            <a:r>
              <a:rPr sz="1100" b="0" i="0">
                <a:solidFill>
                  <a:srgbClr val="2B3350"/>
                </a:solidFill>
                <a:latin typeface="Calibri"/>
              </a:rPr>
              <a:t>They require approved independent validation and evidenced human oversight before production, and are placed on a quarterly review cadence. Failing any of these raises a policy violation automatically.</a:t>
            </a:r>
          </a:p>
        </p:txBody>
      </p:sp>
      <p:sp>
        <p:nvSpPr>
          <p:cNvPr id="21" name="TextBox 20"/>
          <p:cNvSpPr txBox="1"/>
          <p:nvPr/>
        </p:nvSpPr>
        <p:spPr>
          <a:xfrm>
            <a:off x="6309360" y="1572768"/>
            <a:ext cx="5303520" cy="274320"/>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INDEPENDENT VALIDATION</a:t>
            </a:r>
          </a:p>
        </p:txBody>
      </p:sp>
      <p:sp>
        <p:nvSpPr>
          <p:cNvPr id="22" name="TextBox 21"/>
          <p:cNvSpPr txBox="1"/>
          <p:nvPr/>
        </p:nvSpPr>
        <p:spPr>
          <a:xfrm>
            <a:off x="6309360" y="1874520"/>
            <a:ext cx="5303520" cy="457200"/>
          </a:xfrm>
          <a:prstGeom prst="rect">
            <a:avLst/>
          </a:prstGeom>
          <a:noFill/>
        </p:spPr>
        <p:txBody>
          <a:bodyPr wrap="square" anchor="t" lIns="0" rIns="0" tIns="0" bIns="0">
            <a:spAutoFit/>
          </a:bodyPr>
          <a:lstStyle/>
          <a:p>
            <a:pPr algn="l">
              <a:lnSpc>
                <a:spcPct val="108000"/>
              </a:lnSpc>
            </a:pPr>
            <a:r>
              <a:rPr sz="1250" b="0" i="0">
                <a:solidFill>
                  <a:srgbClr val="2B3350"/>
                </a:solidFill>
                <a:latin typeface="Calibri"/>
              </a:rPr>
              <a:t>Validation is reviewed across six separate disciplines, each scored and recorded by a named reviewer.</a:t>
            </a:r>
          </a:p>
        </p:txBody>
      </p:sp>
      <p:sp>
        <p:nvSpPr>
          <p:cNvPr id="23" name="Rectangle 22"/>
          <p:cNvSpPr/>
          <p:nvPr/>
        </p:nvSpPr>
        <p:spPr>
          <a:xfrm>
            <a:off x="6309360" y="2450592"/>
            <a:ext cx="2578608"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450592"/>
            <a:ext cx="2578608" cy="658368"/>
          </a:xfrm>
          <a:prstGeom prst="rect">
            <a:avLst/>
          </a:prstGeom>
          <a:noFill/>
        </p:spPr>
        <p:txBody>
          <a:bodyPr wrap="square" anchor="ctr" lIns="0" rIns="0" tIns="0" bIns="0">
            <a:spAutoFit/>
          </a:bodyPr>
          <a:lstStyle/>
          <a:p>
            <a:pPr algn="ctr">
              <a:lnSpc>
                <a:spcPct val="108000"/>
              </a:lnSpc>
            </a:pPr>
            <a:r>
              <a:rPr sz="1300" b="1" i="0">
                <a:solidFill>
                  <a:srgbClr val="FFFFFF"/>
                </a:solidFill>
                <a:latin typeface="Calibri"/>
              </a:rPr>
              <a:t>Business</a:t>
            </a:r>
          </a:p>
        </p:txBody>
      </p:sp>
      <p:sp>
        <p:nvSpPr>
          <p:cNvPr id="25" name="Rectangle 24"/>
          <p:cNvSpPr/>
          <p:nvPr/>
        </p:nvSpPr>
        <p:spPr>
          <a:xfrm>
            <a:off x="9034272" y="2450592"/>
            <a:ext cx="2578608"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450592"/>
            <a:ext cx="2578608" cy="658368"/>
          </a:xfrm>
          <a:prstGeom prst="rect">
            <a:avLst/>
          </a:prstGeom>
          <a:noFill/>
        </p:spPr>
        <p:txBody>
          <a:bodyPr wrap="square" anchor="ctr" lIns="0" rIns="0" tIns="0" bIns="0">
            <a:spAutoFit/>
          </a:bodyPr>
          <a:lstStyle/>
          <a:p>
            <a:pPr algn="ctr">
              <a:lnSpc>
                <a:spcPct val="108000"/>
              </a:lnSpc>
            </a:pPr>
            <a:r>
              <a:rPr sz="1300" b="1" i="0">
                <a:solidFill>
                  <a:srgbClr val="FFFFFF"/>
                </a:solidFill>
                <a:latin typeface="Calibri"/>
              </a:rPr>
              <a:t>Technical</a:t>
            </a:r>
          </a:p>
        </p:txBody>
      </p:sp>
      <p:sp>
        <p:nvSpPr>
          <p:cNvPr id="27" name="Rectangle 26"/>
          <p:cNvSpPr/>
          <p:nvPr/>
        </p:nvSpPr>
        <p:spPr>
          <a:xfrm>
            <a:off x="6309360" y="3255264"/>
            <a:ext cx="2578608"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255264"/>
            <a:ext cx="2578608" cy="658368"/>
          </a:xfrm>
          <a:prstGeom prst="rect">
            <a:avLst/>
          </a:prstGeom>
          <a:noFill/>
        </p:spPr>
        <p:txBody>
          <a:bodyPr wrap="square" anchor="ctr" lIns="0" rIns="0" tIns="0" bIns="0">
            <a:spAutoFit/>
          </a:bodyPr>
          <a:lstStyle/>
          <a:p>
            <a:pPr algn="ctr">
              <a:lnSpc>
                <a:spcPct val="108000"/>
              </a:lnSpc>
            </a:pPr>
            <a:r>
              <a:rPr sz="1300" b="1" i="0">
                <a:solidFill>
                  <a:srgbClr val="FFFFFF"/>
                </a:solidFill>
                <a:latin typeface="Calibri"/>
              </a:rPr>
              <a:t>Security</a:t>
            </a:r>
          </a:p>
        </p:txBody>
      </p:sp>
      <p:sp>
        <p:nvSpPr>
          <p:cNvPr id="29" name="Rectangle 28"/>
          <p:cNvSpPr/>
          <p:nvPr/>
        </p:nvSpPr>
        <p:spPr>
          <a:xfrm>
            <a:off x="9034272" y="3255264"/>
            <a:ext cx="2578608"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34272" y="3255264"/>
            <a:ext cx="2578608" cy="658368"/>
          </a:xfrm>
          <a:prstGeom prst="rect">
            <a:avLst/>
          </a:prstGeom>
          <a:noFill/>
        </p:spPr>
        <p:txBody>
          <a:bodyPr wrap="square" anchor="ctr" lIns="0" rIns="0" tIns="0" bIns="0">
            <a:spAutoFit/>
          </a:bodyPr>
          <a:lstStyle/>
          <a:p>
            <a:pPr algn="ctr">
              <a:lnSpc>
                <a:spcPct val="108000"/>
              </a:lnSpc>
            </a:pPr>
            <a:r>
              <a:rPr sz="1300" b="1" i="0">
                <a:solidFill>
                  <a:srgbClr val="FFFFFF"/>
                </a:solidFill>
                <a:latin typeface="Calibri"/>
              </a:rPr>
              <a:t>Compliance</a:t>
            </a:r>
          </a:p>
        </p:txBody>
      </p:sp>
      <p:sp>
        <p:nvSpPr>
          <p:cNvPr id="31" name="Rectangle 30"/>
          <p:cNvSpPr/>
          <p:nvPr/>
        </p:nvSpPr>
        <p:spPr>
          <a:xfrm>
            <a:off x="6309360" y="4059936"/>
            <a:ext cx="2578608"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4059936"/>
            <a:ext cx="2578608" cy="658368"/>
          </a:xfrm>
          <a:prstGeom prst="rect">
            <a:avLst/>
          </a:prstGeom>
          <a:noFill/>
        </p:spPr>
        <p:txBody>
          <a:bodyPr wrap="square" anchor="ctr" lIns="0" rIns="0" tIns="0" bIns="0">
            <a:spAutoFit/>
          </a:bodyPr>
          <a:lstStyle/>
          <a:p>
            <a:pPr algn="ctr">
              <a:lnSpc>
                <a:spcPct val="108000"/>
              </a:lnSpc>
            </a:pPr>
            <a:r>
              <a:rPr sz="1300" b="1" i="0">
                <a:solidFill>
                  <a:srgbClr val="FFFFFF"/>
                </a:solidFill>
                <a:latin typeface="Calibri"/>
              </a:rPr>
              <a:t>Operational</a:t>
            </a:r>
          </a:p>
        </p:txBody>
      </p:sp>
      <p:sp>
        <p:nvSpPr>
          <p:cNvPr id="33" name="Rectangle 32"/>
          <p:cNvSpPr/>
          <p:nvPr/>
        </p:nvSpPr>
        <p:spPr>
          <a:xfrm>
            <a:off x="9034272" y="4059936"/>
            <a:ext cx="2578608"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34272" y="4059936"/>
            <a:ext cx="2578608" cy="658368"/>
          </a:xfrm>
          <a:prstGeom prst="rect">
            <a:avLst/>
          </a:prstGeom>
          <a:noFill/>
        </p:spPr>
        <p:txBody>
          <a:bodyPr wrap="square" anchor="ctr" lIns="0" rIns="0" tIns="0" bIns="0">
            <a:spAutoFit/>
          </a:bodyPr>
          <a:lstStyle/>
          <a:p>
            <a:pPr algn="ctr">
              <a:lnSpc>
                <a:spcPct val="108000"/>
              </a:lnSpc>
            </a:pPr>
            <a:r>
              <a:rPr sz="1300" b="1" i="0">
                <a:solidFill>
                  <a:srgbClr val="FFFFFF"/>
                </a:solidFill>
                <a:latin typeface="Calibri"/>
              </a:rPr>
              <a:t>Model</a:t>
            </a:r>
          </a:p>
        </p:txBody>
      </p:sp>
      <p:sp>
        <p:nvSpPr>
          <p:cNvPr id="35" name="Rectangle 34"/>
          <p:cNvSpPr/>
          <p:nvPr/>
        </p:nvSpPr>
        <p:spPr>
          <a:xfrm>
            <a:off x="6309360" y="4828032"/>
            <a:ext cx="5303520" cy="11430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37960" y="4956048"/>
            <a:ext cx="4846320"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Defects are tracked, not just noted</a:t>
            </a:r>
          </a:p>
        </p:txBody>
      </p:sp>
      <p:sp>
        <p:nvSpPr>
          <p:cNvPr id="37" name="TextBox 36"/>
          <p:cNvSpPr txBox="1"/>
          <p:nvPr/>
        </p:nvSpPr>
        <p:spPr>
          <a:xfrm>
            <a:off x="6537960" y="5248656"/>
            <a:ext cx="4846320" cy="658368"/>
          </a:xfrm>
          <a:prstGeom prst="rect">
            <a:avLst/>
          </a:prstGeom>
          <a:noFill/>
        </p:spPr>
        <p:txBody>
          <a:bodyPr wrap="square" anchor="t" lIns="0" rIns="0" tIns="0" bIns="0">
            <a:spAutoFit/>
          </a:bodyPr>
          <a:lstStyle/>
          <a:p>
            <a:pPr algn="l">
              <a:lnSpc>
                <a:spcPct val="115000"/>
              </a:lnSpc>
            </a:pPr>
            <a:r>
              <a:rPr sz="1100" b="0" i="0">
                <a:solidFill>
                  <a:srgbClr val="2B3350"/>
                </a:solidFill>
                <a:latin typeface="Calibri"/>
              </a:rPr>
              <a:t>Issues raised during validation become findings with a severity, an assigned owner and a lifecycle running Open → In Progress → Resolved → Verified.</a:t>
            </a:r>
          </a:p>
        </p:txBody>
      </p:sp>
      <p:sp>
        <p:nvSpPr>
          <p:cNvPr id="38" name="TextBox 37"/>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RiskLevel and ValidationCategory types; Risk Center, Validation Center and Findings Tracker modules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DECISION GOVERNANCE</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No production without a recorded decision</a:t>
            </a:r>
          </a:p>
        </p:txBody>
      </p:sp>
      <p:sp>
        <p:nvSpPr>
          <p:cNvPr id="4" name="Rectangle 3"/>
          <p:cNvSpPr/>
          <p:nvPr/>
        </p:nvSpPr>
        <p:spPr>
          <a:xfrm>
            <a:off x="548640" y="1536192"/>
            <a:ext cx="3538728" cy="1481328"/>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9456"/>
            <a:ext cx="3264408" cy="502920"/>
          </a:xfrm>
          <a:prstGeom prst="rect">
            <a:avLst/>
          </a:prstGeom>
          <a:noFill/>
        </p:spPr>
        <p:txBody>
          <a:bodyPr wrap="square" anchor="t" lIns="0" rIns="0" tIns="0" bIns="0">
            <a:spAutoFit/>
          </a:bodyPr>
          <a:lstStyle/>
          <a:p>
            <a:pPr algn="l">
              <a:lnSpc>
                <a:spcPct val="108000"/>
              </a:lnSpc>
            </a:pPr>
            <a:r>
              <a:rPr sz="2600" b="1" i="0">
                <a:solidFill>
                  <a:srgbClr val="FFFFFF"/>
                </a:solidFill>
                <a:latin typeface="Cambria"/>
              </a:rPr>
              <a:t>GO</a:t>
            </a:r>
          </a:p>
        </p:txBody>
      </p:sp>
      <p:sp>
        <p:nvSpPr>
          <p:cNvPr id="6" name="TextBox 5"/>
          <p:cNvSpPr txBox="1"/>
          <p:nvPr/>
        </p:nvSpPr>
        <p:spPr>
          <a:xfrm>
            <a:off x="777240" y="795528"/>
            <a:ext cx="3081528" cy="548640"/>
          </a:xfrm>
          <a:prstGeom prst="rect">
            <a:avLst/>
          </a:prstGeom>
          <a:noFill/>
        </p:spPr>
        <p:txBody>
          <a:bodyPr wrap="square" anchor="t" lIns="0" rIns="0" tIns="0" bIns="0">
            <a:spAutoFit/>
          </a:bodyPr>
          <a:lstStyle/>
          <a:p>
            <a:pPr algn="l">
              <a:lnSpc>
                <a:spcPct val="108000"/>
              </a:lnSpc>
            </a:pPr>
            <a:r>
              <a:rPr sz="1200" b="0" i="0">
                <a:solidFill>
                  <a:srgbClr val="FFFFFF"/>
                </a:solidFill>
                <a:latin typeface="Calibri"/>
              </a:rPr>
              <a:t>Approved for production use.</a:t>
            </a:r>
          </a:p>
        </p:txBody>
      </p:sp>
      <p:sp>
        <p:nvSpPr>
          <p:cNvPr id="7" name="Rectangle 6"/>
          <p:cNvSpPr/>
          <p:nvPr/>
        </p:nvSpPr>
        <p:spPr>
          <a:xfrm>
            <a:off x="4315968" y="1536192"/>
            <a:ext cx="3538728" cy="1481328"/>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53128" y="219456"/>
            <a:ext cx="3264408" cy="502920"/>
          </a:xfrm>
          <a:prstGeom prst="rect">
            <a:avLst/>
          </a:prstGeom>
          <a:noFill/>
        </p:spPr>
        <p:txBody>
          <a:bodyPr wrap="square" anchor="t" lIns="0" rIns="0" tIns="0" bIns="0">
            <a:spAutoFit/>
          </a:bodyPr>
          <a:lstStyle/>
          <a:p>
            <a:pPr algn="l">
              <a:lnSpc>
                <a:spcPct val="108000"/>
              </a:lnSpc>
            </a:pPr>
            <a:r>
              <a:rPr sz="2600" b="1" i="0">
                <a:solidFill>
                  <a:srgbClr val="FFFFFF"/>
                </a:solidFill>
                <a:latin typeface="Cambria"/>
              </a:rPr>
              <a:t>CONDITIONAL GO</a:t>
            </a:r>
          </a:p>
        </p:txBody>
      </p:sp>
      <p:sp>
        <p:nvSpPr>
          <p:cNvPr id="9" name="TextBox 8"/>
          <p:cNvSpPr txBox="1"/>
          <p:nvPr/>
        </p:nvSpPr>
        <p:spPr>
          <a:xfrm>
            <a:off x="4544568" y="795528"/>
            <a:ext cx="3081528" cy="548640"/>
          </a:xfrm>
          <a:prstGeom prst="rect">
            <a:avLst/>
          </a:prstGeom>
          <a:noFill/>
        </p:spPr>
        <p:txBody>
          <a:bodyPr wrap="square" anchor="t" lIns="0" rIns="0" tIns="0" bIns="0">
            <a:spAutoFit/>
          </a:bodyPr>
          <a:lstStyle/>
          <a:p>
            <a:pPr algn="l">
              <a:lnSpc>
                <a:spcPct val="108000"/>
              </a:lnSpc>
            </a:pPr>
            <a:r>
              <a:rPr sz="1200" b="0" i="0">
                <a:solidFill>
                  <a:srgbClr val="FFFFFF"/>
                </a:solidFill>
                <a:latin typeface="Calibri"/>
              </a:rPr>
              <a:t>Approved, subject to stated conditions.</a:t>
            </a:r>
          </a:p>
        </p:txBody>
      </p:sp>
      <p:sp>
        <p:nvSpPr>
          <p:cNvPr id="10" name="Rectangle 9"/>
          <p:cNvSpPr/>
          <p:nvPr/>
        </p:nvSpPr>
        <p:spPr>
          <a:xfrm>
            <a:off x="8083296" y="1536192"/>
            <a:ext cx="3538728" cy="1481328"/>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456" y="219456"/>
            <a:ext cx="3264408" cy="502920"/>
          </a:xfrm>
          <a:prstGeom prst="rect">
            <a:avLst/>
          </a:prstGeom>
          <a:noFill/>
        </p:spPr>
        <p:txBody>
          <a:bodyPr wrap="square" anchor="t" lIns="0" rIns="0" tIns="0" bIns="0">
            <a:spAutoFit/>
          </a:bodyPr>
          <a:lstStyle/>
          <a:p>
            <a:pPr algn="l">
              <a:lnSpc>
                <a:spcPct val="108000"/>
              </a:lnSpc>
            </a:pPr>
            <a:r>
              <a:rPr sz="2600" b="1" i="0">
                <a:solidFill>
                  <a:srgbClr val="FFFFFF"/>
                </a:solidFill>
                <a:latin typeface="Cambria"/>
              </a:rPr>
              <a:t>NO GO</a:t>
            </a:r>
          </a:p>
        </p:txBody>
      </p:sp>
      <p:sp>
        <p:nvSpPr>
          <p:cNvPr id="12" name="TextBox 11"/>
          <p:cNvSpPr txBox="1"/>
          <p:nvPr/>
        </p:nvSpPr>
        <p:spPr>
          <a:xfrm>
            <a:off x="8311896" y="795528"/>
            <a:ext cx="3081528" cy="548640"/>
          </a:xfrm>
          <a:prstGeom prst="rect">
            <a:avLst/>
          </a:prstGeom>
          <a:noFill/>
        </p:spPr>
        <p:txBody>
          <a:bodyPr wrap="square" anchor="t" lIns="0" rIns="0" tIns="0" bIns="0">
            <a:spAutoFit/>
          </a:bodyPr>
          <a:lstStyle/>
          <a:p>
            <a:pPr algn="l">
              <a:lnSpc>
                <a:spcPct val="108000"/>
              </a:lnSpc>
            </a:pPr>
            <a:r>
              <a:rPr sz="1200" b="0" i="0">
                <a:solidFill>
                  <a:srgbClr val="FFFFFF"/>
                </a:solidFill>
                <a:latin typeface="Calibri"/>
              </a:rPr>
              <a:t>Refused. The asset may not proceed.</a:t>
            </a:r>
          </a:p>
        </p:txBody>
      </p:sp>
      <p:sp>
        <p:nvSpPr>
          <p:cNvPr id="13" name="TextBox 12"/>
          <p:cNvSpPr txBox="1"/>
          <p:nvPr/>
        </p:nvSpPr>
        <p:spPr>
          <a:xfrm>
            <a:off x="548640" y="3127248"/>
            <a:ext cx="11064240" cy="292608"/>
          </a:xfrm>
          <a:prstGeom prst="rect">
            <a:avLst/>
          </a:prstGeom>
          <a:noFill/>
        </p:spPr>
        <p:txBody>
          <a:bodyPr wrap="square" anchor="t" lIns="0" rIns="0" tIns="0" bIns="0">
            <a:spAutoFit/>
          </a:bodyPr>
          <a:lstStyle/>
          <a:p>
            <a:pPr algn="l">
              <a:lnSpc>
                <a:spcPct val="108000"/>
              </a:lnSpc>
            </a:pPr>
            <a:r>
              <a:rPr sz="1200" b="0" i="0">
                <a:solidFill>
                  <a:srgbClr val="6B7391"/>
                </a:solidFill>
                <a:latin typeface="Calibri"/>
              </a:rPr>
              <a:t>A fourth state, PENDING, marks assets still awaiting a decision — these appear on the executive decision queue.</a:t>
            </a:r>
          </a:p>
        </p:txBody>
      </p:sp>
      <p:sp>
        <p:nvSpPr>
          <p:cNvPr id="14" name="TextBox 13"/>
          <p:cNvSpPr txBox="1"/>
          <p:nvPr/>
        </p:nvSpPr>
        <p:spPr>
          <a:xfrm>
            <a:off x="548640" y="3584448"/>
            <a:ext cx="11064240" cy="274320"/>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THE DECISION IS INFORMED, NOT ARBITRARY</a:t>
            </a:r>
          </a:p>
        </p:txBody>
      </p:sp>
      <p:sp>
        <p:nvSpPr>
          <p:cNvPr id="15" name="TextBox 14"/>
          <p:cNvSpPr txBox="1"/>
          <p:nvPr/>
        </p:nvSpPr>
        <p:spPr>
          <a:xfrm>
            <a:off x="548640" y="3886200"/>
            <a:ext cx="11064240" cy="420624"/>
          </a:xfrm>
          <a:prstGeom prst="rect">
            <a:avLst/>
          </a:prstGeom>
          <a:noFill/>
        </p:spPr>
        <p:txBody>
          <a:bodyPr wrap="square" anchor="t" lIns="0" rIns="0" tIns="0" bIns="0">
            <a:spAutoFit/>
          </a:bodyPr>
          <a:lstStyle/>
          <a:p>
            <a:pPr algn="l">
              <a:lnSpc>
                <a:spcPct val="108000"/>
              </a:lnSpc>
            </a:pPr>
            <a:r>
              <a:rPr sz="1300" b="0" i="0">
                <a:solidFill>
                  <a:srgbClr val="2B3350"/>
                </a:solidFill>
                <a:latin typeface="Calibri"/>
              </a:rPr>
              <a:t>Before a decision is recorded, OMG scores the asset out of 100 across five governance pillars. Any pillar that fails becomes a governance blocker that must be cleared.</a:t>
            </a:r>
          </a:p>
        </p:txBody>
      </p:sp>
      <p:sp>
        <p:nvSpPr>
          <p:cNvPr id="16" name="Rectangle 15"/>
          <p:cNvSpPr/>
          <p:nvPr/>
        </p:nvSpPr>
        <p:spPr>
          <a:xfrm>
            <a:off x="558800" y="4370832"/>
            <a:ext cx="2121408" cy="9326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240" y="91440"/>
            <a:ext cx="1938528" cy="384048"/>
          </a:xfrm>
          <a:prstGeom prst="rect">
            <a:avLst/>
          </a:prstGeom>
          <a:noFill/>
        </p:spPr>
        <p:txBody>
          <a:bodyPr wrap="square" anchor="t" lIns="0" rIns="0" tIns="0" bIns="0">
            <a:spAutoFit/>
          </a:bodyPr>
          <a:lstStyle/>
          <a:p>
            <a:pPr algn="l">
              <a:lnSpc>
                <a:spcPct val="108000"/>
              </a:lnSpc>
            </a:pPr>
            <a:r>
              <a:rPr sz="2000" b="1" i="0">
                <a:solidFill>
                  <a:srgbClr val="1E2761"/>
                </a:solidFill>
                <a:latin typeface="Cambria"/>
              </a:rPr>
              <a:t>25%</a:t>
            </a:r>
          </a:p>
        </p:txBody>
      </p:sp>
      <p:sp>
        <p:nvSpPr>
          <p:cNvPr id="18" name="TextBox 17"/>
          <p:cNvSpPr txBox="1"/>
          <p:nvPr/>
        </p:nvSpPr>
        <p:spPr>
          <a:xfrm>
            <a:off x="650240" y="512064"/>
            <a:ext cx="1938528" cy="292608"/>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Ownership</a:t>
            </a:r>
          </a:p>
        </p:txBody>
      </p:sp>
      <p:sp>
        <p:nvSpPr>
          <p:cNvPr id="19" name="Rectangle 18"/>
          <p:cNvSpPr/>
          <p:nvPr/>
        </p:nvSpPr>
        <p:spPr>
          <a:xfrm>
            <a:off x="2797048" y="4370832"/>
            <a:ext cx="2121408" cy="9326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88488" y="91440"/>
            <a:ext cx="1938528" cy="384048"/>
          </a:xfrm>
          <a:prstGeom prst="rect">
            <a:avLst/>
          </a:prstGeom>
          <a:noFill/>
        </p:spPr>
        <p:txBody>
          <a:bodyPr wrap="square" anchor="t" lIns="0" rIns="0" tIns="0" bIns="0">
            <a:spAutoFit/>
          </a:bodyPr>
          <a:lstStyle/>
          <a:p>
            <a:pPr algn="l">
              <a:lnSpc>
                <a:spcPct val="108000"/>
              </a:lnSpc>
            </a:pPr>
            <a:r>
              <a:rPr sz="2000" b="1" i="0">
                <a:solidFill>
                  <a:srgbClr val="1E2761"/>
                </a:solidFill>
                <a:latin typeface="Cambria"/>
              </a:rPr>
              <a:t>20%</a:t>
            </a:r>
          </a:p>
        </p:txBody>
      </p:sp>
      <p:sp>
        <p:nvSpPr>
          <p:cNvPr id="21" name="TextBox 20"/>
          <p:cNvSpPr txBox="1"/>
          <p:nvPr/>
        </p:nvSpPr>
        <p:spPr>
          <a:xfrm>
            <a:off x="2888488" y="512064"/>
            <a:ext cx="1938528" cy="292608"/>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Risk</a:t>
            </a:r>
          </a:p>
        </p:txBody>
      </p:sp>
      <p:sp>
        <p:nvSpPr>
          <p:cNvPr id="22" name="Rectangle 21"/>
          <p:cNvSpPr/>
          <p:nvPr/>
        </p:nvSpPr>
        <p:spPr>
          <a:xfrm>
            <a:off x="5035296" y="4370832"/>
            <a:ext cx="2121408" cy="9326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6736" y="91440"/>
            <a:ext cx="1938528" cy="384048"/>
          </a:xfrm>
          <a:prstGeom prst="rect">
            <a:avLst/>
          </a:prstGeom>
          <a:noFill/>
        </p:spPr>
        <p:txBody>
          <a:bodyPr wrap="square" anchor="t" lIns="0" rIns="0" tIns="0" bIns="0">
            <a:spAutoFit/>
          </a:bodyPr>
          <a:lstStyle/>
          <a:p>
            <a:pPr algn="l">
              <a:lnSpc>
                <a:spcPct val="108000"/>
              </a:lnSpc>
            </a:pPr>
            <a:r>
              <a:rPr sz="2000" b="1" i="0">
                <a:solidFill>
                  <a:srgbClr val="1E2761"/>
                </a:solidFill>
                <a:latin typeface="Cambria"/>
              </a:rPr>
              <a:t>20%</a:t>
            </a:r>
          </a:p>
        </p:txBody>
      </p:sp>
      <p:sp>
        <p:nvSpPr>
          <p:cNvPr id="24" name="TextBox 23"/>
          <p:cNvSpPr txBox="1"/>
          <p:nvPr/>
        </p:nvSpPr>
        <p:spPr>
          <a:xfrm>
            <a:off x="5126736" y="512064"/>
            <a:ext cx="1938528" cy="292608"/>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Validation</a:t>
            </a:r>
          </a:p>
        </p:txBody>
      </p:sp>
      <p:sp>
        <p:nvSpPr>
          <p:cNvPr id="25" name="Rectangle 24"/>
          <p:cNvSpPr/>
          <p:nvPr/>
        </p:nvSpPr>
        <p:spPr>
          <a:xfrm>
            <a:off x="7273544" y="4370832"/>
            <a:ext cx="2121408" cy="9326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4984" y="91440"/>
            <a:ext cx="1938528" cy="384048"/>
          </a:xfrm>
          <a:prstGeom prst="rect">
            <a:avLst/>
          </a:prstGeom>
          <a:noFill/>
        </p:spPr>
        <p:txBody>
          <a:bodyPr wrap="square" anchor="t" lIns="0" rIns="0" tIns="0" bIns="0">
            <a:spAutoFit/>
          </a:bodyPr>
          <a:lstStyle/>
          <a:p>
            <a:pPr algn="l">
              <a:lnSpc>
                <a:spcPct val="108000"/>
              </a:lnSpc>
            </a:pPr>
            <a:r>
              <a:rPr sz="2000" b="1" i="0">
                <a:solidFill>
                  <a:srgbClr val="1E2761"/>
                </a:solidFill>
                <a:latin typeface="Cambria"/>
              </a:rPr>
              <a:t>15%</a:t>
            </a:r>
          </a:p>
        </p:txBody>
      </p:sp>
      <p:sp>
        <p:nvSpPr>
          <p:cNvPr id="27" name="TextBox 26"/>
          <p:cNvSpPr txBox="1"/>
          <p:nvPr/>
        </p:nvSpPr>
        <p:spPr>
          <a:xfrm>
            <a:off x="7364984" y="512064"/>
            <a:ext cx="1938528" cy="292608"/>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Evidence</a:t>
            </a:r>
          </a:p>
        </p:txBody>
      </p:sp>
      <p:sp>
        <p:nvSpPr>
          <p:cNvPr id="28" name="Rectangle 27"/>
          <p:cNvSpPr/>
          <p:nvPr/>
        </p:nvSpPr>
        <p:spPr>
          <a:xfrm>
            <a:off x="9511792" y="4370832"/>
            <a:ext cx="2121408" cy="93268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3232" y="91440"/>
            <a:ext cx="1938528" cy="384048"/>
          </a:xfrm>
          <a:prstGeom prst="rect">
            <a:avLst/>
          </a:prstGeom>
          <a:noFill/>
        </p:spPr>
        <p:txBody>
          <a:bodyPr wrap="square" anchor="t" lIns="0" rIns="0" tIns="0" bIns="0">
            <a:spAutoFit/>
          </a:bodyPr>
          <a:lstStyle/>
          <a:p>
            <a:pPr algn="l">
              <a:lnSpc>
                <a:spcPct val="108000"/>
              </a:lnSpc>
            </a:pPr>
            <a:r>
              <a:rPr sz="2000" b="1" i="0">
                <a:solidFill>
                  <a:srgbClr val="1E2761"/>
                </a:solidFill>
                <a:latin typeface="Cambria"/>
              </a:rPr>
              <a:t>20%</a:t>
            </a:r>
          </a:p>
        </p:txBody>
      </p:sp>
      <p:sp>
        <p:nvSpPr>
          <p:cNvPr id="30" name="TextBox 29"/>
          <p:cNvSpPr txBox="1"/>
          <p:nvPr/>
        </p:nvSpPr>
        <p:spPr>
          <a:xfrm>
            <a:off x="9603232" y="512064"/>
            <a:ext cx="1938528" cy="292608"/>
          </a:xfrm>
          <a:prstGeom prst="rect">
            <a:avLst/>
          </a:prstGeom>
          <a:noFill/>
        </p:spPr>
        <p:txBody>
          <a:bodyPr wrap="square" anchor="t" lIns="0" rIns="0" tIns="0" bIns="0">
            <a:spAutoFit/>
          </a:bodyPr>
          <a:lstStyle/>
          <a:p>
            <a:pPr algn="l">
              <a:lnSpc>
                <a:spcPct val="108000"/>
              </a:lnSpc>
            </a:pPr>
            <a:r>
              <a:rPr sz="1150" b="0" i="0">
                <a:solidFill>
                  <a:srgbClr val="2B3350"/>
                </a:solidFill>
                <a:latin typeface="Calibri"/>
              </a:rPr>
              <a:t>Decision</a:t>
            </a:r>
          </a:p>
        </p:txBody>
      </p:sp>
      <p:sp>
        <p:nvSpPr>
          <p:cNvPr id="31" name="Rectangle 30"/>
          <p:cNvSpPr/>
          <p:nvPr/>
        </p:nvSpPr>
        <p:spPr>
          <a:xfrm>
            <a:off x="548640" y="5413248"/>
            <a:ext cx="11064240" cy="56692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413248"/>
            <a:ext cx="10424160" cy="566928"/>
          </a:xfrm>
          <a:prstGeom prst="rect">
            <a:avLst/>
          </a:prstGeom>
          <a:noFill/>
        </p:spPr>
        <p:txBody>
          <a:bodyPr wrap="square" anchor="ctr" lIns="0" rIns="0" tIns="0" bIns="0">
            <a:spAutoFit/>
          </a:bodyPr>
          <a:lstStyle/>
          <a:p>
            <a:pPr algn="l">
              <a:lnSpc>
                <a:spcPct val="108000"/>
              </a:lnSpc>
            </a:pPr>
            <a:r>
              <a:rPr sz="1250" b="0" i="0">
                <a:solidFill>
                  <a:srgbClr val="FFFFFF"/>
                </a:solidFill>
                <a:latin typeface="Calibri"/>
              </a:rPr>
              <a:t>Every recorded decision names the decision owner, states the justification, and is written permanently to the audit log.</a:t>
            </a:r>
          </a:p>
        </p:txBody>
      </p:sp>
      <p:sp>
        <p:nvSpPr>
          <p:cNvPr id="33" name="TextBox 32"/>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DecisionOutcome type; Decision Authority, Decision Intelligence and Governance Blockers modules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COMPLIANCE FRAMEWORK  ·  RELEASES 5 &amp; 6</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A reusable foundation every regulation plugs into</a:t>
            </a:r>
          </a:p>
        </p:txBody>
      </p:sp>
      <p:sp>
        <p:nvSpPr>
          <p:cNvPr id="4" name="TextBox 3"/>
          <p:cNvSpPr txBox="1"/>
          <p:nvPr/>
        </p:nvSpPr>
        <p:spPr>
          <a:xfrm>
            <a:off x="548640" y="1481328"/>
            <a:ext cx="10241280" cy="530000"/>
          </a:xfrm>
          <a:prstGeom prst="rect">
            <a:avLst/>
          </a:prstGeom>
          <a:noFill/>
        </p:spPr>
        <p:txBody>
          <a:bodyPr wrap="square" anchor="t" lIns="0" rIns="0" tIns="0" bIns="0">
            <a:spAutoFit/>
          </a:bodyPr>
          <a:lstStyle/>
          <a:p>
            <a:pPr algn="l">
              <a:lnSpc>
                <a:spcPct val="120000"/>
              </a:lnSpc>
            </a:pPr>
            <a:r>
              <a:rPr sz="1300" b="0" i="0">
                <a:solidFill>
                  <a:srgbClr val="2B3350"/>
                </a:solidFill>
                <a:latin typeface="Calibri"/>
              </a:rPr>
              <a:t>Two layers, built one release apart: a Compliance Pack Framework for internal control frameworks, and a Regulatory Knowledge Engine for named regulations — both structured the same way, so a new regulation onboards as data, not as a rebuild.</a:t>
            </a:r>
          </a:p>
        </p:txBody>
      </p:sp>
      <p:sp>
        <p:nvSpPr>
          <p:cNvPr id="5" name="Rectangle 4"/>
          <p:cNvSpPr/>
          <p:nvPr/>
        </p:nvSpPr>
        <p:spPr>
          <a:xfrm>
            <a:off x="548640" y="2057400"/>
            <a:ext cx="541324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203704"/>
            <a:ext cx="4937760" cy="310896"/>
          </a:xfrm>
          <a:prstGeom prst="rect">
            <a:avLst/>
          </a:prstGeom>
          <a:noFill/>
        </p:spPr>
        <p:txBody>
          <a:bodyPr wrap="square" anchor="t" lIns="0" rIns="0" tIns="0" bIns="0">
            <a:spAutoFit/>
          </a:bodyPr>
          <a:lstStyle/>
          <a:p>
            <a:pPr algn="l">
              <a:lnSpc>
                <a:spcPct val="108000"/>
              </a:lnSpc>
            </a:pPr>
            <a:r>
              <a:rPr sz="1500" b="1" i="0">
                <a:solidFill>
                  <a:srgbClr val="1E2761"/>
                </a:solidFill>
                <a:latin typeface="Calibri"/>
              </a:rPr>
              <a:t>Compliance Pack Framework</a:t>
            </a:r>
          </a:p>
        </p:txBody>
      </p:sp>
      <p:sp>
        <p:nvSpPr>
          <p:cNvPr id="7" name="TextBox 6"/>
          <p:cNvSpPr txBox="1"/>
          <p:nvPr/>
        </p:nvSpPr>
        <p:spPr>
          <a:xfrm>
            <a:off x="804672" y="2551176"/>
            <a:ext cx="4937760" cy="292608"/>
          </a:xfrm>
          <a:prstGeom prst="rect">
            <a:avLst/>
          </a:prstGeom>
          <a:noFill/>
        </p:spPr>
        <p:txBody>
          <a:bodyPr wrap="square" anchor="t" lIns="0" rIns="0" tIns="0" bIns="0">
            <a:spAutoFit/>
          </a:bodyPr>
          <a:lstStyle/>
          <a:p>
            <a:pPr algn="l">
              <a:lnSpc>
                <a:spcPct val="108000"/>
              </a:lnSpc>
            </a:pPr>
            <a:r>
              <a:rPr sz="1400" b="1" i="0">
                <a:solidFill>
                  <a:srgbClr val="1E2761"/>
                </a:solidFill>
                <a:latin typeface="Cambria"/>
              </a:rPr>
              <a:t>Pack  ›  Requirement  ›  Control  ›  Evidence</a:t>
            </a:r>
          </a:p>
        </p:txBody>
      </p:sp>
      <p:sp>
        <p:nvSpPr>
          <p:cNvPr id="8" name="TextBox 7"/>
          <p:cNvSpPr txBox="1"/>
          <p:nvPr/>
        </p:nvSpPr>
        <p:spPr>
          <a:xfrm>
            <a:off x="804672" y="2926080"/>
            <a:ext cx="4937760" cy="1097280"/>
          </a:xfrm>
          <a:prstGeom prst="rect">
            <a:avLst/>
          </a:prstGeom>
          <a:noFill/>
        </p:spPr>
        <p:txBody>
          <a:bodyPr wrap="square" anchor="t" lIns="0" rIns="0" tIns="0" bIns="0">
            <a:spAutoFit/>
          </a:bodyPr>
          <a:lstStyle/>
          <a:p>
            <a:pPr algn="l">
              <a:lnSpc>
                <a:spcPct val="120000"/>
              </a:lnSpc>
            </a:pPr>
            <a:r>
              <a:rPr sz="1200" b="0" i="0">
                <a:solidFill>
                  <a:srgbClr val="2B3350"/>
                </a:solidFill>
                <a:latin typeface="Calibri"/>
              </a:rPr>
              <a:t>Coverage is computed from real linkage, not typed in as a score. A requirement is only 'covered' when an evidence-backed control genuinely traces to it — full, partial, or no coverage, never a fabricated percentage.</a:t>
            </a:r>
          </a:p>
        </p:txBody>
      </p:sp>
      <p:sp>
        <p:nvSpPr>
          <p:cNvPr id="9" name="Rectangle 8"/>
          <p:cNvSpPr/>
          <p:nvPr/>
        </p:nvSpPr>
        <p:spPr>
          <a:xfrm>
            <a:off x="6199632" y="2057400"/>
            <a:ext cx="5413248" cy="21488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2203704"/>
            <a:ext cx="4937760" cy="310896"/>
          </a:xfrm>
          <a:prstGeom prst="rect">
            <a:avLst/>
          </a:prstGeom>
          <a:noFill/>
        </p:spPr>
        <p:txBody>
          <a:bodyPr wrap="square" anchor="t" lIns="0" rIns="0" tIns="0" bIns="0">
            <a:spAutoFit/>
          </a:bodyPr>
          <a:lstStyle/>
          <a:p>
            <a:pPr algn="l">
              <a:lnSpc>
                <a:spcPct val="108000"/>
              </a:lnSpc>
            </a:pPr>
            <a:r>
              <a:rPr sz="1500" b="1" i="0">
                <a:solidFill>
                  <a:srgbClr val="CADCFC"/>
                </a:solidFill>
                <a:latin typeface="Calibri"/>
              </a:rPr>
              <a:t>Regulatory Knowledge Engine</a:t>
            </a:r>
          </a:p>
        </p:txBody>
      </p:sp>
      <p:sp>
        <p:nvSpPr>
          <p:cNvPr id="11" name="TextBox 10"/>
          <p:cNvSpPr txBox="1"/>
          <p:nvPr/>
        </p:nvSpPr>
        <p:spPr>
          <a:xfrm>
            <a:off x="6455664" y="2551176"/>
            <a:ext cx="4937760" cy="292608"/>
          </a:xfrm>
          <a:prstGeom prst="rect">
            <a:avLst/>
          </a:prstGeom>
          <a:noFill/>
        </p:spPr>
        <p:txBody>
          <a:bodyPr wrap="square" anchor="t" lIns="0" rIns="0" tIns="0" bIns="0">
            <a:spAutoFit/>
          </a:bodyPr>
          <a:lstStyle/>
          <a:p>
            <a:pPr algn="l">
              <a:lnSpc>
                <a:spcPct val="108000"/>
              </a:lnSpc>
            </a:pPr>
            <a:r>
              <a:rPr sz="1300" b="1" i="0">
                <a:solidFill>
                  <a:srgbClr val="FFFFFF"/>
                </a:solidFill>
                <a:latin typeface="Cambria"/>
              </a:rPr>
              <a:t>Source › Requirement › Obligation › Control › Evidence</a:t>
            </a:r>
          </a:p>
        </p:txBody>
      </p:sp>
      <p:sp>
        <p:nvSpPr>
          <p:cNvPr id="12" name="TextBox 11"/>
          <p:cNvSpPr txBox="1"/>
          <p:nvPr/>
        </p:nvSpPr>
        <p:spPr>
          <a:xfrm>
            <a:off x="6455664" y="2926080"/>
            <a:ext cx="4937760" cy="1097280"/>
          </a:xfrm>
          <a:prstGeom prst="rect">
            <a:avLst/>
          </a:prstGeom>
          <a:noFill/>
        </p:spPr>
        <p:txBody>
          <a:bodyPr wrap="square" anchor="t" lIns="0" rIns="0" tIns="0" bIns="0">
            <a:spAutoFit/>
          </a:bodyPr>
          <a:lstStyle/>
          <a:p>
            <a:pPr algn="l">
              <a:lnSpc>
                <a:spcPct val="120000"/>
              </a:lnSpc>
            </a:pPr>
            <a:r>
              <a:rPr sz="1200" b="0" i="0">
                <a:solidFill>
                  <a:srgbClr val="FFFFFF"/>
                </a:solidFill>
                <a:latin typeface="Calibri"/>
              </a:rPr>
              <a:t>One additional layer — the Obligation — turns a regulatory requirement into a named, owned, actionable duty. This is the foundation every future compliance accelerator (RBI, ISO 42001, EU AI Act, NIST AI RMF) is configured on top of.</a:t>
            </a:r>
          </a:p>
        </p:txBody>
      </p:sp>
      <p:sp>
        <p:nvSpPr>
          <p:cNvPr id="13" name="Rectangle 12"/>
          <p:cNvSpPr/>
          <p:nvPr/>
        </p:nvSpPr>
        <p:spPr>
          <a:xfrm>
            <a:off x="548640" y="4370832"/>
            <a:ext cx="11064240" cy="1097280"/>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499352"/>
            <a:ext cx="10515600" cy="274320"/>
          </a:xfrm>
          <a:prstGeom prst="rect">
            <a:avLst/>
          </a:prstGeom>
          <a:noFill/>
        </p:spPr>
        <p:txBody>
          <a:bodyPr wrap="square" anchor="t" lIns="0" rIns="0" tIns="0" bIns="0">
            <a:spAutoFit/>
          </a:bodyPr>
          <a:lstStyle/>
          <a:p>
            <a:pPr algn="l">
              <a:lnSpc>
                <a:spcPct val="108000"/>
              </a:lnSpc>
            </a:pPr>
            <a:r>
              <a:rPr sz="1300" b="1" i="0">
                <a:solidFill>
                  <a:srgbClr val="8A5A12"/>
                </a:solidFill>
                <a:latin typeface="Calibri"/>
              </a:rPr>
              <a:t>Coverage without artificial scores</a:t>
            </a:r>
          </a:p>
        </p:txBody>
      </p:sp>
      <p:sp>
        <p:nvSpPr>
          <p:cNvPr id="15" name="TextBox 14"/>
          <p:cNvSpPr txBox="1"/>
          <p:nvPr/>
        </p:nvSpPr>
        <p:spPr>
          <a:xfrm>
            <a:off x="822960" y="4791456"/>
            <a:ext cx="10515600" cy="566928"/>
          </a:xfrm>
          <a:prstGeom prst="rect">
            <a:avLst/>
          </a:prstGeom>
          <a:noFill/>
        </p:spPr>
        <p:txBody>
          <a:bodyPr wrap="square" anchor="t" lIns="0" rIns="0" tIns="0" bIns="0">
            <a:spAutoFit/>
          </a:bodyPr>
          <a:lstStyle/>
          <a:p>
            <a:pPr algn="l">
              <a:lnSpc>
                <a:spcPct val="115000"/>
              </a:lnSpc>
            </a:pPr>
            <a:r>
              <a:rPr sz="1150" b="0" i="0">
                <a:solidFill>
                  <a:srgbClr val="2B3350"/>
                </a:solidFill>
                <a:latin typeface="Calibri"/>
              </a:rPr>
              <a:t>Every coverage figure on screen is derived live from Pack/Source → Requirement → Obligation → Control → Evidence linkage. Nothing is hand-entered as a percentage — the same discipline the readiness score uses.</a:t>
            </a:r>
          </a:p>
        </p:txBody>
      </p:sp>
      <p:sp>
        <p:nvSpPr>
          <p:cNvPr id="16" name="TextBox 15"/>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Release 5 Compliance Pack Framework, Release 6 Regulatory Knowledge Engine — docs/governance/17 &amp;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GOVERNANCE INTELLIGENCE ENGINE  ·  RELEASE 7</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From governance records to governance reasoning</a:t>
            </a:r>
          </a:p>
        </p:txBody>
      </p:sp>
      <p:sp>
        <p:nvSpPr>
          <p:cNvPr id="4" name="TextBox 3"/>
          <p:cNvSpPr txBox="1"/>
          <p:nvPr/>
        </p:nvSpPr>
        <p:spPr>
          <a:xfrm>
            <a:off x="548640" y="1481328"/>
            <a:ext cx="10241280" cy="530000"/>
          </a:xfrm>
          <a:prstGeom prst="rect">
            <a:avLst/>
          </a:prstGeom>
          <a:noFill/>
        </p:spPr>
        <p:txBody>
          <a:bodyPr wrap="square" anchor="t" lIns="0" rIns="0" tIns="0" bIns="0">
            <a:spAutoFit/>
          </a:bodyPr>
          <a:lstStyle/>
          <a:p>
            <a:pPr algn="l">
              <a:lnSpc>
                <a:spcPct val="120000"/>
              </a:lnSpc>
            </a:pPr>
            <a:r>
              <a:rPr sz="1300" b="0" i="0">
                <a:solidFill>
                  <a:srgbClr val="2B3350"/>
                </a:solidFill>
                <a:latin typeface="Calibri"/>
              </a:rPr>
              <a:t>OMG does not just store governance data — it reasons over it. A five-step chain runs live for every asset, and every resulting outcome comes with the exact reasons behind it.</a:t>
            </a:r>
          </a:p>
        </p:txBody>
      </p:sp>
      <p:sp>
        <p:nvSpPr>
          <p:cNvPr id="5" name="Rectangle 4"/>
          <p:cNvSpPr/>
          <p:nvPr/>
        </p:nvSpPr>
        <p:spPr>
          <a:xfrm>
            <a:off x="1001000" y="2057400"/>
            <a:ext cx="1990000" cy="7315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1000" y="2057400"/>
            <a:ext cx="1990000" cy="731520"/>
          </a:xfrm>
          <a:prstGeom prst="rect">
            <a:avLst/>
          </a:prstGeom>
          <a:noFill/>
        </p:spPr>
        <p:txBody>
          <a:bodyPr wrap="square" anchor="ctr" lIns="0" rIns="0" tIns="0" bIns="0">
            <a:spAutoFit/>
          </a:bodyPr>
          <a:lstStyle/>
          <a:p>
            <a:pPr algn="ctr">
              <a:lnSpc>
                <a:spcPct val="108000"/>
              </a:lnSpc>
            </a:pPr>
            <a:r>
              <a:rPr sz="1400" b="1" i="0">
                <a:solidFill>
                  <a:srgbClr val="1E2761"/>
                </a:solidFill>
                <a:latin typeface="Calibri"/>
              </a:rPr>
              <a:t>Policy</a:t>
            </a:r>
          </a:p>
        </p:txBody>
      </p:sp>
      <p:sp>
        <p:nvSpPr>
          <p:cNvPr id="7" name="TextBox 6"/>
          <p:cNvSpPr txBox="1"/>
          <p:nvPr/>
        </p:nvSpPr>
        <p:spPr>
          <a:xfrm>
            <a:off x="2991000" y="2057400"/>
            <a:ext cx="90000" cy="731520"/>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8" name="Rectangle 7"/>
          <p:cNvSpPr/>
          <p:nvPr/>
        </p:nvSpPr>
        <p:spPr>
          <a:xfrm>
            <a:off x="3051000" y="2057400"/>
            <a:ext cx="1990000" cy="7315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51000" y="2057400"/>
            <a:ext cx="1990000" cy="731520"/>
          </a:xfrm>
          <a:prstGeom prst="rect">
            <a:avLst/>
          </a:prstGeom>
          <a:noFill/>
        </p:spPr>
        <p:txBody>
          <a:bodyPr wrap="square" anchor="ctr" lIns="0" rIns="0" tIns="0" bIns="0">
            <a:spAutoFit/>
          </a:bodyPr>
          <a:lstStyle/>
          <a:p>
            <a:pPr algn="ctr">
              <a:lnSpc>
                <a:spcPct val="108000"/>
              </a:lnSpc>
            </a:pPr>
            <a:r>
              <a:rPr sz="1400" b="1" i="0">
                <a:solidFill>
                  <a:srgbClr val="1E2761"/>
                </a:solidFill>
                <a:latin typeface="Calibri"/>
              </a:rPr>
              <a:t>Condition</a:t>
            </a:r>
          </a:p>
        </p:txBody>
      </p:sp>
      <p:sp>
        <p:nvSpPr>
          <p:cNvPr id="10" name="TextBox 9"/>
          <p:cNvSpPr txBox="1"/>
          <p:nvPr/>
        </p:nvSpPr>
        <p:spPr>
          <a:xfrm>
            <a:off x="5041000" y="2057400"/>
            <a:ext cx="90000" cy="731520"/>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11" name="Rectangle 10"/>
          <p:cNvSpPr/>
          <p:nvPr/>
        </p:nvSpPr>
        <p:spPr>
          <a:xfrm>
            <a:off x="5101000" y="2057400"/>
            <a:ext cx="1990000" cy="7315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01000" y="2057400"/>
            <a:ext cx="1990000" cy="731520"/>
          </a:xfrm>
          <a:prstGeom prst="rect">
            <a:avLst/>
          </a:prstGeom>
          <a:noFill/>
        </p:spPr>
        <p:txBody>
          <a:bodyPr wrap="square" anchor="ctr" lIns="0" rIns="0" tIns="0" bIns="0">
            <a:spAutoFit/>
          </a:bodyPr>
          <a:lstStyle/>
          <a:p>
            <a:pPr algn="ctr">
              <a:lnSpc>
                <a:spcPct val="108000"/>
              </a:lnSpc>
            </a:pPr>
            <a:r>
              <a:rPr sz="1400" b="1" i="0">
                <a:solidFill>
                  <a:srgbClr val="1E2761"/>
                </a:solidFill>
                <a:latin typeface="Calibri"/>
              </a:rPr>
              <a:t>Violation</a:t>
            </a:r>
          </a:p>
        </p:txBody>
      </p:sp>
      <p:sp>
        <p:nvSpPr>
          <p:cNvPr id="13" name="TextBox 12"/>
          <p:cNvSpPr txBox="1"/>
          <p:nvPr/>
        </p:nvSpPr>
        <p:spPr>
          <a:xfrm>
            <a:off x="7091000" y="2057400"/>
            <a:ext cx="90000" cy="731520"/>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14" name="Rectangle 13"/>
          <p:cNvSpPr/>
          <p:nvPr/>
        </p:nvSpPr>
        <p:spPr>
          <a:xfrm>
            <a:off x="7151000" y="2057400"/>
            <a:ext cx="1990000" cy="7315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51000" y="2057400"/>
            <a:ext cx="1990000" cy="731520"/>
          </a:xfrm>
          <a:prstGeom prst="rect">
            <a:avLst/>
          </a:prstGeom>
          <a:noFill/>
        </p:spPr>
        <p:txBody>
          <a:bodyPr wrap="square" anchor="ctr" lIns="0" rIns="0" tIns="0" bIns="0">
            <a:spAutoFit/>
          </a:bodyPr>
          <a:lstStyle/>
          <a:p>
            <a:pPr algn="ctr">
              <a:lnSpc>
                <a:spcPct val="108000"/>
              </a:lnSpc>
            </a:pPr>
            <a:r>
              <a:rPr sz="1400" b="1" i="0">
                <a:solidFill>
                  <a:srgbClr val="1E2761"/>
                </a:solidFill>
                <a:latin typeface="Calibri"/>
              </a:rPr>
              <a:t>Finding</a:t>
            </a:r>
          </a:p>
        </p:txBody>
      </p:sp>
      <p:sp>
        <p:nvSpPr>
          <p:cNvPr id="16" name="TextBox 15"/>
          <p:cNvSpPr txBox="1"/>
          <p:nvPr/>
        </p:nvSpPr>
        <p:spPr>
          <a:xfrm>
            <a:off x="9141000" y="2057400"/>
            <a:ext cx="90000" cy="731520"/>
          </a:xfrm>
          <a:prstGeom prst="rect">
            <a:avLst/>
          </a:prstGeom>
          <a:noFill/>
        </p:spPr>
        <p:txBody>
          <a:bodyPr wrap="square" anchor="ctr" lIns="0" rIns="0" tIns="0" bIns="0">
            <a:spAutoFit/>
          </a:bodyPr>
          <a:lstStyle/>
          <a:p>
            <a:pPr algn="ctr">
              <a:lnSpc>
                <a:spcPct val="108000"/>
              </a:lnSpc>
            </a:pPr>
            <a:r>
              <a:rPr sz="1500" b="1" i="0">
                <a:solidFill>
                  <a:srgbClr val="6B7391"/>
                </a:solidFill>
                <a:latin typeface="Calibri"/>
              </a:rPr>
              <a:t>›</a:t>
            </a:r>
          </a:p>
        </p:txBody>
      </p:sp>
      <p:sp>
        <p:nvSpPr>
          <p:cNvPr id="17" name="Rectangle 16"/>
          <p:cNvSpPr/>
          <p:nvPr/>
        </p:nvSpPr>
        <p:spPr>
          <a:xfrm>
            <a:off x="9201000" y="2057400"/>
            <a:ext cx="1990000" cy="7315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01000" y="2057400"/>
            <a:ext cx="1990000" cy="731520"/>
          </a:xfrm>
          <a:prstGeom prst="rect">
            <a:avLst/>
          </a:prstGeom>
          <a:noFill/>
        </p:spPr>
        <p:txBody>
          <a:bodyPr wrap="square" anchor="ctr" lIns="0" rIns="0" tIns="0" bIns="0">
            <a:spAutoFit/>
          </a:bodyPr>
          <a:lstStyle/>
          <a:p>
            <a:pPr algn="ctr">
              <a:lnSpc>
                <a:spcPct val="108000"/>
              </a:lnSpc>
            </a:pPr>
            <a:r>
              <a:rPr sz="1400" b="1" i="0">
                <a:solidFill>
                  <a:srgbClr val="FFFFFF"/>
                </a:solidFill>
                <a:latin typeface="Calibri"/>
              </a:rPr>
              <a:t>Outcome</a:t>
            </a:r>
          </a:p>
        </p:txBody>
      </p:sp>
      <p:sp>
        <p:nvSpPr>
          <p:cNvPr id="19" name="Rectangle 18"/>
          <p:cNvSpPr/>
          <p:nvPr/>
        </p:nvSpPr>
        <p:spPr>
          <a:xfrm>
            <a:off x="548640" y="3063240"/>
            <a:ext cx="3538728" cy="11887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00400"/>
            <a:ext cx="3081528" cy="292608"/>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Policy Registry</a:t>
            </a:r>
          </a:p>
        </p:txBody>
      </p:sp>
      <p:sp>
        <p:nvSpPr>
          <p:cNvPr id="21" name="TextBox 20"/>
          <p:cNvSpPr txBox="1"/>
          <p:nvPr/>
        </p:nvSpPr>
        <p:spPr>
          <a:xfrm>
            <a:off x="777240" y="3538728"/>
            <a:ext cx="3081528" cy="640080"/>
          </a:xfrm>
          <a:prstGeom prst="rect">
            <a:avLst/>
          </a:prstGeom>
          <a:noFill/>
        </p:spPr>
        <p:txBody>
          <a:bodyPr wrap="square" anchor="t" lIns="0" rIns="0" tIns="0" bIns="0">
            <a:spAutoFit/>
          </a:bodyPr>
          <a:lstStyle/>
          <a:p>
            <a:pPr algn="l">
              <a:lnSpc>
                <a:spcPct val="115000"/>
              </a:lnSpc>
            </a:pPr>
            <a:r>
              <a:rPr sz="1100" b="0" i="0">
                <a:solidFill>
                  <a:srgbClr val="2B3350"/>
                </a:solidFill>
                <a:latin typeface="Calibri"/>
              </a:rPr>
              <a:t>Named policies with a trigger condition, severity and status — Active policies drive live evaluation.</a:t>
            </a:r>
          </a:p>
        </p:txBody>
      </p:sp>
      <p:sp>
        <p:nvSpPr>
          <p:cNvPr id="22" name="Rectangle 21"/>
          <p:cNvSpPr/>
          <p:nvPr/>
        </p:nvSpPr>
        <p:spPr>
          <a:xfrm>
            <a:off x="4315968" y="3063240"/>
            <a:ext cx="3538728" cy="11887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3200400"/>
            <a:ext cx="3081528" cy="292608"/>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Condition Engine</a:t>
            </a:r>
          </a:p>
        </p:txBody>
      </p:sp>
      <p:sp>
        <p:nvSpPr>
          <p:cNvPr id="24" name="TextBox 23"/>
          <p:cNvSpPr txBox="1"/>
          <p:nvPr/>
        </p:nvSpPr>
        <p:spPr>
          <a:xfrm>
            <a:off x="4544568" y="3538728"/>
            <a:ext cx="3081528" cy="640080"/>
          </a:xfrm>
          <a:prstGeom prst="rect">
            <a:avLst/>
          </a:prstGeom>
          <a:noFill/>
        </p:spPr>
        <p:txBody>
          <a:bodyPr wrap="square" anchor="t" lIns="0" rIns="0" tIns="0" bIns="0">
            <a:spAutoFit/>
          </a:bodyPr>
          <a:lstStyle/>
          <a:p>
            <a:pPr algn="l">
              <a:lnSpc>
                <a:spcPct val="115000"/>
              </a:lnSpc>
            </a:pPr>
            <a:r>
              <a:rPr sz="1100" b="0" i="0">
                <a:solidFill>
                  <a:srgbClr val="2B3350"/>
                </a:solidFill>
                <a:latin typeface="Calibri"/>
              </a:rPr>
              <a:t>Six condition types detected live: expired evidence, overdue review, missing approval, owner, validation or reauthorization.</a:t>
            </a:r>
          </a:p>
        </p:txBody>
      </p:sp>
      <p:sp>
        <p:nvSpPr>
          <p:cNvPr id="25" name="Rectangle 24"/>
          <p:cNvSpPr/>
          <p:nvPr/>
        </p:nvSpPr>
        <p:spPr>
          <a:xfrm>
            <a:off x="8083296" y="3063240"/>
            <a:ext cx="3538728" cy="118872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11896" y="3200400"/>
            <a:ext cx="3081528" cy="292608"/>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Explainability Layer</a:t>
            </a:r>
          </a:p>
        </p:txBody>
      </p:sp>
      <p:sp>
        <p:nvSpPr>
          <p:cNvPr id="27" name="TextBox 26"/>
          <p:cNvSpPr txBox="1"/>
          <p:nvPr/>
        </p:nvSpPr>
        <p:spPr>
          <a:xfrm>
            <a:off x="8311896" y="3538728"/>
            <a:ext cx="3081528" cy="640080"/>
          </a:xfrm>
          <a:prstGeom prst="rect">
            <a:avLst/>
          </a:prstGeom>
          <a:noFill/>
        </p:spPr>
        <p:txBody>
          <a:bodyPr wrap="square" anchor="t" lIns="0" rIns="0" tIns="0" bIns="0">
            <a:spAutoFit/>
          </a:bodyPr>
          <a:lstStyle/>
          <a:p>
            <a:pPr algn="l">
              <a:lnSpc>
                <a:spcPct val="115000"/>
              </a:lnSpc>
            </a:pPr>
            <a:r>
              <a:rPr sz="1100" b="0" i="0">
                <a:solidFill>
                  <a:srgbClr val="2B3350"/>
                </a:solidFill>
                <a:latin typeface="Calibri"/>
              </a:rPr>
              <a:t>Every Outcome ships with its own reasons array — never a black-box status.</a:t>
            </a:r>
          </a:p>
        </p:txBody>
      </p:sp>
      <p:sp>
        <p:nvSpPr>
          <p:cNvPr id="28" name="Rectangle 27"/>
          <p:cNvSpPr/>
          <p:nvPr/>
        </p:nvSpPr>
        <p:spPr>
          <a:xfrm>
            <a:off x="548640" y="4526280"/>
            <a:ext cx="11064240" cy="914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680000"/>
            <a:ext cx="10424160" cy="620000"/>
          </a:xfrm>
          <a:prstGeom prst="rect">
            <a:avLst/>
          </a:prstGeom>
          <a:noFill/>
        </p:spPr>
        <p:txBody>
          <a:bodyPr wrap="square" anchor="ctr" lIns="0" rIns="0" tIns="0" bIns="0">
            <a:spAutoFit/>
          </a:bodyPr>
          <a:lstStyle/>
          <a:p>
            <a:pPr algn="l">
              <a:lnSpc>
                <a:spcPct val="108000"/>
              </a:lnSpc>
            </a:pPr>
            <a:r>
              <a:rPr sz="1350" b="0" i="0">
                <a:solidFill>
                  <a:srgbClr val="FFFFFF"/>
                </a:solidFill>
                <a:latin typeface="Calibri"/>
              </a:rPr>
              <a:t>Detection and recommendation only — nothing here changes an asset's governance state automatically. Humans stay accountable for every decision the engine surfaces.</a:t>
            </a:r>
          </a:p>
        </p:txBody>
      </p:sp>
      <p:sp>
        <p:nvSpPr>
          <p:cNvPr id="30" name="TextBox 29"/>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Release 7 Governance Intelligence Engine — docs/governance/20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GOVERNANCE ACTIONS ENGINE  ·  RELEASE 8</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Recommendation-driven, not automation-driven</a:t>
            </a:r>
          </a:p>
        </p:txBody>
      </p:sp>
      <p:sp>
        <p:nvSpPr>
          <p:cNvPr id="4" name="TextBox 3"/>
          <p:cNvSpPr txBox="1"/>
          <p:nvPr/>
        </p:nvSpPr>
        <p:spPr>
          <a:xfrm>
            <a:off x="548640" y="1481328"/>
            <a:ext cx="10241280" cy="530000"/>
          </a:xfrm>
          <a:prstGeom prst="rect">
            <a:avLst/>
          </a:prstGeom>
          <a:noFill/>
        </p:spPr>
        <p:txBody>
          <a:bodyPr wrap="square" anchor="t" lIns="0" rIns="0" tIns="0" bIns="0">
            <a:spAutoFit/>
          </a:bodyPr>
          <a:lstStyle/>
          <a:p>
            <a:pPr algn="l">
              <a:lnSpc>
                <a:spcPct val="120000"/>
              </a:lnSpc>
            </a:pPr>
            <a:r>
              <a:rPr sz="1350" b="0" i="0">
                <a:solidFill>
                  <a:srgbClr val="2B3350"/>
                </a:solidFill>
                <a:latin typeface="Calibri"/>
              </a:rPr>
              <a:t>Every Outcome the Intelligence Engine produces can raise a Recommended Action — and a human always decides what happens to it.</a:t>
            </a:r>
          </a:p>
        </p:txBody>
      </p:sp>
      <p:sp>
        <p:nvSpPr>
          <p:cNvPr id="5" name="TextBox 4"/>
          <p:cNvSpPr txBox="1"/>
          <p:nvPr/>
        </p:nvSpPr>
        <p:spPr>
          <a:xfrm>
            <a:off x="548640" y="2057400"/>
            <a:ext cx="5000000" cy="274320"/>
          </a:xfrm>
          <a:prstGeom prst="rect">
            <a:avLst/>
          </a:prstGeom>
          <a:noFill/>
        </p:spPr>
        <p:txBody>
          <a:bodyPr wrap="square" anchor="t" lIns="0" rIns="0" tIns="0" bIns="0">
            <a:spAutoFit/>
          </a:bodyPr>
          <a:lstStyle/>
          <a:p>
            <a:pPr algn="l">
              <a:lnSpc>
                <a:spcPct val="108000"/>
              </a:lnSpc>
            </a:pPr>
            <a:r>
              <a:rPr sz="1200" b="1" i="0">
                <a:solidFill>
                  <a:srgbClr val="6B7391"/>
                </a:solidFill>
                <a:latin typeface="Calibri"/>
              </a:rPr>
              <a:t>OUTCOME  ›  RECOMMENDED ACTION</a:t>
            </a:r>
          </a:p>
        </p:txBody>
      </p:sp>
      <p:sp>
        <p:nvSpPr>
          <p:cNvPr id="6" name="Rectangle 5"/>
          <p:cNvSpPr/>
          <p:nvPr/>
        </p:nvSpPr>
        <p:spPr>
          <a:xfrm>
            <a:off x="548640" y="2450592"/>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450592"/>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Review</a:t>
            </a:r>
          </a:p>
        </p:txBody>
      </p:sp>
      <p:sp>
        <p:nvSpPr>
          <p:cNvPr id="8" name="Rectangle 7"/>
          <p:cNvSpPr/>
          <p:nvPr/>
        </p:nvSpPr>
        <p:spPr>
          <a:xfrm>
            <a:off x="2138640" y="2450592"/>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38640" y="2450592"/>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Reassessment</a:t>
            </a:r>
          </a:p>
        </p:txBody>
      </p:sp>
      <p:sp>
        <p:nvSpPr>
          <p:cNvPr id="10" name="Rectangle 9"/>
          <p:cNvSpPr/>
          <p:nvPr/>
        </p:nvSpPr>
        <p:spPr>
          <a:xfrm>
            <a:off x="3728640" y="2450592"/>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28640" y="2450592"/>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Validation</a:t>
            </a:r>
          </a:p>
        </p:txBody>
      </p:sp>
      <p:sp>
        <p:nvSpPr>
          <p:cNvPr id="12" name="Rectangle 11"/>
          <p:cNvSpPr/>
          <p:nvPr/>
        </p:nvSpPr>
        <p:spPr>
          <a:xfrm>
            <a:off x="5318640" y="2450592"/>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18640" y="2450592"/>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Approval</a:t>
            </a:r>
          </a:p>
        </p:txBody>
      </p:sp>
      <p:sp>
        <p:nvSpPr>
          <p:cNvPr id="14" name="Rectangle 13"/>
          <p:cNvSpPr/>
          <p:nvPr/>
        </p:nvSpPr>
        <p:spPr>
          <a:xfrm>
            <a:off x="6908640" y="2450592"/>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8640" y="2450592"/>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Reauthorization</a:t>
            </a:r>
          </a:p>
        </p:txBody>
      </p:sp>
      <p:sp>
        <p:nvSpPr>
          <p:cNvPr id="16" name="Rectangle 15"/>
          <p:cNvSpPr/>
          <p:nvPr/>
        </p:nvSpPr>
        <p:spPr>
          <a:xfrm>
            <a:off x="548640" y="3026080"/>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26080"/>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Ownership</a:t>
            </a:r>
          </a:p>
        </p:txBody>
      </p:sp>
      <p:sp>
        <p:nvSpPr>
          <p:cNvPr id="18" name="Rectangle 17"/>
          <p:cNvSpPr/>
          <p:nvPr/>
        </p:nvSpPr>
        <p:spPr>
          <a:xfrm>
            <a:off x="2138640" y="3026080"/>
            <a:ext cx="1490000" cy="47548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38640" y="3026080"/>
            <a:ext cx="1490000" cy="475488"/>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Escalation</a:t>
            </a:r>
          </a:p>
        </p:txBody>
      </p:sp>
      <p:sp>
        <p:nvSpPr>
          <p:cNvPr id="20" name="TextBox 19"/>
          <p:cNvSpPr txBox="1"/>
          <p:nvPr/>
        </p:nvSpPr>
        <p:spPr>
          <a:xfrm>
            <a:off x="548640" y="3703320"/>
            <a:ext cx="11064240" cy="274320"/>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THE HUMAN DECISION LAYER</a:t>
            </a:r>
          </a:p>
        </p:txBody>
      </p:sp>
      <p:sp>
        <p:nvSpPr>
          <p:cNvPr id="21" name="Rectangle 20"/>
          <p:cNvSpPr/>
          <p:nvPr/>
        </p:nvSpPr>
        <p:spPr>
          <a:xfrm>
            <a:off x="548640" y="4004945"/>
            <a:ext cx="3538728" cy="658368"/>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004945"/>
            <a:ext cx="3538728"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Accept</a:t>
            </a:r>
          </a:p>
        </p:txBody>
      </p:sp>
      <p:sp>
        <p:nvSpPr>
          <p:cNvPr id="23" name="Rectangle 22"/>
          <p:cNvSpPr/>
          <p:nvPr/>
        </p:nvSpPr>
        <p:spPr>
          <a:xfrm>
            <a:off x="4315968" y="4004945"/>
            <a:ext cx="3538728" cy="658368"/>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15968" y="4004945"/>
            <a:ext cx="3538728"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Reject</a:t>
            </a:r>
          </a:p>
        </p:txBody>
      </p:sp>
      <p:sp>
        <p:nvSpPr>
          <p:cNvPr id="25" name="Rectangle 24"/>
          <p:cNvSpPr/>
          <p:nvPr/>
        </p:nvSpPr>
        <p:spPr>
          <a:xfrm>
            <a:off x="8083296" y="4004945"/>
            <a:ext cx="3538728" cy="658368"/>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83296" y="4004945"/>
            <a:ext cx="3538728"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Defer</a:t>
            </a:r>
          </a:p>
        </p:txBody>
      </p:sp>
      <p:sp>
        <p:nvSpPr>
          <p:cNvPr id="27" name="Rectangle 26"/>
          <p:cNvSpPr/>
          <p:nvPr/>
        </p:nvSpPr>
        <p:spPr>
          <a:xfrm>
            <a:off x="548640" y="4937760"/>
            <a:ext cx="11064240"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66280"/>
            <a:ext cx="10515600" cy="274320"/>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Nothing executes automatically</a:t>
            </a:r>
          </a:p>
        </p:txBody>
      </p:sp>
      <p:sp>
        <p:nvSpPr>
          <p:cNvPr id="29" name="TextBox 28"/>
          <p:cNvSpPr txBox="1"/>
          <p:nvPr/>
        </p:nvSpPr>
        <p:spPr>
          <a:xfrm>
            <a:off x="822960" y="5358384"/>
            <a:ext cx="10515600" cy="566928"/>
          </a:xfrm>
          <a:prstGeom prst="rect">
            <a:avLst/>
          </a:prstGeom>
          <a:noFill/>
        </p:spPr>
        <p:txBody>
          <a:bodyPr wrap="square" anchor="t" lIns="0" rIns="0" tIns="0" bIns="0">
            <a:spAutoFit/>
          </a:bodyPr>
          <a:lstStyle/>
          <a:p>
            <a:pPr algn="l">
              <a:lnSpc>
                <a:spcPct val="115000"/>
              </a:lnSpc>
            </a:pPr>
            <a:r>
              <a:rPr sz="1150" b="0" i="0">
                <a:solidFill>
                  <a:srgbClr val="2B3350"/>
                </a:solidFill>
                <a:latin typeface="Calibri"/>
              </a:rPr>
              <a:t>Accept, Reject or Defer is recorded with who decided and when — the full lifecycle (Open → Accepted → In Progress → Completed, or Rejected/Deferred) is written to the audit trail.</a:t>
            </a:r>
          </a:p>
        </p:txBody>
      </p:sp>
      <p:sp>
        <p:nvSpPr>
          <p:cNvPr id="30" name="TextBox 29"/>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Release 8 Governance Intelligence Engine (Actions Edition) — docs/governance/21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GOVERNANCE DECISION TRACEABILITY  ·  RELEASE 9</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Reconstruct any governance decision, end-to-end</a:t>
            </a:r>
          </a:p>
        </p:txBody>
      </p:sp>
      <p:sp>
        <p:nvSpPr>
          <p:cNvPr id="4" name="TextBox 3"/>
          <p:cNvSpPr txBox="1"/>
          <p:nvPr/>
        </p:nvSpPr>
        <p:spPr>
          <a:xfrm>
            <a:off x="548640" y="1481328"/>
            <a:ext cx="10241280" cy="530000"/>
          </a:xfrm>
          <a:prstGeom prst="rect">
            <a:avLst/>
          </a:prstGeom>
          <a:noFill/>
        </p:spPr>
        <p:txBody>
          <a:bodyPr wrap="square" anchor="t" lIns="0" rIns="0" tIns="0" bIns="0">
            <a:spAutoFit/>
          </a:bodyPr>
          <a:lstStyle/>
          <a:p>
            <a:pPr algn="l">
              <a:lnSpc>
                <a:spcPct val="120000"/>
              </a:lnSpc>
            </a:pPr>
            <a:r>
              <a:rPr sz="1350" b="0" i="0">
                <a:solidFill>
                  <a:srgbClr val="2B3350"/>
                </a:solidFill>
                <a:latin typeface="Calibri"/>
              </a:rPr>
              <a:t>The capstone over Releases 5-8: every governance decision can be replayed, from the regulatory source to the human who acted on it.</a:t>
            </a:r>
          </a:p>
        </p:txBody>
      </p:sp>
      <p:sp>
        <p:nvSpPr>
          <p:cNvPr id="5" name="Rectangle 4"/>
          <p:cNvSpPr/>
          <p:nvPr/>
        </p:nvSpPr>
        <p:spPr>
          <a:xfrm>
            <a:off x="726000" y="2057400"/>
            <a:ext cx="1500000" cy="6400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Condition</a:t>
            </a:r>
          </a:p>
        </p:txBody>
      </p:sp>
      <p:sp>
        <p:nvSpPr>
          <p:cNvPr id="7" name="TextBox 6"/>
          <p:cNvSpPr txBox="1"/>
          <p:nvPr/>
        </p:nvSpPr>
        <p:spPr>
          <a:xfrm>
            <a:off x="2226000" y="2057400"/>
            <a:ext cx="60000" cy="640080"/>
          </a:xfrm>
          <a:prstGeom prst="rect">
            <a:avLst/>
          </a:prstGeom>
          <a:noFill/>
        </p:spPr>
        <p:txBody>
          <a:bodyPr wrap="square" anchor="ctr" lIns="0" rIns="0" tIns="0" bIns="0">
            <a:spAutoFit/>
          </a:bodyPr>
          <a:lstStyle/>
          <a:p>
            <a:pPr algn="ctr">
              <a:lnSpc>
                <a:spcPct val="108000"/>
              </a:lnSpc>
            </a:pPr>
            <a:r>
              <a:rPr sz="1300" b="1" i="0">
                <a:solidFill>
                  <a:srgbClr val="6B7391"/>
                </a:solidFill>
                <a:latin typeface="Calibri"/>
              </a:rPr>
              <a:t>›</a:t>
            </a:r>
          </a:p>
        </p:txBody>
      </p:sp>
      <p:sp>
        <p:nvSpPr>
          <p:cNvPr id="8" name="Rectangle 7"/>
          <p:cNvSpPr/>
          <p:nvPr/>
        </p:nvSpPr>
        <p:spPr>
          <a:xfrm>
            <a:off x="2266000" y="2057400"/>
            <a:ext cx="1500000" cy="6400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6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Policy</a:t>
            </a:r>
          </a:p>
        </p:txBody>
      </p:sp>
      <p:sp>
        <p:nvSpPr>
          <p:cNvPr id="10" name="TextBox 9"/>
          <p:cNvSpPr txBox="1"/>
          <p:nvPr/>
        </p:nvSpPr>
        <p:spPr>
          <a:xfrm>
            <a:off x="3766000" y="2057400"/>
            <a:ext cx="60000" cy="640080"/>
          </a:xfrm>
          <a:prstGeom prst="rect">
            <a:avLst/>
          </a:prstGeom>
          <a:noFill/>
        </p:spPr>
        <p:txBody>
          <a:bodyPr wrap="square" anchor="ctr" lIns="0" rIns="0" tIns="0" bIns="0">
            <a:spAutoFit/>
          </a:bodyPr>
          <a:lstStyle/>
          <a:p>
            <a:pPr algn="ctr">
              <a:lnSpc>
                <a:spcPct val="108000"/>
              </a:lnSpc>
            </a:pPr>
            <a:r>
              <a:rPr sz="1300" b="1" i="0">
                <a:solidFill>
                  <a:srgbClr val="6B7391"/>
                </a:solidFill>
                <a:latin typeface="Calibri"/>
              </a:rPr>
              <a:t>›</a:t>
            </a:r>
          </a:p>
        </p:txBody>
      </p:sp>
      <p:sp>
        <p:nvSpPr>
          <p:cNvPr id="11" name="Rectangle 10"/>
          <p:cNvSpPr/>
          <p:nvPr/>
        </p:nvSpPr>
        <p:spPr>
          <a:xfrm>
            <a:off x="3806000" y="2057400"/>
            <a:ext cx="1500000" cy="6400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0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Violation</a:t>
            </a:r>
          </a:p>
        </p:txBody>
      </p:sp>
      <p:sp>
        <p:nvSpPr>
          <p:cNvPr id="13" name="TextBox 12"/>
          <p:cNvSpPr txBox="1"/>
          <p:nvPr/>
        </p:nvSpPr>
        <p:spPr>
          <a:xfrm>
            <a:off x="5306000" y="2057400"/>
            <a:ext cx="60000" cy="640080"/>
          </a:xfrm>
          <a:prstGeom prst="rect">
            <a:avLst/>
          </a:prstGeom>
          <a:noFill/>
        </p:spPr>
        <p:txBody>
          <a:bodyPr wrap="square" anchor="ctr" lIns="0" rIns="0" tIns="0" bIns="0">
            <a:spAutoFit/>
          </a:bodyPr>
          <a:lstStyle/>
          <a:p>
            <a:pPr algn="ctr">
              <a:lnSpc>
                <a:spcPct val="108000"/>
              </a:lnSpc>
            </a:pPr>
            <a:r>
              <a:rPr sz="1300" b="1" i="0">
                <a:solidFill>
                  <a:srgbClr val="6B7391"/>
                </a:solidFill>
                <a:latin typeface="Calibri"/>
              </a:rPr>
              <a:t>›</a:t>
            </a:r>
          </a:p>
        </p:txBody>
      </p:sp>
      <p:sp>
        <p:nvSpPr>
          <p:cNvPr id="14" name="Rectangle 13"/>
          <p:cNvSpPr/>
          <p:nvPr/>
        </p:nvSpPr>
        <p:spPr>
          <a:xfrm>
            <a:off x="5346000" y="2057400"/>
            <a:ext cx="1500000" cy="6400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Finding</a:t>
            </a:r>
          </a:p>
        </p:txBody>
      </p:sp>
      <p:sp>
        <p:nvSpPr>
          <p:cNvPr id="16" name="TextBox 15"/>
          <p:cNvSpPr txBox="1"/>
          <p:nvPr/>
        </p:nvSpPr>
        <p:spPr>
          <a:xfrm>
            <a:off x="6846000" y="2057400"/>
            <a:ext cx="60000" cy="640080"/>
          </a:xfrm>
          <a:prstGeom prst="rect">
            <a:avLst/>
          </a:prstGeom>
          <a:noFill/>
        </p:spPr>
        <p:txBody>
          <a:bodyPr wrap="square" anchor="ctr" lIns="0" rIns="0" tIns="0" bIns="0">
            <a:spAutoFit/>
          </a:bodyPr>
          <a:lstStyle/>
          <a:p>
            <a:pPr algn="ctr">
              <a:lnSpc>
                <a:spcPct val="108000"/>
              </a:lnSpc>
            </a:pPr>
            <a:r>
              <a:rPr sz="1300" b="1" i="0">
                <a:solidFill>
                  <a:srgbClr val="6B7391"/>
                </a:solidFill>
                <a:latin typeface="Calibri"/>
              </a:rPr>
              <a:t>›</a:t>
            </a:r>
          </a:p>
        </p:txBody>
      </p:sp>
      <p:sp>
        <p:nvSpPr>
          <p:cNvPr id="17" name="Rectangle 16"/>
          <p:cNvSpPr/>
          <p:nvPr/>
        </p:nvSpPr>
        <p:spPr>
          <a:xfrm>
            <a:off x="6886000" y="2057400"/>
            <a:ext cx="1500000" cy="6400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8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Outcome</a:t>
            </a:r>
          </a:p>
        </p:txBody>
      </p:sp>
      <p:sp>
        <p:nvSpPr>
          <p:cNvPr id="19" name="TextBox 18"/>
          <p:cNvSpPr txBox="1"/>
          <p:nvPr/>
        </p:nvSpPr>
        <p:spPr>
          <a:xfrm>
            <a:off x="8386000" y="2057400"/>
            <a:ext cx="60000" cy="640080"/>
          </a:xfrm>
          <a:prstGeom prst="rect">
            <a:avLst/>
          </a:prstGeom>
          <a:noFill/>
        </p:spPr>
        <p:txBody>
          <a:bodyPr wrap="square" anchor="ctr" lIns="0" rIns="0" tIns="0" bIns="0">
            <a:spAutoFit/>
          </a:bodyPr>
          <a:lstStyle/>
          <a:p>
            <a:pPr algn="ctr">
              <a:lnSpc>
                <a:spcPct val="108000"/>
              </a:lnSpc>
            </a:pPr>
            <a:r>
              <a:rPr sz="1300" b="1" i="0">
                <a:solidFill>
                  <a:srgbClr val="6B7391"/>
                </a:solidFill>
                <a:latin typeface="Calibri"/>
              </a:rPr>
              <a:t>›</a:t>
            </a:r>
          </a:p>
        </p:txBody>
      </p:sp>
      <p:sp>
        <p:nvSpPr>
          <p:cNvPr id="20" name="Rectangle 19"/>
          <p:cNvSpPr/>
          <p:nvPr/>
        </p:nvSpPr>
        <p:spPr>
          <a:xfrm>
            <a:off x="8426000" y="2057400"/>
            <a:ext cx="1500000" cy="6400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Action</a:t>
            </a:r>
          </a:p>
        </p:txBody>
      </p:sp>
      <p:sp>
        <p:nvSpPr>
          <p:cNvPr id="22" name="TextBox 21"/>
          <p:cNvSpPr txBox="1"/>
          <p:nvPr/>
        </p:nvSpPr>
        <p:spPr>
          <a:xfrm>
            <a:off x="9926000" y="2057400"/>
            <a:ext cx="60000" cy="640080"/>
          </a:xfrm>
          <a:prstGeom prst="rect">
            <a:avLst/>
          </a:prstGeom>
          <a:noFill/>
        </p:spPr>
        <p:txBody>
          <a:bodyPr wrap="square" anchor="ctr" lIns="0" rIns="0" tIns="0" bIns="0">
            <a:spAutoFit/>
          </a:bodyPr>
          <a:lstStyle/>
          <a:p>
            <a:pPr algn="ctr">
              <a:lnSpc>
                <a:spcPct val="108000"/>
              </a:lnSpc>
            </a:pPr>
            <a:r>
              <a:rPr sz="1300" b="1" i="0">
                <a:solidFill>
                  <a:srgbClr val="6B7391"/>
                </a:solidFill>
                <a:latin typeface="Calibri"/>
              </a:rPr>
              <a:t>›</a:t>
            </a:r>
          </a:p>
        </p:txBody>
      </p:sp>
      <p:sp>
        <p:nvSpPr>
          <p:cNvPr id="23" name="Rectangle 22"/>
          <p:cNvSpPr/>
          <p:nvPr/>
        </p:nvSpPr>
        <p:spPr>
          <a:xfrm>
            <a:off x="9966000" y="2057400"/>
            <a:ext cx="1500000" cy="64008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66000" y="2057400"/>
            <a:ext cx="1500000" cy="640080"/>
          </a:xfrm>
          <a:prstGeom prst="rect">
            <a:avLst/>
          </a:prstGeom>
          <a:noFill/>
        </p:spPr>
        <p:txBody>
          <a:bodyPr wrap="square" anchor="ctr" lIns="0" rIns="0" tIns="0" bIns="0">
            <a:spAutoFit/>
          </a:bodyPr>
          <a:lstStyle/>
          <a:p>
            <a:pPr algn="ctr">
              <a:lnSpc>
                <a:spcPct val="108000"/>
              </a:lnSpc>
            </a:pPr>
            <a:r>
              <a:rPr sz="1150" b="1" i="0">
                <a:solidFill>
                  <a:srgbClr val="FFFFFF"/>
                </a:solidFill>
                <a:latin typeface="Calibri"/>
              </a:rPr>
              <a:t>Decision</a:t>
            </a:r>
          </a:p>
        </p:txBody>
      </p:sp>
      <p:sp>
        <p:nvSpPr>
          <p:cNvPr id="25" name="TextBox 24"/>
          <p:cNvSpPr txBox="1"/>
          <p:nvPr/>
        </p:nvSpPr>
        <p:spPr>
          <a:xfrm>
            <a:off x="548640" y="2789040"/>
            <a:ext cx="11064240" cy="274320"/>
          </a:xfrm>
          <a:prstGeom prst="rect">
            <a:avLst/>
          </a:prstGeom>
          <a:noFill/>
        </p:spPr>
        <p:txBody>
          <a:bodyPr wrap="square" anchor="t" lIns="0" rIns="0" tIns="0" bIns="0">
            <a:spAutoFit/>
          </a:bodyPr>
          <a:lstStyle/>
          <a:p>
            <a:pPr algn="ctr">
              <a:lnSpc>
                <a:spcPct val="108000"/>
              </a:lnSpc>
            </a:pPr>
            <a:r>
              <a:rPr sz="1150" b="0" i="1">
                <a:solidFill>
                  <a:srgbClr val="6B7391"/>
                </a:solidFill>
                <a:latin typeface="Calibri"/>
              </a:rPr>
              <a:t>Who acted: the one genuine schema addition — decidedBy and decidedAt on every human decision.</a:t>
            </a:r>
          </a:p>
        </p:txBody>
      </p:sp>
      <p:sp>
        <p:nvSpPr>
          <p:cNvPr id="26" name="Rectangle 25"/>
          <p:cNvSpPr/>
          <p:nvPr/>
        </p:nvSpPr>
        <p:spPr>
          <a:xfrm>
            <a:off x="548640" y="3429000"/>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547872"/>
            <a:ext cx="4974336" cy="274320"/>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Decision Trace Engine</a:t>
            </a:r>
          </a:p>
        </p:txBody>
      </p:sp>
      <p:sp>
        <p:nvSpPr>
          <p:cNvPr id="28" name="TextBox 27"/>
          <p:cNvSpPr txBox="1"/>
          <p:nvPr/>
        </p:nvSpPr>
        <p:spPr>
          <a:xfrm>
            <a:off x="768096" y="3831336"/>
            <a:ext cx="4974336" cy="457200"/>
          </a:xfrm>
          <a:prstGeom prst="rect">
            <a:avLst/>
          </a:prstGeom>
          <a:noFill/>
        </p:spPr>
        <p:txBody>
          <a:bodyPr wrap="square" anchor="t" lIns="0" rIns="0" tIns="0" bIns="0">
            <a:spAutoFit/>
          </a:bodyPr>
          <a:lstStyle/>
          <a:p>
            <a:pPr algn="l">
              <a:lnSpc>
                <a:spcPct val="112000"/>
              </a:lnSpc>
            </a:pPr>
            <a:r>
              <a:rPr sz="1080" b="0" i="0">
                <a:solidFill>
                  <a:srgbClr val="2B3350"/>
                </a:solidFill>
                <a:latin typeface="Calibri"/>
              </a:rPr>
              <a:t>Assembled live from data every prior release already produces — no new, driftable copy of the truth.</a:t>
            </a:r>
          </a:p>
        </p:txBody>
      </p:sp>
      <p:sp>
        <p:nvSpPr>
          <p:cNvPr id="29" name="Rectangle 28"/>
          <p:cNvSpPr/>
          <p:nvPr/>
        </p:nvSpPr>
        <p:spPr>
          <a:xfrm>
            <a:off x="6199632" y="3429000"/>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3547872"/>
            <a:ext cx="4974336" cy="274320"/>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Governance Replay</a:t>
            </a:r>
          </a:p>
        </p:txBody>
      </p:sp>
      <p:sp>
        <p:nvSpPr>
          <p:cNvPr id="31" name="TextBox 30"/>
          <p:cNvSpPr txBox="1"/>
          <p:nvPr/>
        </p:nvSpPr>
        <p:spPr>
          <a:xfrm>
            <a:off x="6419088" y="3831336"/>
            <a:ext cx="4974336" cy="457200"/>
          </a:xfrm>
          <a:prstGeom prst="rect">
            <a:avLst/>
          </a:prstGeom>
          <a:noFill/>
        </p:spPr>
        <p:txBody>
          <a:bodyPr wrap="square" anchor="t" lIns="0" rIns="0" tIns="0" bIns="0">
            <a:spAutoFit/>
          </a:bodyPr>
          <a:lstStyle/>
          <a:p>
            <a:pPr algn="l">
              <a:lnSpc>
                <a:spcPct val="112000"/>
              </a:lnSpc>
            </a:pPr>
            <a:r>
              <a:rPr sz="1080" b="0" i="0">
                <a:solidFill>
                  <a:srgbClr val="2B3350"/>
                </a:solidFill>
                <a:latin typeface="Calibri"/>
              </a:rPr>
              <a:t>The Timeline view — the reasoning chain rendered in causal order, not wall-clock order.</a:t>
            </a:r>
          </a:p>
        </p:txBody>
      </p:sp>
      <p:sp>
        <p:nvSpPr>
          <p:cNvPr id="32" name="Rectangle 31"/>
          <p:cNvSpPr/>
          <p:nvPr/>
        </p:nvSpPr>
        <p:spPr>
          <a:xfrm>
            <a:off x="548640" y="4495800"/>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4614672"/>
            <a:ext cx="4974336" cy="274320"/>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Decision Evidence Pack</a:t>
            </a:r>
          </a:p>
        </p:txBody>
      </p:sp>
      <p:sp>
        <p:nvSpPr>
          <p:cNvPr id="34" name="TextBox 33"/>
          <p:cNvSpPr txBox="1"/>
          <p:nvPr/>
        </p:nvSpPr>
        <p:spPr>
          <a:xfrm>
            <a:off x="768096" y="4898136"/>
            <a:ext cx="4974336" cy="457200"/>
          </a:xfrm>
          <a:prstGeom prst="rect">
            <a:avLst/>
          </a:prstGeom>
          <a:noFill/>
        </p:spPr>
        <p:txBody>
          <a:bodyPr wrap="square" anchor="t" lIns="0" rIns="0" tIns="0" bIns="0">
            <a:spAutoFit/>
          </a:bodyPr>
          <a:lstStyle/>
          <a:p>
            <a:pPr algn="l">
              <a:lnSpc>
                <a:spcPct val="112000"/>
              </a:lnSpc>
            </a:pPr>
            <a:r>
              <a:rPr sz="1080" b="0" i="0">
                <a:solidFill>
                  <a:srgbClr val="2B3350"/>
                </a:solidFill>
                <a:latin typeface="Calibri"/>
              </a:rPr>
              <a:t>A printable, structured reconstruction — the audit-ready export of any single decision.</a:t>
            </a:r>
          </a:p>
        </p:txBody>
      </p:sp>
      <p:sp>
        <p:nvSpPr>
          <p:cNvPr id="35" name="Rectangle 34"/>
          <p:cNvSpPr/>
          <p:nvPr/>
        </p:nvSpPr>
        <p:spPr>
          <a:xfrm>
            <a:off x="6199632" y="4495800"/>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9088" y="4614672"/>
            <a:ext cx="4974336" cy="274320"/>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Explainability Workspace</a:t>
            </a:r>
          </a:p>
        </p:txBody>
      </p:sp>
      <p:sp>
        <p:nvSpPr>
          <p:cNvPr id="37" name="TextBox 36"/>
          <p:cNvSpPr txBox="1"/>
          <p:nvPr/>
        </p:nvSpPr>
        <p:spPr>
          <a:xfrm>
            <a:off x="6419088" y="4898136"/>
            <a:ext cx="4974336" cy="457200"/>
          </a:xfrm>
          <a:prstGeom prst="rect">
            <a:avLst/>
          </a:prstGeom>
          <a:noFill/>
        </p:spPr>
        <p:txBody>
          <a:bodyPr wrap="square" anchor="t" lIns="0" rIns="0" tIns="0" bIns="0">
            <a:spAutoFit/>
          </a:bodyPr>
          <a:lstStyle/>
          <a:p>
            <a:pPr algn="l">
              <a:lnSpc>
                <a:spcPct val="112000"/>
              </a:lnSpc>
            </a:pPr>
            <a:r>
              <a:rPr sz="1080" b="0" i="0">
                <a:solidFill>
                  <a:srgbClr val="2B3350"/>
                </a:solidFill>
                <a:latin typeface="Calibri"/>
              </a:rPr>
              <a:t>Trace Summary and Outcomes views, reusing the Intelligence Engine's own reasons.</a:t>
            </a:r>
          </a:p>
        </p:txBody>
      </p:sp>
      <p:sp>
        <p:nvSpPr>
          <p:cNvPr id="38" name="TextBox 37"/>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Release 9 Governance Decision Traceability Engine — docs/governance/22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GOVERNANCE INTELLIGENCE STUDIO  ·  RELEASE 10</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Configure governance logic without code changes</a:t>
            </a:r>
          </a:p>
        </p:txBody>
      </p:sp>
      <p:sp>
        <p:nvSpPr>
          <p:cNvPr id="4" name="TextBox 3"/>
          <p:cNvSpPr txBox="1"/>
          <p:nvPr/>
        </p:nvSpPr>
        <p:spPr>
          <a:xfrm>
            <a:off x="548640" y="1481328"/>
            <a:ext cx="10241280" cy="530000"/>
          </a:xfrm>
          <a:prstGeom prst="rect">
            <a:avLst/>
          </a:prstGeom>
          <a:noFill/>
        </p:spPr>
        <p:txBody>
          <a:bodyPr wrap="square" anchor="t" lIns="0" rIns="0" tIns="0" bIns="0">
            <a:spAutoFit/>
          </a:bodyPr>
          <a:lstStyle/>
          <a:p>
            <a:pPr algn="l">
              <a:lnSpc>
                <a:spcPct val="120000"/>
              </a:lnSpc>
            </a:pPr>
            <a:r>
              <a:rPr sz="1300" b="0" i="0">
                <a:solidFill>
                  <a:srgbClr val="2B3350"/>
                </a:solidFill>
                <a:latin typeface="Calibri"/>
              </a:rPr>
              <a:t>The final core-platform release before customer-specific compliance packs. What was hardcoded reasoning config becomes editable, Neon-backed rules — configured per customer, never rebuilt.</a:t>
            </a:r>
          </a:p>
        </p:txBody>
      </p:sp>
      <p:sp>
        <p:nvSpPr>
          <p:cNvPr id="5" name="Rectangle 4"/>
          <p:cNvSpPr/>
          <p:nvPr/>
        </p:nvSpPr>
        <p:spPr>
          <a:xfrm>
            <a:off x="548640" y="2057400"/>
            <a:ext cx="353872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194560"/>
            <a:ext cx="3099816"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Condition Designer</a:t>
            </a:r>
          </a:p>
        </p:txBody>
      </p:sp>
      <p:sp>
        <p:nvSpPr>
          <p:cNvPr id="7" name="TextBox 6"/>
          <p:cNvSpPr txBox="1"/>
          <p:nvPr/>
        </p:nvSpPr>
        <p:spPr>
          <a:xfrm>
            <a:off x="768096" y="2496312"/>
            <a:ext cx="3099816" cy="594360"/>
          </a:xfrm>
          <a:prstGeom prst="rect">
            <a:avLst/>
          </a:prstGeom>
          <a:noFill/>
        </p:spPr>
        <p:txBody>
          <a:bodyPr wrap="square" anchor="t" lIns="0" rIns="0" tIns="0" bIns="0">
            <a:spAutoFit/>
          </a:bodyPr>
          <a:lstStyle/>
          <a:p>
            <a:pPr algn="l">
              <a:lnSpc>
                <a:spcPct val="112000"/>
              </a:lnSpc>
            </a:pPr>
            <a:r>
              <a:rPr sz="1030" b="0" i="0">
                <a:solidFill>
                  <a:srgbClr val="2B3350"/>
                </a:solidFill>
                <a:latin typeface="Calibri"/>
              </a:rPr>
              <a:t>Enable or disable any of the six detected condition types — platform-wide, without touching code.</a:t>
            </a:r>
          </a:p>
        </p:txBody>
      </p:sp>
      <p:sp>
        <p:nvSpPr>
          <p:cNvPr id="8" name="Rectangle 7"/>
          <p:cNvSpPr/>
          <p:nvPr/>
        </p:nvSpPr>
        <p:spPr>
          <a:xfrm>
            <a:off x="4315968" y="2057400"/>
            <a:ext cx="353872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2194560"/>
            <a:ext cx="3099816"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Outcome Designer</a:t>
            </a:r>
          </a:p>
        </p:txBody>
      </p:sp>
      <p:sp>
        <p:nvSpPr>
          <p:cNvPr id="10" name="TextBox 9"/>
          <p:cNvSpPr txBox="1"/>
          <p:nvPr/>
        </p:nvSpPr>
        <p:spPr>
          <a:xfrm>
            <a:off x="4535424" y="2496312"/>
            <a:ext cx="3099816" cy="594360"/>
          </a:xfrm>
          <a:prstGeom prst="rect">
            <a:avLst/>
          </a:prstGeom>
          <a:noFill/>
        </p:spPr>
        <p:txBody>
          <a:bodyPr wrap="square" anchor="t" lIns="0" rIns="0" tIns="0" bIns="0">
            <a:spAutoFit/>
          </a:bodyPr>
          <a:lstStyle/>
          <a:p>
            <a:pPr algn="l">
              <a:lnSpc>
                <a:spcPct val="112000"/>
              </a:lnSpc>
            </a:pPr>
            <a:r>
              <a:rPr sz="1030" b="0" i="0">
                <a:solidFill>
                  <a:srgbClr val="2B3350"/>
                </a:solidFill>
                <a:latin typeface="Calibri"/>
              </a:rPr>
              <a:t>Enable or disable an outcome tier. The escalation order stays a fixed platform primitive.</a:t>
            </a:r>
          </a:p>
        </p:txBody>
      </p:sp>
      <p:sp>
        <p:nvSpPr>
          <p:cNvPr id="11" name="Rectangle 10"/>
          <p:cNvSpPr/>
          <p:nvPr/>
        </p:nvSpPr>
        <p:spPr>
          <a:xfrm>
            <a:off x="8083296" y="2057400"/>
            <a:ext cx="353872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2194560"/>
            <a:ext cx="3099816"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Action Designer</a:t>
            </a:r>
          </a:p>
        </p:txBody>
      </p:sp>
      <p:sp>
        <p:nvSpPr>
          <p:cNvPr id="13" name="TextBox 12"/>
          <p:cNvSpPr txBox="1"/>
          <p:nvPr/>
        </p:nvSpPr>
        <p:spPr>
          <a:xfrm>
            <a:off x="8302752" y="2496312"/>
            <a:ext cx="3099816" cy="594360"/>
          </a:xfrm>
          <a:prstGeom prst="rect">
            <a:avLst/>
          </a:prstGeom>
          <a:noFill/>
        </p:spPr>
        <p:txBody>
          <a:bodyPr wrap="square" anchor="t" lIns="0" rIns="0" tIns="0" bIns="0">
            <a:spAutoFit/>
          </a:bodyPr>
          <a:lstStyle/>
          <a:p>
            <a:pPr algn="l">
              <a:lnSpc>
                <a:spcPct val="112000"/>
              </a:lnSpc>
            </a:pPr>
            <a:r>
              <a:rPr sz="1030" b="0" i="0">
                <a:solidFill>
                  <a:srgbClr val="2B3350"/>
                </a:solidFill>
                <a:latin typeface="Calibri"/>
              </a:rPr>
              <a:t>Edit or replace the Action Recommendation Library — one rule per Condition or Outcome trigger.</a:t>
            </a:r>
          </a:p>
        </p:txBody>
      </p:sp>
      <p:sp>
        <p:nvSpPr>
          <p:cNvPr id="14" name="Rectangle 13"/>
          <p:cNvSpPr/>
          <p:nvPr/>
        </p:nvSpPr>
        <p:spPr>
          <a:xfrm>
            <a:off x="548640" y="3310128"/>
            <a:ext cx="353872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447288"/>
            <a:ext cx="3099816"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Rule Mapping Engine</a:t>
            </a:r>
          </a:p>
        </p:txBody>
      </p:sp>
      <p:sp>
        <p:nvSpPr>
          <p:cNvPr id="16" name="TextBox 15"/>
          <p:cNvSpPr txBox="1"/>
          <p:nvPr/>
        </p:nvSpPr>
        <p:spPr>
          <a:xfrm>
            <a:off x="768096" y="3749040"/>
            <a:ext cx="3099816" cy="594360"/>
          </a:xfrm>
          <a:prstGeom prst="rect">
            <a:avLst/>
          </a:prstGeom>
          <a:noFill/>
        </p:spPr>
        <p:txBody>
          <a:bodyPr wrap="square" anchor="t" lIns="0" rIns="0" tIns="0" bIns="0">
            <a:spAutoFit/>
          </a:bodyPr>
          <a:lstStyle/>
          <a:p>
            <a:pPr algn="l">
              <a:lnSpc>
                <a:spcPct val="112000"/>
              </a:lnSpc>
            </a:pPr>
            <a:r>
              <a:rPr sz="1030" b="0" i="0">
                <a:solidFill>
                  <a:srgbClr val="2B3350"/>
                </a:solidFill>
                <a:latin typeface="Calibri"/>
              </a:rPr>
              <a:t>A live, read-only view of Condition → Policy → Outcome → Action, exactly as configured today.</a:t>
            </a:r>
          </a:p>
        </p:txBody>
      </p:sp>
      <p:sp>
        <p:nvSpPr>
          <p:cNvPr id="17" name="Rectangle 16"/>
          <p:cNvSpPr/>
          <p:nvPr/>
        </p:nvSpPr>
        <p:spPr>
          <a:xfrm>
            <a:off x="4315968" y="3310128"/>
            <a:ext cx="353872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3447288"/>
            <a:ext cx="3099816"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Compliance Pack Builder</a:t>
            </a:r>
          </a:p>
        </p:txBody>
      </p:sp>
      <p:sp>
        <p:nvSpPr>
          <p:cNvPr id="19" name="TextBox 18"/>
          <p:cNvSpPr txBox="1"/>
          <p:nvPr/>
        </p:nvSpPr>
        <p:spPr>
          <a:xfrm>
            <a:off x="4535424" y="3749040"/>
            <a:ext cx="3099816" cy="594360"/>
          </a:xfrm>
          <a:prstGeom prst="rect">
            <a:avLst/>
          </a:prstGeom>
          <a:noFill/>
        </p:spPr>
        <p:txBody>
          <a:bodyPr wrap="square" anchor="t" lIns="0" rIns="0" tIns="0" bIns="0">
            <a:spAutoFit/>
          </a:bodyPr>
          <a:lstStyle/>
          <a:p>
            <a:pPr algn="l">
              <a:lnSpc>
                <a:spcPct val="112000"/>
              </a:lnSpc>
            </a:pPr>
            <a:r>
              <a:rPr sz="1030" b="0" i="0">
                <a:solidFill>
                  <a:srgbClr val="2B3350"/>
                </a:solidFill>
                <a:latin typeface="Calibri"/>
              </a:rPr>
              <a:t>Visualizes Source → Requirement → Obligation → Control → Evidence — the foundation for every future pack.</a:t>
            </a:r>
          </a:p>
        </p:txBody>
      </p:sp>
      <p:sp>
        <p:nvSpPr>
          <p:cNvPr id="20" name="Rectangle 19"/>
          <p:cNvSpPr/>
          <p:nvPr/>
        </p:nvSpPr>
        <p:spPr>
          <a:xfrm>
            <a:off x="8083296" y="3310128"/>
            <a:ext cx="353872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3447288"/>
            <a:ext cx="3099816" cy="274320"/>
          </a:xfrm>
          <a:prstGeom prst="rect">
            <a:avLst/>
          </a:prstGeom>
          <a:noFill/>
        </p:spPr>
        <p:txBody>
          <a:bodyPr wrap="square" anchor="t" lIns="0" rIns="0" tIns="0" bIns="0">
            <a:spAutoFit/>
          </a:bodyPr>
          <a:lstStyle/>
          <a:p>
            <a:pPr algn="l">
              <a:lnSpc>
                <a:spcPct val="108000"/>
              </a:lnSpc>
            </a:pPr>
            <a:r>
              <a:rPr sz="1250" b="1" i="0">
                <a:solidFill>
                  <a:srgbClr val="1E2761"/>
                </a:solidFill>
                <a:latin typeface="Calibri"/>
              </a:rPr>
              <a:t>Customer Governance Profiles</a:t>
            </a:r>
          </a:p>
        </p:txBody>
      </p:sp>
      <p:sp>
        <p:nvSpPr>
          <p:cNvPr id="22" name="TextBox 21"/>
          <p:cNvSpPr txBox="1"/>
          <p:nvPr/>
        </p:nvSpPr>
        <p:spPr>
          <a:xfrm>
            <a:off x="8302752" y="3749040"/>
            <a:ext cx="3099816" cy="594360"/>
          </a:xfrm>
          <a:prstGeom prst="rect">
            <a:avLst/>
          </a:prstGeom>
          <a:noFill/>
        </p:spPr>
        <p:txBody>
          <a:bodyPr wrap="square" anchor="t" lIns="0" rIns="0" tIns="0" bIns="0">
            <a:spAutoFit/>
          </a:bodyPr>
          <a:lstStyle/>
          <a:p>
            <a:pPr algn="l">
              <a:lnSpc>
                <a:spcPct val="112000"/>
              </a:lnSpc>
            </a:pPr>
            <a:r>
              <a:rPr sz="1030" b="0" i="0">
                <a:solidFill>
                  <a:srgbClr val="2B3350"/>
                </a:solidFill>
                <a:latin typeface="Calibri"/>
              </a:rPr>
              <a:t>Named presets — Banking, Insurance, Healthcare, Government, Enterprise — exactly one active per tenant.</a:t>
            </a:r>
          </a:p>
        </p:txBody>
      </p:sp>
      <p:sp>
        <p:nvSpPr>
          <p:cNvPr id="23" name="Rectangle 22"/>
          <p:cNvSpPr/>
          <p:nvPr/>
        </p:nvSpPr>
        <p:spPr>
          <a:xfrm>
            <a:off x="548640" y="4590288"/>
            <a:ext cx="11064240" cy="914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44000"/>
            <a:ext cx="10424160" cy="620000"/>
          </a:xfrm>
          <a:prstGeom prst="rect">
            <a:avLst/>
          </a:prstGeom>
          <a:noFill/>
        </p:spPr>
        <p:txBody>
          <a:bodyPr wrap="square" anchor="ctr" lIns="0" rIns="0" tIns="0" bIns="0">
            <a:spAutoFit/>
          </a:bodyPr>
          <a:lstStyle/>
          <a:p>
            <a:pPr algn="l">
              <a:lnSpc>
                <a:spcPct val="115000"/>
              </a:lnSpc>
            </a:pPr>
            <a:r>
              <a:rPr sz="1300" b="0" i="0">
                <a:solidFill>
                  <a:srgbClr val="FFFFFF"/>
                </a:solidFill>
                <a:latin typeface="Calibri"/>
              </a:rPr>
              <a:t>Detection mechanisms and outcome evaluation order remain platform code — safe, tested, verified. What's configurable is which of them are switched on, and what they produce.</a:t>
            </a:r>
          </a:p>
        </p:txBody>
      </p:sp>
      <p:sp>
        <p:nvSpPr>
          <p:cNvPr id="25" name="TextBox 24"/>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Release 10 Governance Intelligence Studio — docs/governance/23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MONITORING &amp; OBSERVABILITY</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Approval is the start, not the end</a:t>
            </a:r>
          </a:p>
        </p:txBody>
      </p:sp>
      <p:sp>
        <p:nvSpPr>
          <p:cNvPr id="4" name="TextBox 3"/>
          <p:cNvSpPr txBox="1"/>
          <p:nvPr/>
        </p:nvSpPr>
        <p:spPr>
          <a:xfrm>
            <a:off x="548640" y="1481328"/>
            <a:ext cx="10241280" cy="475488"/>
          </a:xfrm>
          <a:prstGeom prst="rect">
            <a:avLst/>
          </a:prstGeom>
          <a:noFill/>
        </p:spPr>
        <p:txBody>
          <a:bodyPr wrap="square" anchor="t" lIns="0" rIns="0" tIns="0" bIns="0">
            <a:spAutoFit/>
          </a:bodyPr>
          <a:lstStyle/>
          <a:p>
            <a:pPr algn="l">
              <a:lnSpc>
                <a:spcPct val="108000"/>
              </a:lnSpc>
            </a:pPr>
            <a:r>
              <a:rPr sz="1400" b="0" i="0">
                <a:solidFill>
                  <a:srgbClr val="2B3350"/>
                </a:solidFill>
                <a:latin typeface="Calibri"/>
              </a:rPr>
              <a:t>Once an AI asset is live, OMG tracks its ongoing governance health and gives the organisation a way to intervene.</a:t>
            </a:r>
          </a:p>
        </p:txBody>
      </p:sp>
      <p:sp>
        <p:nvSpPr>
          <p:cNvPr id="5" name="Rectangle 4"/>
          <p:cNvSpPr/>
          <p:nvPr/>
        </p:nvSpPr>
        <p:spPr>
          <a:xfrm>
            <a:off x="548640" y="1920240"/>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039112"/>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Governance Monitoring</a:t>
            </a:r>
          </a:p>
        </p:txBody>
      </p:sp>
      <p:sp>
        <p:nvSpPr>
          <p:cNvPr id="7" name="TextBox 6"/>
          <p:cNvSpPr txBox="1"/>
          <p:nvPr/>
        </p:nvSpPr>
        <p:spPr>
          <a:xfrm>
            <a:off x="768096" y="2322576"/>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Continuous health scoring across the portfolio, classifying each asset as Healthy, Watchlist or Attention Required.</a:t>
            </a:r>
          </a:p>
        </p:txBody>
      </p:sp>
      <p:sp>
        <p:nvSpPr>
          <p:cNvPr id="8" name="Rectangle 7"/>
          <p:cNvSpPr/>
          <p:nvPr/>
        </p:nvSpPr>
        <p:spPr>
          <a:xfrm>
            <a:off x="6334632" y="1920240"/>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54088" y="2039112"/>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Governance Alerts</a:t>
            </a:r>
          </a:p>
        </p:txBody>
      </p:sp>
      <p:sp>
        <p:nvSpPr>
          <p:cNvPr id="10" name="TextBox 9"/>
          <p:cNvSpPr txBox="1"/>
          <p:nvPr/>
        </p:nvSpPr>
        <p:spPr>
          <a:xfrm>
            <a:off x="6554088" y="2322576"/>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Automatic exceptions for expired validation, overdue reviews, unresolved critical findings and kill-switch events.</a:t>
            </a:r>
          </a:p>
        </p:txBody>
      </p:sp>
      <p:sp>
        <p:nvSpPr>
          <p:cNvPr id="11" name="Rectangle 10"/>
          <p:cNvSpPr/>
          <p:nvPr/>
        </p:nvSpPr>
        <p:spPr>
          <a:xfrm>
            <a:off x="548640" y="2953512"/>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072384"/>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Review Calendar</a:t>
            </a:r>
          </a:p>
        </p:txBody>
      </p:sp>
      <p:sp>
        <p:nvSpPr>
          <p:cNvPr id="13" name="TextBox 12"/>
          <p:cNvSpPr txBox="1"/>
          <p:nvPr/>
        </p:nvSpPr>
        <p:spPr>
          <a:xfrm>
            <a:off x="768096" y="3355848"/>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Scheduled review cadence per asset, with overdue reviews flagged to leadership.</a:t>
            </a:r>
          </a:p>
        </p:txBody>
      </p:sp>
      <p:sp>
        <p:nvSpPr>
          <p:cNvPr id="14" name="Rectangle 13"/>
          <p:cNvSpPr/>
          <p:nvPr/>
        </p:nvSpPr>
        <p:spPr>
          <a:xfrm>
            <a:off x="6334632" y="2953512"/>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4088" y="3072384"/>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Corrective Actions</a:t>
            </a:r>
          </a:p>
        </p:txBody>
      </p:sp>
      <p:sp>
        <p:nvSpPr>
          <p:cNvPr id="16" name="TextBox 15"/>
          <p:cNvSpPr txBox="1"/>
          <p:nvPr/>
        </p:nvSpPr>
        <p:spPr>
          <a:xfrm>
            <a:off x="6554088" y="3355848"/>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Assigned remediation tasks tracked through to verified closure.</a:t>
            </a:r>
          </a:p>
        </p:txBody>
      </p:sp>
      <p:sp>
        <p:nvSpPr>
          <p:cNvPr id="17" name="Rectangle 16"/>
          <p:cNvSpPr/>
          <p:nvPr/>
        </p:nvSpPr>
        <p:spPr>
          <a:xfrm>
            <a:off x="548640" y="3986784"/>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105656"/>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Kill Switch Console</a:t>
            </a:r>
          </a:p>
        </p:txBody>
      </p:sp>
      <p:sp>
        <p:nvSpPr>
          <p:cNvPr id="19" name="TextBox 18"/>
          <p:cNvSpPr txBox="1"/>
          <p:nvPr/>
        </p:nvSpPr>
        <p:spPr>
          <a:xfrm>
            <a:off x="768096" y="4389120"/>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Emergency suspension of an autonomous AI system, with the trigger reason and approver recorded.</a:t>
            </a:r>
          </a:p>
        </p:txBody>
      </p:sp>
      <p:sp>
        <p:nvSpPr>
          <p:cNvPr id="20" name="Rectangle 19"/>
          <p:cNvSpPr/>
          <p:nvPr/>
        </p:nvSpPr>
        <p:spPr>
          <a:xfrm>
            <a:off x="6334632" y="3986784"/>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4088" y="4105656"/>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Human Override</a:t>
            </a:r>
          </a:p>
        </p:txBody>
      </p:sp>
      <p:sp>
        <p:nvSpPr>
          <p:cNvPr id="22" name="TextBox 21"/>
          <p:cNvSpPr txBox="1"/>
          <p:nvPr/>
        </p:nvSpPr>
        <p:spPr>
          <a:xfrm>
            <a:off x="6554088" y="4389120"/>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A record of every human intervention on an autonomous AI decision.</a:t>
            </a:r>
          </a:p>
        </p:txBody>
      </p:sp>
      <p:sp>
        <p:nvSpPr>
          <p:cNvPr id="23" name="Rectangle 22"/>
          <p:cNvSpPr/>
          <p:nvPr/>
        </p:nvSpPr>
        <p:spPr>
          <a:xfrm>
            <a:off x="548640" y="5020056"/>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38928"/>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Incident Management</a:t>
            </a:r>
          </a:p>
        </p:txBody>
      </p:sp>
      <p:sp>
        <p:nvSpPr>
          <p:cNvPr id="25" name="TextBox 24"/>
          <p:cNvSpPr txBox="1"/>
          <p:nvPr/>
        </p:nvSpPr>
        <p:spPr>
          <a:xfrm>
            <a:off x="768096" y="5422392"/>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Triage of model drift, hallucination events, security incidents, compliance breaches and operational failures.</a:t>
            </a:r>
          </a:p>
        </p:txBody>
      </p:sp>
      <p:sp>
        <p:nvSpPr>
          <p:cNvPr id="26" name="Rectangle 25"/>
          <p:cNvSpPr/>
          <p:nvPr/>
        </p:nvSpPr>
        <p:spPr>
          <a:xfrm>
            <a:off x="6334632" y="5020056"/>
            <a:ext cx="5413248" cy="9144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4088" y="5138928"/>
            <a:ext cx="4974336" cy="274320"/>
          </a:xfrm>
          <a:prstGeom prst="rect">
            <a:avLst/>
          </a:prstGeom>
          <a:noFill/>
        </p:spPr>
        <p:txBody>
          <a:bodyPr wrap="square" anchor="t" lIns="0" rIns="0" tIns="0" bIns="0">
            <a:spAutoFit/>
          </a:bodyPr>
          <a:lstStyle/>
          <a:p>
            <a:pPr algn="l">
              <a:lnSpc>
                <a:spcPct val="108000"/>
              </a:lnSpc>
            </a:pPr>
            <a:r>
              <a:rPr sz="1350" b="1" i="0">
                <a:solidFill>
                  <a:srgbClr val="1E2761"/>
                </a:solidFill>
                <a:latin typeface="Calibri"/>
              </a:rPr>
              <a:t>Operations Dashboard</a:t>
            </a:r>
          </a:p>
        </p:txBody>
      </p:sp>
      <p:sp>
        <p:nvSpPr>
          <p:cNvPr id="28" name="TextBox 27"/>
          <p:cNvSpPr txBox="1"/>
          <p:nvPr/>
        </p:nvSpPr>
        <p:spPr>
          <a:xfrm>
            <a:off x="6554088" y="5422392"/>
            <a:ext cx="4974336" cy="502920"/>
          </a:xfrm>
          <a:prstGeom prst="rect">
            <a:avLst/>
          </a:prstGeom>
          <a:noFill/>
        </p:spPr>
        <p:txBody>
          <a:bodyPr wrap="square" anchor="t" lIns="0" rIns="0" tIns="0" bIns="0">
            <a:spAutoFit/>
          </a:bodyPr>
          <a:lstStyle/>
          <a:p>
            <a:pPr algn="l">
              <a:lnSpc>
                <a:spcPct val="115000"/>
              </a:lnSpc>
            </a:pPr>
            <a:r>
              <a:rPr sz="1080" b="0" i="0">
                <a:solidFill>
                  <a:srgbClr val="2B3350"/>
                </a:solidFill>
                <a:latin typeface="Calibri"/>
              </a:rPr>
              <a:t>The live runtime picture: which assets are active, suspended or under review.</a:t>
            </a:r>
          </a:p>
        </p:txBody>
      </p:sp>
      <p:sp>
        <p:nvSpPr>
          <p:cNvPr id="29" name="TextBox 28"/>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Operations &amp; Monitoring domain — 8 modules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AUDIT &amp; TRACEABILITY</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Everything is written down, permanently</a:t>
            </a:r>
          </a:p>
        </p:txBody>
      </p:sp>
      <p:sp>
        <p:nvSpPr>
          <p:cNvPr id="4" name="TextBox 3"/>
          <p:cNvSpPr txBox="1"/>
          <p:nvPr/>
        </p:nvSpPr>
        <p:spPr>
          <a:xfrm>
            <a:off x="548640" y="1481328"/>
            <a:ext cx="10241280" cy="475488"/>
          </a:xfrm>
          <a:prstGeom prst="rect">
            <a:avLst/>
          </a:prstGeom>
          <a:noFill/>
        </p:spPr>
        <p:txBody>
          <a:bodyPr wrap="square" anchor="t" lIns="0" rIns="0" tIns="0" bIns="0">
            <a:spAutoFit/>
          </a:bodyPr>
          <a:lstStyle/>
          <a:p>
            <a:pPr algn="l">
              <a:lnSpc>
                <a:spcPct val="108000"/>
              </a:lnSpc>
            </a:pPr>
            <a:r>
              <a:rPr sz="1400" b="0" i="0">
                <a:solidFill>
                  <a:srgbClr val="2B3350"/>
                </a:solidFill>
                <a:latin typeface="Calibri"/>
              </a:rPr>
              <a:t>The hardest regulatory question is not "do you govern AI" — it is "prove it". OMG is built so the proof already exists.</a:t>
            </a:r>
          </a:p>
        </p:txBody>
      </p:sp>
      <p:sp>
        <p:nvSpPr>
          <p:cNvPr id="5" name="Rectangle 4"/>
          <p:cNvSpPr/>
          <p:nvPr/>
        </p:nvSpPr>
        <p:spPr>
          <a:xfrm>
            <a:off x="548640" y="2011680"/>
            <a:ext cx="5413248" cy="21488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157984"/>
            <a:ext cx="4937760" cy="310896"/>
          </a:xfrm>
          <a:prstGeom prst="rect">
            <a:avLst/>
          </a:prstGeom>
          <a:noFill/>
        </p:spPr>
        <p:txBody>
          <a:bodyPr wrap="square" anchor="t" lIns="0" rIns="0" tIns="0" bIns="0">
            <a:spAutoFit/>
          </a:bodyPr>
          <a:lstStyle/>
          <a:p>
            <a:pPr algn="l">
              <a:lnSpc>
                <a:spcPct val="108000"/>
              </a:lnSpc>
            </a:pPr>
            <a:r>
              <a:rPr sz="1500" b="1" i="0">
                <a:solidFill>
                  <a:srgbClr val="1E2761"/>
                </a:solidFill>
                <a:latin typeface="Calibri"/>
              </a:rPr>
              <a:t>Evidence Center</a:t>
            </a:r>
          </a:p>
        </p:txBody>
      </p:sp>
      <p:sp>
        <p:nvSpPr>
          <p:cNvPr id="7" name="TextBox 6"/>
          <p:cNvSpPr txBox="1"/>
          <p:nvPr/>
        </p:nvSpPr>
        <p:spPr>
          <a:xfrm>
            <a:off x="804672" y="2505456"/>
            <a:ext cx="4937760" cy="1463040"/>
          </a:xfrm>
          <a:prstGeom prst="rect">
            <a:avLst/>
          </a:prstGeom>
          <a:noFill/>
        </p:spPr>
        <p:txBody>
          <a:bodyPr wrap="square" anchor="t" lIns="0" rIns="0" tIns="0" bIns="0">
            <a:spAutoFit/>
          </a:bodyPr>
          <a:lstStyle/>
          <a:p>
            <a:pPr algn="l">
              <a:lnSpc>
                <a:spcPct val="120000"/>
              </a:lnSpc>
            </a:pPr>
            <a:r>
              <a:rPr sz="1150" b="0" i="0">
                <a:solidFill>
                  <a:srgbClr val="2B3350"/>
                </a:solidFill>
                <a:latin typeface="Calibri"/>
              </a:rPr>
              <a:t>Ten mandatory governance deliverable types are captured per asset — including Security Review, Test Strategy &amp; Evidence, Production Readiness Assessment and Project Closure Report. Each is versioned, attributed to an uploader and given an approval status.</a:t>
            </a:r>
          </a:p>
        </p:txBody>
      </p:sp>
      <p:sp>
        <p:nvSpPr>
          <p:cNvPr id="8" name="Rectangle 7"/>
          <p:cNvSpPr/>
          <p:nvPr/>
        </p:nvSpPr>
        <p:spPr>
          <a:xfrm>
            <a:off x="6199632" y="2011680"/>
            <a:ext cx="5413248" cy="21488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2157984"/>
            <a:ext cx="4937760" cy="310896"/>
          </a:xfrm>
          <a:prstGeom prst="rect">
            <a:avLst/>
          </a:prstGeom>
          <a:noFill/>
        </p:spPr>
        <p:txBody>
          <a:bodyPr wrap="square" anchor="t" lIns="0" rIns="0" tIns="0" bIns="0">
            <a:spAutoFit/>
          </a:bodyPr>
          <a:lstStyle/>
          <a:p>
            <a:pPr algn="l">
              <a:lnSpc>
                <a:spcPct val="108000"/>
              </a:lnSpc>
            </a:pPr>
            <a:r>
              <a:rPr sz="1500" b="1" i="0">
                <a:solidFill>
                  <a:srgbClr val="CADCFC"/>
                </a:solidFill>
                <a:latin typeface="Calibri"/>
              </a:rPr>
              <a:t>Immutable Audit Log</a:t>
            </a:r>
          </a:p>
        </p:txBody>
      </p:sp>
      <p:sp>
        <p:nvSpPr>
          <p:cNvPr id="10" name="TextBox 9"/>
          <p:cNvSpPr txBox="1"/>
          <p:nvPr/>
        </p:nvSpPr>
        <p:spPr>
          <a:xfrm>
            <a:off x="6455664" y="2505456"/>
            <a:ext cx="4937760" cy="1463040"/>
          </a:xfrm>
          <a:prstGeom prst="rect">
            <a:avLst/>
          </a:prstGeom>
          <a:noFill/>
        </p:spPr>
        <p:txBody>
          <a:bodyPr wrap="square" anchor="t" lIns="0" rIns="0" tIns="0" bIns="0">
            <a:spAutoFit/>
          </a:bodyPr>
          <a:lstStyle/>
          <a:p>
            <a:pPr algn="l">
              <a:lnSpc>
                <a:spcPct val="120000"/>
              </a:lnSpc>
            </a:pPr>
            <a:r>
              <a:rPr sz="1150" b="0" i="0">
                <a:solidFill>
                  <a:srgbClr val="FFFFFF"/>
                </a:solidFill>
                <a:latin typeface="Calibri"/>
              </a:rPr>
              <a:t>Every governance action — registration, ownership change, risk assessment, validation, decision, policy change, override, kill switch, change approval — writes an entry recording who did it, what they did, when, and why. Entries are appended, never edited or deleted.</a:t>
            </a:r>
          </a:p>
        </p:txBody>
      </p:sp>
      <p:sp>
        <p:nvSpPr>
          <p:cNvPr id="11" name="TextBox 10"/>
          <p:cNvSpPr txBox="1"/>
          <p:nvPr/>
        </p:nvSpPr>
        <p:spPr>
          <a:xfrm>
            <a:off x="548640" y="4370832"/>
            <a:ext cx="11064240" cy="274320"/>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FIVE WAYS TO PRODUCE THE PROOF</a:t>
            </a:r>
          </a:p>
        </p:txBody>
      </p:sp>
      <p:sp>
        <p:nvSpPr>
          <p:cNvPr id="12" name="Rectangle 11"/>
          <p:cNvSpPr/>
          <p:nvPr/>
        </p:nvSpPr>
        <p:spPr>
          <a:xfrm>
            <a:off x="593920" y="4709160"/>
            <a:ext cx="2084832"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512" y="137160"/>
            <a:ext cx="1755648" cy="685800"/>
          </a:xfrm>
          <a:prstGeom prst="rect">
            <a:avLst/>
          </a:prstGeom>
          <a:noFill/>
        </p:spPr>
        <p:txBody>
          <a:bodyPr wrap="square" anchor="t" lIns="0" rIns="0" tIns="0" bIns="0">
            <a:spAutoFit/>
          </a:bodyPr>
          <a:lstStyle/>
          <a:p>
            <a:pPr algn="l">
              <a:lnSpc>
                <a:spcPct val="110000"/>
              </a:lnSpc>
            </a:pPr>
            <a:r>
              <a:rPr sz="1250" b="1" i="0">
                <a:solidFill>
                  <a:srgbClr val="1E2761"/>
                </a:solidFill>
                <a:latin typeface="Calibri"/>
              </a:rPr>
              <a:t>Governance Timeline</a:t>
            </a:r>
          </a:p>
        </p:txBody>
      </p:sp>
      <p:sp>
        <p:nvSpPr>
          <p:cNvPr id="14" name="TextBox 13"/>
          <p:cNvSpPr txBox="1"/>
          <p:nvPr/>
        </p:nvSpPr>
        <p:spPr>
          <a:xfrm>
            <a:off x="758512" y="822960"/>
            <a:ext cx="1755648" cy="457200"/>
          </a:xfrm>
          <a:prstGeom prst="rect">
            <a:avLst/>
          </a:prstGeom>
          <a:noFill/>
        </p:spPr>
        <p:txBody>
          <a:bodyPr wrap="square" anchor="t" lIns="0" rIns="0" tIns="0" bIns="0">
            <a:spAutoFit/>
          </a:bodyPr>
          <a:lstStyle/>
          <a:p>
            <a:pPr algn="l">
              <a:lnSpc>
                <a:spcPct val="110000"/>
              </a:lnSpc>
            </a:pPr>
            <a:r>
              <a:rPr sz="960" b="0" i="0">
                <a:solidFill>
                  <a:srgbClr val="2B3350"/>
                </a:solidFill>
                <a:latin typeface="Calibri"/>
              </a:rPr>
              <a:t>Chronological event history for any single asset.</a:t>
            </a:r>
          </a:p>
        </p:txBody>
      </p:sp>
      <p:sp>
        <p:nvSpPr>
          <p:cNvPr id="15" name="Rectangle 14"/>
          <p:cNvSpPr/>
          <p:nvPr/>
        </p:nvSpPr>
        <p:spPr>
          <a:xfrm>
            <a:off x="2823752" y="4709160"/>
            <a:ext cx="2084832"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8344" y="137160"/>
            <a:ext cx="1755648" cy="685800"/>
          </a:xfrm>
          <a:prstGeom prst="rect">
            <a:avLst/>
          </a:prstGeom>
          <a:noFill/>
        </p:spPr>
        <p:txBody>
          <a:bodyPr wrap="square" anchor="t" lIns="0" rIns="0" tIns="0" bIns="0">
            <a:spAutoFit/>
          </a:bodyPr>
          <a:lstStyle/>
          <a:p>
            <a:pPr algn="l">
              <a:lnSpc>
                <a:spcPct val="110000"/>
              </a:lnSpc>
            </a:pPr>
            <a:r>
              <a:rPr sz="1250" b="1" i="0">
                <a:solidFill>
                  <a:srgbClr val="1E2761"/>
                </a:solidFill>
                <a:latin typeface="Calibri"/>
              </a:rPr>
              <a:t>Change History</a:t>
            </a:r>
          </a:p>
        </p:txBody>
      </p:sp>
      <p:sp>
        <p:nvSpPr>
          <p:cNvPr id="17" name="TextBox 16"/>
          <p:cNvSpPr txBox="1"/>
          <p:nvPr/>
        </p:nvSpPr>
        <p:spPr>
          <a:xfrm>
            <a:off x="2988344" y="822960"/>
            <a:ext cx="1755648" cy="457200"/>
          </a:xfrm>
          <a:prstGeom prst="rect">
            <a:avLst/>
          </a:prstGeom>
          <a:noFill/>
        </p:spPr>
        <p:txBody>
          <a:bodyPr wrap="square" anchor="t" lIns="0" rIns="0" tIns="0" bIns="0">
            <a:spAutoFit/>
          </a:bodyPr>
          <a:lstStyle/>
          <a:p>
            <a:pPr algn="l">
              <a:lnSpc>
                <a:spcPct val="110000"/>
              </a:lnSpc>
            </a:pPr>
            <a:r>
              <a:rPr sz="960" b="0" i="0">
                <a:solidFill>
                  <a:srgbClr val="2B3350"/>
                </a:solidFill>
                <a:latin typeface="Calibri"/>
              </a:rPr>
              <a:t>What changed, who changed it, when, why, who approved it.</a:t>
            </a:r>
          </a:p>
        </p:txBody>
      </p:sp>
      <p:sp>
        <p:nvSpPr>
          <p:cNvPr id="18" name="Rectangle 17"/>
          <p:cNvSpPr/>
          <p:nvPr/>
        </p:nvSpPr>
        <p:spPr>
          <a:xfrm>
            <a:off x="5053584" y="4709160"/>
            <a:ext cx="2084832"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8176" y="137160"/>
            <a:ext cx="1755648" cy="685800"/>
          </a:xfrm>
          <a:prstGeom prst="rect">
            <a:avLst/>
          </a:prstGeom>
          <a:noFill/>
        </p:spPr>
        <p:txBody>
          <a:bodyPr wrap="square" anchor="t" lIns="0" rIns="0" tIns="0" bIns="0">
            <a:spAutoFit/>
          </a:bodyPr>
          <a:lstStyle/>
          <a:p>
            <a:pPr algn="l">
              <a:lnSpc>
                <a:spcPct val="110000"/>
              </a:lnSpc>
            </a:pPr>
            <a:r>
              <a:rPr sz="1250" b="1" i="0">
                <a:solidFill>
                  <a:srgbClr val="1E2761"/>
                </a:solidFill>
                <a:latin typeface="Calibri"/>
              </a:rPr>
              <a:t>Decision Traceability</a:t>
            </a:r>
          </a:p>
        </p:txBody>
      </p:sp>
      <p:sp>
        <p:nvSpPr>
          <p:cNvPr id="20" name="TextBox 19"/>
          <p:cNvSpPr txBox="1"/>
          <p:nvPr/>
        </p:nvSpPr>
        <p:spPr>
          <a:xfrm>
            <a:off x="5218176" y="822960"/>
            <a:ext cx="1755648" cy="457200"/>
          </a:xfrm>
          <a:prstGeom prst="rect">
            <a:avLst/>
          </a:prstGeom>
          <a:noFill/>
        </p:spPr>
        <p:txBody>
          <a:bodyPr wrap="square" anchor="t" lIns="0" rIns="0" tIns="0" bIns="0">
            <a:spAutoFit/>
          </a:bodyPr>
          <a:lstStyle/>
          <a:p>
            <a:pPr algn="l">
              <a:lnSpc>
                <a:spcPct val="110000"/>
              </a:lnSpc>
            </a:pPr>
            <a:r>
              <a:rPr sz="960" b="0" i="0">
                <a:solidFill>
                  <a:srgbClr val="2B3350"/>
                </a:solidFill>
                <a:latin typeface="Calibri"/>
              </a:rPr>
              <a:t>Full reasoning chain reconstructed end-to-end, with a printable Evidence Pack.</a:t>
            </a:r>
          </a:p>
        </p:txBody>
      </p:sp>
      <p:sp>
        <p:nvSpPr>
          <p:cNvPr id="21" name="Rectangle 20"/>
          <p:cNvSpPr/>
          <p:nvPr/>
        </p:nvSpPr>
        <p:spPr>
          <a:xfrm>
            <a:off x="7283416" y="4709160"/>
            <a:ext cx="2084832"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48008" y="137160"/>
            <a:ext cx="1755648" cy="685800"/>
          </a:xfrm>
          <a:prstGeom prst="rect">
            <a:avLst/>
          </a:prstGeom>
          <a:noFill/>
        </p:spPr>
        <p:txBody>
          <a:bodyPr wrap="square" anchor="t" lIns="0" rIns="0" tIns="0" bIns="0">
            <a:spAutoFit/>
          </a:bodyPr>
          <a:lstStyle/>
          <a:p>
            <a:pPr algn="l">
              <a:lnSpc>
                <a:spcPct val="110000"/>
              </a:lnSpc>
            </a:pPr>
            <a:r>
              <a:rPr sz="1250" b="1" i="0">
                <a:solidFill>
                  <a:srgbClr val="1E2761"/>
                </a:solidFill>
                <a:latin typeface="Calibri"/>
              </a:rPr>
              <a:t>Board &amp; Regulator Reporting</a:t>
            </a:r>
          </a:p>
        </p:txBody>
      </p:sp>
      <p:sp>
        <p:nvSpPr>
          <p:cNvPr id="23" name="TextBox 22"/>
          <p:cNvSpPr txBox="1"/>
          <p:nvPr/>
        </p:nvSpPr>
        <p:spPr>
          <a:xfrm>
            <a:off x="7448008" y="822960"/>
            <a:ext cx="1755648" cy="457200"/>
          </a:xfrm>
          <a:prstGeom prst="rect">
            <a:avLst/>
          </a:prstGeom>
          <a:noFill/>
        </p:spPr>
        <p:txBody>
          <a:bodyPr wrap="square" anchor="t" lIns="0" rIns="0" tIns="0" bIns="0">
            <a:spAutoFit/>
          </a:bodyPr>
          <a:lstStyle/>
          <a:p>
            <a:pPr algn="l">
              <a:lnSpc>
                <a:spcPct val="110000"/>
              </a:lnSpc>
            </a:pPr>
            <a:r>
              <a:rPr sz="960" b="0" i="0">
                <a:solidFill>
                  <a:srgbClr val="2B3350"/>
                </a:solidFill>
                <a:latin typeface="Calibri"/>
              </a:rPr>
              <a:t>Executive Governance Report and Audit Readiness Report.</a:t>
            </a:r>
          </a:p>
        </p:txBody>
      </p:sp>
      <p:sp>
        <p:nvSpPr>
          <p:cNvPr id="24" name="Rectangle 23"/>
          <p:cNvSpPr/>
          <p:nvPr/>
        </p:nvSpPr>
        <p:spPr>
          <a:xfrm>
            <a:off x="9513248" y="4709160"/>
            <a:ext cx="2084832" cy="129844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77840" y="137160"/>
            <a:ext cx="1755648" cy="685800"/>
          </a:xfrm>
          <a:prstGeom prst="rect">
            <a:avLst/>
          </a:prstGeom>
          <a:noFill/>
        </p:spPr>
        <p:txBody>
          <a:bodyPr wrap="square" anchor="t" lIns="0" rIns="0" tIns="0" bIns="0">
            <a:spAutoFit/>
          </a:bodyPr>
          <a:lstStyle/>
          <a:p>
            <a:pPr algn="l">
              <a:lnSpc>
                <a:spcPct val="110000"/>
              </a:lnSpc>
            </a:pPr>
            <a:r>
              <a:rPr sz="1250" b="1" i="0">
                <a:solidFill>
                  <a:srgbClr val="1E2761"/>
                </a:solidFill>
                <a:latin typeface="Calibri"/>
              </a:rPr>
              <a:t>Audit Logs</a:t>
            </a:r>
          </a:p>
        </p:txBody>
      </p:sp>
      <p:sp>
        <p:nvSpPr>
          <p:cNvPr id="26" name="TextBox 25"/>
          <p:cNvSpPr txBox="1"/>
          <p:nvPr/>
        </p:nvSpPr>
        <p:spPr>
          <a:xfrm>
            <a:off x="9677840" y="822960"/>
            <a:ext cx="1755648" cy="457200"/>
          </a:xfrm>
          <a:prstGeom prst="rect">
            <a:avLst/>
          </a:prstGeom>
          <a:noFill/>
        </p:spPr>
        <p:txBody>
          <a:bodyPr wrap="square" anchor="t" lIns="0" rIns="0" tIns="0" bIns="0">
            <a:spAutoFit/>
          </a:bodyPr>
          <a:lstStyle/>
          <a:p>
            <a:pPr algn="l">
              <a:lnSpc>
                <a:spcPct val="110000"/>
              </a:lnSpc>
            </a:pPr>
            <a:r>
              <a:rPr sz="960" b="0" i="0">
                <a:solidFill>
                  <a:srgbClr val="2B3350"/>
                </a:solidFill>
                <a:latin typeface="Calibri"/>
              </a:rPr>
              <a:t>The full searchable record of every action taken.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ROLE BASED GOVERNANCE</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Seven roles, each scoped to its mandate</a:t>
            </a:r>
          </a:p>
        </p:txBody>
      </p:sp>
      <p:sp>
        <p:nvSpPr>
          <p:cNvPr id="4" name="TextBox 3"/>
          <p:cNvSpPr txBox="1"/>
          <p:nvPr/>
        </p:nvSpPr>
        <p:spPr>
          <a:xfrm>
            <a:off x="548640" y="1481328"/>
            <a:ext cx="10241280" cy="475488"/>
          </a:xfrm>
          <a:prstGeom prst="rect">
            <a:avLst/>
          </a:prstGeom>
          <a:noFill/>
        </p:spPr>
        <p:txBody>
          <a:bodyPr wrap="square" anchor="t" lIns="0" rIns="0" tIns="0" bIns="0">
            <a:spAutoFit/>
          </a:bodyPr>
          <a:lstStyle/>
          <a:p>
            <a:pPr algn="l">
              <a:lnSpc>
                <a:spcPct val="108000"/>
              </a:lnSpc>
            </a:pPr>
            <a:r>
              <a:rPr sz="1400" b="0" i="0">
                <a:solidFill>
                  <a:srgbClr val="2B3350"/>
                </a:solidFill>
                <a:latin typeface="Calibri"/>
              </a:rPr>
              <a:t>Access is enforced at the route boundary. A role that is not authorised for a module cannot reach it, even by direct link.</a:t>
            </a:r>
          </a:p>
        </p:txBody>
      </p:sp>
      <p:sp>
        <p:nvSpPr>
          <p:cNvPr id="5" name="Rectangle 4"/>
          <p:cNvSpPr/>
          <p:nvPr/>
        </p:nvSpPr>
        <p:spPr>
          <a:xfrm>
            <a:off x="548640" y="2011680"/>
            <a:ext cx="11064240" cy="42062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3200000" cy="420624"/>
          </a:xfrm>
          <a:prstGeom prst="rect">
            <a:avLst/>
          </a:prstGeom>
          <a:noFill/>
        </p:spPr>
        <p:txBody>
          <a:bodyPr wrap="square" anchor="ctr" lIns="0" rIns="0" tIns="0" bIns="0">
            <a:spAutoFit/>
          </a:bodyPr>
          <a:lstStyle/>
          <a:p>
            <a:pPr algn="l">
              <a:lnSpc>
                <a:spcPct val="108000"/>
              </a:lnSpc>
            </a:pPr>
            <a:r>
              <a:rPr sz="1200" b="1" i="0">
                <a:solidFill>
                  <a:srgbClr val="FFFFFF"/>
                </a:solidFill>
                <a:latin typeface="Calibri"/>
              </a:rPr>
              <a:t>ROLE</a:t>
            </a:r>
          </a:p>
        </p:txBody>
      </p:sp>
      <p:sp>
        <p:nvSpPr>
          <p:cNvPr id="7" name="TextBox 6"/>
          <p:cNvSpPr txBox="1"/>
          <p:nvPr/>
        </p:nvSpPr>
        <p:spPr>
          <a:xfrm>
            <a:off x="3841750" y="2011680"/>
            <a:ext cx="7770000" cy="420624"/>
          </a:xfrm>
          <a:prstGeom prst="rect">
            <a:avLst/>
          </a:prstGeom>
          <a:noFill/>
        </p:spPr>
        <p:txBody>
          <a:bodyPr wrap="square" anchor="ctr" lIns="0" rIns="0" tIns="0" bIns="0">
            <a:spAutoFit/>
          </a:bodyPr>
          <a:lstStyle/>
          <a:p>
            <a:pPr algn="l">
              <a:lnSpc>
                <a:spcPct val="108000"/>
              </a:lnSpc>
            </a:pPr>
            <a:r>
              <a:rPr sz="1200" b="1" i="0">
                <a:solidFill>
                  <a:srgbClr val="FFFFFF"/>
                </a:solidFill>
                <a:latin typeface="Calibri"/>
              </a:rPr>
              <a:t>WHAT THIS ROLE DOES</a:t>
            </a:r>
          </a:p>
        </p:txBody>
      </p:sp>
      <p:sp>
        <p:nvSpPr>
          <p:cNvPr id="8" name="Rectangle 7"/>
          <p:cNvSpPr/>
          <p:nvPr/>
        </p:nvSpPr>
        <p:spPr>
          <a:xfrm>
            <a:off x="548640" y="2432304"/>
            <a:ext cx="11064240" cy="40233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432304"/>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Super Admin</a:t>
            </a:r>
          </a:p>
        </p:txBody>
      </p:sp>
      <p:sp>
        <p:nvSpPr>
          <p:cNvPr id="10" name="TextBox 9"/>
          <p:cNvSpPr txBox="1"/>
          <p:nvPr/>
        </p:nvSpPr>
        <p:spPr>
          <a:xfrm>
            <a:off x="3841750" y="2432304"/>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Full platform administration, including RBAC configuration.</a:t>
            </a:r>
          </a:p>
        </p:txBody>
      </p:sp>
      <p:sp>
        <p:nvSpPr>
          <p:cNvPr id="11" name="Rectangle 10"/>
          <p:cNvSpPr/>
          <p:nvPr/>
        </p:nvSpPr>
        <p:spPr>
          <a:xfrm>
            <a:off x="548640" y="2834640"/>
            <a:ext cx="110642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34640"/>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Governance Admin</a:t>
            </a:r>
          </a:p>
        </p:txBody>
      </p:sp>
      <p:sp>
        <p:nvSpPr>
          <p:cNvPr id="13" name="TextBox 12"/>
          <p:cNvSpPr txBox="1"/>
          <p:nvPr/>
        </p:nvSpPr>
        <p:spPr>
          <a:xfrm>
            <a:off x="3841750" y="2834640"/>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Runs the governance operating model — policies, workflows, oversight.</a:t>
            </a:r>
          </a:p>
        </p:txBody>
      </p:sp>
      <p:sp>
        <p:nvSpPr>
          <p:cNvPr id="14" name="Rectangle 13"/>
          <p:cNvSpPr/>
          <p:nvPr/>
        </p:nvSpPr>
        <p:spPr>
          <a:xfrm>
            <a:off x="548640" y="3236976"/>
            <a:ext cx="11064240" cy="40233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36976"/>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Risk Officer</a:t>
            </a:r>
          </a:p>
        </p:txBody>
      </p:sp>
      <p:sp>
        <p:nvSpPr>
          <p:cNvPr id="16" name="TextBox 15"/>
          <p:cNvSpPr txBox="1"/>
          <p:nvPr/>
        </p:nvSpPr>
        <p:spPr>
          <a:xfrm>
            <a:off x="3841750" y="3236976"/>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Owns risk classification and risk-driven escalation.</a:t>
            </a:r>
          </a:p>
        </p:txBody>
      </p:sp>
      <p:sp>
        <p:nvSpPr>
          <p:cNvPr id="17" name="Rectangle 16"/>
          <p:cNvSpPr/>
          <p:nvPr/>
        </p:nvSpPr>
        <p:spPr>
          <a:xfrm>
            <a:off x="548640" y="3639312"/>
            <a:ext cx="110642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639312"/>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Business Owner</a:t>
            </a:r>
          </a:p>
        </p:txBody>
      </p:sp>
      <p:sp>
        <p:nvSpPr>
          <p:cNvPr id="19" name="TextBox 18"/>
          <p:cNvSpPr txBox="1"/>
          <p:nvPr/>
        </p:nvSpPr>
        <p:spPr>
          <a:xfrm>
            <a:off x="3841750" y="3639312"/>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Accountable for the asset's business outcome and residual risk.</a:t>
            </a:r>
          </a:p>
        </p:txBody>
      </p:sp>
      <p:sp>
        <p:nvSpPr>
          <p:cNvPr id="20" name="Rectangle 19"/>
          <p:cNvSpPr/>
          <p:nvPr/>
        </p:nvSpPr>
        <p:spPr>
          <a:xfrm>
            <a:off x="548640" y="4041648"/>
            <a:ext cx="11064240" cy="40233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041648"/>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Validator</a:t>
            </a:r>
          </a:p>
        </p:txBody>
      </p:sp>
      <p:sp>
        <p:nvSpPr>
          <p:cNvPr id="22" name="TextBox 21"/>
          <p:cNvSpPr txBox="1"/>
          <p:nvPr/>
        </p:nvSpPr>
        <p:spPr>
          <a:xfrm>
            <a:off x="3841750" y="4041648"/>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Independent reviewer across the six validation disciplines.</a:t>
            </a:r>
          </a:p>
        </p:txBody>
      </p:sp>
      <p:sp>
        <p:nvSpPr>
          <p:cNvPr id="23" name="Rectangle 22"/>
          <p:cNvSpPr/>
          <p:nvPr/>
        </p:nvSpPr>
        <p:spPr>
          <a:xfrm>
            <a:off x="548640" y="4443984"/>
            <a:ext cx="1106424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443984"/>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Auditor</a:t>
            </a:r>
          </a:p>
        </p:txBody>
      </p:sp>
      <p:sp>
        <p:nvSpPr>
          <p:cNvPr id="25" name="TextBox 24"/>
          <p:cNvSpPr txBox="1"/>
          <p:nvPr/>
        </p:nvSpPr>
        <p:spPr>
          <a:xfrm>
            <a:off x="3841750" y="4443984"/>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Read access to the full audit trail and reporting surfaces.</a:t>
            </a:r>
          </a:p>
        </p:txBody>
      </p:sp>
      <p:sp>
        <p:nvSpPr>
          <p:cNvPr id="26" name="Rectangle 25"/>
          <p:cNvSpPr/>
          <p:nvPr/>
        </p:nvSpPr>
        <p:spPr>
          <a:xfrm>
            <a:off x="548640" y="4846320"/>
            <a:ext cx="11064240" cy="402336"/>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846320"/>
            <a:ext cx="3200000" cy="402336"/>
          </a:xfrm>
          <a:prstGeom prst="rect">
            <a:avLst/>
          </a:prstGeom>
          <a:noFill/>
        </p:spPr>
        <p:txBody>
          <a:bodyPr wrap="square" anchor="ctr" lIns="0" rIns="0" tIns="0" bIns="0">
            <a:spAutoFit/>
          </a:bodyPr>
          <a:lstStyle/>
          <a:p>
            <a:pPr algn="l">
              <a:lnSpc>
                <a:spcPct val="108000"/>
              </a:lnSpc>
            </a:pPr>
            <a:r>
              <a:rPr sz="1200" b="1" i="0">
                <a:solidFill>
                  <a:srgbClr val="1E2761"/>
                </a:solidFill>
                <a:latin typeface="Calibri"/>
              </a:rPr>
              <a:t>Viewer</a:t>
            </a:r>
          </a:p>
        </p:txBody>
      </p:sp>
      <p:sp>
        <p:nvSpPr>
          <p:cNvPr id="28" name="TextBox 27"/>
          <p:cNvSpPr txBox="1"/>
          <p:nvPr/>
        </p:nvSpPr>
        <p:spPr>
          <a:xfrm>
            <a:off x="3841750" y="4846320"/>
            <a:ext cx="7770000" cy="402336"/>
          </a:xfrm>
          <a:prstGeom prst="rect">
            <a:avLst/>
          </a:prstGeom>
          <a:noFill/>
        </p:spPr>
        <p:txBody>
          <a:bodyPr wrap="square" anchor="ctr" lIns="0" rIns="0" tIns="0" bIns="0">
            <a:spAutoFit/>
          </a:bodyPr>
          <a:lstStyle/>
          <a:p>
            <a:pPr algn="l">
              <a:lnSpc>
                <a:spcPct val="108000"/>
              </a:lnSpc>
            </a:pPr>
            <a:r>
              <a:rPr sz="1100" b="0" i="0">
                <a:solidFill>
                  <a:srgbClr val="2B3350"/>
                </a:solidFill>
                <a:latin typeface="Calibri"/>
              </a:rPr>
              <a:t>Read-only visibility for stakeholders outside the governance team.</a:t>
            </a:r>
          </a:p>
        </p:txBody>
      </p:sp>
      <p:sp>
        <p:nvSpPr>
          <p:cNvPr id="29" name="Rectangle 28"/>
          <p:cNvSpPr/>
          <p:nvPr/>
        </p:nvSpPr>
        <p:spPr>
          <a:xfrm>
            <a:off x="548640" y="5251536"/>
            <a:ext cx="11064240" cy="56692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51536"/>
            <a:ext cx="10515600" cy="566928"/>
          </a:xfrm>
          <a:prstGeom prst="rect">
            <a:avLst/>
          </a:prstGeom>
          <a:noFill/>
        </p:spPr>
        <p:txBody>
          <a:bodyPr wrap="square" anchor="ctr" lIns="0" rIns="0" tIns="0" bIns="0">
            <a:spAutoFit/>
          </a:bodyPr>
          <a:lstStyle/>
          <a:p>
            <a:pPr algn="l">
              <a:lnSpc>
                <a:spcPct val="108000"/>
              </a:lnSpc>
            </a:pPr>
            <a:r>
              <a:rPr sz="1150" b="0" i="0">
                <a:solidFill>
                  <a:srgbClr val="2B3350"/>
                </a:solidFill>
                <a:latin typeface="Calibri"/>
              </a:rPr>
              <a:t>An RBAC Administration screen shows the full role-to-module authorisation matrix, generated from the live navigation configuration — so the matrix and the product can never disagree.</a:t>
            </a:r>
          </a:p>
        </p:txBody>
      </p:sp>
      <p:sp>
        <p:nvSpPr>
          <p:cNvPr id="31" name="TextBox 30"/>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UserRole enum (Prisma), backend/src/auth/roles.guard.ts; frontend/src/config/navigation.ts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STRATEGIC POSITIONING  ·  FINAL PLATFORM UPDATE</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OMG Core Platform v1.0 Complete</a:t>
            </a:r>
          </a:p>
        </p:txBody>
      </p:sp>
      <p:sp>
        <p:nvSpPr>
          <p:cNvPr id="4" name="TextBox 3"/>
          <p:cNvSpPr txBox="1"/>
          <p:nvPr/>
        </p:nvSpPr>
        <p:spPr>
          <a:xfrm>
            <a:off x="548640" y="1481328"/>
            <a:ext cx="10241280" cy="530000"/>
          </a:xfrm>
          <a:prstGeom prst="rect">
            <a:avLst/>
          </a:prstGeom>
          <a:noFill/>
        </p:spPr>
        <p:txBody>
          <a:bodyPr wrap="square" anchor="t" lIns="0" rIns="0" tIns="0" bIns="0">
            <a:spAutoFit/>
          </a:bodyPr>
          <a:lstStyle/>
          <a:p>
            <a:pPr algn="l">
              <a:lnSpc>
                <a:spcPct val="120000"/>
              </a:lnSpc>
            </a:pPr>
            <a:r>
              <a:rPr sz="1300" b="0" i="0">
                <a:solidFill>
                  <a:srgbClr val="2B3350"/>
                </a:solidFill>
                <a:latin typeface="Calibri"/>
              </a:rPr>
              <a:t>Built Once. Configured Together. Governed Continuously. All ten platform pillars below are live, documented and verified — the next phase is co-designing configuration with Founding Governance Partners.</a:t>
            </a:r>
          </a:p>
        </p:txBody>
      </p:sp>
      <p:sp>
        <p:nvSpPr>
          <p:cNvPr id="5" name="Rounded Rectangle 4"/>
          <p:cNvSpPr/>
          <p:nvPr/>
        </p:nvSpPr>
        <p:spPr>
          <a:xfrm>
            <a:off x="548640" y="2080000"/>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2157416"/>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57416"/>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8" name="TextBox 7"/>
          <p:cNvSpPr txBox="1"/>
          <p:nvPr/>
        </p:nvSpPr>
        <p:spPr>
          <a:xfrm>
            <a:off x="868680" y="2080000"/>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Governance Authority</a:t>
            </a:r>
          </a:p>
        </p:txBody>
      </p:sp>
      <p:sp>
        <p:nvSpPr>
          <p:cNvPr id="9" name="Rounded Rectangle 8"/>
          <p:cNvSpPr/>
          <p:nvPr/>
        </p:nvSpPr>
        <p:spPr>
          <a:xfrm>
            <a:off x="2761488" y="2080000"/>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52928" y="2157416"/>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2928" y="2157416"/>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12" name="TextBox 11"/>
          <p:cNvSpPr txBox="1"/>
          <p:nvPr/>
        </p:nvSpPr>
        <p:spPr>
          <a:xfrm>
            <a:off x="3081528" y="2080000"/>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Governance Continuity</a:t>
            </a:r>
          </a:p>
        </p:txBody>
      </p:sp>
      <p:sp>
        <p:nvSpPr>
          <p:cNvPr id="13" name="Rounded Rectangle 12"/>
          <p:cNvSpPr/>
          <p:nvPr/>
        </p:nvSpPr>
        <p:spPr>
          <a:xfrm>
            <a:off x="4974336" y="2080000"/>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065776" y="2157416"/>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65776" y="2157416"/>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16" name="TextBox 15"/>
          <p:cNvSpPr txBox="1"/>
          <p:nvPr/>
        </p:nvSpPr>
        <p:spPr>
          <a:xfrm>
            <a:off x="5294376" y="2080000"/>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Evidence Management</a:t>
            </a:r>
          </a:p>
        </p:txBody>
      </p:sp>
      <p:sp>
        <p:nvSpPr>
          <p:cNvPr id="17" name="Rounded Rectangle 16"/>
          <p:cNvSpPr/>
          <p:nvPr/>
        </p:nvSpPr>
        <p:spPr>
          <a:xfrm>
            <a:off x="7187184" y="2080000"/>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78624" y="2157416"/>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78624" y="2157416"/>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20" name="TextBox 19"/>
          <p:cNvSpPr txBox="1"/>
          <p:nvPr/>
        </p:nvSpPr>
        <p:spPr>
          <a:xfrm>
            <a:off x="7507224" y="2080000"/>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Production Persistence</a:t>
            </a:r>
          </a:p>
        </p:txBody>
      </p:sp>
      <p:sp>
        <p:nvSpPr>
          <p:cNvPr id="21" name="Rounded Rectangle 20"/>
          <p:cNvSpPr/>
          <p:nvPr/>
        </p:nvSpPr>
        <p:spPr>
          <a:xfrm>
            <a:off x="9400032" y="2080000"/>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91472" y="2157416"/>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91472" y="2157416"/>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24" name="TextBox 23"/>
          <p:cNvSpPr txBox="1"/>
          <p:nvPr/>
        </p:nvSpPr>
        <p:spPr>
          <a:xfrm>
            <a:off x="9720072" y="2080000"/>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Compliance Framework</a:t>
            </a:r>
          </a:p>
        </p:txBody>
      </p:sp>
      <p:sp>
        <p:nvSpPr>
          <p:cNvPr id="25" name="Rounded Rectangle 24"/>
          <p:cNvSpPr/>
          <p:nvPr/>
        </p:nvSpPr>
        <p:spPr>
          <a:xfrm>
            <a:off x="548640" y="2509152"/>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 y="2586568"/>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2586568"/>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28" name="TextBox 27"/>
          <p:cNvSpPr txBox="1"/>
          <p:nvPr/>
        </p:nvSpPr>
        <p:spPr>
          <a:xfrm>
            <a:off x="868680" y="2509152"/>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Regulatory Knowledge Engine</a:t>
            </a:r>
          </a:p>
        </p:txBody>
      </p:sp>
      <p:sp>
        <p:nvSpPr>
          <p:cNvPr id="29" name="Rounded Rectangle 28"/>
          <p:cNvSpPr/>
          <p:nvPr/>
        </p:nvSpPr>
        <p:spPr>
          <a:xfrm>
            <a:off x="2761488" y="2509152"/>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52928" y="2586568"/>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52928" y="2586568"/>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32" name="TextBox 31"/>
          <p:cNvSpPr txBox="1"/>
          <p:nvPr/>
        </p:nvSpPr>
        <p:spPr>
          <a:xfrm>
            <a:off x="3081528" y="2509152"/>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Governance Intelligence Engine</a:t>
            </a:r>
          </a:p>
        </p:txBody>
      </p:sp>
      <p:sp>
        <p:nvSpPr>
          <p:cNvPr id="33" name="Rounded Rectangle 32"/>
          <p:cNvSpPr/>
          <p:nvPr/>
        </p:nvSpPr>
        <p:spPr>
          <a:xfrm>
            <a:off x="4974336" y="2509152"/>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065776" y="2586568"/>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65776" y="2586568"/>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36" name="TextBox 35"/>
          <p:cNvSpPr txBox="1"/>
          <p:nvPr/>
        </p:nvSpPr>
        <p:spPr>
          <a:xfrm>
            <a:off x="5294376" y="2509152"/>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Governance Actions Engine</a:t>
            </a:r>
          </a:p>
        </p:txBody>
      </p:sp>
      <p:sp>
        <p:nvSpPr>
          <p:cNvPr id="37" name="Rounded Rectangle 36"/>
          <p:cNvSpPr/>
          <p:nvPr/>
        </p:nvSpPr>
        <p:spPr>
          <a:xfrm>
            <a:off x="7187184" y="2509152"/>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78624" y="2586568"/>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78624" y="2586568"/>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40" name="TextBox 39"/>
          <p:cNvSpPr txBox="1"/>
          <p:nvPr/>
        </p:nvSpPr>
        <p:spPr>
          <a:xfrm>
            <a:off x="7507224" y="2509152"/>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Governance Decision Traceability</a:t>
            </a:r>
          </a:p>
        </p:txBody>
      </p:sp>
      <p:sp>
        <p:nvSpPr>
          <p:cNvPr id="41" name="Rounded Rectangle 40"/>
          <p:cNvSpPr/>
          <p:nvPr/>
        </p:nvSpPr>
        <p:spPr>
          <a:xfrm>
            <a:off x="9400032" y="2509152"/>
            <a:ext cx="2121408" cy="356000"/>
          </a:xfrm>
          <a:prstGeom prst="roundRect">
            <a:avLst>
              <a:gd name="adj" fmla="val 25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91472" y="2586568"/>
            <a:ext cx="201168" cy="201168"/>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472" y="2586568"/>
            <a:ext cx="201168" cy="201168"/>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a:t>
            </a:r>
          </a:p>
        </p:txBody>
      </p:sp>
      <p:sp>
        <p:nvSpPr>
          <p:cNvPr id="44" name="TextBox 43"/>
          <p:cNvSpPr txBox="1"/>
          <p:nvPr/>
        </p:nvSpPr>
        <p:spPr>
          <a:xfrm>
            <a:off x="9720072" y="2509152"/>
            <a:ext cx="1761368" cy="356000"/>
          </a:xfrm>
          <a:prstGeom prst="rect">
            <a:avLst/>
          </a:prstGeom>
          <a:noFill/>
        </p:spPr>
        <p:txBody>
          <a:bodyPr wrap="square" anchor="ctr" lIns="0" rIns="0" tIns="0" bIns="0">
            <a:spAutoFit/>
          </a:bodyPr>
          <a:lstStyle/>
          <a:p>
            <a:pPr algn="l">
              <a:lnSpc>
                <a:spcPct val="100000"/>
              </a:lnSpc>
            </a:pPr>
            <a:r>
              <a:rPr sz="950" b="1" i="0">
                <a:solidFill>
                  <a:srgbClr val="1E2761"/>
                </a:solidFill>
                <a:latin typeface="Calibri"/>
              </a:rPr>
              <a:t>Governance Intelligence Studio</a:t>
            </a:r>
          </a:p>
        </p:txBody>
      </p:sp>
      <p:sp>
        <p:nvSpPr>
          <p:cNvPr id="45" name="Rectangle 44"/>
          <p:cNvSpPr/>
          <p:nvPr/>
        </p:nvSpPr>
        <p:spPr>
          <a:xfrm>
            <a:off x="548640" y="2989536"/>
            <a:ext cx="11064240" cy="610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2989536"/>
            <a:ext cx="10515600" cy="610000"/>
          </a:xfrm>
          <a:prstGeom prst="rect">
            <a:avLst/>
          </a:prstGeom>
          <a:noFill/>
        </p:spPr>
        <p:txBody>
          <a:bodyPr wrap="square" anchor="ctr" lIns="0" rIns="0" tIns="0" bIns="0">
            <a:spAutoFit/>
          </a:bodyPr>
          <a:lstStyle/>
          <a:p>
            <a:pPr algn="l">
              <a:lnSpc>
                <a:spcPct val="115000"/>
              </a:lnSpc>
            </a:pPr>
            <a:r>
              <a:rPr sz="1200" b="0" i="0">
                <a:solidFill>
                  <a:srgbClr val="FFFFFF"/>
                </a:solidFill>
                <a:latin typeface="Calibri"/>
              </a:rPr>
              <a:t>The OMG platform baseline has been completed and is ready for customer onboarding, configuration, validation, and production deployment.</a:t>
            </a:r>
          </a:p>
        </p:txBody>
      </p:sp>
      <p:sp>
        <p:nvSpPr>
          <p:cNvPr id="47" name="TextBox 46"/>
          <p:cNvSpPr txBox="1"/>
          <p:nvPr/>
        </p:nvSpPr>
        <p:spPr>
          <a:xfrm>
            <a:off x="548640" y="3700000"/>
            <a:ext cx="11064240" cy="260000"/>
          </a:xfrm>
          <a:prstGeom prst="rect">
            <a:avLst/>
          </a:prstGeom>
          <a:noFill/>
        </p:spPr>
        <p:txBody>
          <a:bodyPr wrap="square" anchor="t" lIns="0" rIns="0" tIns="0" bIns="0">
            <a:spAutoFit/>
          </a:bodyPr>
          <a:lstStyle/>
          <a:p>
            <a:pPr algn="l">
              <a:lnSpc>
                <a:spcPct val="108000"/>
              </a:lnSpc>
            </a:pPr>
            <a:r>
              <a:rPr sz="1050" b="1" i="0">
                <a:solidFill>
                  <a:srgbClr val="6B7391"/>
                </a:solidFill>
                <a:latin typeface="Calibri"/>
              </a:rPr>
              <a:t>FOUNDING GOVERNANCE PARTNERS PROGRAM</a:t>
            </a:r>
          </a:p>
        </p:txBody>
      </p:sp>
      <p:sp>
        <p:nvSpPr>
          <p:cNvPr id="48" name="Rounded Rectangle 47"/>
          <p:cNvSpPr/>
          <p:nvPr/>
        </p:nvSpPr>
        <p:spPr>
          <a:xfrm>
            <a:off x="707400" y="3990000"/>
            <a:ext cx="1720000" cy="400000"/>
          </a:xfrm>
          <a:prstGeom prst="roundRect">
            <a:avLst>
              <a:gd name="adj" fmla="val 50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7400" y="3990000"/>
            <a:ext cx="1720000" cy="40000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Banking</a:t>
            </a:r>
          </a:p>
        </p:txBody>
      </p:sp>
      <p:sp>
        <p:nvSpPr>
          <p:cNvPr id="50" name="Rounded Rectangle 49"/>
          <p:cNvSpPr/>
          <p:nvPr/>
        </p:nvSpPr>
        <p:spPr>
          <a:xfrm>
            <a:off x="2518840" y="3990000"/>
            <a:ext cx="1720000" cy="400000"/>
          </a:xfrm>
          <a:prstGeom prst="roundRect">
            <a:avLst>
              <a:gd name="adj" fmla="val 50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8840" y="3990000"/>
            <a:ext cx="1720000" cy="40000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NBFC</a:t>
            </a:r>
          </a:p>
        </p:txBody>
      </p:sp>
      <p:sp>
        <p:nvSpPr>
          <p:cNvPr id="52" name="Rounded Rectangle 51"/>
          <p:cNvSpPr/>
          <p:nvPr/>
        </p:nvSpPr>
        <p:spPr>
          <a:xfrm>
            <a:off x="4330280" y="3990000"/>
            <a:ext cx="1720000" cy="400000"/>
          </a:xfrm>
          <a:prstGeom prst="roundRect">
            <a:avLst>
              <a:gd name="adj" fmla="val 50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30280" y="3990000"/>
            <a:ext cx="1720000" cy="40000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Insurance</a:t>
            </a:r>
          </a:p>
        </p:txBody>
      </p:sp>
      <p:sp>
        <p:nvSpPr>
          <p:cNvPr id="54" name="Rounded Rectangle 53"/>
          <p:cNvSpPr/>
          <p:nvPr/>
        </p:nvSpPr>
        <p:spPr>
          <a:xfrm>
            <a:off x="6141720" y="3990000"/>
            <a:ext cx="1720000" cy="400000"/>
          </a:xfrm>
          <a:prstGeom prst="roundRect">
            <a:avLst>
              <a:gd name="adj" fmla="val 50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41720" y="3990000"/>
            <a:ext cx="1720000" cy="40000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Healthcare</a:t>
            </a:r>
          </a:p>
        </p:txBody>
      </p:sp>
      <p:sp>
        <p:nvSpPr>
          <p:cNvPr id="56" name="Rounded Rectangle 55"/>
          <p:cNvSpPr/>
          <p:nvPr/>
        </p:nvSpPr>
        <p:spPr>
          <a:xfrm>
            <a:off x="7953160" y="3990000"/>
            <a:ext cx="1720000" cy="400000"/>
          </a:xfrm>
          <a:prstGeom prst="roundRect">
            <a:avLst>
              <a:gd name="adj" fmla="val 50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3160" y="3990000"/>
            <a:ext cx="1720000" cy="40000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Government</a:t>
            </a:r>
          </a:p>
        </p:txBody>
      </p:sp>
      <p:sp>
        <p:nvSpPr>
          <p:cNvPr id="58" name="Rounded Rectangle 57"/>
          <p:cNvSpPr/>
          <p:nvPr/>
        </p:nvSpPr>
        <p:spPr>
          <a:xfrm>
            <a:off x="9764600" y="3990000"/>
            <a:ext cx="1720000" cy="400000"/>
          </a:xfrm>
          <a:prstGeom prst="roundRect">
            <a:avLst>
              <a:gd name="adj" fmla="val 50000"/>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64600" y="3990000"/>
            <a:ext cx="1720000" cy="400000"/>
          </a:xfrm>
          <a:prstGeom prst="rect">
            <a:avLst/>
          </a:prstGeom>
          <a:noFill/>
        </p:spPr>
        <p:txBody>
          <a:bodyPr wrap="square" anchor="ctr" lIns="0" rIns="0" tIns="0" bIns="0">
            <a:spAutoFit/>
          </a:bodyPr>
          <a:lstStyle/>
          <a:p>
            <a:pPr algn="ctr">
              <a:lnSpc>
                <a:spcPct val="108000"/>
              </a:lnSpc>
            </a:pPr>
            <a:r>
              <a:rPr sz="1150" b="1" i="0">
                <a:solidFill>
                  <a:srgbClr val="1E2761"/>
                </a:solidFill>
                <a:latin typeface="Calibri"/>
              </a:rPr>
              <a:t>Enterprise</a:t>
            </a:r>
          </a:p>
        </p:txBody>
      </p:sp>
      <p:sp>
        <p:nvSpPr>
          <p:cNvPr id="60" name="Rectangle 59"/>
          <p:cNvSpPr/>
          <p:nvPr/>
        </p:nvSpPr>
        <p:spPr>
          <a:xfrm>
            <a:off x="527304" y="4530000"/>
            <a:ext cx="2670048" cy="7000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64464" y="4670000"/>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4464" y="4670000"/>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1</a:t>
            </a:r>
          </a:p>
        </p:txBody>
      </p:sp>
      <p:sp>
        <p:nvSpPr>
          <p:cNvPr id="63" name="TextBox 62"/>
          <p:cNvSpPr txBox="1"/>
          <p:nvPr/>
        </p:nvSpPr>
        <p:spPr>
          <a:xfrm>
            <a:off x="1094232" y="4700000"/>
            <a:ext cx="2050048" cy="400000"/>
          </a:xfrm>
          <a:prstGeom prst="rect">
            <a:avLst/>
          </a:prstGeom>
          <a:noFill/>
        </p:spPr>
        <p:txBody>
          <a:bodyPr wrap="square" anchor="t" lIns="0" rIns="0" tIns="0" bIns="0">
            <a:spAutoFit/>
          </a:bodyPr>
          <a:lstStyle/>
          <a:p>
            <a:pPr algn="l">
              <a:lnSpc>
                <a:spcPct val="105000"/>
              </a:lnSpc>
            </a:pPr>
            <a:r>
              <a:rPr sz="1100" b="1" i="0">
                <a:solidFill>
                  <a:srgbClr val="1E2761"/>
                </a:solidFill>
                <a:latin typeface="Calibri"/>
              </a:rPr>
              <a:t>Governance Discovery</a:t>
            </a:r>
          </a:p>
        </p:txBody>
      </p:sp>
      <p:sp>
        <p:nvSpPr>
          <p:cNvPr id="64" name="Rectangle 63"/>
          <p:cNvSpPr/>
          <p:nvPr/>
        </p:nvSpPr>
        <p:spPr>
          <a:xfrm>
            <a:off x="3349752" y="4530000"/>
            <a:ext cx="2670048" cy="7000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486912" y="4670000"/>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486912" y="4670000"/>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2</a:t>
            </a:r>
          </a:p>
        </p:txBody>
      </p:sp>
      <p:sp>
        <p:nvSpPr>
          <p:cNvPr id="67" name="TextBox 66"/>
          <p:cNvSpPr txBox="1"/>
          <p:nvPr/>
        </p:nvSpPr>
        <p:spPr>
          <a:xfrm>
            <a:off x="3916680" y="4700000"/>
            <a:ext cx="2050048" cy="400000"/>
          </a:xfrm>
          <a:prstGeom prst="rect">
            <a:avLst/>
          </a:prstGeom>
          <a:noFill/>
        </p:spPr>
        <p:txBody>
          <a:bodyPr wrap="square" anchor="t" lIns="0" rIns="0" tIns="0" bIns="0">
            <a:spAutoFit/>
          </a:bodyPr>
          <a:lstStyle/>
          <a:p>
            <a:pPr algn="l">
              <a:lnSpc>
                <a:spcPct val="105000"/>
              </a:lnSpc>
            </a:pPr>
            <a:r>
              <a:rPr sz="1100" b="1" i="0">
                <a:solidFill>
                  <a:srgbClr val="1E2761"/>
                </a:solidFill>
                <a:latin typeface="Calibri"/>
              </a:rPr>
              <a:t>Configuration &amp; Extension</a:t>
            </a:r>
          </a:p>
        </p:txBody>
      </p:sp>
      <p:sp>
        <p:nvSpPr>
          <p:cNvPr id="68" name="Rectangle 67"/>
          <p:cNvSpPr/>
          <p:nvPr/>
        </p:nvSpPr>
        <p:spPr>
          <a:xfrm>
            <a:off x="6172200" y="4530000"/>
            <a:ext cx="2670048" cy="7000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309360" y="4670000"/>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09360" y="4670000"/>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3</a:t>
            </a:r>
          </a:p>
        </p:txBody>
      </p:sp>
      <p:sp>
        <p:nvSpPr>
          <p:cNvPr id="71" name="TextBox 70"/>
          <p:cNvSpPr txBox="1"/>
          <p:nvPr/>
        </p:nvSpPr>
        <p:spPr>
          <a:xfrm>
            <a:off x="6739128" y="4700000"/>
            <a:ext cx="2050048" cy="400000"/>
          </a:xfrm>
          <a:prstGeom prst="rect">
            <a:avLst/>
          </a:prstGeom>
          <a:noFill/>
        </p:spPr>
        <p:txBody>
          <a:bodyPr wrap="square" anchor="t" lIns="0" rIns="0" tIns="0" bIns="0">
            <a:spAutoFit/>
          </a:bodyPr>
          <a:lstStyle/>
          <a:p>
            <a:pPr algn="l">
              <a:lnSpc>
                <a:spcPct val="105000"/>
              </a:lnSpc>
            </a:pPr>
            <a:r>
              <a:rPr sz="1100" b="1" i="0">
                <a:solidFill>
                  <a:srgbClr val="1E2761"/>
                </a:solidFill>
                <a:latin typeface="Calibri"/>
              </a:rPr>
              <a:t>Joint Validation &amp; QA</a:t>
            </a:r>
          </a:p>
        </p:txBody>
      </p:sp>
      <p:sp>
        <p:nvSpPr>
          <p:cNvPr id="72" name="Rectangle 71"/>
          <p:cNvSpPr/>
          <p:nvPr/>
        </p:nvSpPr>
        <p:spPr>
          <a:xfrm>
            <a:off x="8994648" y="4530000"/>
            <a:ext cx="2670048" cy="7000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131808" y="4670000"/>
            <a:ext cx="310896" cy="31089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131808" y="4670000"/>
            <a:ext cx="310896" cy="310896"/>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4</a:t>
            </a:r>
          </a:p>
        </p:txBody>
      </p:sp>
      <p:sp>
        <p:nvSpPr>
          <p:cNvPr id="75" name="TextBox 74"/>
          <p:cNvSpPr txBox="1"/>
          <p:nvPr/>
        </p:nvSpPr>
        <p:spPr>
          <a:xfrm>
            <a:off x="9561576" y="4700000"/>
            <a:ext cx="2050048" cy="400000"/>
          </a:xfrm>
          <a:prstGeom prst="rect">
            <a:avLst/>
          </a:prstGeom>
          <a:noFill/>
        </p:spPr>
        <p:txBody>
          <a:bodyPr wrap="square" anchor="t" lIns="0" rIns="0" tIns="0" bIns="0">
            <a:spAutoFit/>
          </a:bodyPr>
          <a:lstStyle/>
          <a:p>
            <a:pPr algn="l">
              <a:lnSpc>
                <a:spcPct val="105000"/>
              </a:lnSpc>
            </a:pPr>
            <a:r>
              <a:rPr sz="1100" b="1" i="0">
                <a:solidFill>
                  <a:srgbClr val="1E2761"/>
                </a:solidFill>
                <a:latin typeface="Calibri"/>
              </a:rPr>
              <a:t>Production Deployment</a:t>
            </a:r>
          </a:p>
        </p:txBody>
      </p:sp>
      <p:sp>
        <p:nvSpPr>
          <p:cNvPr id="76" name="Rectangle 75"/>
          <p:cNvSpPr/>
          <p:nvPr/>
        </p:nvSpPr>
        <p:spPr>
          <a:xfrm>
            <a:off x="548640" y="5370000"/>
            <a:ext cx="11064240" cy="6000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22960" y="5370000"/>
            <a:ext cx="10515600" cy="600000"/>
          </a:xfrm>
          <a:prstGeom prst="rect">
            <a:avLst/>
          </a:prstGeom>
          <a:noFill/>
        </p:spPr>
        <p:txBody>
          <a:bodyPr wrap="square" anchor="ctr" lIns="0" rIns="0" tIns="0" bIns="0">
            <a:spAutoFit/>
          </a:bodyPr>
          <a:lstStyle/>
          <a:p>
            <a:pPr algn="l">
              <a:lnSpc>
                <a:spcPct val="110000"/>
              </a:lnSpc>
            </a:pPr>
            <a:r>
              <a:rPr sz="1100" b="1" i="0">
                <a:solidFill>
                  <a:srgbClr val="1E2761"/>
                </a:solidFill>
                <a:latin typeface="Calibri"/>
              </a:rPr>
              <a:t>Future Compliance Accelerators — RBI Guidance, ISO/IEC 42001, EU AI Act, NIST AI RMF, Internal Enterprise Policies, Customer-Specific Governance Controls — configured, never coded.</a:t>
            </a:r>
          </a:p>
        </p:txBody>
      </p:sp>
      <p:sp>
        <p:nvSpPr>
          <p:cNvPr id="78" name="TextBox 77"/>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6B7391"/>
                </a:solidFill>
                <a:latin typeface="Calibri"/>
              </a:rPr>
              <a:t>Source: OMG Final Strategic Blueprint — docs/governance/24_Final_Strategic_Blueprint_Design_Partner_Program.md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CURRENT PLATFORM STRENGTHS</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What is genuinely built and working today</a:t>
            </a:r>
          </a:p>
        </p:txBody>
      </p:sp>
      <p:sp>
        <p:nvSpPr>
          <p:cNvPr id="4" name="Rectangle 3"/>
          <p:cNvSpPr/>
          <p:nvPr/>
        </p:nvSpPr>
        <p:spPr>
          <a:xfrm>
            <a:off x="548640" y="1536192"/>
            <a:ext cx="541324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737360"/>
            <a:ext cx="347472" cy="347472"/>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737360"/>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a:t>
            </a:r>
          </a:p>
        </p:txBody>
      </p:sp>
      <p:sp>
        <p:nvSpPr>
          <p:cNvPr id="7" name="TextBox 6"/>
          <p:cNvSpPr txBox="1"/>
          <p:nvPr/>
        </p:nvSpPr>
        <p:spPr>
          <a:xfrm>
            <a:off x="1243584" y="1700784"/>
            <a:ext cx="4498848" cy="292608"/>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A working end-to-end application</a:t>
            </a:r>
          </a:p>
        </p:txBody>
      </p:sp>
      <p:sp>
        <p:nvSpPr>
          <p:cNvPr id="8" name="TextBox 7"/>
          <p:cNvSpPr txBox="1"/>
          <p:nvPr/>
        </p:nvSpPr>
        <p:spPr>
          <a:xfrm>
            <a:off x="1243584" y="2011680"/>
            <a:ext cx="4498848" cy="594360"/>
          </a:xfrm>
          <a:prstGeom prst="rect">
            <a:avLst/>
          </a:prstGeom>
          <a:noFill/>
        </p:spPr>
        <p:txBody>
          <a:bodyPr wrap="square" anchor="t" lIns="0" rIns="0" tIns="0" bIns="0">
            <a:spAutoFit/>
          </a:bodyPr>
          <a:lstStyle/>
          <a:p>
            <a:pPr algn="l">
              <a:lnSpc>
                <a:spcPct val="115000"/>
              </a:lnSpc>
            </a:pPr>
            <a:r>
              <a:rPr sz="1030" b="0" i="0">
                <a:solidFill>
                  <a:srgbClr val="2B3350"/>
                </a:solidFill>
                <a:latin typeface="Calibri"/>
              </a:rPr>
              <a:t>Not a prototype of screens. 56 modules across 9 governance domains, all navigable, all populated with working logic.</a:t>
            </a:r>
          </a:p>
        </p:txBody>
      </p:sp>
      <p:sp>
        <p:nvSpPr>
          <p:cNvPr id="9" name="Rectangle 8"/>
          <p:cNvSpPr/>
          <p:nvPr/>
        </p:nvSpPr>
        <p:spPr>
          <a:xfrm>
            <a:off x="6334632" y="1536192"/>
            <a:ext cx="541324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54088" y="1737360"/>
            <a:ext cx="347472" cy="347472"/>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4088" y="1737360"/>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a:t>
            </a:r>
          </a:p>
        </p:txBody>
      </p:sp>
      <p:sp>
        <p:nvSpPr>
          <p:cNvPr id="12" name="TextBox 11"/>
          <p:cNvSpPr txBox="1"/>
          <p:nvPr/>
        </p:nvSpPr>
        <p:spPr>
          <a:xfrm>
            <a:off x="7029576" y="1700784"/>
            <a:ext cx="4498848" cy="292608"/>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Real production persistence</a:t>
            </a:r>
          </a:p>
        </p:txBody>
      </p:sp>
      <p:sp>
        <p:nvSpPr>
          <p:cNvPr id="13" name="TextBox 12"/>
          <p:cNvSpPr txBox="1"/>
          <p:nvPr/>
        </p:nvSpPr>
        <p:spPr>
          <a:xfrm>
            <a:off x="7029576" y="2011680"/>
            <a:ext cx="4498848" cy="594360"/>
          </a:xfrm>
          <a:prstGeom prst="rect">
            <a:avLst/>
          </a:prstGeom>
          <a:noFill/>
        </p:spPr>
        <p:txBody>
          <a:bodyPr wrap="square" anchor="t" lIns="0" rIns="0" tIns="0" bIns="0">
            <a:spAutoFit/>
          </a:bodyPr>
          <a:lstStyle/>
          <a:p>
            <a:pPr algn="l">
              <a:lnSpc>
                <a:spcPct val="115000"/>
              </a:lnSpc>
            </a:pPr>
            <a:r>
              <a:rPr sz="1030" b="0" i="0">
                <a:solidFill>
                  <a:srgbClr val="2B3350"/>
                </a:solidFill>
                <a:latin typeface="Calibri"/>
              </a:rPr>
              <a:t>Every domain — assets through the Governance Intelligence Studio — reads and writes live to Neon PostgreSQL via a NestJS API. Not browser storage.</a:t>
            </a:r>
          </a:p>
        </p:txBody>
      </p:sp>
      <p:sp>
        <p:nvSpPr>
          <p:cNvPr id="14" name="Rectangle 13"/>
          <p:cNvSpPr/>
          <p:nvPr/>
        </p:nvSpPr>
        <p:spPr>
          <a:xfrm>
            <a:off x="548640" y="2770632"/>
            <a:ext cx="541324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68096" y="2971800"/>
            <a:ext cx="347472" cy="347472"/>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971800"/>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a:t>
            </a:r>
          </a:p>
        </p:txBody>
      </p:sp>
      <p:sp>
        <p:nvSpPr>
          <p:cNvPr id="17" name="TextBox 16"/>
          <p:cNvSpPr txBox="1"/>
          <p:nvPr/>
        </p:nvSpPr>
        <p:spPr>
          <a:xfrm>
            <a:off x="1243584" y="2935224"/>
            <a:ext cx="4498848" cy="292608"/>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Governance is computed, not typed in</a:t>
            </a:r>
          </a:p>
        </p:txBody>
      </p:sp>
      <p:sp>
        <p:nvSpPr>
          <p:cNvPr id="18" name="TextBox 17"/>
          <p:cNvSpPr txBox="1"/>
          <p:nvPr/>
        </p:nvSpPr>
        <p:spPr>
          <a:xfrm>
            <a:off x="1243584" y="3246120"/>
            <a:ext cx="4498848" cy="594360"/>
          </a:xfrm>
          <a:prstGeom prst="rect">
            <a:avLst/>
          </a:prstGeom>
          <a:noFill/>
        </p:spPr>
        <p:txBody>
          <a:bodyPr wrap="square" anchor="t" lIns="0" rIns="0" tIns="0" bIns="0">
            <a:spAutoFit/>
          </a:bodyPr>
          <a:lstStyle/>
          <a:p>
            <a:pPr algn="l">
              <a:lnSpc>
                <a:spcPct val="115000"/>
              </a:lnSpc>
            </a:pPr>
            <a:r>
              <a:rPr sz="1030" b="0" i="0">
                <a:solidFill>
                  <a:srgbClr val="2B3350"/>
                </a:solidFill>
                <a:latin typeface="Calibri"/>
              </a:rPr>
              <a:t>Readiness scores, health indices, conditions, outcomes, coverage and blockers are all derived from the underlying data.</a:t>
            </a:r>
          </a:p>
        </p:txBody>
      </p:sp>
      <p:sp>
        <p:nvSpPr>
          <p:cNvPr id="19" name="Rectangle 18"/>
          <p:cNvSpPr/>
          <p:nvPr/>
        </p:nvSpPr>
        <p:spPr>
          <a:xfrm>
            <a:off x="6334632" y="2770632"/>
            <a:ext cx="541324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4088" y="2971800"/>
            <a:ext cx="347472" cy="347472"/>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4088" y="2971800"/>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a:t>
            </a:r>
          </a:p>
        </p:txBody>
      </p:sp>
      <p:sp>
        <p:nvSpPr>
          <p:cNvPr id="22" name="TextBox 21"/>
          <p:cNvSpPr txBox="1"/>
          <p:nvPr/>
        </p:nvSpPr>
        <p:spPr>
          <a:xfrm>
            <a:off x="7029576" y="2935224"/>
            <a:ext cx="4498848" cy="292608"/>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Policy breaches are detected automatically</a:t>
            </a:r>
          </a:p>
        </p:txBody>
      </p:sp>
      <p:sp>
        <p:nvSpPr>
          <p:cNvPr id="23" name="TextBox 22"/>
          <p:cNvSpPr txBox="1"/>
          <p:nvPr/>
        </p:nvSpPr>
        <p:spPr>
          <a:xfrm>
            <a:off x="7029576" y="3246120"/>
            <a:ext cx="4498848" cy="594360"/>
          </a:xfrm>
          <a:prstGeom prst="rect">
            <a:avLst/>
          </a:prstGeom>
          <a:noFill/>
        </p:spPr>
        <p:txBody>
          <a:bodyPr wrap="square" anchor="t" lIns="0" rIns="0" tIns="0" bIns="0">
            <a:spAutoFit/>
          </a:bodyPr>
          <a:lstStyle/>
          <a:p>
            <a:pPr algn="l">
              <a:lnSpc>
                <a:spcPct val="115000"/>
              </a:lnSpc>
            </a:pPr>
            <a:r>
              <a:rPr sz="1030" b="0" i="0">
                <a:solidFill>
                  <a:srgbClr val="2B3350"/>
                </a:solidFill>
                <a:latin typeface="Calibri"/>
              </a:rPr>
              <a:t>The Governance Intelligence Engine evaluates live governance state continuously — a breach clears only when the underlying gap is fixed.</a:t>
            </a:r>
          </a:p>
        </p:txBody>
      </p:sp>
      <p:sp>
        <p:nvSpPr>
          <p:cNvPr id="24" name="Rectangle 23"/>
          <p:cNvSpPr/>
          <p:nvPr/>
        </p:nvSpPr>
        <p:spPr>
          <a:xfrm>
            <a:off x="548640" y="4005072"/>
            <a:ext cx="541324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8096" y="4206240"/>
            <a:ext cx="347472" cy="347472"/>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206240"/>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a:t>
            </a:r>
          </a:p>
        </p:txBody>
      </p:sp>
      <p:sp>
        <p:nvSpPr>
          <p:cNvPr id="27" name="TextBox 26"/>
          <p:cNvSpPr txBox="1"/>
          <p:nvPr/>
        </p:nvSpPr>
        <p:spPr>
          <a:xfrm>
            <a:off x="1243584" y="4169664"/>
            <a:ext cx="4498848" cy="292608"/>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Change is governed, not just logged</a:t>
            </a:r>
          </a:p>
        </p:txBody>
      </p:sp>
      <p:sp>
        <p:nvSpPr>
          <p:cNvPr id="28" name="TextBox 27"/>
          <p:cNvSpPr txBox="1"/>
          <p:nvPr/>
        </p:nvSpPr>
        <p:spPr>
          <a:xfrm>
            <a:off x="1243584" y="4480560"/>
            <a:ext cx="4498848" cy="594360"/>
          </a:xfrm>
          <a:prstGeom prst="rect">
            <a:avLst/>
          </a:prstGeom>
          <a:noFill/>
        </p:spPr>
        <p:txBody>
          <a:bodyPr wrap="square" anchor="t" lIns="0" rIns="0" tIns="0" bIns="0">
            <a:spAutoFit/>
          </a:bodyPr>
          <a:lstStyle/>
          <a:p>
            <a:pPr algn="l">
              <a:lnSpc>
                <a:spcPct val="115000"/>
              </a:lnSpc>
            </a:pPr>
            <a:r>
              <a:rPr sz="1030" b="0" i="0">
                <a:solidFill>
                  <a:srgbClr val="2B3350"/>
                </a:solidFill>
                <a:latin typeface="Calibri"/>
              </a:rPr>
              <a:t>Changes are classified, impact-assessed across seven areas, scored, and routed to an approval chain sized to the impact.</a:t>
            </a:r>
          </a:p>
        </p:txBody>
      </p:sp>
      <p:sp>
        <p:nvSpPr>
          <p:cNvPr id="29" name="Rectangle 28"/>
          <p:cNvSpPr/>
          <p:nvPr/>
        </p:nvSpPr>
        <p:spPr>
          <a:xfrm>
            <a:off x="6334632" y="4005072"/>
            <a:ext cx="5413248" cy="109728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54088" y="4206240"/>
            <a:ext cx="347472" cy="347472"/>
          </a:xfrm>
          <a:prstGeom prst="ellipse">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4088" y="4206240"/>
            <a:ext cx="347472" cy="347472"/>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a:t>
            </a:r>
          </a:p>
        </p:txBody>
      </p:sp>
      <p:sp>
        <p:nvSpPr>
          <p:cNvPr id="32" name="TextBox 31"/>
          <p:cNvSpPr txBox="1"/>
          <p:nvPr/>
        </p:nvSpPr>
        <p:spPr>
          <a:xfrm>
            <a:off x="7029576" y="4169664"/>
            <a:ext cx="4498848" cy="292608"/>
          </a:xfrm>
          <a:prstGeom prst="rect">
            <a:avLst/>
          </a:prstGeom>
          <a:noFill/>
        </p:spPr>
        <p:txBody>
          <a:bodyPr wrap="square" anchor="t" lIns="0" rIns="0" tIns="0" bIns="0">
            <a:spAutoFit/>
          </a:bodyPr>
          <a:lstStyle/>
          <a:p>
            <a:pPr algn="l">
              <a:lnSpc>
                <a:spcPct val="108000"/>
              </a:lnSpc>
            </a:pPr>
            <a:r>
              <a:rPr sz="1300" b="1" i="0">
                <a:solidFill>
                  <a:srgbClr val="1E2761"/>
                </a:solidFill>
                <a:latin typeface="Calibri"/>
              </a:rPr>
              <a:t>Configurable without a rebuild</a:t>
            </a:r>
          </a:p>
        </p:txBody>
      </p:sp>
      <p:sp>
        <p:nvSpPr>
          <p:cNvPr id="33" name="TextBox 32"/>
          <p:cNvSpPr txBox="1"/>
          <p:nvPr/>
        </p:nvSpPr>
        <p:spPr>
          <a:xfrm>
            <a:off x="7029576" y="4480560"/>
            <a:ext cx="4498848" cy="594360"/>
          </a:xfrm>
          <a:prstGeom prst="rect">
            <a:avLst/>
          </a:prstGeom>
          <a:noFill/>
        </p:spPr>
        <p:txBody>
          <a:bodyPr wrap="square" anchor="t" lIns="0" rIns="0" tIns="0" bIns="0">
            <a:spAutoFit/>
          </a:bodyPr>
          <a:lstStyle/>
          <a:p>
            <a:pPr algn="l">
              <a:lnSpc>
                <a:spcPct val="115000"/>
              </a:lnSpc>
            </a:pPr>
            <a:r>
              <a:rPr sz="1030" b="0" i="0">
                <a:solidFill>
                  <a:srgbClr val="2B3350"/>
                </a:solidFill>
                <a:latin typeface="Calibri"/>
              </a:rPr>
              <a:t>The Governance Intelligence Studio lets an admin edit conditions, outcomes and actions — the platform tunes to a customer, it does not get rewritten for one.</a:t>
            </a:r>
          </a:p>
        </p:txBody>
      </p:sp>
      <p:sp>
        <p:nvSpPr>
          <p:cNvPr id="34" name="Rectangle 33"/>
          <p:cNvSpPr/>
          <p:nvPr/>
        </p:nvSpPr>
        <p:spPr>
          <a:xfrm>
            <a:off x="548640" y="5385435"/>
            <a:ext cx="11064240" cy="65836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385435"/>
            <a:ext cx="10424160" cy="658368"/>
          </a:xfrm>
          <a:prstGeom prst="rect">
            <a:avLst/>
          </a:prstGeom>
          <a:noFill/>
        </p:spPr>
        <p:txBody>
          <a:bodyPr wrap="square" anchor="ctr" lIns="0" rIns="0" tIns="0" bIns="0">
            <a:spAutoFit/>
          </a:bodyPr>
          <a:lstStyle/>
          <a:p>
            <a:pPr algn="l">
              <a:lnSpc>
                <a:spcPct val="108000"/>
              </a:lnSpc>
            </a:pPr>
            <a:r>
              <a:rPr sz="1350" b="0" i="0">
                <a:solidFill>
                  <a:srgbClr val="FFFFFF"/>
                </a:solidFill>
                <a:latin typeface="Calibri"/>
              </a:rPr>
              <a:t>The application is deployed and reachable today, and works on desktop and mobile.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37744"/>
          </a:xfrm>
          <a:prstGeom prst="rect">
            <a:avLst/>
          </a:prstGeom>
          <a:noFill/>
        </p:spPr>
        <p:txBody>
          <a:bodyPr wrap="square" anchor="t" lIns="0" rIns="0" tIns="0" bIns="0">
            <a:spAutoFit/>
          </a:bodyPr>
          <a:lstStyle/>
          <a:p>
            <a:pPr algn="l">
              <a:lnSpc>
                <a:spcPct val="108000"/>
              </a:lnSpc>
            </a:pPr>
            <a:r>
              <a:rPr sz="1100" b="1" i="0">
                <a:solidFill>
                  <a:srgbClr val="6B7391"/>
                </a:solidFill>
                <a:latin typeface="Calibri"/>
              </a:rPr>
              <a:t>FUTURE ROADMAP</a:t>
            </a:r>
          </a:p>
        </p:txBody>
      </p:sp>
      <p:sp>
        <p:nvSpPr>
          <p:cNvPr id="3" name="TextBox 2"/>
          <p:cNvSpPr txBox="1"/>
          <p:nvPr/>
        </p:nvSpPr>
        <p:spPr>
          <a:xfrm>
            <a:off x="548640" y="640080"/>
            <a:ext cx="11064240" cy="676656"/>
          </a:xfrm>
          <a:prstGeom prst="rect">
            <a:avLst/>
          </a:prstGeom>
          <a:noFill/>
        </p:spPr>
        <p:txBody>
          <a:bodyPr wrap="square" anchor="t" lIns="0" rIns="0" tIns="0" bIns="0">
            <a:spAutoFit/>
          </a:bodyPr>
          <a:lstStyle/>
          <a:p>
            <a:pPr algn="l">
              <a:lnSpc>
                <a:spcPct val="108000"/>
              </a:lnSpc>
            </a:pPr>
            <a:r>
              <a:rPr sz="3400" b="1" i="0">
                <a:solidFill>
                  <a:srgbClr val="1E2761"/>
                </a:solidFill>
                <a:latin typeface="Cambria"/>
              </a:rPr>
              <a:t>What is not built yet — stated plainly</a:t>
            </a:r>
          </a:p>
        </p:txBody>
      </p:sp>
      <p:sp>
        <p:nvSpPr>
          <p:cNvPr id="4" name="TextBox 3"/>
          <p:cNvSpPr txBox="1"/>
          <p:nvPr/>
        </p:nvSpPr>
        <p:spPr>
          <a:xfrm>
            <a:off x="548640" y="1463040"/>
            <a:ext cx="10241280" cy="310896"/>
          </a:xfrm>
          <a:prstGeom prst="rect">
            <a:avLst/>
          </a:prstGeom>
          <a:noFill/>
        </p:spPr>
        <p:txBody>
          <a:bodyPr wrap="square" anchor="t" lIns="0" rIns="0" tIns="0" bIns="0">
            <a:spAutoFit/>
          </a:bodyPr>
          <a:lstStyle/>
          <a:p>
            <a:pPr algn="l">
              <a:lnSpc>
                <a:spcPct val="108000"/>
              </a:lnSpc>
            </a:pPr>
            <a:r>
              <a:rPr sz="1400" b="0" i="0">
                <a:solidFill>
                  <a:srgbClr val="2B3350"/>
                </a:solidFill>
                <a:latin typeface="Calibri"/>
              </a:rPr>
              <a:t>Three things matter for an honest read of where the platform stands.</a:t>
            </a:r>
          </a:p>
        </p:txBody>
      </p:sp>
      <p:sp>
        <p:nvSpPr>
          <p:cNvPr id="5" name="Rectangle 4"/>
          <p:cNvSpPr/>
          <p:nvPr/>
        </p:nvSpPr>
        <p:spPr>
          <a:xfrm>
            <a:off x="548640" y="1874520"/>
            <a:ext cx="11064240" cy="1207008"/>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84832"/>
            <a:ext cx="384048" cy="384048"/>
          </a:xfrm>
          <a:prstGeom prst="ellipse">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84832"/>
            <a:ext cx="384048" cy="384048"/>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1</a:t>
            </a:r>
          </a:p>
        </p:txBody>
      </p:sp>
      <p:sp>
        <p:nvSpPr>
          <p:cNvPr id="8" name="TextBox 7"/>
          <p:cNvSpPr txBox="1"/>
          <p:nvPr/>
        </p:nvSpPr>
        <p:spPr>
          <a:xfrm>
            <a:off x="1325880" y="2048256"/>
            <a:ext cx="9772400" cy="310896"/>
          </a:xfrm>
          <a:prstGeom prst="rect">
            <a:avLst/>
          </a:prstGeom>
          <a:noFill/>
        </p:spPr>
        <p:txBody>
          <a:bodyPr wrap="square" anchor="t" lIns="0" rIns="0" tIns="0" bIns="0">
            <a:spAutoFit/>
          </a:bodyPr>
          <a:lstStyle/>
          <a:p>
            <a:pPr algn="l">
              <a:lnSpc>
                <a:spcPct val="108000"/>
              </a:lnSpc>
            </a:pPr>
            <a:r>
              <a:rPr sz="1400" b="1" i="0">
                <a:solidFill>
                  <a:srgbClr val="8A5A12"/>
                </a:solidFill>
                <a:latin typeface="Calibri"/>
              </a:rPr>
              <a:t>Real authentication is still open</a:t>
            </a:r>
          </a:p>
        </p:txBody>
      </p:sp>
      <p:sp>
        <p:nvSpPr>
          <p:cNvPr id="9" name="TextBox 8"/>
          <p:cNvSpPr txBox="1"/>
          <p:nvPr/>
        </p:nvSpPr>
        <p:spPr>
          <a:xfrm>
            <a:off x="1325880" y="2377440"/>
            <a:ext cx="9966960" cy="621792"/>
          </a:xfrm>
          <a:prstGeom prst="rect">
            <a:avLst/>
          </a:prstGeom>
          <a:noFill/>
        </p:spPr>
        <p:txBody>
          <a:bodyPr wrap="square" anchor="t" lIns="0" rIns="0" tIns="0" bIns="0">
            <a:spAutoFit/>
          </a:bodyPr>
          <a:lstStyle/>
          <a:p>
            <a:pPr algn="l">
              <a:lnSpc>
                <a:spcPct val="120000"/>
              </a:lnSpc>
            </a:pPr>
            <a:r>
              <a:rPr sz="1150" b="0" i="0">
                <a:solidFill>
                  <a:srgbClr val="2B3350"/>
                </a:solidFill>
                <a:latin typeface="Calibri"/>
              </a:rPr>
              <a:t>Role-based access control is enforced server-side on every endpoint, fail-closed. But the role claim itself comes from a request header, not a verified credential — anyone can currently assert any role. Signed sessions or JWT-based authentication, resolved from a verified user record, is the prerequisite for multi-user production use.</a:t>
            </a:r>
          </a:p>
        </p:txBody>
      </p:sp>
      <p:sp>
        <p:nvSpPr>
          <p:cNvPr id="10" name="Rectangle 9"/>
          <p:cNvSpPr/>
          <p:nvPr/>
        </p:nvSpPr>
        <p:spPr>
          <a:xfrm>
            <a:off x="548640" y="3236784"/>
            <a:ext cx="11064240" cy="1207008"/>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3447096"/>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447096"/>
            <a:ext cx="384048" cy="384048"/>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2</a:t>
            </a:r>
          </a:p>
        </p:txBody>
      </p:sp>
      <p:sp>
        <p:nvSpPr>
          <p:cNvPr id="13" name="TextBox 12"/>
          <p:cNvSpPr txBox="1"/>
          <p:nvPr/>
        </p:nvSpPr>
        <p:spPr>
          <a:xfrm>
            <a:off x="1325880" y="3410520"/>
            <a:ext cx="9772400" cy="310896"/>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Regulation-specific content is configured, not yet delivered</a:t>
            </a:r>
          </a:p>
        </p:txBody>
      </p:sp>
      <p:sp>
        <p:nvSpPr>
          <p:cNvPr id="14" name="TextBox 13"/>
          <p:cNvSpPr txBox="1"/>
          <p:nvPr/>
        </p:nvSpPr>
        <p:spPr>
          <a:xfrm>
            <a:off x="1325880" y="3739704"/>
            <a:ext cx="9966960" cy="621792"/>
          </a:xfrm>
          <a:prstGeom prst="rect">
            <a:avLst/>
          </a:prstGeom>
          <a:noFill/>
        </p:spPr>
        <p:txBody>
          <a:bodyPr wrap="square" anchor="t" lIns="0" rIns="0" tIns="0" bIns="0">
            <a:spAutoFit/>
          </a:bodyPr>
          <a:lstStyle/>
          <a:p>
            <a:pPr algn="l">
              <a:lnSpc>
                <a:spcPct val="120000"/>
              </a:lnSpc>
            </a:pPr>
            <a:r>
              <a:rPr sz="1150" b="0" i="0">
                <a:solidFill>
                  <a:srgbClr val="2B3350"/>
                </a:solidFill>
                <a:latin typeface="Calibri"/>
              </a:rPr>
              <a:t>The Regulatory Knowledge Engine and Governance Intelligence Studio are the mechanism — ISO 42001, the EU AI Act, NIST AI RMF and a fuller RBI mapping are not yet loaded as data. That content is exactly what the Founding Governance Partners Program exists to co-design, per customer, without a platform rebuild.</a:t>
            </a:r>
          </a:p>
        </p:txBody>
      </p:sp>
      <p:sp>
        <p:nvSpPr>
          <p:cNvPr id="15" name="Rectangle 14"/>
          <p:cNvSpPr/>
          <p:nvPr/>
        </p:nvSpPr>
        <p:spPr>
          <a:xfrm>
            <a:off x="548640" y="4599048"/>
            <a:ext cx="11064240" cy="135000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4809360"/>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809360"/>
            <a:ext cx="384048" cy="384048"/>
          </a:xfrm>
          <a:prstGeom prst="rect">
            <a:avLst/>
          </a:prstGeom>
          <a:noFill/>
        </p:spPr>
        <p:txBody>
          <a:bodyPr wrap="square" anchor="ctr" lIns="0" rIns="0" tIns="0" bIns="0">
            <a:spAutoFit/>
          </a:bodyPr>
          <a:lstStyle/>
          <a:p>
            <a:pPr algn="ctr">
              <a:lnSpc>
                <a:spcPct val="108000"/>
              </a:lnSpc>
            </a:pPr>
            <a:r>
              <a:rPr sz="1200" b="1" i="0">
                <a:solidFill>
                  <a:srgbClr val="FFFFFF"/>
                </a:solidFill>
                <a:latin typeface="Calibri"/>
              </a:rPr>
              <a:t>3</a:t>
            </a:r>
          </a:p>
        </p:txBody>
      </p:sp>
      <p:sp>
        <p:nvSpPr>
          <p:cNvPr id="18" name="TextBox 17"/>
          <p:cNvSpPr txBox="1"/>
          <p:nvPr/>
        </p:nvSpPr>
        <p:spPr>
          <a:xfrm>
            <a:off x="1325880" y="4772784"/>
            <a:ext cx="9772400" cy="310896"/>
          </a:xfrm>
          <a:prstGeom prst="rect">
            <a:avLst/>
          </a:prstGeom>
          <a:noFill/>
        </p:spPr>
        <p:txBody>
          <a:bodyPr wrap="square" anchor="t" lIns="0" rIns="0" tIns="0" bIns="0">
            <a:spAutoFit/>
          </a:bodyPr>
          <a:lstStyle/>
          <a:p>
            <a:pPr algn="l">
              <a:lnSpc>
                <a:spcPct val="108000"/>
              </a:lnSpc>
            </a:pPr>
            <a:r>
              <a:rPr sz="1400" b="1" i="0">
                <a:solidFill>
                  <a:srgbClr val="1E2761"/>
                </a:solidFill>
                <a:latin typeface="Calibri"/>
              </a:rPr>
              <a:t>Three early roadmap stubs remain, largely superseded</a:t>
            </a:r>
          </a:p>
        </p:txBody>
      </p:sp>
      <p:sp>
        <p:nvSpPr>
          <p:cNvPr id="19" name="TextBox 18"/>
          <p:cNvSpPr txBox="1"/>
          <p:nvPr/>
        </p:nvSpPr>
        <p:spPr>
          <a:xfrm>
            <a:off x="1325880" y="5101968"/>
            <a:ext cx="9966960" cy="780000"/>
          </a:xfrm>
          <a:prstGeom prst="rect">
            <a:avLst/>
          </a:prstGeom>
          <a:noFill/>
        </p:spPr>
        <p:txBody>
          <a:bodyPr wrap="square" anchor="t" lIns="0" rIns="0" tIns="0" bIns="0">
            <a:spAutoFit/>
          </a:bodyPr>
          <a:lstStyle/>
          <a:p>
            <a:pPr algn="l">
              <a:lnSpc>
                <a:spcPct val="118000"/>
              </a:lnSpc>
            </a:pPr>
            <a:r>
              <a:rPr sz="1120" b="0" i="0">
                <a:solidFill>
                  <a:srgbClr val="2B3350"/>
                </a:solidFill>
                <a:latin typeface="Calibri"/>
              </a:rPr>
              <a:t>Regulatory Compliance Center, AI Control Library and Enterprise Reporting Suite were declared as Phase 10/11 placeholders early on and still exist as labelled stubs in navigation. Their intended capability has since been substantially delivered under different names — the Regulatory Knowledge Engine, the Compliance Pack Builder, and Board &amp; Regulator Reporting — so closing out these three literal stub routes is bookkeeping, not new capability.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548640" y="640080"/>
            <a:ext cx="11064240" cy="274320"/>
          </a:xfrm>
          <a:prstGeom prst="rect">
            <a:avLst/>
          </a:prstGeom>
          <a:noFill/>
        </p:spPr>
        <p:txBody>
          <a:bodyPr wrap="square" anchor="t" lIns="0" rIns="0" tIns="0" bIns="0">
            <a:spAutoFit/>
          </a:bodyPr>
          <a:lstStyle/>
          <a:p>
            <a:pPr algn="l">
              <a:lnSpc>
                <a:spcPct val="108000"/>
              </a:lnSpc>
            </a:pPr>
            <a:r>
              <a:rPr sz="1400" b="1" i="0">
                <a:solidFill>
                  <a:srgbClr val="CADCFC"/>
                </a:solidFill>
                <a:latin typeface="Calibri"/>
              </a:rPr>
              <a:t>EXECUTIVE SUMMARY</a:t>
            </a:r>
          </a:p>
        </p:txBody>
      </p:sp>
      <p:sp>
        <p:nvSpPr>
          <p:cNvPr id="3" name="TextBox 2"/>
          <p:cNvSpPr txBox="1"/>
          <p:nvPr/>
        </p:nvSpPr>
        <p:spPr>
          <a:xfrm>
            <a:off x="548640" y="960120"/>
            <a:ext cx="10686800" cy="603504"/>
          </a:xfrm>
          <a:prstGeom prst="rect">
            <a:avLst/>
          </a:prstGeom>
          <a:noFill/>
        </p:spPr>
        <p:txBody>
          <a:bodyPr wrap="square" anchor="t" lIns="0" rIns="0" tIns="0" bIns="0">
            <a:spAutoFit/>
          </a:bodyPr>
          <a:lstStyle/>
          <a:p>
            <a:pPr algn="l">
              <a:lnSpc>
                <a:spcPct val="108000"/>
              </a:lnSpc>
            </a:pPr>
            <a:r>
              <a:rPr sz="3300" b="1" i="0">
                <a:solidFill>
                  <a:srgbClr val="FFFFFF"/>
                </a:solidFill>
                <a:latin typeface="Cambria"/>
              </a:rPr>
              <a:t>Why an organisation would use OMG</a:t>
            </a:r>
          </a:p>
        </p:txBody>
      </p:sp>
      <p:sp>
        <p:nvSpPr>
          <p:cNvPr id="4" name="Rectangle 3"/>
          <p:cNvSpPr/>
          <p:nvPr/>
        </p:nvSpPr>
        <p:spPr>
          <a:xfrm>
            <a:off x="548640" y="1828800"/>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938528"/>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One inventory</a:t>
            </a:r>
          </a:p>
        </p:txBody>
      </p:sp>
      <p:sp>
        <p:nvSpPr>
          <p:cNvPr id="6" name="TextBox 5"/>
          <p:cNvSpPr txBox="1"/>
          <p:nvPr/>
        </p:nvSpPr>
        <p:spPr>
          <a:xfrm>
            <a:off x="804672" y="2231136"/>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Every AI system the organisation runs — built or bought — in a single register.</a:t>
            </a:r>
          </a:p>
        </p:txBody>
      </p:sp>
      <p:sp>
        <p:nvSpPr>
          <p:cNvPr id="7" name="Rectangle 6"/>
          <p:cNvSpPr/>
          <p:nvPr/>
        </p:nvSpPr>
        <p:spPr>
          <a:xfrm>
            <a:off x="6334632" y="1828800"/>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90664" y="1938528"/>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Clear accountability</a:t>
            </a:r>
          </a:p>
        </p:txBody>
      </p:sp>
      <p:sp>
        <p:nvSpPr>
          <p:cNvPr id="9" name="TextBox 8"/>
          <p:cNvSpPr txBox="1"/>
          <p:nvPr/>
        </p:nvSpPr>
        <p:spPr>
          <a:xfrm>
            <a:off x="6590664" y="2231136"/>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Five named owners on every asset. No orphaned AI.</a:t>
            </a:r>
          </a:p>
        </p:txBody>
      </p:sp>
      <p:sp>
        <p:nvSpPr>
          <p:cNvPr id="10" name="Rectangle 9"/>
          <p:cNvSpPr/>
          <p:nvPr/>
        </p:nvSpPr>
        <p:spPr>
          <a:xfrm>
            <a:off x="548640" y="2709672"/>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19400"/>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Governed approval</a:t>
            </a:r>
          </a:p>
        </p:txBody>
      </p:sp>
      <p:sp>
        <p:nvSpPr>
          <p:cNvPr id="12" name="TextBox 11"/>
          <p:cNvSpPr txBox="1"/>
          <p:nvPr/>
        </p:nvSpPr>
        <p:spPr>
          <a:xfrm>
            <a:off x="804672" y="3112008"/>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Nothing reaches production without a scored, justified, recorded decision.</a:t>
            </a:r>
          </a:p>
        </p:txBody>
      </p:sp>
      <p:sp>
        <p:nvSpPr>
          <p:cNvPr id="13" name="Rectangle 12"/>
          <p:cNvSpPr/>
          <p:nvPr/>
        </p:nvSpPr>
        <p:spPr>
          <a:xfrm>
            <a:off x="6334632" y="2709672"/>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0664" y="2819400"/>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Continuous control</a:t>
            </a:r>
          </a:p>
        </p:txBody>
      </p:sp>
      <p:sp>
        <p:nvSpPr>
          <p:cNvPr id="15" name="TextBox 14"/>
          <p:cNvSpPr txBox="1"/>
          <p:nvPr/>
        </p:nvSpPr>
        <p:spPr>
          <a:xfrm>
            <a:off x="6590664" y="3112008"/>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Health monitoring, alerts, corrective actions, human override and kill switch.</a:t>
            </a:r>
          </a:p>
        </p:txBody>
      </p:sp>
      <p:sp>
        <p:nvSpPr>
          <p:cNvPr id="16" name="Rectangle 15"/>
          <p:cNvSpPr/>
          <p:nvPr/>
        </p:nvSpPr>
        <p:spPr>
          <a:xfrm>
            <a:off x="548640" y="3590544"/>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700272"/>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Governed change</a:t>
            </a:r>
          </a:p>
        </p:txBody>
      </p:sp>
      <p:sp>
        <p:nvSpPr>
          <p:cNvPr id="18" name="TextBox 17"/>
          <p:cNvSpPr txBox="1"/>
          <p:nvPr/>
        </p:nvSpPr>
        <p:spPr>
          <a:xfrm>
            <a:off x="804672" y="3992880"/>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Approval is not permanent — material change forces reassessment and reapproval.</a:t>
            </a:r>
          </a:p>
        </p:txBody>
      </p:sp>
      <p:sp>
        <p:nvSpPr>
          <p:cNvPr id="19" name="Rectangle 18"/>
          <p:cNvSpPr/>
          <p:nvPr/>
        </p:nvSpPr>
        <p:spPr>
          <a:xfrm>
            <a:off x="6334632" y="3590544"/>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0664" y="3700272"/>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Provable governance</a:t>
            </a:r>
          </a:p>
        </p:txBody>
      </p:sp>
      <p:sp>
        <p:nvSpPr>
          <p:cNvPr id="21" name="TextBox 20"/>
          <p:cNvSpPr txBox="1"/>
          <p:nvPr/>
        </p:nvSpPr>
        <p:spPr>
          <a:xfrm>
            <a:off x="6590664" y="3992880"/>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An append-only audit trail, decision traceability and board-ready reporting from live data.</a:t>
            </a:r>
          </a:p>
        </p:txBody>
      </p:sp>
      <p:sp>
        <p:nvSpPr>
          <p:cNvPr id="22" name="Rectangle 21"/>
          <p:cNvSpPr/>
          <p:nvPr/>
        </p:nvSpPr>
        <p:spPr>
          <a:xfrm>
            <a:off x="548640" y="4471416"/>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581144"/>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Governed intelligence</a:t>
            </a:r>
          </a:p>
        </p:txBody>
      </p:sp>
      <p:sp>
        <p:nvSpPr>
          <p:cNvPr id="24" name="TextBox 23"/>
          <p:cNvSpPr txBox="1"/>
          <p:nvPr/>
        </p:nvSpPr>
        <p:spPr>
          <a:xfrm>
            <a:off x="804672" y="4873752"/>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Policy, condition, outcome and recommended action — reasoning the organisation can see and explain.</a:t>
            </a:r>
          </a:p>
        </p:txBody>
      </p:sp>
      <p:sp>
        <p:nvSpPr>
          <p:cNvPr id="25" name="Rectangle 24"/>
          <p:cNvSpPr/>
          <p:nvPr/>
        </p:nvSpPr>
        <p:spPr>
          <a:xfrm>
            <a:off x="6334632" y="4471416"/>
            <a:ext cx="5413248" cy="758952"/>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0664" y="4581144"/>
            <a:ext cx="4901184" cy="274320"/>
          </a:xfrm>
          <a:prstGeom prst="rect">
            <a:avLst/>
          </a:prstGeom>
          <a:noFill/>
        </p:spPr>
        <p:txBody>
          <a:bodyPr wrap="square" anchor="t" lIns="0" rIns="0" tIns="0" bIns="0">
            <a:spAutoFit/>
          </a:bodyPr>
          <a:lstStyle/>
          <a:p>
            <a:pPr algn="l">
              <a:lnSpc>
                <a:spcPct val="108000"/>
              </a:lnSpc>
            </a:pPr>
            <a:r>
              <a:rPr sz="1300" b="1" i="0">
                <a:solidFill>
                  <a:srgbClr val="CADCFC"/>
                </a:solidFill>
                <a:latin typeface="Calibri"/>
              </a:rPr>
              <a:t>Configured, not rebuilt</a:t>
            </a:r>
          </a:p>
        </p:txBody>
      </p:sp>
      <p:sp>
        <p:nvSpPr>
          <p:cNvPr id="27" name="TextBox 26"/>
          <p:cNvSpPr txBox="1"/>
          <p:nvPr/>
        </p:nvSpPr>
        <p:spPr>
          <a:xfrm>
            <a:off x="6590664" y="4873752"/>
            <a:ext cx="4901184" cy="350000"/>
          </a:xfrm>
          <a:prstGeom prst="rect">
            <a:avLst/>
          </a:prstGeom>
          <a:noFill/>
        </p:spPr>
        <p:txBody>
          <a:bodyPr wrap="square" anchor="t" lIns="0" rIns="0" tIns="0" bIns="0">
            <a:spAutoFit/>
          </a:bodyPr>
          <a:lstStyle/>
          <a:p>
            <a:pPr algn="l">
              <a:lnSpc>
                <a:spcPct val="110000"/>
              </a:lnSpc>
            </a:pPr>
            <a:r>
              <a:rPr sz="1060" b="0" i="0">
                <a:solidFill>
                  <a:srgbClr val="FFFFFF"/>
                </a:solidFill>
                <a:latin typeface="Calibri"/>
              </a:rPr>
              <a:t>The Governance Intelligence Studio tunes OMG to a customer's own regulatory and industry model.</a:t>
            </a:r>
          </a:p>
        </p:txBody>
      </p:sp>
      <p:sp>
        <p:nvSpPr>
          <p:cNvPr id="28" name="Rectangle 27"/>
          <p:cNvSpPr/>
          <p:nvPr/>
        </p:nvSpPr>
        <p:spPr>
          <a:xfrm>
            <a:off x="548640" y="5525135"/>
            <a:ext cx="11064240" cy="96012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590000"/>
            <a:ext cx="10332720" cy="274320"/>
          </a:xfrm>
          <a:prstGeom prst="rect">
            <a:avLst/>
          </a:prstGeom>
          <a:noFill/>
        </p:spPr>
        <p:txBody>
          <a:bodyPr wrap="square" anchor="t" lIns="0" rIns="0" tIns="0" bIns="0">
            <a:spAutoFit/>
          </a:bodyPr>
          <a:lstStyle/>
          <a:p>
            <a:pPr algn="l">
              <a:lnSpc>
                <a:spcPct val="108000"/>
              </a:lnSpc>
            </a:pPr>
            <a:r>
              <a:rPr sz="1200" b="1" i="0">
                <a:solidFill>
                  <a:srgbClr val="1E2761"/>
                </a:solidFill>
                <a:latin typeface="Calibri"/>
              </a:rPr>
              <a:t>The question OMG answers for a board</a:t>
            </a:r>
          </a:p>
        </p:txBody>
      </p:sp>
      <p:sp>
        <p:nvSpPr>
          <p:cNvPr id="30" name="TextBox 29"/>
          <p:cNvSpPr txBox="1"/>
          <p:nvPr/>
        </p:nvSpPr>
        <p:spPr>
          <a:xfrm>
            <a:off x="914400" y="5850000"/>
            <a:ext cx="10332720" cy="500000"/>
          </a:xfrm>
          <a:prstGeom prst="rect">
            <a:avLst/>
          </a:prstGeom>
          <a:noFill/>
        </p:spPr>
        <p:txBody>
          <a:bodyPr wrap="square" anchor="t" lIns="0" rIns="0" tIns="0" bIns="0">
            <a:spAutoFit/>
          </a:bodyPr>
          <a:lstStyle/>
          <a:p>
            <a:pPr algn="l">
              <a:lnSpc>
                <a:spcPct val="110000"/>
              </a:lnSpc>
            </a:pPr>
            <a:r>
              <a:rPr sz="1500" b="1" i="0">
                <a:solidFill>
                  <a:srgbClr val="1E2761"/>
                </a:solidFill>
                <a:latin typeface="Cambria"/>
              </a:rPr>
              <a:t>"We use AI across the business. Show me that it is under control, that it can be configured to our rules — and prove it."</a:t>
            </a:r>
          </a:p>
        </p:txBody>
      </p:sp>
      <p:sp>
        <p:nvSpPr>
          <p:cNvPr id="31" name="TextBox 30"/>
          <p:cNvSpPr txBox="1"/>
          <p:nvPr/>
        </p:nvSpPr>
        <p:spPr>
          <a:xfrm>
            <a:off x="548640" y="6480000"/>
            <a:ext cx="11064240" cy="256032"/>
          </a:xfrm>
          <a:prstGeom prst="rect">
            <a:avLst/>
          </a:prstGeom>
          <a:noFill/>
        </p:spPr>
        <p:txBody>
          <a:bodyPr wrap="square" anchor="t" lIns="0" rIns="0" tIns="0" bIns="0">
            <a:spAutoFit/>
          </a:bodyPr>
          <a:lstStyle/>
          <a:p>
            <a:pPr algn="l">
              <a:lnSpc>
                <a:spcPct val="108000"/>
              </a:lnSpc>
            </a:pPr>
            <a:r>
              <a:rPr sz="1150" b="0" i="0">
                <a:solidFill>
                  <a:srgbClr val="A8BDE8"/>
                </a:solidFill>
                <a:latin typeface="Calibri"/>
              </a:rPr>
              <a:t>Govern Every AI.   ·   Control Every Decision.   ·   Prove Every Outcome.   ·   Configure With Confidence.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