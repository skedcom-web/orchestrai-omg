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0000" cy="6858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00000"/>
            <a:ext cx="7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1334A"/>
                </a:solidFill>
                <a:latin typeface="Arial"/>
              </a:rPr>
              <a:t>ORCHESTRAI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20000"/>
            <a:ext cx="90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800" b="1" i="0">
                <a:solidFill>
                  <a:srgbClr val="FFFFFF"/>
                </a:solidFill>
                <a:latin typeface="Arial"/>
              </a:rPr>
              <a:t>OMG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00000"/>
            <a:ext cx="9000000" cy="4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D9D9D9"/>
                </a:solidFill>
                <a:latin typeface="Arial"/>
              </a:rPr>
              <a:t>Enterprise AI Governance Operating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180000"/>
            <a:ext cx="720000" cy="6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380000"/>
            <a:ext cx="86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Built Once. Configured Together. Governed Continuously.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0000"/>
            <a:ext cx="9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B0B0B0"/>
                </a:solidFill>
                <a:latin typeface="Arial"/>
              </a:rPr>
              <a:t>Executive Briefing  ·  Core Platform v1.0 Complete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THE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AI adoption is outpacing AI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50000"/>
            <a:ext cx="1072896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A4A4A"/>
                </a:solidFill>
                <a:latin typeface="Arial"/>
              </a:rPr>
              <a:t>Most organisations can name their AI projects. Very few can answer, on demand, who owns each one, what risk it carries, and what evidence proves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50000"/>
            <a:ext cx="5100000" cy="11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1520" y="2730000"/>
            <a:ext cx="60000" cy="60000"/>
          </a:xfrm>
          <a:prstGeom prst="ellipse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520" y="2650000"/>
            <a:ext cx="4500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1F1F"/>
                </a:solidFill>
                <a:latin typeface="Arial"/>
              </a:rPr>
              <a:t>Unknown inventory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520" y="3010000"/>
            <a:ext cx="45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4A4A4A"/>
                </a:solidFill>
                <a:latin typeface="Arial"/>
              </a:rPr>
              <a:t>No single list of every application, agent, model and third-party AI service in 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520" y="2450000"/>
            <a:ext cx="5100000" cy="11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11520" y="2730000"/>
            <a:ext cx="60000" cy="60000"/>
          </a:xfrm>
          <a:prstGeom prst="ellipse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1520" y="2650000"/>
            <a:ext cx="4500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1F1F"/>
                </a:solidFill>
                <a:latin typeface="Arial"/>
              </a:rPr>
              <a:t>No named ownership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1520" y="3010000"/>
            <a:ext cx="45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4A4A4A"/>
                </a:solidFill>
                <a:latin typeface="Arial"/>
              </a:rPr>
              <a:t>When something goes wrong, there is no agreed business, technical, risk or compliance owner.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00000"/>
            <a:ext cx="5100000" cy="11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1520" y="4180000"/>
            <a:ext cx="60000" cy="60000"/>
          </a:xfrm>
          <a:prstGeom prst="ellipse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520" y="4100000"/>
            <a:ext cx="4500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1F1F"/>
                </a:solidFill>
                <a:latin typeface="Arial"/>
              </a:rPr>
              <a:t>Fragmented approvals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520" y="4460000"/>
            <a:ext cx="45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4A4A4A"/>
                </a:solidFill>
                <a:latin typeface="Arial"/>
              </a:rPr>
              <a:t>Approvals live in email and slide decks — no record of who authorised production use.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1520" y="3900000"/>
            <a:ext cx="5100000" cy="11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1520" y="4180000"/>
            <a:ext cx="60000" cy="60000"/>
          </a:xfrm>
          <a:prstGeom prst="ellipse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61520" y="4100000"/>
            <a:ext cx="4500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1F1F"/>
                </a:solidFill>
                <a:latin typeface="Arial"/>
              </a:rPr>
              <a:t>Missing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1520" y="4460000"/>
            <a:ext cx="45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4A4A4A"/>
                </a:solidFill>
                <a:latin typeface="Arial"/>
              </a:rPr>
              <a:t>Regulators and auditors ask what happened and when. The answer takes weeks to assemble.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WHAT IS OMG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One configurable system, start to finish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00000"/>
            <a:ext cx="5900000" cy="1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A4A4A"/>
                </a:solidFill>
                <a:latin typeface="Arial"/>
              </a:rPr>
              <a:t>OMG is a single web application where an organisation records every AI system it uses, assigns accountable owners, classifies risk, runs validation, captures evidence, and records formal approval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50000"/>
            <a:ext cx="5900000" cy="9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1520" y="3900000"/>
            <a:ext cx="53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F1F1F"/>
                </a:solidFill>
                <a:latin typeface="Arial"/>
              </a:rPr>
              <a:t>Think of it as the system of record for AI accountability — a general ledger, but for AI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31520" y="2200000"/>
            <a:ext cx="4029600" cy="8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31520" y="2320000"/>
            <a:ext cx="35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1334A"/>
                </a:solidFill>
                <a:latin typeface="Arial"/>
              </a:rPr>
              <a:t>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31520" y="2620000"/>
            <a:ext cx="360000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Every AI asset enters one inventory with a named owner.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31520" y="3150000"/>
            <a:ext cx="4029600" cy="80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31520" y="3270000"/>
            <a:ext cx="35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1334A"/>
                </a:solidFill>
                <a:latin typeface="Arial"/>
              </a:rPr>
              <a:t>GOVERN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31520" y="3570000"/>
            <a:ext cx="360000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D9D9D9"/>
                </a:solidFill>
                <a:latin typeface="Arial"/>
              </a:rPr>
              <a:t>Risk, validation, evidence and approval before production.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31520" y="4100000"/>
            <a:ext cx="4029600" cy="8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31520" y="4220000"/>
            <a:ext cx="35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1334A"/>
                </a:solidFill>
                <a:latin typeface="Arial"/>
              </a:rPr>
              <a:t>CONFIGURE &amp; 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1520" y="4520000"/>
            <a:ext cx="3600000" cy="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Governance logic tunes to the customer; every action is audited.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30000"/>
            <a:ext cx="1032896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B0B0B0"/>
                </a:solidFill>
                <a:latin typeface="Arial"/>
              </a:rPr>
              <a:t>Source: frontend/src/App.tsx, frontend/src/services/storageService.ts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WHAT OMG GOVERNS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Nine asset categories, governed identically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50000"/>
            <a:ext cx="1072896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A4A4A"/>
                </a:solidFill>
                <a:latin typeface="Arial"/>
              </a:rPr>
              <a:t>OMG does not govern only machine-learning models — every form of AI the enterprise runs is registered and held to the same standard.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80000"/>
            <a:ext cx="3376320" cy="8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1520" y="252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F1F1F"/>
                </a:solidFill>
                <a:latin typeface="Arial"/>
              </a:rPr>
              <a:t>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520" y="2820000"/>
            <a:ext cx="287632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A4A"/>
                </a:solidFill>
                <a:latin typeface="Arial"/>
              </a:rPr>
              <a:t>AI-infused enterprise applications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840" y="2380000"/>
            <a:ext cx="3376320" cy="8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7840" y="252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F1F1F"/>
                </a:solidFill>
                <a:latin typeface="Arial"/>
              </a:rPr>
              <a:t>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840" y="2820000"/>
            <a:ext cx="287632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A4A"/>
                </a:solidFill>
                <a:latin typeface="Arial"/>
              </a:rPr>
              <a:t>Autonomous goal-driven task agents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4160" y="2380000"/>
            <a:ext cx="3376320" cy="8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4160" y="252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F1F1F"/>
                </a:solidFill>
                <a:latin typeface="Arial"/>
              </a:rPr>
              <a:t>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4160" y="2820000"/>
            <a:ext cx="287632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A4A"/>
                </a:solidFill>
                <a:latin typeface="Arial"/>
              </a:rPr>
              <a:t>Predictive and classification 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00000"/>
            <a:ext cx="3376320" cy="8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1520" y="364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F1F1F"/>
                </a:solidFill>
                <a:latin typeface="Arial"/>
              </a:rPr>
              <a:t>LLMs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520" y="3940000"/>
            <a:ext cx="287632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A4A"/>
                </a:solidFill>
                <a:latin typeface="Arial"/>
              </a:rPr>
              <a:t>Foundation and fine-tuned language models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840" y="3500000"/>
            <a:ext cx="3376320" cy="8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7840" y="364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F1F1F"/>
                </a:solidFill>
                <a:latin typeface="Arial"/>
              </a:rPr>
              <a:t>Copilots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7840" y="3940000"/>
            <a:ext cx="287632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A4A"/>
                </a:solidFill>
                <a:latin typeface="Arial"/>
              </a:rPr>
              <a:t>Human-in-the-loop assistants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84160" y="3500000"/>
            <a:ext cx="3376320" cy="8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4160" y="364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F1F1F"/>
                </a:solidFill>
                <a:latin typeface="Arial"/>
              </a:rPr>
              <a:t>RAG Systems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4160" y="3940000"/>
            <a:ext cx="287632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A4A"/>
                </a:solidFill>
                <a:latin typeface="Arial"/>
              </a:rPr>
              <a:t>Retrieval-augmented knowledge systems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20000"/>
            <a:ext cx="3376320" cy="8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1520" y="476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F1F1F"/>
                </a:solidFill>
                <a:latin typeface="Arial"/>
              </a:rPr>
              <a:t>AI Workflows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1520" y="5060000"/>
            <a:ext cx="287632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A4A"/>
                </a:solidFill>
                <a:latin typeface="Arial"/>
              </a:rPr>
              <a:t>Orchestrated multi-step AI pipelines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07840" y="4620000"/>
            <a:ext cx="3376320" cy="8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7840" y="476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F1F1F"/>
                </a:solidFill>
                <a:latin typeface="Arial"/>
              </a:rPr>
              <a:t>Multi-Agent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7840" y="5060000"/>
            <a:ext cx="287632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A4A"/>
                </a:solidFill>
                <a:latin typeface="Arial"/>
              </a:rPr>
              <a:t>Collaborative agent networks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4160" y="4620000"/>
            <a:ext cx="3376320" cy="8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4160" y="476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F1F1F"/>
                </a:solidFill>
                <a:latin typeface="Arial"/>
              </a:rPr>
              <a:t>Third-Party Services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4160" y="5060000"/>
            <a:ext cx="287632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A4A"/>
                </a:solidFill>
                <a:latin typeface="Arial"/>
              </a:rPr>
              <a:t>External vendor AI and APIs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30000"/>
            <a:ext cx="1032896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B0B0B0"/>
                </a:solidFill>
                <a:latin typeface="Arial"/>
              </a:rPr>
              <a:t>Source: AssetType definition, frontend/src/types/index.ts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CAPABILITY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Nine domains, nine executive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0000"/>
            <a:ext cx="3376320" cy="8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1520" y="223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Executive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1520" y="253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Is enterprise AI under control?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520" y="2760000"/>
            <a:ext cx="287632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1334A"/>
                </a:solidFill>
                <a:latin typeface="Arial"/>
              </a:rPr>
              <a:t>5 modules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840" y="2100000"/>
            <a:ext cx="3376320" cy="8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7840" y="223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Policy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840" y="253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What rules govern our AI?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7840" y="2760000"/>
            <a:ext cx="287632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1334A"/>
                </a:solidFill>
                <a:latin typeface="Arial"/>
              </a:rPr>
              <a:t>3 modules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4160" y="2100000"/>
            <a:ext cx="3376320" cy="8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4160" y="223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Change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4160" y="253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What changed, and who approved it?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4160" y="2760000"/>
            <a:ext cx="287632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1334A"/>
                </a:solidFill>
                <a:latin typeface="Arial"/>
              </a:rPr>
              <a:t>5 modules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20000"/>
            <a:ext cx="3376320" cy="8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1520" y="335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AI Governance Registry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1520" y="365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What AI exists?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1520" y="3880000"/>
            <a:ext cx="287632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1334A"/>
                </a:solidFill>
                <a:latin typeface="Arial"/>
              </a:rPr>
              <a:t>4 modules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7840" y="3220000"/>
            <a:ext cx="3376320" cy="8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7840" y="335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Risk, Compliance &amp;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7840" y="365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Can this AI be trusted?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7840" y="3880000"/>
            <a:ext cx="287632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1334A"/>
                </a:solidFill>
                <a:latin typeface="Arial"/>
              </a:rPr>
              <a:t>19 modules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4160" y="3220000"/>
            <a:ext cx="3376320" cy="8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4160" y="335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Decision 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4160" y="365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Can this AI move?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4160" y="3880000"/>
            <a:ext cx="287632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1334A"/>
                </a:solidFill>
                <a:latin typeface="Arial"/>
              </a:rPr>
              <a:t>5 modules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340000"/>
            <a:ext cx="3376320" cy="8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1520" y="447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Operations &amp; Monitoring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1520" y="477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What is happening now?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1520" y="5000000"/>
            <a:ext cx="287632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1334A"/>
                </a:solidFill>
                <a:latin typeface="Arial"/>
              </a:rPr>
              <a:t>8 modules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07840" y="4340000"/>
            <a:ext cx="3376320" cy="8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7840" y="447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Audit &amp; Oversight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7840" y="477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Prove what happened, and why.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7840" y="5000000"/>
            <a:ext cx="287632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1334A"/>
                </a:solidFill>
                <a:latin typeface="Arial"/>
              </a:rPr>
              <a:t>4 modules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84160" y="4340000"/>
            <a:ext cx="3376320" cy="8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44160" y="447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Administration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4160" y="477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Who can do what?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4160" y="5000000"/>
            <a:ext cx="287632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1334A"/>
                </a:solidFill>
                <a:latin typeface="Arial"/>
              </a:rPr>
              <a:t>3 modules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620000"/>
            <a:ext cx="10728960" cy="62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1520" y="5700000"/>
            <a:ext cx="2382240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1334A"/>
                </a:solidFill>
                <a:latin typeface="Arial"/>
              </a:rPr>
              <a:t>9  </a:t>
            </a:r>
            <a:r>
              <a:rPr sz="1200" b="0">
                <a:solidFill>
                  <a:srgbClr val="D9D9D9"/>
                </a:solidFill>
                <a:latin typeface="Arial"/>
              </a:rPr>
              <a:t>domains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13760" y="5700000"/>
            <a:ext cx="2382240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1334A"/>
                </a:solidFill>
                <a:latin typeface="Arial"/>
              </a:rPr>
              <a:t>56  </a:t>
            </a:r>
            <a:r>
              <a:rPr sz="1200" b="0">
                <a:solidFill>
                  <a:srgbClr val="D9D9D9"/>
                </a:solidFill>
                <a:latin typeface="Arial"/>
              </a:rPr>
              <a:t>modules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6000" y="5700000"/>
            <a:ext cx="2382240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1334A"/>
                </a:solidFill>
                <a:latin typeface="Arial"/>
              </a:rPr>
              <a:t>59  </a:t>
            </a:r>
            <a:r>
              <a:rPr sz="1200" b="0">
                <a:solidFill>
                  <a:srgbClr val="D9D9D9"/>
                </a:solidFill>
                <a:latin typeface="Arial"/>
              </a:rPr>
              <a:t>routes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78240" y="5700000"/>
            <a:ext cx="2382240" cy="4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1334A"/>
                </a:solidFill>
                <a:latin typeface="Arial"/>
              </a:rPr>
              <a:t>7  </a:t>
            </a:r>
            <a:r>
              <a:rPr sz="1200" b="0">
                <a:solidFill>
                  <a:srgbClr val="D9D9D9"/>
                </a:solidFill>
                <a:latin typeface="Arial"/>
              </a:rPr>
              <a:t>roles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AI GOVERNANCE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One eight-stage path for every AI asset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6000" y="2250000"/>
            <a:ext cx="1200000" cy="10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000" y="2350000"/>
            <a:ext cx="1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1334A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000" y="2750000"/>
            <a:ext cx="1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AI Asset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6000" y="2600000"/>
            <a:ext cx="16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B0B0B0"/>
                </a:solidFill>
                <a:latin typeface="Arial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6000" y="2250000"/>
            <a:ext cx="1200000" cy="10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46000" y="2350000"/>
            <a:ext cx="1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1334A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6000" y="2750000"/>
            <a:ext cx="1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Ownership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6000" y="2600000"/>
            <a:ext cx="16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B0B0B0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46000" y="2250000"/>
            <a:ext cx="1200000" cy="10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6000" y="2350000"/>
            <a:ext cx="1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1334A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6000" y="2750000"/>
            <a:ext cx="1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6000" y="2600000"/>
            <a:ext cx="16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B0B0B0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000" y="2250000"/>
            <a:ext cx="1200000" cy="10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46000" y="2350000"/>
            <a:ext cx="1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1334A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46000" y="2750000"/>
            <a:ext cx="1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6000" y="2600000"/>
            <a:ext cx="16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B0B0B0"/>
                </a:solidFill>
                <a:latin typeface="Arial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6000" y="2250000"/>
            <a:ext cx="1200000" cy="10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6000" y="2350000"/>
            <a:ext cx="1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1334A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6000" y="2750000"/>
            <a:ext cx="1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6000" y="2600000"/>
            <a:ext cx="16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B0B0B0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46000" y="2250000"/>
            <a:ext cx="1200000" cy="10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6000" y="2350000"/>
            <a:ext cx="1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1334A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6000" y="2750000"/>
            <a:ext cx="1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Decision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6000" y="2600000"/>
            <a:ext cx="16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B0B0B0"/>
                </a:solidFill>
                <a:latin typeface="Arial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46000" y="2250000"/>
            <a:ext cx="1200000" cy="10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6000" y="2350000"/>
            <a:ext cx="1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1334A"/>
                </a:solidFill>
                <a:latin typeface="Arial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46000" y="2750000"/>
            <a:ext cx="1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Production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46000" y="2600000"/>
            <a:ext cx="16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B0B0B0"/>
                </a:solidFill>
                <a:latin typeface="Arial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46000" y="2250000"/>
            <a:ext cx="1200000" cy="1000000"/>
          </a:xfrm>
          <a:prstGeom prst="roundRect">
            <a:avLst>
              <a:gd name="adj" fmla="val 7000"/>
            </a:avLst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6000" y="2350000"/>
            <a:ext cx="1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6000" y="2750000"/>
            <a:ext cx="10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Monitoring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550000"/>
            <a:ext cx="1072896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A4A4A"/>
                </a:solidFill>
                <a:latin typeface="Arial"/>
              </a:rPr>
              <a:t>At each stage the application records how many assets are cleared, pending, or blocked — progress is measured, not assumed.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100000"/>
            <a:ext cx="10728960" cy="11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1520" y="4280000"/>
            <a:ext cx="1012896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1F1F"/>
                </a:solidFill>
                <a:latin typeface="Arial"/>
              </a:rPr>
              <a:t>Approval is not permanent.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1520" y="4650000"/>
            <a:ext cx="1012896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A4A4A"/>
                </a:solidFill>
                <a:latin typeface="Arial"/>
              </a:rPr>
              <a:t>A model upgrade, vendor switch, new data source or policy revision pushes the asset back through impact assessment and reapproval before it may proceed.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6000" y="5450000"/>
            <a:ext cx="2000000" cy="550000"/>
          </a:xfrm>
          <a:prstGeom prst="roundRect">
            <a:avLst>
              <a:gd name="adj" fmla="val 7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000" y="5450000"/>
            <a:ext cx="2000000" cy="5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Change Requested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96000" y="5450000"/>
            <a:ext cx="2000000" cy="550000"/>
          </a:xfrm>
          <a:prstGeom prst="roundRect">
            <a:avLst>
              <a:gd name="adj" fmla="val 7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96000" y="5450000"/>
            <a:ext cx="2000000" cy="5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Impact Assessment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96000" y="5450000"/>
            <a:ext cx="2000000" cy="550000"/>
          </a:xfrm>
          <a:prstGeom prst="roundRect">
            <a:avLst>
              <a:gd name="adj" fmla="val 7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96000" y="5450000"/>
            <a:ext cx="2000000" cy="5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Reassessment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96000" y="5450000"/>
            <a:ext cx="2000000" cy="550000"/>
          </a:xfrm>
          <a:prstGeom prst="roundRect">
            <a:avLst>
              <a:gd name="adj" fmla="val 7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96000" y="5450000"/>
            <a:ext cx="2000000" cy="5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Reapproved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96000" y="5450000"/>
            <a:ext cx="2000000" cy="550000"/>
          </a:xfrm>
          <a:prstGeom prst="roundRect">
            <a:avLst>
              <a:gd name="adj" fmla="val 7000"/>
            </a:avLst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96000" y="5450000"/>
            <a:ext cx="2000000" cy="5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Production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OWNERSHIP &amp; ACCOUNTABILITY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Five named owners on every AI asset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50000"/>
            <a:ext cx="1072896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A4A4A"/>
                </a:solidFill>
                <a:latin typeface="Arial"/>
              </a:rPr>
              <a:t>An AI asset with no named owner cannot be escalated, reviewed or defended.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000" y="2200000"/>
            <a:ext cx="1980000" cy="19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26000" y="2380000"/>
            <a:ext cx="500000" cy="500000"/>
          </a:xfrm>
          <a:prstGeom prst="ellipse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000" y="2400000"/>
            <a:ext cx="198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000" y="3050000"/>
            <a:ext cx="168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Business 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000" y="3550000"/>
            <a:ext cx="162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69" b="0" i="0">
                <a:solidFill>
                  <a:srgbClr val="4A4A4A"/>
                </a:solidFill>
                <a:latin typeface="Arial"/>
              </a:rPr>
              <a:t>Owns the business outcome and residual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6000" y="2200000"/>
            <a:ext cx="1980000" cy="19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36000" y="2380000"/>
            <a:ext cx="500000" cy="500000"/>
          </a:xfrm>
          <a:prstGeom prst="ellipse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6000" y="2400000"/>
            <a:ext cx="198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6000" y="3050000"/>
            <a:ext cx="168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Technical 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6000" y="3550000"/>
            <a:ext cx="162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69" b="0" i="0">
                <a:solidFill>
                  <a:srgbClr val="4A4A4A"/>
                </a:solidFill>
                <a:latin typeface="Arial"/>
              </a:rPr>
              <a:t>Accountable for build, deployment, operation.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6000" y="2200000"/>
            <a:ext cx="1980000" cy="19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46000" y="2380000"/>
            <a:ext cx="500000" cy="500000"/>
          </a:xfrm>
          <a:prstGeom prst="ellipse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06000" y="2400000"/>
            <a:ext cx="198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6000" y="3050000"/>
            <a:ext cx="168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Risk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6000" y="3550000"/>
            <a:ext cx="162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69" b="0" i="0">
                <a:solidFill>
                  <a:srgbClr val="4A4A4A"/>
                </a:solidFill>
                <a:latin typeface="Arial"/>
              </a:rPr>
              <a:t>Accountable for risk classification and mitigation.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16000" y="2200000"/>
            <a:ext cx="1980000" cy="19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56000" y="2380000"/>
            <a:ext cx="500000" cy="500000"/>
          </a:xfrm>
          <a:prstGeom prst="ellipse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16000" y="2400000"/>
            <a:ext cx="198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6000" y="3050000"/>
            <a:ext cx="168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Compliance 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96000" y="3550000"/>
            <a:ext cx="162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69" b="0" i="0">
                <a:solidFill>
                  <a:srgbClr val="4A4A4A"/>
                </a:solidFill>
                <a:latin typeface="Arial"/>
              </a:rPr>
              <a:t>Accountable for regulatory and policy adherence.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000" y="2200000"/>
            <a:ext cx="1980000" cy="19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066000" y="2380000"/>
            <a:ext cx="500000" cy="500000"/>
          </a:xfrm>
          <a:prstGeom prst="ellipse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000" y="2400000"/>
            <a:ext cx="198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6000" y="3050000"/>
            <a:ext cx="168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Approver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6000" y="3550000"/>
            <a:ext cx="162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69" b="0" i="0">
                <a:solidFill>
                  <a:srgbClr val="4A4A4A"/>
                </a:solidFill>
                <a:latin typeface="Arial"/>
              </a:rPr>
              <a:t>Records the GO / CONDITIONAL GO / NO GO decision.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700000"/>
            <a:ext cx="10728960" cy="95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1520" y="4870000"/>
            <a:ext cx="10028960" cy="6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D9D9D9"/>
                </a:solidFill>
                <a:latin typeface="Arial"/>
              </a:rPr>
              <a:t>Every asset also carries a Human Oversight Classification and an Autonomy Classification (Level 0-5) — accountability covers not just ownership, but how closely a human supervises the asset.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RISK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Risk classified, validation evidenced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0000"/>
            <a:ext cx="55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B0B0B0"/>
                </a:solidFill>
                <a:latin typeface="Arial"/>
              </a:rPr>
              <a:t>FOUR RISK TIERS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50000"/>
            <a:ext cx="1275000" cy="700000"/>
          </a:xfrm>
          <a:prstGeom prst="roundRect">
            <a:avLst>
              <a:gd name="adj" fmla="val 7000"/>
            </a:avLst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50000"/>
            <a:ext cx="1275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6520" y="2450000"/>
            <a:ext cx="1275000" cy="70000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6520" y="2450000"/>
            <a:ext cx="1275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1520" y="2450000"/>
            <a:ext cx="1275000" cy="700000"/>
          </a:xfrm>
          <a:prstGeom prst="roundRect">
            <a:avLst>
              <a:gd name="adj" fmla="val 7000"/>
            </a:avLst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81520" y="2450000"/>
            <a:ext cx="1275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56520" y="2450000"/>
            <a:ext cx="1275000" cy="700000"/>
          </a:xfrm>
          <a:prstGeom prst="roundRect">
            <a:avLst>
              <a:gd name="adj" fmla="val 7000"/>
            </a:avLst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56520" y="2450000"/>
            <a:ext cx="127500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Critical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50000"/>
            <a:ext cx="5500000" cy="13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1520" y="3500000"/>
            <a:ext cx="49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1F1F"/>
                </a:solidFill>
                <a:latin typeface="Arial"/>
              </a:rPr>
              <a:t>High and Critical assets are held to a stricter bar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520" y="3900000"/>
            <a:ext cx="49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A4A4A"/>
                </a:solidFill>
                <a:latin typeface="Arial"/>
              </a:rPr>
              <a:t>Approved independent validation and evidenced human oversight are required before production, on a quarterly review cadence.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1520" y="2100000"/>
            <a:ext cx="4029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B0B0B0"/>
                </a:solidFill>
                <a:latin typeface="Arial"/>
              </a:rPr>
              <a:t>SIX VALIDATION DISCIPLINES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31520" y="2450000"/>
            <a:ext cx="1944800" cy="45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31520" y="2450000"/>
            <a:ext cx="19448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Business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76320" y="2450000"/>
            <a:ext cx="1944800" cy="45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76320" y="2450000"/>
            <a:ext cx="19448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Technical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31520" y="3000000"/>
            <a:ext cx="1944800" cy="45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31520" y="3000000"/>
            <a:ext cx="19448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Security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76320" y="3000000"/>
            <a:ext cx="1944800" cy="45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76320" y="3000000"/>
            <a:ext cx="19448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Compliance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31520" y="3550000"/>
            <a:ext cx="1944800" cy="45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31520" y="3550000"/>
            <a:ext cx="19448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Operational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76320" y="3550000"/>
            <a:ext cx="1944800" cy="45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76320" y="3550000"/>
            <a:ext cx="19448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31520" y="4200000"/>
            <a:ext cx="4029600" cy="9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1520" y="4330000"/>
            <a:ext cx="36000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A4A4A"/>
                </a:solidFill>
                <a:latin typeface="Arial"/>
              </a:rPr>
              <a:t>Findings run Open → In Progress → Resolved → Verified — closure requires independent verification.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430000"/>
            <a:ext cx="1032896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B0B0B0"/>
                </a:solidFill>
                <a:latin typeface="Arial"/>
              </a:rPr>
              <a:t>Source: RiskLevel and ValidationCategory types; Risk Center, Validation Center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DECISION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No production without a recorded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0000"/>
            <a:ext cx="3376320" cy="1100000"/>
          </a:xfrm>
          <a:prstGeom prst="roundRect">
            <a:avLst>
              <a:gd name="adj" fmla="val 7000"/>
            </a:avLst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1520" y="2250000"/>
            <a:ext cx="297632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Arial"/>
              </a:rPr>
              <a:t>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1520" y="2750000"/>
            <a:ext cx="297632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Arial"/>
              </a:rPr>
              <a:t>Approved for production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840" y="2100000"/>
            <a:ext cx="3376320" cy="110000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7840" y="2250000"/>
            <a:ext cx="297632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Arial"/>
              </a:rPr>
              <a:t>CONDITIONAL 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7840" y="2750000"/>
            <a:ext cx="297632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Arial"/>
              </a:rPr>
              <a:t>Approved with conditions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4160" y="2100000"/>
            <a:ext cx="3376320" cy="1100000"/>
          </a:xfrm>
          <a:prstGeom prst="roundRect">
            <a:avLst>
              <a:gd name="adj" fmla="val 7000"/>
            </a:avLst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160" y="2250000"/>
            <a:ext cx="297632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Arial"/>
              </a:rPr>
              <a:t>NO 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160" y="2750000"/>
            <a:ext cx="297632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Arial"/>
              </a:rPr>
              <a:t>Refused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80000"/>
            <a:ext cx="1072896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A4A4A"/>
                </a:solidFill>
                <a:latin typeface="Arial"/>
              </a:rPr>
              <a:t>Before a decision is recorded, OMG scores the asset out of 100 across five governance pillars.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000" y="4050000"/>
            <a:ext cx="1980000" cy="8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000" y="4180000"/>
            <a:ext cx="198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F1334A"/>
                </a:solidFill>
                <a:latin typeface="Arial"/>
              </a:rPr>
              <a:t>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000" y="4620000"/>
            <a:ext cx="198000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4A4A4A"/>
                </a:solidFill>
                <a:latin typeface="Arial"/>
              </a:rPr>
              <a:t>Ownership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96000" y="4050000"/>
            <a:ext cx="1980000" cy="8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6000" y="4180000"/>
            <a:ext cx="198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F1334A"/>
                </a:solidFill>
                <a:latin typeface="Arial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6000" y="4620000"/>
            <a:ext cx="198000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4A4A4A"/>
                </a:solidFill>
                <a:latin typeface="Arial"/>
              </a:rPr>
              <a:t>Risk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06000" y="4050000"/>
            <a:ext cx="1980000" cy="8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06000" y="4180000"/>
            <a:ext cx="198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F1334A"/>
                </a:solidFill>
                <a:latin typeface="Arial"/>
              </a:rP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6000" y="4620000"/>
            <a:ext cx="198000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4A4A4A"/>
                </a:solidFill>
                <a:latin typeface="Arial"/>
              </a:rPr>
              <a:t>Validation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16000" y="4050000"/>
            <a:ext cx="1980000" cy="8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16000" y="4180000"/>
            <a:ext cx="198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F1334A"/>
                </a:solidFill>
                <a:latin typeface="Arial"/>
              </a:rPr>
              <a:t>20%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6000" y="4620000"/>
            <a:ext cx="198000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4A4A4A"/>
                </a:solidFill>
                <a:latin typeface="Arial"/>
              </a:rPr>
              <a:t>Decision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000" y="4050000"/>
            <a:ext cx="1980000" cy="8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000" y="4180000"/>
            <a:ext cx="198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F1334A"/>
                </a:solidFill>
                <a:latin typeface="Arial"/>
              </a:rPr>
              <a:t>15%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000" y="4620000"/>
            <a:ext cx="198000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4A4A4A"/>
                </a:solidFill>
                <a:latin typeface="Arial"/>
              </a:rPr>
              <a:t>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300000"/>
            <a:ext cx="10728960" cy="70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1520" y="5300000"/>
            <a:ext cx="1002896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D9D9D9"/>
                </a:solidFill>
                <a:latin typeface="Arial"/>
              </a:rPr>
              <a:t>Every recorded decision names the owner, states the justification, and is written to the audit log.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430000"/>
            <a:ext cx="1032896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B0B0B0"/>
                </a:solidFill>
                <a:latin typeface="Arial"/>
              </a:rPr>
              <a:t>Source: DecisionOutcome type; Decision Authority, Decision Intelligence, Governance Blockers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RELEASES 5 &amp;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A reusable foundation every regulation plugs into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50000"/>
            <a:ext cx="1072896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A4A4A"/>
                </a:solidFill>
                <a:latin typeface="Arial"/>
              </a:rPr>
              <a:t>Two layers, built one release apart — both structured the same way, so a new regulation onboards as data, not a rebuild.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50000"/>
            <a:ext cx="5100000" cy="26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1520" y="2650000"/>
            <a:ext cx="45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1F1F"/>
                </a:solidFill>
                <a:latin typeface="Arial"/>
              </a:rPr>
              <a:t>Compliance Pack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520" y="3060000"/>
            <a:ext cx="45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1334A"/>
                </a:solidFill>
                <a:latin typeface="Arial"/>
              </a:rPr>
              <a:t>Pack › Requirement › Control ›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520" y="3500000"/>
            <a:ext cx="4500000" cy="1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4A4A4A"/>
                </a:solidFill>
                <a:latin typeface="Arial"/>
              </a:rPr>
              <a:t>Coverage is computed from real linkage — full, partial or none — never a fabricated percentage.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62880" y="2450000"/>
            <a:ext cx="5100000" cy="260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2880" y="2650000"/>
            <a:ext cx="45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Regulatory Knowledge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2880" y="3060000"/>
            <a:ext cx="45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1334A"/>
                </a:solidFill>
                <a:latin typeface="Arial"/>
              </a:rPr>
              <a:t>Source › Requirement › Obligation ›
Control ›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2880" y="3620000"/>
            <a:ext cx="4500000" cy="1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D9D9D9"/>
                </a:solidFill>
                <a:latin typeface="Arial"/>
              </a:rPr>
              <a:t>The reusable foundation every future regulation — RBI, ISO 42001, EU AI Act, NIST AI RMF — configures onto, without a redesign.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30000"/>
            <a:ext cx="1032896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B0B0B0"/>
                </a:solidFill>
                <a:latin typeface="Arial"/>
              </a:rPr>
              <a:t>Source: docs/governance/17 &amp; 19 — Release 5 Compliance Pack Framework, Release 6 Regulatory Knowledge Engine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RELEASE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From governance records to governance reasoning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50000"/>
            <a:ext cx="1072896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A4A4A"/>
                </a:solidFill>
                <a:latin typeface="Arial"/>
              </a:rPr>
              <a:t>A five-step chain runs live for every asset — every outcome comes with the exact reasons behind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6000" y="2450000"/>
            <a:ext cx="1900000" cy="7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6000" y="2450000"/>
            <a:ext cx="1900000" cy="7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1F1F1F"/>
                </a:solidFill>
                <a:latin typeface="Arial"/>
              </a:rPr>
              <a:t>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6000" y="2450000"/>
            <a:ext cx="120000" cy="7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B0B0B0"/>
                </a:solidFill>
                <a:latin typeface="Arial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66000" y="2450000"/>
            <a:ext cx="1900000" cy="7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66000" y="2450000"/>
            <a:ext cx="1900000" cy="7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1F1F1F"/>
                </a:solidFill>
                <a:latin typeface="Arial"/>
              </a:rPr>
              <a:t>Condition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6000" y="2450000"/>
            <a:ext cx="120000" cy="7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B0B0B0"/>
                </a:solidFill>
                <a:latin typeface="Arial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6000" y="2450000"/>
            <a:ext cx="1900000" cy="7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6000" y="2450000"/>
            <a:ext cx="1900000" cy="7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1F1F1F"/>
                </a:solidFill>
                <a:latin typeface="Arial"/>
              </a:rPr>
              <a:t>Violation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6000" y="2450000"/>
            <a:ext cx="120000" cy="7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B0B0B0"/>
                </a:solidFill>
                <a:latin typeface="Arial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6000" y="2450000"/>
            <a:ext cx="1900000" cy="7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6000" y="2450000"/>
            <a:ext cx="1900000" cy="7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1F1F1F"/>
                </a:solidFill>
                <a:latin typeface="Arial"/>
              </a:rPr>
              <a:t>Finding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6000" y="2450000"/>
            <a:ext cx="120000" cy="7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B0B0B0"/>
                </a:solidFill>
                <a:latin typeface="Arial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6000" y="2450000"/>
            <a:ext cx="1900000" cy="750000"/>
          </a:xfrm>
          <a:prstGeom prst="roundRect">
            <a:avLst>
              <a:gd name="adj" fmla="val 7000"/>
            </a:avLst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06000" y="2450000"/>
            <a:ext cx="1900000" cy="7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Outcome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550000"/>
            <a:ext cx="3376320" cy="11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1520" y="370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Policy Registry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1520" y="4020000"/>
            <a:ext cx="2876320" cy="5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Named policies with a trigger condition and severity.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840" y="3550000"/>
            <a:ext cx="3376320" cy="11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7840" y="370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Condition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7840" y="4020000"/>
            <a:ext cx="2876320" cy="5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Six condition types detected live from real asset state.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4160" y="3550000"/>
            <a:ext cx="3376320" cy="11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4160" y="370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Explainability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4160" y="4020000"/>
            <a:ext cx="2876320" cy="5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Every Outcome ships with its own reasons — never a black box.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950000"/>
            <a:ext cx="10728960" cy="80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1520" y="4950000"/>
            <a:ext cx="1002896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D9D9D9"/>
                </a:solidFill>
                <a:latin typeface="Arial"/>
              </a:rPr>
              <a:t>Detection and recommendation only — nothing here changes an asset's state automatically. Humans stay accountable.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30000"/>
            <a:ext cx="1032896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B0B0B0"/>
                </a:solidFill>
                <a:latin typeface="Arial"/>
              </a:rPr>
              <a:t>Source: docs/governance/20 — Release 7 Governance Intelligence Engine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RELEASE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Recommendation-driven, not automation-driven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50000"/>
            <a:ext cx="1072896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A4A4A"/>
                </a:solidFill>
                <a:latin typeface="Arial"/>
              </a:rPr>
              <a:t>Every Outcome can raise a Recommended Action — and a human always decides what happens to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50000"/>
            <a:ext cx="1072896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B0B0B0"/>
                </a:solidFill>
                <a:latin typeface="Arial"/>
              </a:rPr>
              <a:t>OUTCOME  ›  RECOMMENDED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20000"/>
            <a:ext cx="1490000" cy="4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20000"/>
            <a:ext cx="149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01520" y="2820000"/>
            <a:ext cx="1490000" cy="4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01520" y="2820000"/>
            <a:ext cx="149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Reassessment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71520" y="2820000"/>
            <a:ext cx="1490000" cy="4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71520" y="2820000"/>
            <a:ext cx="149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1520" y="2820000"/>
            <a:ext cx="1490000" cy="4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1520" y="2820000"/>
            <a:ext cx="149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Approval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90000"/>
            <a:ext cx="1490000" cy="4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90000"/>
            <a:ext cx="149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Reauthorization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01520" y="3390000"/>
            <a:ext cx="1490000" cy="4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01520" y="3390000"/>
            <a:ext cx="149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Ownership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71520" y="3390000"/>
            <a:ext cx="1490000" cy="47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71520" y="3390000"/>
            <a:ext cx="149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Escalation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80000"/>
            <a:ext cx="1072896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B0B0B0"/>
                </a:solidFill>
                <a:latin typeface="Arial"/>
              </a:rPr>
              <a:t>THE HUMAN DECISION LAYER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50000"/>
            <a:ext cx="3376320" cy="750000"/>
          </a:xfrm>
          <a:prstGeom prst="roundRect">
            <a:avLst>
              <a:gd name="adj" fmla="val 7000"/>
            </a:avLst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550000"/>
            <a:ext cx="3376320" cy="7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Accept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840" y="4550000"/>
            <a:ext cx="3376320" cy="750000"/>
          </a:xfrm>
          <a:prstGeom prst="roundRect">
            <a:avLst>
              <a:gd name="adj" fmla="val 7000"/>
            </a:avLst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7840" y="4550000"/>
            <a:ext cx="3376320" cy="7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Reject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4160" y="4550000"/>
            <a:ext cx="3376320" cy="75000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160" y="4550000"/>
            <a:ext cx="3376320" cy="7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Defer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550000"/>
            <a:ext cx="10728960" cy="7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520" y="5550000"/>
            <a:ext cx="10028960" cy="7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F1F1F"/>
                </a:solidFill>
                <a:latin typeface="Arial"/>
              </a:rPr>
              <a:t>Nothing executes automatically. Accept, Reject or Defer is recorded with who decided, and when.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30000"/>
            <a:ext cx="1032896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B0B0B0"/>
                </a:solidFill>
                <a:latin typeface="Arial"/>
              </a:rPr>
              <a:t>Source: docs/governance/21 — Release 8 Governance Intelligence Engine (Actions Edition)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RELEASE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Reconstruct any governance decision,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50000"/>
            <a:ext cx="1072896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A4A4A"/>
                </a:solidFill>
                <a:latin typeface="Arial"/>
              </a:rPr>
              <a:t>The capstone over Releases 5-8 — every decision can be replayed from the regulatory source to the human who acted.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000" y="2450000"/>
            <a:ext cx="1650000" cy="6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000" y="2450000"/>
            <a:ext cx="1650000" cy="6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Condition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46000" y="2450000"/>
            <a:ext cx="90000" cy="6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B0B0B0"/>
                </a:solidFill>
                <a:latin typeface="Arial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06000" y="2450000"/>
            <a:ext cx="1650000" cy="6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06000" y="2450000"/>
            <a:ext cx="1650000" cy="6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6000" y="2450000"/>
            <a:ext cx="90000" cy="6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B0B0B0"/>
                </a:solidFill>
                <a:latin typeface="Arial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000" y="2450000"/>
            <a:ext cx="1650000" cy="6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000" y="2450000"/>
            <a:ext cx="1650000" cy="6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Finding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6000" y="2450000"/>
            <a:ext cx="90000" cy="6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B0B0B0"/>
                </a:solidFill>
                <a:latin typeface="Arial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000" y="2450000"/>
            <a:ext cx="1650000" cy="6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000" y="2450000"/>
            <a:ext cx="1650000" cy="6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6000" y="2450000"/>
            <a:ext cx="90000" cy="6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B0B0B0"/>
                </a:solidFill>
                <a:latin typeface="Arial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36000" y="2450000"/>
            <a:ext cx="1650000" cy="6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36000" y="2450000"/>
            <a:ext cx="1650000" cy="6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6000" y="2450000"/>
            <a:ext cx="90000" cy="6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B0B0B0"/>
                </a:solidFill>
                <a:latin typeface="Arial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46000" y="2450000"/>
            <a:ext cx="1650000" cy="650000"/>
          </a:xfrm>
          <a:prstGeom prst="roundRect">
            <a:avLst>
              <a:gd name="adj" fmla="val 7000"/>
            </a:avLst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46000" y="2450000"/>
            <a:ext cx="1650000" cy="6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450000"/>
            <a:ext cx="5100000" cy="9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1520" y="3580000"/>
            <a:ext cx="4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Decision Trace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520" y="3910000"/>
            <a:ext cx="46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Assembled live from data every prior release already produces.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31520" y="3450000"/>
            <a:ext cx="5100000" cy="9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520" y="3580000"/>
            <a:ext cx="4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Governance Replay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520" y="3910000"/>
            <a:ext cx="46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The Timeline view — reasoning rendered in causal order.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600000"/>
            <a:ext cx="5100000" cy="9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1520" y="4730000"/>
            <a:ext cx="4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Decision Evidence Pack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1520" y="5060000"/>
            <a:ext cx="46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A printable, audit-ready reconstruction of any decision.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31520" y="4600000"/>
            <a:ext cx="5100000" cy="9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91520" y="4730000"/>
            <a:ext cx="4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Who Acted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520" y="5060000"/>
            <a:ext cx="46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4A4A"/>
                </a:solidFill>
                <a:latin typeface="Arial"/>
              </a:rPr>
              <a:t>decidedBy and decidedAt on every human decision.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30000"/>
            <a:ext cx="1032896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B0B0B0"/>
                </a:solidFill>
                <a:latin typeface="Arial"/>
              </a:rPr>
              <a:t>Source: docs/governance/22 — Release 9 Governance Decision Traceability Engine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RELEASE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Configure governance logic without code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50000"/>
            <a:ext cx="1072896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A4A4A"/>
                </a:solidFill>
                <a:latin typeface="Arial"/>
              </a:rPr>
              <a:t>The final core-platform release before customer-specific compliance packs.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50000"/>
            <a:ext cx="3376320" cy="10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1520" y="260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Condition Designer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520" y="2930000"/>
            <a:ext cx="287632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4A4A4A"/>
                </a:solidFill>
                <a:latin typeface="Arial"/>
              </a:rPr>
              <a:t>Enable or disable any detected condition type.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840" y="2450000"/>
            <a:ext cx="3376320" cy="10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7840" y="260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Outcome Designer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840" y="2930000"/>
            <a:ext cx="287632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4A4A4A"/>
                </a:solidFill>
                <a:latin typeface="Arial"/>
              </a:rPr>
              <a:t>Enable or disable an outcome tier.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4160" y="2450000"/>
            <a:ext cx="3376320" cy="10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4160" y="260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Action Designer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4160" y="2930000"/>
            <a:ext cx="287632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4A4A4A"/>
                </a:solidFill>
                <a:latin typeface="Arial"/>
              </a:rPr>
              <a:t>Edit the Action Recommendation Library.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00000"/>
            <a:ext cx="3376320" cy="10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1520" y="385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Rule Mapping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520" y="4180000"/>
            <a:ext cx="287632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4A4A4A"/>
                </a:solidFill>
                <a:latin typeface="Arial"/>
              </a:rPr>
              <a:t>Live view of Condition → Policy → Outcome → Action.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840" y="3700000"/>
            <a:ext cx="3376320" cy="10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7840" y="385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Compliance Pack Builder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7840" y="4180000"/>
            <a:ext cx="287632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4A4A4A"/>
                </a:solidFill>
                <a:latin typeface="Arial"/>
              </a:rPr>
              <a:t>Visualizes the full regulatory chain.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84160" y="3700000"/>
            <a:ext cx="3376320" cy="10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4160" y="385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Customer Profiles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4160" y="4180000"/>
            <a:ext cx="287632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4A4A4A"/>
                </a:solidFill>
                <a:latin typeface="Arial"/>
              </a:rPr>
              <a:t>Banking, Insurance, Healthcare, Government, Enterprise.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950000"/>
            <a:ext cx="10728960" cy="80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1520" y="4950000"/>
            <a:ext cx="1002896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D9D9D9"/>
                </a:solidFill>
                <a:latin typeface="Arial"/>
              </a:rPr>
              <a:t>Detection mechanisms and evaluation order stay platform code, safe and tested. What's configurable is which are switched on, and what they produce.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30000"/>
            <a:ext cx="1032896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B0B0B0"/>
                </a:solidFill>
                <a:latin typeface="Arial"/>
              </a:rPr>
              <a:t>Source: docs/governance/23 — Release 10 Governance Intelligence Studio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MONITORING &amp;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Approval is the start, not the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50000"/>
            <a:ext cx="1072896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A4A4A"/>
                </a:solidFill>
                <a:latin typeface="Arial"/>
              </a:rPr>
              <a:t>Once an AI asset is live, OMG tracks its ongoing governance health and gives the organisation a way to intervene.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50000"/>
            <a:ext cx="3376320" cy="10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1520" y="260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Governance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520" y="2930000"/>
            <a:ext cx="287632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4A4A4A"/>
                </a:solidFill>
                <a:latin typeface="Arial"/>
              </a:rPr>
              <a:t>Continuous health scoring — Healthy, Watchlist, or Attention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840" y="2450000"/>
            <a:ext cx="3376320" cy="10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7840" y="260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Governance Alerts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840" y="2930000"/>
            <a:ext cx="287632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4A4A4A"/>
                </a:solidFill>
                <a:latin typeface="Arial"/>
              </a:rPr>
              <a:t>Automatic exceptions for expired validation and overdue reviews.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4160" y="2450000"/>
            <a:ext cx="3376320" cy="10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4160" y="260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Review Calendar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4160" y="2930000"/>
            <a:ext cx="287632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4A4A4A"/>
                </a:solidFill>
                <a:latin typeface="Arial"/>
              </a:rPr>
              <a:t>Scheduled review cadence, with overdue reviews flagged.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00000"/>
            <a:ext cx="3376320" cy="10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1520" y="385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Corrective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520" y="4180000"/>
            <a:ext cx="287632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4A4A4A"/>
                </a:solidFill>
                <a:latin typeface="Arial"/>
              </a:rPr>
              <a:t>Assigned remediation tasks tracked to verified closure.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840" y="3700000"/>
            <a:ext cx="3376320" cy="10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7840" y="385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Kill Switch Console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7840" y="4180000"/>
            <a:ext cx="287632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4A4A4A"/>
                </a:solidFill>
                <a:latin typeface="Arial"/>
              </a:rPr>
              <a:t>Emergency suspension with trigger reason and approver.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84160" y="3700000"/>
            <a:ext cx="3376320" cy="10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4160" y="385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1F1F"/>
                </a:solidFill>
                <a:latin typeface="Arial"/>
              </a:rPr>
              <a:t>Human Override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4160" y="4180000"/>
            <a:ext cx="287632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4A4A4A"/>
                </a:solidFill>
                <a:latin typeface="Arial"/>
              </a:rPr>
              <a:t>A record of every human intervention on an autonomous decision.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30000"/>
            <a:ext cx="1032896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B0B0B0"/>
                </a:solidFill>
                <a:latin typeface="Arial"/>
              </a:rPr>
              <a:t>Source: Operations &amp; Monitoring domain — 8 modules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AUDIT &amp; 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Everything is written down, permanently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50000"/>
            <a:ext cx="1072896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A4A4A"/>
                </a:solidFill>
                <a:latin typeface="Arial"/>
              </a:rPr>
              <a:t>The hardest regulatory question is not "do you govern AI" — it is "prove it".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50000"/>
            <a:ext cx="5100000" cy="19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1520" y="2650000"/>
            <a:ext cx="45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1F1F"/>
                </a:solidFill>
                <a:latin typeface="Arial"/>
              </a:rPr>
              <a:t>Evidence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520" y="3050000"/>
            <a:ext cx="4500000" cy="1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A4A4A"/>
                </a:solidFill>
                <a:latin typeface="Arial"/>
              </a:rPr>
              <a:t>Ten mandatory governance deliverable types per asset, each versioned, attributed and status-tracked.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62880" y="2450000"/>
            <a:ext cx="5100000" cy="190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2880" y="2650000"/>
            <a:ext cx="45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Immutable Audit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2880" y="3050000"/>
            <a:ext cx="4500000" cy="1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D9D9D9"/>
                </a:solidFill>
                <a:latin typeface="Arial"/>
              </a:rPr>
              <a:t>Every governance action writes who, what, when and why. Entries are appended, never edited or deleted.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00000"/>
            <a:ext cx="1072896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B0B0B0"/>
                </a:solidFill>
                <a:latin typeface="Arial"/>
              </a:rPr>
              <a:t>FOUR WAYS TO PRODUCE THE PROOF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80000"/>
            <a:ext cx="2531520" cy="10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1520" y="5100000"/>
            <a:ext cx="213152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Governance 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1520" y="5430000"/>
            <a:ext cx="213152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30" b="0" i="0">
                <a:solidFill>
                  <a:srgbClr val="4A4A4A"/>
                </a:solidFill>
                <a:latin typeface="Arial"/>
              </a:rPr>
              <a:t>Chronological event history per asset.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63040" y="4980000"/>
            <a:ext cx="2531520" cy="10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63040" y="5100000"/>
            <a:ext cx="213152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Change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3040" y="5430000"/>
            <a:ext cx="213152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30" b="0" i="0">
                <a:solidFill>
                  <a:srgbClr val="4A4A4A"/>
                </a:solidFill>
                <a:latin typeface="Arial"/>
              </a:rPr>
              <a:t>What changed, who approved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4560" y="4980000"/>
            <a:ext cx="2531520" cy="10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4560" y="5100000"/>
            <a:ext cx="213152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Board Reporting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4560" y="5430000"/>
            <a:ext cx="213152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30" b="0" i="0">
                <a:solidFill>
                  <a:srgbClr val="4A4A4A"/>
                </a:solidFill>
                <a:latin typeface="Arial"/>
              </a:rPr>
              <a:t>Executive and Audit Readiness reports.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26080" y="4980000"/>
            <a:ext cx="2531520" cy="10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6080" y="5100000"/>
            <a:ext cx="213152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F1F1F"/>
                </a:solidFill>
                <a:latin typeface="Arial"/>
              </a:rPr>
              <a:t>Decision Traceability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6080" y="5430000"/>
            <a:ext cx="213152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30" b="0" i="0">
                <a:solidFill>
                  <a:srgbClr val="4A4A4A"/>
                </a:solidFill>
                <a:latin typeface="Arial"/>
              </a:rPr>
              <a:t>Full chain reconstructed, on demand.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ROLE BASED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Seven roles, each scoped to its mandate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50000"/>
            <a:ext cx="1072896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A4A4A"/>
                </a:solidFill>
                <a:latin typeface="Arial"/>
              </a:rPr>
              <a:t>Access is enforced at the route boundary — a role not authorised for a module cannot reach it, even by direct link.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50000"/>
            <a:ext cx="10728960" cy="5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1520" y="2450000"/>
            <a:ext cx="29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Super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31520" y="2450000"/>
            <a:ext cx="69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4A4A"/>
                </a:solidFill>
                <a:latin typeface="Arial"/>
              </a:rPr>
              <a:t>Full platform administration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95000"/>
            <a:ext cx="10728960" cy="5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1520" y="2995000"/>
            <a:ext cx="29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Governance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1520" y="2995000"/>
            <a:ext cx="69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4A4A"/>
                </a:solidFill>
                <a:latin typeface="Arial"/>
              </a:rPr>
              <a:t>Runs the operating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40000"/>
            <a:ext cx="10728960" cy="5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1520" y="3540000"/>
            <a:ext cx="29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Risk Officer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1520" y="3540000"/>
            <a:ext cx="69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4A4A"/>
                </a:solidFill>
                <a:latin typeface="Arial"/>
              </a:rPr>
              <a:t>Owns risk classification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85000"/>
            <a:ext cx="10728960" cy="5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1520" y="4085000"/>
            <a:ext cx="29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Business 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1520" y="4085000"/>
            <a:ext cx="69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4A4A"/>
                </a:solidFill>
                <a:latin typeface="Arial"/>
              </a:rPr>
              <a:t>Owns the business outcome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30000"/>
            <a:ext cx="10728960" cy="5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1520" y="4630000"/>
            <a:ext cx="29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Validator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1520" y="4630000"/>
            <a:ext cx="69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4A4A"/>
                </a:solidFill>
                <a:latin typeface="Arial"/>
              </a:rPr>
              <a:t>Independent review across disciplines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75000"/>
            <a:ext cx="10728960" cy="5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1520" y="5175000"/>
            <a:ext cx="29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Auditor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1520" y="5175000"/>
            <a:ext cx="69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4A4A"/>
                </a:solidFill>
                <a:latin typeface="Arial"/>
              </a:rPr>
              <a:t>Read access to the full audit trail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720000"/>
            <a:ext cx="10728960" cy="50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1520" y="5720000"/>
            <a:ext cx="29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F1F1F"/>
                </a:solidFill>
                <a:latin typeface="Arial"/>
              </a:rPr>
              <a:t>Viewer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31520" y="5720000"/>
            <a:ext cx="690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4A4A"/>
                </a:solidFill>
                <a:latin typeface="Arial"/>
              </a:rPr>
              <a:t>Read-only visibility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30000"/>
            <a:ext cx="1032896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B0B0B0"/>
                </a:solidFill>
                <a:latin typeface="Arial"/>
              </a:rPr>
              <a:t>Source: UserRole enum (Prisma), frontend/src/config/navigation.ts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FINAL PLATFORM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OMG Core Platform v1.0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50000"/>
            <a:ext cx="1072896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A4A4A"/>
                </a:solidFill>
                <a:latin typeface="Arial"/>
              </a:rPr>
              <a:t>Built Once. Configured Together. Governed Continuously.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80000"/>
            <a:ext cx="2065792" cy="4200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1520" y="2545000"/>
            <a:ext cx="90000" cy="9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1520" y="2380000"/>
            <a:ext cx="1735792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F1F1F"/>
                </a:solidFill>
                <a:latin typeface="Arial"/>
              </a:rPr>
              <a:t>Governance Authority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7312" y="2380000"/>
            <a:ext cx="2065792" cy="4200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57312" y="2545000"/>
            <a:ext cx="90000" cy="9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7312" y="2380000"/>
            <a:ext cx="1735792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F1F1F"/>
                </a:solidFill>
                <a:latin typeface="Arial"/>
              </a:rPr>
              <a:t>Governance Continuity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3104" y="2380000"/>
            <a:ext cx="2065792" cy="4200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53104" y="2545000"/>
            <a:ext cx="90000" cy="9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13104" y="2380000"/>
            <a:ext cx="1735792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F1F1F"/>
                </a:solidFill>
                <a:latin typeface="Arial"/>
              </a:rPr>
              <a:t>Evidence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8896" y="2380000"/>
            <a:ext cx="2065792" cy="4200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48896" y="2545000"/>
            <a:ext cx="90000" cy="9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8896" y="2380000"/>
            <a:ext cx="1735792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F1F1F"/>
                </a:solidFill>
                <a:latin typeface="Arial"/>
              </a:rPr>
              <a:t>Production Persistence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14688" y="2380000"/>
            <a:ext cx="2065792" cy="4200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44688" y="2545000"/>
            <a:ext cx="90000" cy="9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04688" y="2380000"/>
            <a:ext cx="1735792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F1F1F"/>
                </a:solidFill>
                <a:latin typeface="Arial"/>
              </a:rPr>
              <a:t>Compliance Framework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930000"/>
            <a:ext cx="2065792" cy="4200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1520" y="3095000"/>
            <a:ext cx="90000" cy="9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1520" y="2930000"/>
            <a:ext cx="1735792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F1F1F"/>
                </a:solidFill>
                <a:latin typeface="Arial"/>
              </a:rPr>
              <a:t>Regulatory Knowledge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27312" y="2930000"/>
            <a:ext cx="2065792" cy="4200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057312" y="3095000"/>
            <a:ext cx="90000" cy="9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7312" y="2930000"/>
            <a:ext cx="1735792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F1F1F"/>
                </a:solidFill>
                <a:latin typeface="Arial"/>
              </a:rPr>
              <a:t>Governance Intelligence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3104" y="2930000"/>
            <a:ext cx="2065792" cy="4200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253104" y="3095000"/>
            <a:ext cx="90000" cy="9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13104" y="2930000"/>
            <a:ext cx="1735792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F1F1F"/>
                </a:solidFill>
                <a:latin typeface="Arial"/>
              </a:rPr>
              <a:t>Governance Actions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8896" y="2930000"/>
            <a:ext cx="2065792" cy="4200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448896" y="3095000"/>
            <a:ext cx="90000" cy="9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08896" y="2930000"/>
            <a:ext cx="1735792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F1F1F"/>
                </a:solidFill>
                <a:latin typeface="Arial"/>
              </a:rPr>
              <a:t>Decision Traceability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14688" y="2930000"/>
            <a:ext cx="2065792" cy="4200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44688" y="3095000"/>
            <a:ext cx="90000" cy="9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04688" y="2930000"/>
            <a:ext cx="1735792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F1F1F"/>
                </a:solidFill>
                <a:latin typeface="Arial"/>
              </a:rPr>
              <a:t>Governance Studio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3250000"/>
            <a:ext cx="10728960" cy="60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1520" y="3250000"/>
            <a:ext cx="1012896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D9D9D9"/>
                </a:solidFill>
                <a:latin typeface="Arial"/>
              </a:rPr>
              <a:t>The OMG platform baseline is complete and ready for customer onboarding, configuration, validation, and production deployment.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130000"/>
            <a:ext cx="1072896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B0B0B0"/>
                </a:solidFill>
                <a:latin typeface="Arial"/>
              </a:rPr>
              <a:t>FOUNDING GOVERNANCE PARTNERS PROGRAM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1000" y="4480000"/>
            <a:ext cx="1650000" cy="4200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1000" y="4480000"/>
            <a:ext cx="165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Banking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01000" y="4480000"/>
            <a:ext cx="1650000" cy="4200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01000" y="4480000"/>
            <a:ext cx="165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NBFC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81000" y="4480000"/>
            <a:ext cx="1650000" cy="4200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1000" y="4480000"/>
            <a:ext cx="165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Insurance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61000" y="4480000"/>
            <a:ext cx="1650000" cy="4200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61000" y="4480000"/>
            <a:ext cx="165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Healthcare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41000" y="4480000"/>
            <a:ext cx="1650000" cy="4200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41000" y="4480000"/>
            <a:ext cx="165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Government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21000" y="4480000"/>
            <a:ext cx="1650000" cy="4200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21000" y="4480000"/>
            <a:ext cx="165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F1F1F"/>
                </a:solidFill>
                <a:latin typeface="Arial"/>
              </a:rPr>
              <a:t>Enterprise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5150000"/>
            <a:ext cx="2531520" cy="7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1520" y="5150000"/>
            <a:ext cx="2031520" cy="7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1334A"/>
                </a:solidFill>
                <a:latin typeface="Arial"/>
              </a:rPr>
              <a:t>1   </a:t>
            </a:r>
            <a:r>
              <a:rPr sz="1200" b="1">
                <a:solidFill>
                  <a:srgbClr val="1F1F1F"/>
                </a:solidFill>
                <a:latin typeface="Arial"/>
              </a:rPr>
              <a:t>Discovery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63040" y="5150000"/>
            <a:ext cx="2531520" cy="7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13040" y="5150000"/>
            <a:ext cx="2031520" cy="7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1334A"/>
                </a:solidFill>
                <a:latin typeface="Arial"/>
              </a:rPr>
              <a:t>2   </a:t>
            </a:r>
            <a:r>
              <a:rPr sz="1200" b="1">
                <a:solidFill>
                  <a:srgbClr val="1F1F1F"/>
                </a:solidFill>
                <a:latin typeface="Arial"/>
              </a:rPr>
              <a:t>Configuration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94560" y="5150000"/>
            <a:ext cx="2531520" cy="7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4560" y="5150000"/>
            <a:ext cx="2031520" cy="7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1334A"/>
                </a:solidFill>
                <a:latin typeface="Arial"/>
              </a:rPr>
              <a:t>3   </a:t>
            </a:r>
            <a:r>
              <a:rPr sz="1200" b="1">
                <a:solidFill>
                  <a:srgbClr val="1F1F1F"/>
                </a:solidFill>
                <a:latin typeface="Arial"/>
              </a:rPr>
              <a:t>Joint Validation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26080" y="5150000"/>
            <a:ext cx="2531520" cy="7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76080" y="5150000"/>
            <a:ext cx="2031520" cy="7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1334A"/>
                </a:solidFill>
                <a:latin typeface="Arial"/>
              </a:rPr>
              <a:t>4   </a:t>
            </a:r>
            <a:r>
              <a:rPr sz="1200" b="1">
                <a:solidFill>
                  <a:srgbClr val="1F1F1F"/>
                </a:solidFill>
                <a:latin typeface="Arial"/>
              </a:rPr>
              <a:t>Deployment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6430000"/>
            <a:ext cx="1032896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B0B0B0"/>
                </a:solidFill>
                <a:latin typeface="Arial"/>
              </a:rPr>
              <a:t>Source: docs/governance/24_Final_Strategic_Blueprint_Design_Partner_Program.md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CURRENT PLATFORM STRENGTHS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What is genuinely built and working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50000"/>
            <a:ext cx="5100000" cy="11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1520" y="2730000"/>
            <a:ext cx="60000" cy="6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520" y="2640000"/>
            <a:ext cx="4500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F1F1F"/>
                </a:solidFill>
                <a:latin typeface="Arial"/>
              </a:rPr>
              <a:t>A working end-to-end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520" y="3000000"/>
            <a:ext cx="45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A4A4A"/>
                </a:solidFill>
                <a:latin typeface="Arial"/>
              </a:rPr>
              <a:t>56 modules across 9 governance domains, all navigable, all populated with working logic.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1520" y="2450000"/>
            <a:ext cx="5100000" cy="11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1520" y="2730000"/>
            <a:ext cx="60000" cy="6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1520" y="2640000"/>
            <a:ext cx="4500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F1F1F"/>
                </a:solidFill>
                <a:latin typeface="Arial"/>
              </a:rPr>
              <a:t>Real production persistence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1520" y="3000000"/>
            <a:ext cx="45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A4A4A"/>
                </a:solidFill>
                <a:latin typeface="Arial"/>
              </a:rPr>
              <a:t>Every domain reads and writes live to Neon PostgreSQL. Not browser storage.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00000"/>
            <a:ext cx="5100000" cy="11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1520" y="4180000"/>
            <a:ext cx="60000" cy="6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520" y="4090000"/>
            <a:ext cx="4500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F1F1F"/>
                </a:solidFill>
                <a:latin typeface="Arial"/>
              </a:rPr>
              <a:t>Governance is computed, not typed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520" y="4450000"/>
            <a:ext cx="45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A4A4A"/>
                </a:solidFill>
                <a:latin typeface="Arial"/>
              </a:rPr>
              <a:t>Readiness scores, health indices and outcomes are derived from underlying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1520" y="3900000"/>
            <a:ext cx="5100000" cy="115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11520" y="4180000"/>
            <a:ext cx="60000" cy="60000"/>
          </a:xfrm>
          <a:prstGeom prst="ellipse">
            <a:avLst/>
          </a:prstGeom>
          <a:solidFill>
            <a:srgbClr val="2B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1520" y="4090000"/>
            <a:ext cx="4500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F1F1F"/>
                </a:solidFill>
                <a:latin typeface="Arial"/>
              </a:rPr>
              <a:t>Configurable without a rebuild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1520" y="4450000"/>
            <a:ext cx="45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A4A4A"/>
                </a:solidFill>
                <a:latin typeface="Arial"/>
              </a:rPr>
              <a:t>The Governance Intelligence Studio tunes OMG to a customer, without rewriting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30000"/>
            <a:ext cx="10728960" cy="620000"/>
          </a:xfrm>
          <a:prstGeom prst="roundRect">
            <a:avLst>
              <a:gd name="adj" fmla="val 7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1520" y="5230000"/>
            <a:ext cx="10028960" cy="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9D9D9"/>
                </a:solidFill>
                <a:latin typeface="Arial"/>
              </a:rPr>
              <a:t>The application is deployed and reachable today, and works on desktop and mobile.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4520"/>
            <a:ext cx="38000" cy="140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1520" y="731520"/>
            <a:ext cx="1072896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1334A"/>
                </a:solidFill>
                <a:latin typeface="Arial"/>
              </a:rP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F1F1F"/>
                </a:solidFill>
                <a:latin typeface="Arial"/>
              </a:rPr>
              <a:t>What is not built yet — stated plainly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50000"/>
            <a:ext cx="10728960" cy="108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450000"/>
            <a:ext cx="90000" cy="108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1520" y="2620000"/>
            <a:ext cx="1002896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F1F1F"/>
                </a:solidFill>
                <a:latin typeface="Arial"/>
              </a:rPr>
              <a:t>Real authentication is still 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520" y="3010000"/>
            <a:ext cx="1002896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A4A4A"/>
                </a:solidFill>
                <a:latin typeface="Arial"/>
              </a:rPr>
              <a:t>Roles are enforced server-side, but the role claim itself is not yet cryptographically verified.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80000"/>
            <a:ext cx="10728960" cy="108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680000"/>
            <a:ext cx="90000" cy="1080000"/>
          </a:xfrm>
          <a:prstGeom prst="rect">
            <a:avLst/>
          </a:prstGeom>
          <a:solidFill>
            <a:srgbClr val="00A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1520" y="3850000"/>
            <a:ext cx="1002896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F1F1F"/>
                </a:solidFill>
                <a:latin typeface="Arial"/>
              </a:rPr>
              <a:t>Regulation-specific content is configured, not yet delivered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1520" y="4240000"/>
            <a:ext cx="1002896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A4A4A"/>
                </a:solidFill>
                <a:latin typeface="Arial"/>
              </a:rPr>
              <a:t>ISO 42001, EU AI Act, NIST AI RMF content is what the Founding Governance Partners Program exists to co-design.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10000"/>
            <a:ext cx="10728960" cy="1080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910000"/>
            <a:ext cx="90000" cy="108000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1520" y="5080000"/>
            <a:ext cx="1002896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F1F1F"/>
                </a:solidFill>
                <a:latin typeface="Arial"/>
              </a:rPr>
              <a:t>A handful of early roadmap stubs remain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1520" y="5470000"/>
            <a:ext cx="1002896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A4A4A"/>
                </a:solidFill>
                <a:latin typeface="Arial"/>
              </a:rPr>
              <a:t>Their intended capability has since been substantially delivered under different, real modules.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0000" cy="6858000"/>
          </a:xfrm>
          <a:prstGeom prst="rect">
            <a:avLst/>
          </a:prstGeom>
          <a:solidFill>
            <a:srgbClr val="F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80000"/>
            <a:ext cx="1072896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1334A"/>
                </a:solidFill>
                <a:latin typeface="Arial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00000"/>
            <a:ext cx="1072896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Arial"/>
              </a:rPr>
              <a:t>Why an organisation would use OMG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0000"/>
            <a:ext cx="3376320" cy="950000"/>
          </a:xfrm>
          <a:prstGeom prst="roundRect">
            <a:avLst>
              <a:gd name="adj" fmla="val 7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520" y="226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1334A"/>
                </a:solidFill>
                <a:latin typeface="Arial"/>
              </a:rPr>
              <a:t>One 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520" y="2580000"/>
            <a:ext cx="287632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D9D9D9"/>
                </a:solidFill>
                <a:latin typeface="Arial"/>
              </a:rPr>
              <a:t>Every AI system the organisation runs — in a single register.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840" y="2100000"/>
            <a:ext cx="3376320" cy="950000"/>
          </a:xfrm>
          <a:prstGeom prst="roundRect">
            <a:avLst>
              <a:gd name="adj" fmla="val 7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7840" y="226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1334A"/>
                </a:solidFill>
                <a:latin typeface="Arial"/>
              </a:rPr>
              <a:t>Clear accountability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840" y="2580000"/>
            <a:ext cx="287632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D9D9D9"/>
                </a:solidFill>
                <a:latin typeface="Arial"/>
              </a:rPr>
              <a:t>Five named owners on every asset. No orphaned AI.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4160" y="2100000"/>
            <a:ext cx="3376320" cy="950000"/>
          </a:xfrm>
          <a:prstGeom prst="roundRect">
            <a:avLst>
              <a:gd name="adj" fmla="val 7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4160" y="226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1334A"/>
                </a:solidFill>
                <a:latin typeface="Arial"/>
              </a:rPr>
              <a:t>Governed approval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4160" y="2580000"/>
            <a:ext cx="287632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D9D9D9"/>
                </a:solidFill>
                <a:latin typeface="Arial"/>
              </a:rPr>
              <a:t>Nothing reaches production without a recorded decision.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00000"/>
            <a:ext cx="3376320" cy="950000"/>
          </a:xfrm>
          <a:prstGeom prst="roundRect">
            <a:avLst>
              <a:gd name="adj" fmla="val 7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1520" y="346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1334A"/>
                </a:solidFill>
                <a:latin typeface="Arial"/>
              </a:rPr>
              <a:t>Continuous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520" y="3780000"/>
            <a:ext cx="287632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D9D9D9"/>
                </a:solidFill>
                <a:latin typeface="Arial"/>
              </a:rPr>
              <a:t>Health monitoring, alerts, override and kill switch.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7840" y="3300000"/>
            <a:ext cx="3376320" cy="950000"/>
          </a:xfrm>
          <a:prstGeom prst="roundRect">
            <a:avLst>
              <a:gd name="adj" fmla="val 7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57840" y="346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1334A"/>
                </a:solidFill>
                <a:latin typeface="Arial"/>
              </a:rPr>
              <a:t>Governed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7840" y="3780000"/>
            <a:ext cx="287632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D9D9D9"/>
                </a:solidFill>
                <a:latin typeface="Arial"/>
              </a:rPr>
              <a:t>Policy, condition, outcome and recommended action.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4160" y="3300000"/>
            <a:ext cx="3376320" cy="950000"/>
          </a:xfrm>
          <a:prstGeom prst="roundRect">
            <a:avLst>
              <a:gd name="adj" fmla="val 7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4160" y="3460000"/>
            <a:ext cx="287632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1334A"/>
                </a:solidFill>
                <a:latin typeface="Arial"/>
              </a:rPr>
              <a:t>Configured, not rebuilt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4160" y="3780000"/>
            <a:ext cx="287632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9" b="0" i="0">
                <a:solidFill>
                  <a:srgbClr val="D9D9D9"/>
                </a:solidFill>
                <a:latin typeface="Arial"/>
              </a:rPr>
              <a:t>Tuned to a customer's regulatory model, not rewritten.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700000"/>
            <a:ext cx="10728960" cy="9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1520" y="4830000"/>
            <a:ext cx="1002896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4A4A4A"/>
                </a:solidFill>
                <a:latin typeface="Arial"/>
              </a:rPr>
              <a:t>The question OMG answers for a 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1520" y="5140000"/>
            <a:ext cx="1002896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F1F1F"/>
                </a:solidFill>
                <a:latin typeface="Arial"/>
              </a:rPr>
              <a:t>"We use AI across the business. Show me it is under control — and prove it."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50000"/>
            <a:ext cx="1072896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B0B0B0"/>
                </a:solidFill>
                <a:latin typeface="Arial"/>
              </a:rPr>
              <a:t>Govern Every AI.   ·   Control Every Decision.   ·   Prove Every Outcome.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