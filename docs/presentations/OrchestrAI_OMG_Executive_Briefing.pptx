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OMG is a working web application for governing enterprise AI. Everything in this deck is drawn from the actual codebase — 9 governance domains, 47 modules, 50 governed routes. Nothing here is aspirational unless the slide says Future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gaps are the problem statement OMG was built against. They are business problems, not technical 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Plain-language definition for an audience with zero AI governance background. The three-step stack mirrors the product tagline that appears in the application footer.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exact nine asset types defined in the application code. Third-party AI services are included deliberately — bought AI carries the same accountability as built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Navigation is organised by governance question, not by feature name. Module counts are taken from the navigation configuration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eight-stage journey is implemented in governanceIntelligence.ts. The change-driven states are the Phase 10 governance state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five-role model is the RACIS matrix implemented in the Ownership Matrix module. Ownership is weighted highest because without it no other control can be enforced.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validation categories are defined in the ValidationCategory type. Findings have a four-state lifecycle ending in independent verification.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Weightings are the governance health index weights implemented in executiveGovernance.ts. Ownership carries the most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eight modules in the Operations &amp; Monitoring domain. Kill switch and human override are what let an organisation say it retains control of autonomous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deliverable types come from the GovernanceDeliverableType union. The audit log is append-only by design in storageService.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Route counts are the authorised path lists per persona. The RBAC matrix screen derives itself from navigation config rather than a hand-maintained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strength listed is verifiable in the codebase. Deliberately excludes anything not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so nobody is surprised later. The localStorage persistence and demo authentication are the two facts a CTO or CIO will ask about first. Verified: api.ts exists but is never imported; LoginPage has no password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board question. OMG is the system that makes that answer producible on demand rather than assembled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8366760" y="1828800"/>
            <a:ext cx="3200400" cy="3200400"/>
          </a:xfrm>
          <a:prstGeom prst="ellipse">
            <a:avLst/>
          </a:prstGeom>
          <a:solidFill>
            <a:srgbClr val="141B45"/>
          </a:solidFill>
          <a:ln w="12700">
            <a:solidFill>
              <a:srgbClr val="CADCFC">
                <a:alpha val="22000"/>
              </a:srgbClr>
            </a:solidFill>
            <a:prstDash val="solid"/>
          </a:ln>
        </p:spPr>
      </p:sp>
      <p:sp>
        <p:nvSpPr>
          <p:cNvPr id="3" name="Shape 1"/>
          <p:cNvSpPr/>
          <p:nvPr/>
        </p:nvSpPr>
        <p:spPr>
          <a:xfrm>
            <a:off x="8732520" y="2194560"/>
            <a:ext cx="2468880" cy="2468880"/>
          </a:xfrm>
          <a:prstGeom prst="ellipse">
            <a:avLst/>
          </a:prstGeom>
          <a:solidFill>
            <a:srgbClr val="141B45"/>
          </a:solidFill>
          <a:ln w="12700">
            <a:solidFill>
              <a:srgbClr val="CADCFC">
                <a:alpha val="35000"/>
              </a:srgbClr>
            </a:solidFill>
            <a:prstDash val="solid"/>
          </a:ln>
        </p:spPr>
      </p:sp>
      <p:sp>
        <p:nvSpPr>
          <p:cNvPr id="4" name="Shape 2"/>
          <p:cNvSpPr/>
          <p:nvPr/>
        </p:nvSpPr>
        <p:spPr>
          <a:xfrm>
            <a:off x="9098280" y="2560320"/>
            <a:ext cx="1737360" cy="1737360"/>
          </a:xfrm>
          <a:prstGeom prst="ellipse">
            <a:avLst/>
          </a:prstGeom>
          <a:solidFill>
            <a:srgbClr val="141B45"/>
          </a:solidFill>
          <a:ln w="12700">
            <a:solidFill>
              <a:srgbClr val="CADCFC">
                <a:alpha val="35000"/>
              </a:srgbClr>
            </a:solidFill>
            <a:prstDash val="solid"/>
          </a:ln>
        </p:spPr>
      </p:sp>
      <p:sp>
        <p:nvSpPr>
          <p:cNvPr id="5" name="Shape 3"/>
          <p:cNvSpPr/>
          <p:nvPr/>
        </p:nvSpPr>
        <p:spPr>
          <a:xfrm>
            <a:off x="9692640" y="3127248"/>
            <a:ext cx="603504" cy="603504"/>
          </a:xfrm>
          <a:prstGeom prst="ellipse">
            <a:avLst/>
          </a:prstGeom>
          <a:solidFill>
            <a:srgbClr val="CADCFC"/>
          </a:solidFill>
          <a:ln w="12700">
            <a:solidFill>
              <a:srgbClr val="CADCFC"/>
            </a:solidFill>
            <a:prstDash val="solid"/>
          </a:ln>
        </p:spPr>
      </p:sp>
      <p:sp>
        <p:nvSpPr>
          <p:cNvPr id="6" name="Text 4"/>
          <p:cNvSpPr/>
          <p:nvPr/>
        </p:nvSpPr>
        <p:spPr>
          <a:xfrm>
            <a:off x="548640" y="1508760"/>
            <a:ext cx="7863840" cy="274320"/>
          </a:xfrm>
          <a:prstGeom prst="rect">
            <a:avLst/>
          </a:prstGeom>
          <a:noFill/>
          <a:ln/>
        </p:spPr>
        <p:txBody>
          <a:bodyPr wrap="square" lIns="0" tIns="0" rIns="0" bIns="0" rtlCol="0" anchor="ctr"/>
          <a:lstStyle/>
          <a:p>
            <a:pPr indent="0" marL="0">
              <a:buNone/>
            </a:pPr>
            <a:r>
              <a:rPr lang="en-US" sz="1300" b="1" spc="400" kern="0" dirty="0">
                <a:solidFill>
                  <a:srgbClr val="CADCFC"/>
                </a:solidFill>
                <a:latin typeface="Calibri" pitchFamily="34" charset="0"/>
                <a:ea typeface="Calibri" pitchFamily="34" charset="-122"/>
                <a:cs typeface="Calibri" pitchFamily="34" charset="-120"/>
              </a:rPr>
              <a:t>ORCHESTRAI</a:t>
            </a:r>
            <a:endParaRPr lang="en-US" sz="1300" dirty="0"/>
          </a:p>
        </p:txBody>
      </p:sp>
      <p:sp>
        <p:nvSpPr>
          <p:cNvPr id="7" name="Text 5"/>
          <p:cNvSpPr/>
          <p:nvPr/>
        </p:nvSpPr>
        <p:spPr>
          <a:xfrm>
            <a:off x="548640" y="1828800"/>
            <a:ext cx="7863840" cy="137160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OMG</a:t>
            </a:r>
            <a:endParaRPr lang="en-US" sz="8400" dirty="0"/>
          </a:p>
        </p:txBody>
      </p:sp>
      <p:sp>
        <p:nvSpPr>
          <p:cNvPr id="8" name="Text 6"/>
          <p:cNvSpPr/>
          <p:nvPr/>
        </p:nvSpPr>
        <p:spPr>
          <a:xfrm>
            <a:off x="548640" y="3273552"/>
            <a:ext cx="7863840" cy="457200"/>
          </a:xfrm>
          <a:prstGeom prst="rect">
            <a:avLst/>
          </a:prstGeom>
          <a:noFill/>
          <a:ln/>
        </p:spPr>
        <p:txBody>
          <a:bodyPr wrap="square" lIns="0" tIns="0" rIns="0" bIns="0" rtlCol="0" anchor="ctr"/>
          <a:lstStyle/>
          <a:p>
            <a:pPr indent="0" marL="0">
              <a:buNone/>
            </a:pPr>
            <a:r>
              <a:rPr lang="en-US" sz="2500" dirty="0">
                <a:solidFill>
                  <a:srgbClr val="CADCFC"/>
                </a:solidFill>
                <a:latin typeface="Cambria" pitchFamily="34" charset="0"/>
                <a:ea typeface="Cambria" pitchFamily="34" charset="-122"/>
                <a:cs typeface="Cambria" pitchFamily="34" charset="-120"/>
              </a:rPr>
              <a:t>Enterprise AI Governance Operating System</a:t>
            </a:r>
            <a:endParaRPr lang="en-US" sz="2500" dirty="0"/>
          </a:p>
        </p:txBody>
      </p:sp>
      <p:sp>
        <p:nvSpPr>
          <p:cNvPr id="9" name="Text 7"/>
          <p:cNvSpPr/>
          <p:nvPr/>
        </p:nvSpPr>
        <p:spPr>
          <a:xfrm>
            <a:off x="548640" y="3913632"/>
            <a:ext cx="7863840" cy="329184"/>
          </a:xfrm>
          <a:prstGeom prst="rect">
            <a:avLst/>
          </a:prstGeom>
          <a:noFill/>
          <a:ln/>
        </p:spPr>
        <p:txBody>
          <a:bodyPr wrap="square" lIns="0" tIns="0" rIns="0" bIns="0" rtlCol="0" anchor="ctr"/>
          <a:lstStyle/>
          <a:p>
            <a:pPr indent="0" marL="0">
              <a:buNone/>
            </a:pPr>
            <a:r>
              <a:rPr lang="en-US" sz="1400" i="1" dirty="0">
                <a:solidFill>
                  <a:srgbClr val="A8BDE8"/>
                </a:solidFill>
                <a:latin typeface="Calibri" pitchFamily="34" charset="0"/>
                <a:ea typeface="Calibri" pitchFamily="34" charset="-122"/>
                <a:cs typeface="Calibri" pitchFamily="34" charset="-120"/>
              </a:rPr>
              <a:t>Govern Every AI.   ·   Control Every Decision.   ·   Prove Every Outcome.</a:t>
            </a:r>
            <a:endParaRPr lang="en-US" sz="1400" dirty="0"/>
          </a:p>
        </p:txBody>
      </p:sp>
      <p:sp>
        <p:nvSpPr>
          <p:cNvPr id="10" name="Text 8"/>
          <p:cNvSpPr/>
          <p:nvPr/>
        </p:nvSpPr>
        <p:spPr>
          <a:xfrm>
            <a:off x="548640" y="5989320"/>
            <a:ext cx="7863840" cy="274320"/>
          </a:xfrm>
          <a:prstGeom prst="rect">
            <a:avLst/>
          </a:prstGeom>
          <a:noFill/>
          <a:ln/>
        </p:spPr>
        <p:txBody>
          <a:bodyPr wrap="square" lIns="0" tIns="0" rIns="0" bIns="0" rtlCol="0" anchor="ctr"/>
          <a:lstStyle/>
          <a:p>
            <a:pPr indent="0" marL="0">
              <a:buNone/>
            </a:pPr>
            <a:r>
              <a:rPr lang="en-US" sz="1100" b="1" spc="100" kern="0" dirty="0">
                <a:solidFill>
                  <a:srgbClr val="A8BDE8"/>
                </a:solidFill>
                <a:latin typeface="Calibri" pitchFamily="34" charset="0"/>
                <a:ea typeface="Calibri" pitchFamily="34" charset="-122"/>
                <a:cs typeface="Calibri" pitchFamily="34" charset="-120"/>
              </a:rPr>
              <a:t>Executive Briefing  ·  Current Build Review</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THE BUSINESS PROBLEM</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AI adoption is outpacing AI control</a:t>
            </a:r>
            <a:endParaRPr lang="en-US" sz="3400" dirty="0"/>
          </a:p>
        </p:txBody>
      </p:sp>
      <p:sp>
        <p:nvSpPr>
          <p:cNvPr id="4" name="Shape 2"/>
          <p:cNvSpPr/>
          <p:nvPr/>
        </p:nvSpPr>
        <p:spPr>
          <a:xfrm>
            <a:off x="548640" y="1600200"/>
            <a:ext cx="3657600" cy="4206240"/>
          </a:xfrm>
          <a:prstGeom prst="roundRect">
            <a:avLst>
              <a:gd name="adj" fmla="val 2000"/>
            </a:avLst>
          </a:prstGeom>
          <a:solidFill>
            <a:srgbClr val="1E2761"/>
          </a:solidFill>
          <a:ln w="12700">
            <a:solidFill>
              <a:srgbClr val="1E2761"/>
            </a:solidFill>
            <a:prstDash val="solid"/>
          </a:ln>
        </p:spPr>
      </p:sp>
      <p:sp>
        <p:nvSpPr>
          <p:cNvPr id="5" name="Text 3"/>
          <p:cNvSpPr/>
          <p:nvPr/>
        </p:nvSpPr>
        <p:spPr>
          <a:xfrm>
            <a:off x="868680" y="1965960"/>
            <a:ext cx="3017520" cy="9144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Most organisations can name their AI projects.</a:t>
            </a:r>
            <a:endParaRPr lang="en-US" sz="1900" dirty="0"/>
          </a:p>
        </p:txBody>
      </p:sp>
      <p:sp>
        <p:nvSpPr>
          <p:cNvPr id="6" name="Text 4"/>
          <p:cNvSpPr/>
          <p:nvPr/>
        </p:nvSpPr>
        <p:spPr>
          <a:xfrm>
            <a:off x="868680" y="2971800"/>
            <a:ext cx="3017520" cy="1554480"/>
          </a:xfrm>
          <a:prstGeom prst="rect">
            <a:avLst/>
          </a:prstGeom>
          <a:noFill/>
          <a:ln/>
        </p:spPr>
        <p:txBody>
          <a:bodyPr wrap="square" lIns="0" tIns="0" rIns="0" bIns="0" rtlCol="0" anchor="ctr"/>
          <a:lstStyle/>
          <a:p>
            <a:pPr indent="0" marL="0">
              <a:lnSpc>
                <a:spcPts val="2000"/>
              </a:lnSpc>
              <a:buNone/>
            </a:pPr>
            <a:r>
              <a:rPr lang="en-US" sz="1350" dirty="0">
                <a:solidFill>
                  <a:srgbClr val="CADCFC"/>
                </a:solidFill>
                <a:latin typeface="Calibri" pitchFamily="34" charset="0"/>
                <a:ea typeface="Calibri" pitchFamily="34" charset="-122"/>
                <a:cs typeface="Calibri" pitchFamily="34" charset="-120"/>
              </a:rPr>
              <a:t>Very few can answer, on demand, who owns each one, what risk it carries, who approved it, and what evidence exists to prove it.</a:t>
            </a:r>
            <a:endParaRPr lang="en-US" sz="1350" dirty="0"/>
          </a:p>
        </p:txBody>
      </p:sp>
      <p:sp>
        <p:nvSpPr>
          <p:cNvPr id="7" name="Text 5"/>
          <p:cNvSpPr/>
          <p:nvPr/>
        </p:nvSpPr>
        <p:spPr>
          <a:xfrm>
            <a:off x="868680" y="4983480"/>
            <a:ext cx="3017520" cy="457200"/>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That gap is what OMG closes.</a:t>
            </a:r>
            <a:endParaRPr lang="en-US" sz="1300" dirty="0"/>
          </a:p>
        </p:txBody>
      </p:sp>
      <p:sp>
        <p:nvSpPr>
          <p:cNvPr id="8" name="Shape 6"/>
          <p:cNvSpPr/>
          <p:nvPr/>
        </p:nvSpPr>
        <p:spPr>
          <a:xfrm>
            <a:off x="4526280" y="1600200"/>
            <a:ext cx="7086600" cy="758952"/>
          </a:xfrm>
          <a:prstGeom prst="roundRect">
            <a:avLst>
              <a:gd name="adj" fmla="val 9639"/>
            </a:avLst>
          </a:prstGeom>
          <a:solidFill>
            <a:srgbClr val="F2F5FC"/>
          </a:solidFill>
          <a:ln w="12700">
            <a:solidFill>
              <a:srgbClr val="DDE4F5"/>
            </a:solidFill>
            <a:prstDash val="solid"/>
          </a:ln>
        </p:spPr>
      </p:sp>
      <p:sp>
        <p:nvSpPr>
          <p:cNvPr id="9" name="Shape 7"/>
          <p:cNvSpPr/>
          <p:nvPr/>
        </p:nvSpPr>
        <p:spPr>
          <a:xfrm>
            <a:off x="4727448" y="1801368"/>
            <a:ext cx="365760" cy="365760"/>
          </a:xfrm>
          <a:prstGeom prst="ellipse">
            <a:avLst/>
          </a:prstGeom>
          <a:solidFill>
            <a:srgbClr val="1E2761"/>
          </a:solidFill>
          <a:ln w="12700">
            <a:solidFill>
              <a:srgbClr val="1E2761"/>
            </a:solidFill>
            <a:prstDash val="solid"/>
          </a:ln>
        </p:spPr>
      </p:sp>
      <p:sp>
        <p:nvSpPr>
          <p:cNvPr id="10" name="Text 8"/>
          <p:cNvSpPr/>
          <p:nvPr/>
        </p:nvSpPr>
        <p:spPr>
          <a:xfrm>
            <a:off x="4727448" y="180136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p:nvPr/>
        </p:nvSpPr>
        <p:spPr>
          <a:xfrm>
            <a:off x="5239512" y="1691640"/>
            <a:ext cx="6172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Unknown AI inventory</a:t>
            </a:r>
            <a:endParaRPr lang="en-US" sz="1400" dirty="0"/>
          </a:p>
        </p:txBody>
      </p:sp>
      <p:sp>
        <p:nvSpPr>
          <p:cNvPr id="12" name="Text 10"/>
          <p:cNvSpPr/>
          <p:nvPr/>
        </p:nvSpPr>
        <p:spPr>
          <a:xfrm>
            <a:off x="5239512" y="1956816"/>
            <a:ext cx="61722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No single list of every application, agent, model, copilot and third-party AI service in use.</a:t>
            </a:r>
            <a:endParaRPr lang="en-US" sz="1150" dirty="0"/>
          </a:p>
        </p:txBody>
      </p:sp>
      <p:sp>
        <p:nvSpPr>
          <p:cNvPr id="13" name="Shape 11"/>
          <p:cNvSpPr/>
          <p:nvPr/>
        </p:nvSpPr>
        <p:spPr>
          <a:xfrm>
            <a:off x="4526280" y="2468880"/>
            <a:ext cx="7086600" cy="758952"/>
          </a:xfrm>
          <a:prstGeom prst="roundRect">
            <a:avLst>
              <a:gd name="adj" fmla="val 9639"/>
            </a:avLst>
          </a:prstGeom>
          <a:solidFill>
            <a:srgbClr val="F2F5FC"/>
          </a:solidFill>
          <a:ln w="12700">
            <a:solidFill>
              <a:srgbClr val="DDE4F5"/>
            </a:solidFill>
            <a:prstDash val="solid"/>
          </a:ln>
        </p:spPr>
      </p:sp>
      <p:sp>
        <p:nvSpPr>
          <p:cNvPr id="14" name="Shape 12"/>
          <p:cNvSpPr/>
          <p:nvPr/>
        </p:nvSpPr>
        <p:spPr>
          <a:xfrm>
            <a:off x="4727448" y="2670048"/>
            <a:ext cx="365760" cy="365760"/>
          </a:xfrm>
          <a:prstGeom prst="ellipse">
            <a:avLst/>
          </a:prstGeom>
          <a:solidFill>
            <a:srgbClr val="1E2761"/>
          </a:solidFill>
          <a:ln w="12700">
            <a:solidFill>
              <a:srgbClr val="1E2761"/>
            </a:solidFill>
            <a:prstDash val="solid"/>
          </a:ln>
        </p:spPr>
      </p:sp>
      <p:sp>
        <p:nvSpPr>
          <p:cNvPr id="15" name="Text 13"/>
          <p:cNvSpPr/>
          <p:nvPr/>
        </p:nvSpPr>
        <p:spPr>
          <a:xfrm>
            <a:off x="4727448" y="26700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6" name="Text 14"/>
          <p:cNvSpPr/>
          <p:nvPr/>
        </p:nvSpPr>
        <p:spPr>
          <a:xfrm>
            <a:off x="5239512" y="2560320"/>
            <a:ext cx="6172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No named ownership</a:t>
            </a:r>
            <a:endParaRPr lang="en-US" sz="1400" dirty="0"/>
          </a:p>
        </p:txBody>
      </p:sp>
      <p:sp>
        <p:nvSpPr>
          <p:cNvPr id="17" name="Text 15"/>
          <p:cNvSpPr/>
          <p:nvPr/>
        </p:nvSpPr>
        <p:spPr>
          <a:xfrm>
            <a:off x="5239512" y="2825496"/>
            <a:ext cx="61722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When something goes wrong, there is no agreed business, technical, risk or compliance owner.</a:t>
            </a:r>
            <a:endParaRPr lang="en-US" sz="1150" dirty="0"/>
          </a:p>
        </p:txBody>
      </p:sp>
      <p:sp>
        <p:nvSpPr>
          <p:cNvPr id="18" name="Shape 16"/>
          <p:cNvSpPr/>
          <p:nvPr/>
        </p:nvSpPr>
        <p:spPr>
          <a:xfrm>
            <a:off x="4526280" y="3337560"/>
            <a:ext cx="7086600" cy="758952"/>
          </a:xfrm>
          <a:prstGeom prst="roundRect">
            <a:avLst>
              <a:gd name="adj" fmla="val 9639"/>
            </a:avLst>
          </a:prstGeom>
          <a:solidFill>
            <a:srgbClr val="F2F5FC"/>
          </a:solidFill>
          <a:ln w="12700">
            <a:solidFill>
              <a:srgbClr val="DDE4F5"/>
            </a:solidFill>
            <a:prstDash val="solid"/>
          </a:ln>
        </p:spPr>
      </p:sp>
      <p:sp>
        <p:nvSpPr>
          <p:cNvPr id="19" name="Shape 17"/>
          <p:cNvSpPr/>
          <p:nvPr/>
        </p:nvSpPr>
        <p:spPr>
          <a:xfrm>
            <a:off x="4727448" y="3538728"/>
            <a:ext cx="365760" cy="365760"/>
          </a:xfrm>
          <a:prstGeom prst="ellipse">
            <a:avLst/>
          </a:prstGeom>
          <a:solidFill>
            <a:srgbClr val="1E2761"/>
          </a:solidFill>
          <a:ln w="12700">
            <a:solidFill>
              <a:srgbClr val="1E2761"/>
            </a:solidFill>
            <a:prstDash val="solid"/>
          </a:ln>
        </p:spPr>
      </p:sp>
      <p:sp>
        <p:nvSpPr>
          <p:cNvPr id="20" name="Text 18"/>
          <p:cNvSpPr/>
          <p:nvPr/>
        </p:nvSpPr>
        <p:spPr>
          <a:xfrm>
            <a:off x="4727448" y="35387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1" name="Text 19"/>
          <p:cNvSpPr/>
          <p:nvPr/>
        </p:nvSpPr>
        <p:spPr>
          <a:xfrm>
            <a:off x="5239512" y="3429000"/>
            <a:ext cx="6172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Fragmented approvals</a:t>
            </a:r>
            <a:endParaRPr lang="en-US" sz="1400" dirty="0"/>
          </a:p>
        </p:txBody>
      </p:sp>
      <p:sp>
        <p:nvSpPr>
          <p:cNvPr id="22" name="Text 20"/>
          <p:cNvSpPr/>
          <p:nvPr/>
        </p:nvSpPr>
        <p:spPr>
          <a:xfrm>
            <a:off x="5239512" y="3694176"/>
            <a:ext cx="61722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Approvals live in email and slide decks. There is no record of who authorised production use.</a:t>
            </a:r>
            <a:endParaRPr lang="en-US" sz="1150" dirty="0"/>
          </a:p>
        </p:txBody>
      </p:sp>
      <p:sp>
        <p:nvSpPr>
          <p:cNvPr id="23" name="Shape 21"/>
          <p:cNvSpPr/>
          <p:nvPr/>
        </p:nvSpPr>
        <p:spPr>
          <a:xfrm>
            <a:off x="4526280" y="4206240"/>
            <a:ext cx="7086600" cy="758952"/>
          </a:xfrm>
          <a:prstGeom prst="roundRect">
            <a:avLst>
              <a:gd name="adj" fmla="val 9639"/>
            </a:avLst>
          </a:prstGeom>
          <a:solidFill>
            <a:srgbClr val="F2F5FC"/>
          </a:solidFill>
          <a:ln w="12700">
            <a:solidFill>
              <a:srgbClr val="DDE4F5"/>
            </a:solidFill>
            <a:prstDash val="solid"/>
          </a:ln>
        </p:spPr>
      </p:sp>
      <p:sp>
        <p:nvSpPr>
          <p:cNvPr id="24" name="Shape 22"/>
          <p:cNvSpPr/>
          <p:nvPr/>
        </p:nvSpPr>
        <p:spPr>
          <a:xfrm>
            <a:off x="4727448" y="4407408"/>
            <a:ext cx="365760" cy="365760"/>
          </a:xfrm>
          <a:prstGeom prst="ellipse">
            <a:avLst/>
          </a:prstGeom>
          <a:solidFill>
            <a:srgbClr val="1E2761"/>
          </a:solidFill>
          <a:ln w="12700">
            <a:solidFill>
              <a:srgbClr val="1E2761"/>
            </a:solidFill>
            <a:prstDash val="solid"/>
          </a:ln>
        </p:spPr>
      </p:sp>
      <p:sp>
        <p:nvSpPr>
          <p:cNvPr id="25" name="Text 23"/>
          <p:cNvSpPr/>
          <p:nvPr/>
        </p:nvSpPr>
        <p:spPr>
          <a:xfrm>
            <a:off x="4727448" y="440740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6" name="Text 24"/>
          <p:cNvSpPr/>
          <p:nvPr/>
        </p:nvSpPr>
        <p:spPr>
          <a:xfrm>
            <a:off x="5239512" y="4297680"/>
            <a:ext cx="6172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Missing audit trail</a:t>
            </a:r>
            <a:endParaRPr lang="en-US" sz="1400" dirty="0"/>
          </a:p>
        </p:txBody>
      </p:sp>
      <p:sp>
        <p:nvSpPr>
          <p:cNvPr id="27" name="Text 25"/>
          <p:cNvSpPr/>
          <p:nvPr/>
        </p:nvSpPr>
        <p:spPr>
          <a:xfrm>
            <a:off x="5239512" y="4562856"/>
            <a:ext cx="61722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Regulators and auditors ask what happened and when. The answer takes weeks to assemble.</a:t>
            </a:r>
            <a:endParaRPr lang="en-US" sz="1150" dirty="0"/>
          </a:p>
        </p:txBody>
      </p:sp>
      <p:sp>
        <p:nvSpPr>
          <p:cNvPr id="28" name="Shape 26"/>
          <p:cNvSpPr/>
          <p:nvPr/>
        </p:nvSpPr>
        <p:spPr>
          <a:xfrm>
            <a:off x="4526280" y="5074920"/>
            <a:ext cx="7086600" cy="758952"/>
          </a:xfrm>
          <a:prstGeom prst="roundRect">
            <a:avLst>
              <a:gd name="adj" fmla="val 9639"/>
            </a:avLst>
          </a:prstGeom>
          <a:solidFill>
            <a:srgbClr val="F2F5FC"/>
          </a:solidFill>
          <a:ln w="12700">
            <a:solidFill>
              <a:srgbClr val="DDE4F5"/>
            </a:solidFill>
            <a:prstDash val="solid"/>
          </a:ln>
        </p:spPr>
      </p:sp>
      <p:sp>
        <p:nvSpPr>
          <p:cNvPr id="29" name="Shape 27"/>
          <p:cNvSpPr/>
          <p:nvPr/>
        </p:nvSpPr>
        <p:spPr>
          <a:xfrm>
            <a:off x="4727448" y="5276088"/>
            <a:ext cx="365760" cy="365760"/>
          </a:xfrm>
          <a:prstGeom prst="ellipse">
            <a:avLst/>
          </a:prstGeom>
          <a:solidFill>
            <a:srgbClr val="1E2761"/>
          </a:solidFill>
          <a:ln w="12700">
            <a:solidFill>
              <a:srgbClr val="1E2761"/>
            </a:solidFill>
            <a:prstDash val="solid"/>
          </a:ln>
        </p:spPr>
      </p:sp>
      <p:sp>
        <p:nvSpPr>
          <p:cNvPr id="30" name="Text 28"/>
          <p:cNvSpPr/>
          <p:nvPr/>
        </p:nvSpPr>
        <p:spPr>
          <a:xfrm>
            <a:off x="4727448" y="52760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1" name="Text 29"/>
          <p:cNvSpPr/>
          <p:nvPr/>
        </p:nvSpPr>
        <p:spPr>
          <a:xfrm>
            <a:off x="5239512" y="5166360"/>
            <a:ext cx="6172200" cy="274320"/>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No governance visibility</a:t>
            </a:r>
            <a:endParaRPr lang="en-US" sz="1400" dirty="0"/>
          </a:p>
        </p:txBody>
      </p:sp>
      <p:sp>
        <p:nvSpPr>
          <p:cNvPr id="32" name="Text 30"/>
          <p:cNvSpPr/>
          <p:nvPr/>
        </p:nvSpPr>
        <p:spPr>
          <a:xfrm>
            <a:off x="5239512" y="5431536"/>
            <a:ext cx="61722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Leadership cannot see, in one place, whether enterprise AI is under control.</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WHAT IS OMG</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One system, from registration to retirement</a:t>
            </a:r>
            <a:endParaRPr lang="en-US" sz="3400" dirty="0"/>
          </a:p>
        </p:txBody>
      </p:sp>
      <p:sp>
        <p:nvSpPr>
          <p:cNvPr id="4" name="Text 2"/>
          <p:cNvSpPr/>
          <p:nvPr/>
        </p:nvSpPr>
        <p:spPr>
          <a:xfrm>
            <a:off x="548640" y="1572768"/>
            <a:ext cx="6583680" cy="1234440"/>
          </a:xfrm>
          <a:prstGeom prst="rect">
            <a:avLst/>
          </a:prstGeom>
          <a:noFill/>
          <a:ln/>
        </p:spPr>
        <p:txBody>
          <a:bodyPr wrap="square" lIns="0" tIns="0" rIns="0" bIns="0" rtlCol="0" anchor="ctr"/>
          <a:lstStyle/>
          <a:p>
            <a:pPr indent="0" marL="0">
              <a:lnSpc>
                <a:spcPts val="2400"/>
              </a:lnSpc>
              <a:buNone/>
            </a:pPr>
            <a:r>
              <a:rPr lang="en-US" sz="1500" dirty="0">
                <a:solidFill>
                  <a:srgbClr val="2B3350"/>
                </a:solidFill>
                <a:latin typeface="Calibri" pitchFamily="34" charset="0"/>
                <a:ea typeface="Calibri" pitchFamily="34" charset="-122"/>
                <a:cs typeface="Calibri" pitchFamily="34" charset="-120"/>
              </a:rPr>
              <a:t>OMG is a single web application where an organisation records every AI system it uses, assigns accountable owners, classifies risk, runs validation, captures evidence, records formal approval decisions, monitors what is running, and keeps a permanent audit trail.</a:t>
            </a:r>
            <a:endParaRPr lang="en-US" sz="1500" dirty="0"/>
          </a:p>
        </p:txBody>
      </p:sp>
      <p:sp>
        <p:nvSpPr>
          <p:cNvPr id="5" name="Text 3"/>
          <p:cNvSpPr/>
          <p:nvPr/>
        </p:nvSpPr>
        <p:spPr>
          <a:xfrm>
            <a:off x="548640" y="2880360"/>
            <a:ext cx="6583680" cy="640080"/>
          </a:xfrm>
          <a:prstGeom prst="rect">
            <a:avLst/>
          </a:prstGeom>
          <a:noFill/>
          <a:ln/>
        </p:spPr>
        <p:txBody>
          <a:bodyPr wrap="square" lIns="0" tIns="0" rIns="0" bIns="0" rtlCol="0" anchor="ctr"/>
          <a:lstStyle/>
          <a:p>
            <a:pPr indent="0" marL="0">
              <a:buNone/>
            </a:pPr>
            <a:r>
              <a:rPr lang="en-US" sz="1400" b="1" i="1" dirty="0">
                <a:solidFill>
                  <a:srgbClr val="1E2761"/>
                </a:solidFill>
                <a:latin typeface="Calibri" pitchFamily="34" charset="0"/>
                <a:ea typeface="Calibri" pitchFamily="34" charset="-122"/>
                <a:cs typeface="Calibri" pitchFamily="34" charset="-120"/>
              </a:rPr>
              <a:t>Think of it as the system of record for AI accountability — the equivalent of a general ledger, but for AI decisions.</a:t>
            </a:r>
            <a:endParaRPr lang="en-US" sz="1400" dirty="0"/>
          </a:p>
        </p:txBody>
      </p:sp>
      <p:sp>
        <p:nvSpPr>
          <p:cNvPr id="6" name="Text 4"/>
          <p:cNvSpPr/>
          <p:nvPr/>
        </p:nvSpPr>
        <p:spPr>
          <a:xfrm>
            <a:off x="548640" y="3703320"/>
            <a:ext cx="6583680" cy="274320"/>
          </a:xfrm>
          <a:prstGeom prst="rect">
            <a:avLst/>
          </a:prstGeom>
          <a:noFill/>
          <a:ln/>
        </p:spPr>
        <p:txBody>
          <a:bodyPr wrap="square" lIns="0" tIns="0" rIns="0" bIns="0" rtlCol="0" anchor="ctr"/>
          <a:lstStyle/>
          <a:p>
            <a:pPr indent="0" marL="0">
              <a:buNone/>
            </a:pPr>
            <a:r>
              <a:rPr lang="en-US" sz="1200" b="1" spc="100" kern="0" dirty="0">
                <a:solidFill>
                  <a:srgbClr val="6B7391"/>
                </a:solidFill>
                <a:latin typeface="Calibri" pitchFamily="34" charset="0"/>
                <a:ea typeface="Calibri" pitchFamily="34" charset="-122"/>
                <a:cs typeface="Calibri" pitchFamily="34" charset="-120"/>
              </a:rPr>
              <a:t>OMG exists to answer eight questions:</a:t>
            </a:r>
            <a:endParaRPr lang="en-US" sz="1200" dirty="0"/>
          </a:p>
        </p:txBody>
      </p:sp>
      <p:sp>
        <p:nvSpPr>
          <p:cNvPr id="7" name="Text 5"/>
          <p:cNvSpPr/>
          <p:nvPr/>
        </p:nvSpPr>
        <p:spPr>
          <a:xfrm>
            <a:off x="640080" y="4041648"/>
            <a:ext cx="6492240" cy="1920240"/>
          </a:xfrm>
          <a:prstGeom prst="rect">
            <a:avLst/>
          </a:prstGeom>
          <a:noFill/>
          <a:ln/>
        </p:spPr>
        <p:txBody>
          <a:bodyPr wrap="square" lIns="0" tIns="0" rIns="0" bIns="0" rtlCol="0" anchor="ctr"/>
          <a:lstStyle/>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What AI exists?</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Who owns it?</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What rules govern it?</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Can it be trusted?</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Can it move to production?</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What is happening now?</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What changed, and who approved it?</a:t>
            </a:r>
            <a:endParaRPr lang="en-US" sz="1300" dirty="0"/>
          </a:p>
          <a:p>
            <a:pPr marL="342900" indent="-342900">
              <a:spcAft>
                <a:spcPts val="600"/>
              </a:spcAft>
              <a:buSzPct val="100000"/>
              <a:buChar char="•"/>
            </a:pPr>
            <a:r>
              <a:rPr lang="en-US" sz="1300" dirty="0">
                <a:solidFill>
                  <a:srgbClr val="2B3350"/>
                </a:solidFill>
                <a:latin typeface="Calibri" pitchFamily="34" charset="0"/>
                <a:ea typeface="Calibri" pitchFamily="34" charset="-122"/>
                <a:cs typeface="Calibri" pitchFamily="34" charset="-120"/>
              </a:rPr>
              <a:t>Can we prove all of the above?</a:t>
            </a:r>
            <a:endParaRPr lang="en-US" sz="1300" dirty="0"/>
          </a:p>
        </p:txBody>
      </p:sp>
      <p:sp>
        <p:nvSpPr>
          <p:cNvPr id="8" name="Shape 6"/>
          <p:cNvSpPr/>
          <p:nvPr/>
        </p:nvSpPr>
        <p:spPr>
          <a:xfrm>
            <a:off x="7360920" y="1572768"/>
            <a:ext cx="4251960" cy="1298448"/>
          </a:xfrm>
          <a:prstGeom prst="roundRect">
            <a:avLst>
              <a:gd name="adj" fmla="val 5634"/>
            </a:avLst>
          </a:prstGeom>
          <a:solidFill>
            <a:srgbClr val="F2F5FC"/>
          </a:solidFill>
          <a:ln w="12700">
            <a:solidFill>
              <a:srgbClr val="DDE4F5"/>
            </a:solidFill>
            <a:prstDash val="solid"/>
          </a:ln>
        </p:spPr>
      </p:sp>
      <p:sp>
        <p:nvSpPr>
          <p:cNvPr id="9" name="Text 7"/>
          <p:cNvSpPr/>
          <p:nvPr/>
        </p:nvSpPr>
        <p:spPr>
          <a:xfrm>
            <a:off x="7635240" y="1719072"/>
            <a:ext cx="3657600" cy="274320"/>
          </a:xfrm>
          <a:prstGeom prst="rect">
            <a:avLst/>
          </a:prstGeom>
          <a:noFill/>
          <a:ln/>
        </p:spPr>
        <p:txBody>
          <a:bodyPr wrap="square" lIns="0" tIns="0" rIns="0" bIns="0"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REGISTER</a:t>
            </a:r>
            <a:endParaRPr lang="en-US" sz="1200" dirty="0"/>
          </a:p>
        </p:txBody>
      </p:sp>
      <p:sp>
        <p:nvSpPr>
          <p:cNvPr id="10" name="Text 8"/>
          <p:cNvSpPr/>
          <p:nvPr/>
        </p:nvSpPr>
        <p:spPr>
          <a:xfrm>
            <a:off x="7635240" y="2048256"/>
            <a:ext cx="3703320" cy="685800"/>
          </a:xfrm>
          <a:prstGeom prst="rect">
            <a:avLst/>
          </a:prstGeom>
          <a:noFill/>
          <a:ln/>
        </p:spPr>
        <p:txBody>
          <a:bodyPr wrap="square" lIns="0" tIns="0" rIns="0" bIns="0" rtlCol="0" anchor="ctr"/>
          <a:lstStyle/>
          <a:p>
            <a:pPr indent="0" marL="0">
              <a:lnSpc>
                <a:spcPts val="1600"/>
              </a:lnSpc>
              <a:buNone/>
            </a:pPr>
            <a:r>
              <a:rPr lang="en-US" sz="1200" dirty="0">
                <a:solidFill>
                  <a:srgbClr val="2B3350"/>
                </a:solidFill>
                <a:latin typeface="Calibri" pitchFamily="34" charset="0"/>
                <a:ea typeface="Calibri" pitchFamily="34" charset="-122"/>
                <a:cs typeface="Calibri" pitchFamily="34" charset="-120"/>
              </a:rPr>
              <a:t>Every AI asset is entered into one inventory with a named owner.</a:t>
            </a:r>
            <a:endParaRPr lang="en-US" sz="1200" dirty="0"/>
          </a:p>
        </p:txBody>
      </p:sp>
      <p:sp>
        <p:nvSpPr>
          <p:cNvPr id="11" name="Text 9"/>
          <p:cNvSpPr/>
          <p:nvPr/>
        </p:nvSpPr>
        <p:spPr>
          <a:xfrm>
            <a:off x="7360920" y="2889504"/>
            <a:ext cx="4251960" cy="219456"/>
          </a:xfrm>
          <a:prstGeom prst="rect">
            <a:avLst/>
          </a:prstGeom>
          <a:noFill/>
          <a:ln/>
        </p:spPr>
        <p:txBody>
          <a:bodyPr wrap="square" lIns="0" tIns="0" rIns="0" bIns="0" rtlCol="0" anchor="ctr"/>
          <a:lstStyle/>
          <a:p>
            <a:pPr algn="ctr" indent="0" marL="0">
              <a:buNone/>
            </a:pPr>
            <a:r>
              <a:rPr lang="en-US" sz="1100" dirty="0">
                <a:solidFill>
                  <a:srgbClr val="6B7391"/>
                </a:solidFill>
                <a:latin typeface="Calibri" pitchFamily="34" charset="0"/>
                <a:ea typeface="Calibri" pitchFamily="34" charset="-122"/>
                <a:cs typeface="Calibri" pitchFamily="34" charset="-120"/>
              </a:rPr>
              <a:t>▼</a:t>
            </a:r>
            <a:endParaRPr lang="en-US" sz="1100" dirty="0"/>
          </a:p>
        </p:txBody>
      </p:sp>
      <p:sp>
        <p:nvSpPr>
          <p:cNvPr id="12" name="Shape 10"/>
          <p:cNvSpPr/>
          <p:nvPr/>
        </p:nvSpPr>
        <p:spPr>
          <a:xfrm>
            <a:off x="7360920" y="3108960"/>
            <a:ext cx="4251960" cy="1298448"/>
          </a:xfrm>
          <a:prstGeom prst="roundRect">
            <a:avLst>
              <a:gd name="adj" fmla="val 5634"/>
            </a:avLst>
          </a:prstGeom>
          <a:solidFill>
            <a:srgbClr val="1E2761"/>
          </a:solidFill>
          <a:ln w="12700">
            <a:solidFill>
              <a:srgbClr val="1E2761"/>
            </a:solidFill>
            <a:prstDash val="solid"/>
          </a:ln>
        </p:spPr>
      </p:sp>
      <p:sp>
        <p:nvSpPr>
          <p:cNvPr id="13" name="Text 11"/>
          <p:cNvSpPr/>
          <p:nvPr/>
        </p:nvSpPr>
        <p:spPr>
          <a:xfrm>
            <a:off x="7635240" y="3255264"/>
            <a:ext cx="3657600" cy="274320"/>
          </a:xfrm>
          <a:prstGeom prst="rect">
            <a:avLst/>
          </a:prstGeom>
          <a:noFill/>
          <a:ln/>
        </p:spPr>
        <p:txBody>
          <a:bodyPr wrap="square" lIns="0" tIns="0" rIns="0" bIns="0" rtlCol="0" anchor="ctr"/>
          <a:lstStyle/>
          <a:p>
            <a:pPr indent="0" marL="0">
              <a:buNone/>
            </a:pPr>
            <a:r>
              <a:rPr lang="en-US" sz="1200" b="1" spc="200" kern="0" dirty="0">
                <a:solidFill>
                  <a:srgbClr val="CADCFC"/>
                </a:solidFill>
                <a:latin typeface="Calibri" pitchFamily="34" charset="0"/>
                <a:ea typeface="Calibri" pitchFamily="34" charset="-122"/>
                <a:cs typeface="Calibri" pitchFamily="34" charset="-120"/>
              </a:rPr>
              <a:t>GOVERN</a:t>
            </a:r>
            <a:endParaRPr lang="en-US" sz="1200" dirty="0"/>
          </a:p>
        </p:txBody>
      </p:sp>
      <p:sp>
        <p:nvSpPr>
          <p:cNvPr id="14" name="Text 12"/>
          <p:cNvSpPr/>
          <p:nvPr/>
        </p:nvSpPr>
        <p:spPr>
          <a:xfrm>
            <a:off x="7635240" y="3584448"/>
            <a:ext cx="3703320" cy="685800"/>
          </a:xfrm>
          <a:prstGeom prst="rect">
            <a:avLst/>
          </a:prstGeom>
          <a:noFill/>
          <a:ln/>
        </p:spPr>
        <p:txBody>
          <a:bodyPr wrap="square" lIns="0" tIns="0" rIns="0" bIns="0" rtlCol="0" anchor="ctr"/>
          <a:lstStyle/>
          <a:p>
            <a:pPr indent="0" marL="0">
              <a:lnSpc>
                <a:spcPts val="1600"/>
              </a:lnSpc>
              <a:buNone/>
            </a:pPr>
            <a:r>
              <a:rPr lang="en-US" sz="1200" dirty="0">
                <a:solidFill>
                  <a:srgbClr val="FFFFFF"/>
                </a:solidFill>
                <a:latin typeface="Calibri" pitchFamily="34" charset="0"/>
                <a:ea typeface="Calibri" pitchFamily="34" charset="-122"/>
                <a:cs typeface="Calibri" pitchFamily="34" charset="-120"/>
              </a:rPr>
              <a:t>Risk, validation, evidence and formal approval are applied before production.</a:t>
            </a:r>
            <a:endParaRPr lang="en-US" sz="1200" dirty="0"/>
          </a:p>
        </p:txBody>
      </p:sp>
      <p:sp>
        <p:nvSpPr>
          <p:cNvPr id="15" name="Text 13"/>
          <p:cNvSpPr/>
          <p:nvPr/>
        </p:nvSpPr>
        <p:spPr>
          <a:xfrm>
            <a:off x="7360920" y="4425696"/>
            <a:ext cx="4251960" cy="219456"/>
          </a:xfrm>
          <a:prstGeom prst="rect">
            <a:avLst/>
          </a:prstGeom>
          <a:noFill/>
          <a:ln/>
        </p:spPr>
        <p:txBody>
          <a:bodyPr wrap="square" lIns="0" tIns="0" rIns="0" bIns="0" rtlCol="0" anchor="ctr"/>
          <a:lstStyle/>
          <a:p>
            <a:pPr algn="ctr" indent="0" marL="0">
              <a:buNone/>
            </a:pPr>
            <a:r>
              <a:rPr lang="en-US" sz="1100" dirty="0">
                <a:solidFill>
                  <a:srgbClr val="6B7391"/>
                </a:solidFill>
                <a:latin typeface="Calibri" pitchFamily="34" charset="0"/>
                <a:ea typeface="Calibri" pitchFamily="34" charset="-122"/>
                <a:cs typeface="Calibri" pitchFamily="34" charset="-120"/>
              </a:rPr>
              <a:t>▼</a:t>
            </a:r>
            <a:endParaRPr lang="en-US" sz="1100" dirty="0"/>
          </a:p>
        </p:txBody>
      </p:sp>
      <p:sp>
        <p:nvSpPr>
          <p:cNvPr id="16" name="Shape 14"/>
          <p:cNvSpPr/>
          <p:nvPr/>
        </p:nvSpPr>
        <p:spPr>
          <a:xfrm>
            <a:off x="7360920" y="4645152"/>
            <a:ext cx="4251960" cy="1298448"/>
          </a:xfrm>
          <a:prstGeom prst="roundRect">
            <a:avLst>
              <a:gd name="adj" fmla="val 5634"/>
            </a:avLst>
          </a:prstGeom>
          <a:solidFill>
            <a:srgbClr val="F2F5FC"/>
          </a:solidFill>
          <a:ln w="12700">
            <a:solidFill>
              <a:srgbClr val="DDE4F5"/>
            </a:solidFill>
            <a:prstDash val="solid"/>
          </a:ln>
        </p:spPr>
      </p:sp>
      <p:sp>
        <p:nvSpPr>
          <p:cNvPr id="17" name="Text 15"/>
          <p:cNvSpPr/>
          <p:nvPr/>
        </p:nvSpPr>
        <p:spPr>
          <a:xfrm>
            <a:off x="7635240" y="4791456"/>
            <a:ext cx="3657600" cy="274320"/>
          </a:xfrm>
          <a:prstGeom prst="rect">
            <a:avLst/>
          </a:prstGeom>
          <a:noFill/>
          <a:ln/>
        </p:spPr>
        <p:txBody>
          <a:bodyPr wrap="square" lIns="0" tIns="0" rIns="0" bIns="0" rtlCol="0" anchor="ctr"/>
          <a:lstStyle/>
          <a:p>
            <a:pPr indent="0" marL="0">
              <a:buNone/>
            </a:pPr>
            <a:r>
              <a:rPr lang="en-US" sz="1200" b="1" spc="200" kern="0" dirty="0">
                <a:solidFill>
                  <a:srgbClr val="1E2761"/>
                </a:solidFill>
                <a:latin typeface="Calibri" pitchFamily="34" charset="0"/>
                <a:ea typeface="Calibri" pitchFamily="34" charset="-122"/>
                <a:cs typeface="Calibri" pitchFamily="34" charset="-120"/>
              </a:rPr>
              <a:t>PROVE</a:t>
            </a:r>
            <a:endParaRPr lang="en-US" sz="1200" dirty="0"/>
          </a:p>
        </p:txBody>
      </p:sp>
      <p:sp>
        <p:nvSpPr>
          <p:cNvPr id="18" name="Text 16"/>
          <p:cNvSpPr/>
          <p:nvPr/>
        </p:nvSpPr>
        <p:spPr>
          <a:xfrm>
            <a:off x="7635240" y="5120640"/>
            <a:ext cx="3703320" cy="685800"/>
          </a:xfrm>
          <a:prstGeom prst="rect">
            <a:avLst/>
          </a:prstGeom>
          <a:noFill/>
          <a:ln/>
        </p:spPr>
        <p:txBody>
          <a:bodyPr wrap="square" lIns="0" tIns="0" rIns="0" bIns="0" rtlCol="0" anchor="ctr"/>
          <a:lstStyle/>
          <a:p>
            <a:pPr indent="0" marL="0">
              <a:lnSpc>
                <a:spcPts val="1600"/>
              </a:lnSpc>
              <a:buNone/>
            </a:pPr>
            <a:r>
              <a:rPr lang="en-US" sz="1200" dirty="0">
                <a:solidFill>
                  <a:srgbClr val="2B3350"/>
                </a:solidFill>
                <a:latin typeface="Calibri" pitchFamily="34" charset="0"/>
                <a:ea typeface="Calibri" pitchFamily="34" charset="-122"/>
                <a:cs typeface="Calibri" pitchFamily="34" charset="-120"/>
              </a:rPr>
              <a:t>Every action is written to an audit trail that can be produced on demand.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WHAT OMG GOVERNS</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Nine asset categories, governed identically</a:t>
            </a:r>
            <a:endParaRPr lang="en-US" sz="3400" dirty="0"/>
          </a:p>
        </p:txBody>
      </p:sp>
      <p:sp>
        <p:nvSpPr>
          <p:cNvPr id="4" name="Text 2"/>
          <p:cNvSpPr/>
          <p:nvPr/>
        </p:nvSpPr>
        <p:spPr>
          <a:xfrm>
            <a:off x="548640" y="1481328"/>
            <a:ext cx="10058400" cy="475488"/>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OMG does not govern only machine-learning models. Every form of AI the enterprise runs is registered and held to the same standard.</a:t>
            </a:r>
            <a:endParaRPr lang="en-US" sz="1400" dirty="0"/>
          </a:p>
        </p:txBody>
      </p:sp>
      <p:sp>
        <p:nvSpPr>
          <p:cNvPr id="5" name="Shape 3"/>
          <p:cNvSpPr/>
          <p:nvPr/>
        </p:nvSpPr>
        <p:spPr>
          <a:xfrm>
            <a:off x="548640" y="2029968"/>
            <a:ext cx="3538728" cy="1170432"/>
          </a:xfrm>
          <a:prstGeom prst="roundRect">
            <a:avLst>
              <a:gd name="adj" fmla="val 6250"/>
            </a:avLst>
          </a:prstGeom>
          <a:solidFill>
            <a:srgbClr val="F2F5FC"/>
          </a:solidFill>
          <a:ln w="12700">
            <a:solidFill>
              <a:srgbClr val="DDE4F5"/>
            </a:solidFill>
            <a:prstDash val="solid"/>
          </a:ln>
        </p:spPr>
      </p:sp>
      <p:sp>
        <p:nvSpPr>
          <p:cNvPr id="6" name="Shape 4"/>
          <p:cNvSpPr/>
          <p:nvPr/>
        </p:nvSpPr>
        <p:spPr>
          <a:xfrm>
            <a:off x="768096" y="2267712"/>
            <a:ext cx="310896" cy="310896"/>
          </a:xfrm>
          <a:prstGeom prst="ellipse">
            <a:avLst/>
          </a:prstGeom>
          <a:solidFill>
            <a:srgbClr val="1E2761"/>
          </a:solidFill>
          <a:ln w="12700">
            <a:solidFill>
              <a:srgbClr val="1E2761"/>
            </a:solidFill>
            <a:prstDash val="solid"/>
          </a:ln>
        </p:spPr>
      </p:sp>
      <p:sp>
        <p:nvSpPr>
          <p:cNvPr id="7" name="Text 5"/>
          <p:cNvSpPr/>
          <p:nvPr/>
        </p:nvSpPr>
        <p:spPr>
          <a:xfrm>
            <a:off x="768096" y="22677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88720" y="2212848"/>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Applications</a:t>
            </a:r>
            <a:endParaRPr lang="en-US" sz="1400" dirty="0"/>
          </a:p>
        </p:txBody>
      </p:sp>
      <p:sp>
        <p:nvSpPr>
          <p:cNvPr id="9" name="Text 7"/>
          <p:cNvSpPr/>
          <p:nvPr/>
        </p:nvSpPr>
        <p:spPr>
          <a:xfrm>
            <a:off x="1188720" y="2542032"/>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AI-infused enterprise applications</a:t>
            </a:r>
            <a:endParaRPr lang="en-US" sz="1150" dirty="0"/>
          </a:p>
        </p:txBody>
      </p:sp>
      <p:sp>
        <p:nvSpPr>
          <p:cNvPr id="10" name="Shape 8"/>
          <p:cNvSpPr/>
          <p:nvPr/>
        </p:nvSpPr>
        <p:spPr>
          <a:xfrm>
            <a:off x="4315968" y="2029968"/>
            <a:ext cx="3538728" cy="1170432"/>
          </a:xfrm>
          <a:prstGeom prst="roundRect">
            <a:avLst>
              <a:gd name="adj" fmla="val 6250"/>
            </a:avLst>
          </a:prstGeom>
          <a:solidFill>
            <a:srgbClr val="F2F5FC"/>
          </a:solidFill>
          <a:ln w="12700">
            <a:solidFill>
              <a:srgbClr val="DDE4F5"/>
            </a:solidFill>
            <a:prstDash val="solid"/>
          </a:ln>
        </p:spPr>
      </p:sp>
      <p:sp>
        <p:nvSpPr>
          <p:cNvPr id="11" name="Shape 9"/>
          <p:cNvSpPr/>
          <p:nvPr/>
        </p:nvSpPr>
        <p:spPr>
          <a:xfrm>
            <a:off x="4535424" y="2267712"/>
            <a:ext cx="310896" cy="310896"/>
          </a:xfrm>
          <a:prstGeom prst="ellipse">
            <a:avLst/>
          </a:prstGeom>
          <a:solidFill>
            <a:srgbClr val="1E2761"/>
          </a:solidFill>
          <a:ln w="12700">
            <a:solidFill>
              <a:srgbClr val="1E2761"/>
            </a:solidFill>
            <a:prstDash val="solid"/>
          </a:ln>
        </p:spPr>
      </p:sp>
      <p:sp>
        <p:nvSpPr>
          <p:cNvPr id="12" name="Text 10"/>
          <p:cNvSpPr/>
          <p:nvPr/>
        </p:nvSpPr>
        <p:spPr>
          <a:xfrm>
            <a:off x="4535424" y="22677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4956048" y="2212848"/>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Agents</a:t>
            </a:r>
            <a:endParaRPr lang="en-US" sz="1400" dirty="0"/>
          </a:p>
        </p:txBody>
      </p:sp>
      <p:sp>
        <p:nvSpPr>
          <p:cNvPr id="14" name="Text 12"/>
          <p:cNvSpPr/>
          <p:nvPr/>
        </p:nvSpPr>
        <p:spPr>
          <a:xfrm>
            <a:off x="4956048" y="2542032"/>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Autonomous goal-driven task agents</a:t>
            </a:r>
            <a:endParaRPr lang="en-US" sz="1150" dirty="0"/>
          </a:p>
        </p:txBody>
      </p:sp>
      <p:sp>
        <p:nvSpPr>
          <p:cNvPr id="15" name="Shape 13"/>
          <p:cNvSpPr/>
          <p:nvPr/>
        </p:nvSpPr>
        <p:spPr>
          <a:xfrm>
            <a:off x="8083296" y="2029968"/>
            <a:ext cx="3538728" cy="1170432"/>
          </a:xfrm>
          <a:prstGeom prst="roundRect">
            <a:avLst>
              <a:gd name="adj" fmla="val 6250"/>
            </a:avLst>
          </a:prstGeom>
          <a:solidFill>
            <a:srgbClr val="F2F5FC"/>
          </a:solidFill>
          <a:ln w="12700">
            <a:solidFill>
              <a:srgbClr val="DDE4F5"/>
            </a:solidFill>
            <a:prstDash val="solid"/>
          </a:ln>
        </p:spPr>
      </p:sp>
      <p:sp>
        <p:nvSpPr>
          <p:cNvPr id="16" name="Shape 14"/>
          <p:cNvSpPr/>
          <p:nvPr/>
        </p:nvSpPr>
        <p:spPr>
          <a:xfrm>
            <a:off x="8302752" y="2267712"/>
            <a:ext cx="310896" cy="310896"/>
          </a:xfrm>
          <a:prstGeom prst="ellipse">
            <a:avLst/>
          </a:prstGeom>
          <a:solidFill>
            <a:srgbClr val="1E2761"/>
          </a:solidFill>
          <a:ln w="12700">
            <a:solidFill>
              <a:srgbClr val="1E2761"/>
            </a:solidFill>
            <a:prstDash val="solid"/>
          </a:ln>
        </p:spPr>
      </p:sp>
      <p:sp>
        <p:nvSpPr>
          <p:cNvPr id="17" name="Text 15"/>
          <p:cNvSpPr/>
          <p:nvPr/>
        </p:nvSpPr>
        <p:spPr>
          <a:xfrm>
            <a:off x="8302752" y="226771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8723376" y="2212848"/>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Models</a:t>
            </a:r>
            <a:endParaRPr lang="en-US" sz="1400" dirty="0"/>
          </a:p>
        </p:txBody>
      </p:sp>
      <p:sp>
        <p:nvSpPr>
          <p:cNvPr id="19" name="Text 17"/>
          <p:cNvSpPr/>
          <p:nvPr/>
        </p:nvSpPr>
        <p:spPr>
          <a:xfrm>
            <a:off x="8723376" y="2542032"/>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Predictive and classification models</a:t>
            </a:r>
            <a:endParaRPr lang="en-US" sz="1150" dirty="0"/>
          </a:p>
        </p:txBody>
      </p:sp>
      <p:sp>
        <p:nvSpPr>
          <p:cNvPr id="20" name="Shape 18"/>
          <p:cNvSpPr/>
          <p:nvPr/>
        </p:nvSpPr>
        <p:spPr>
          <a:xfrm>
            <a:off x="548640" y="3419856"/>
            <a:ext cx="3538728" cy="1170432"/>
          </a:xfrm>
          <a:prstGeom prst="roundRect">
            <a:avLst>
              <a:gd name="adj" fmla="val 6250"/>
            </a:avLst>
          </a:prstGeom>
          <a:solidFill>
            <a:srgbClr val="F2F5FC"/>
          </a:solidFill>
          <a:ln w="12700">
            <a:solidFill>
              <a:srgbClr val="DDE4F5"/>
            </a:solidFill>
            <a:prstDash val="solid"/>
          </a:ln>
        </p:spPr>
      </p:sp>
      <p:sp>
        <p:nvSpPr>
          <p:cNvPr id="21" name="Shape 19"/>
          <p:cNvSpPr/>
          <p:nvPr/>
        </p:nvSpPr>
        <p:spPr>
          <a:xfrm>
            <a:off x="768096" y="3657600"/>
            <a:ext cx="310896" cy="310896"/>
          </a:xfrm>
          <a:prstGeom prst="ellipse">
            <a:avLst/>
          </a:prstGeom>
          <a:solidFill>
            <a:srgbClr val="1E2761"/>
          </a:solidFill>
          <a:ln w="12700">
            <a:solidFill>
              <a:srgbClr val="1E2761"/>
            </a:solidFill>
            <a:prstDash val="solid"/>
          </a:ln>
        </p:spPr>
      </p:sp>
      <p:sp>
        <p:nvSpPr>
          <p:cNvPr id="22" name="Text 20"/>
          <p:cNvSpPr/>
          <p:nvPr/>
        </p:nvSpPr>
        <p:spPr>
          <a:xfrm>
            <a:off x="768096" y="3657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1188720" y="3602736"/>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LLMs</a:t>
            </a:r>
            <a:endParaRPr lang="en-US" sz="1400" dirty="0"/>
          </a:p>
        </p:txBody>
      </p:sp>
      <p:sp>
        <p:nvSpPr>
          <p:cNvPr id="24" name="Text 22"/>
          <p:cNvSpPr/>
          <p:nvPr/>
        </p:nvSpPr>
        <p:spPr>
          <a:xfrm>
            <a:off x="1188720" y="3931920"/>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Foundation and fine-tuned language models</a:t>
            </a:r>
            <a:endParaRPr lang="en-US" sz="1150" dirty="0"/>
          </a:p>
        </p:txBody>
      </p:sp>
      <p:sp>
        <p:nvSpPr>
          <p:cNvPr id="25" name="Shape 23"/>
          <p:cNvSpPr/>
          <p:nvPr/>
        </p:nvSpPr>
        <p:spPr>
          <a:xfrm>
            <a:off x="4315968" y="3419856"/>
            <a:ext cx="3538728" cy="1170432"/>
          </a:xfrm>
          <a:prstGeom prst="roundRect">
            <a:avLst>
              <a:gd name="adj" fmla="val 6250"/>
            </a:avLst>
          </a:prstGeom>
          <a:solidFill>
            <a:srgbClr val="F2F5FC"/>
          </a:solidFill>
          <a:ln w="12700">
            <a:solidFill>
              <a:srgbClr val="DDE4F5"/>
            </a:solidFill>
            <a:prstDash val="solid"/>
          </a:ln>
        </p:spPr>
      </p:sp>
      <p:sp>
        <p:nvSpPr>
          <p:cNvPr id="26" name="Shape 24"/>
          <p:cNvSpPr/>
          <p:nvPr/>
        </p:nvSpPr>
        <p:spPr>
          <a:xfrm>
            <a:off x="4535424" y="3657600"/>
            <a:ext cx="310896" cy="310896"/>
          </a:xfrm>
          <a:prstGeom prst="ellipse">
            <a:avLst/>
          </a:prstGeom>
          <a:solidFill>
            <a:srgbClr val="1E2761"/>
          </a:solidFill>
          <a:ln w="12700">
            <a:solidFill>
              <a:srgbClr val="1E2761"/>
            </a:solidFill>
            <a:prstDash val="solid"/>
          </a:ln>
        </p:spPr>
      </p:sp>
      <p:sp>
        <p:nvSpPr>
          <p:cNvPr id="27" name="Text 25"/>
          <p:cNvSpPr/>
          <p:nvPr/>
        </p:nvSpPr>
        <p:spPr>
          <a:xfrm>
            <a:off x="4535424" y="3657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4956048" y="3602736"/>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Copilots</a:t>
            </a:r>
            <a:endParaRPr lang="en-US" sz="1400" dirty="0"/>
          </a:p>
        </p:txBody>
      </p:sp>
      <p:sp>
        <p:nvSpPr>
          <p:cNvPr id="29" name="Text 27"/>
          <p:cNvSpPr/>
          <p:nvPr/>
        </p:nvSpPr>
        <p:spPr>
          <a:xfrm>
            <a:off x="4956048" y="3931920"/>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Human-in-the-loop assistants</a:t>
            </a:r>
            <a:endParaRPr lang="en-US" sz="1150" dirty="0"/>
          </a:p>
        </p:txBody>
      </p:sp>
      <p:sp>
        <p:nvSpPr>
          <p:cNvPr id="30" name="Shape 28"/>
          <p:cNvSpPr/>
          <p:nvPr/>
        </p:nvSpPr>
        <p:spPr>
          <a:xfrm>
            <a:off x="8083296" y="3419856"/>
            <a:ext cx="3538728" cy="1170432"/>
          </a:xfrm>
          <a:prstGeom prst="roundRect">
            <a:avLst>
              <a:gd name="adj" fmla="val 6250"/>
            </a:avLst>
          </a:prstGeom>
          <a:solidFill>
            <a:srgbClr val="F2F5FC"/>
          </a:solidFill>
          <a:ln w="12700">
            <a:solidFill>
              <a:srgbClr val="DDE4F5"/>
            </a:solidFill>
            <a:prstDash val="solid"/>
          </a:ln>
        </p:spPr>
      </p:sp>
      <p:sp>
        <p:nvSpPr>
          <p:cNvPr id="31" name="Shape 29"/>
          <p:cNvSpPr/>
          <p:nvPr/>
        </p:nvSpPr>
        <p:spPr>
          <a:xfrm>
            <a:off x="8302752" y="3657600"/>
            <a:ext cx="310896" cy="310896"/>
          </a:xfrm>
          <a:prstGeom prst="ellipse">
            <a:avLst/>
          </a:prstGeom>
          <a:solidFill>
            <a:srgbClr val="1E2761"/>
          </a:solidFill>
          <a:ln w="12700">
            <a:solidFill>
              <a:srgbClr val="1E2761"/>
            </a:solidFill>
            <a:prstDash val="solid"/>
          </a:ln>
        </p:spPr>
      </p:sp>
      <p:sp>
        <p:nvSpPr>
          <p:cNvPr id="32" name="Text 30"/>
          <p:cNvSpPr/>
          <p:nvPr/>
        </p:nvSpPr>
        <p:spPr>
          <a:xfrm>
            <a:off x="8302752" y="3657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3" name="Text 31"/>
          <p:cNvSpPr/>
          <p:nvPr/>
        </p:nvSpPr>
        <p:spPr>
          <a:xfrm>
            <a:off x="8723376" y="3602736"/>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RAG Systems</a:t>
            </a:r>
            <a:endParaRPr lang="en-US" sz="1400" dirty="0"/>
          </a:p>
        </p:txBody>
      </p:sp>
      <p:sp>
        <p:nvSpPr>
          <p:cNvPr id="34" name="Text 32"/>
          <p:cNvSpPr/>
          <p:nvPr/>
        </p:nvSpPr>
        <p:spPr>
          <a:xfrm>
            <a:off x="8723376" y="3931920"/>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Retrieval-augmented knowledge systems</a:t>
            </a:r>
            <a:endParaRPr lang="en-US" sz="1150" dirty="0"/>
          </a:p>
        </p:txBody>
      </p:sp>
      <p:sp>
        <p:nvSpPr>
          <p:cNvPr id="35" name="Shape 33"/>
          <p:cNvSpPr/>
          <p:nvPr/>
        </p:nvSpPr>
        <p:spPr>
          <a:xfrm>
            <a:off x="548640" y="4809744"/>
            <a:ext cx="3538728" cy="1170432"/>
          </a:xfrm>
          <a:prstGeom prst="roundRect">
            <a:avLst>
              <a:gd name="adj" fmla="val 6250"/>
            </a:avLst>
          </a:prstGeom>
          <a:solidFill>
            <a:srgbClr val="F2F5FC"/>
          </a:solidFill>
          <a:ln w="12700">
            <a:solidFill>
              <a:srgbClr val="DDE4F5"/>
            </a:solidFill>
            <a:prstDash val="solid"/>
          </a:ln>
        </p:spPr>
      </p:sp>
      <p:sp>
        <p:nvSpPr>
          <p:cNvPr id="36" name="Shape 34"/>
          <p:cNvSpPr/>
          <p:nvPr/>
        </p:nvSpPr>
        <p:spPr>
          <a:xfrm>
            <a:off x="768096" y="5047488"/>
            <a:ext cx="310896" cy="310896"/>
          </a:xfrm>
          <a:prstGeom prst="ellipse">
            <a:avLst/>
          </a:prstGeom>
          <a:solidFill>
            <a:srgbClr val="1E2761"/>
          </a:solidFill>
          <a:ln w="12700">
            <a:solidFill>
              <a:srgbClr val="1E2761"/>
            </a:solidFill>
            <a:prstDash val="solid"/>
          </a:ln>
        </p:spPr>
      </p:sp>
      <p:sp>
        <p:nvSpPr>
          <p:cNvPr id="37" name="Text 35"/>
          <p:cNvSpPr/>
          <p:nvPr/>
        </p:nvSpPr>
        <p:spPr>
          <a:xfrm>
            <a:off x="768096"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8" name="Text 36"/>
          <p:cNvSpPr/>
          <p:nvPr/>
        </p:nvSpPr>
        <p:spPr>
          <a:xfrm>
            <a:off x="1188720" y="4992624"/>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AI Workflows</a:t>
            </a:r>
            <a:endParaRPr lang="en-US" sz="1400" dirty="0"/>
          </a:p>
        </p:txBody>
      </p:sp>
      <p:sp>
        <p:nvSpPr>
          <p:cNvPr id="39" name="Text 37"/>
          <p:cNvSpPr/>
          <p:nvPr/>
        </p:nvSpPr>
        <p:spPr>
          <a:xfrm>
            <a:off x="1188720" y="5321808"/>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Orchestrated multi-step AI pipelines</a:t>
            </a:r>
            <a:endParaRPr lang="en-US" sz="1150" dirty="0"/>
          </a:p>
        </p:txBody>
      </p:sp>
      <p:sp>
        <p:nvSpPr>
          <p:cNvPr id="40" name="Shape 38"/>
          <p:cNvSpPr/>
          <p:nvPr/>
        </p:nvSpPr>
        <p:spPr>
          <a:xfrm>
            <a:off x="4315968" y="4809744"/>
            <a:ext cx="3538728" cy="1170432"/>
          </a:xfrm>
          <a:prstGeom prst="roundRect">
            <a:avLst>
              <a:gd name="adj" fmla="val 6250"/>
            </a:avLst>
          </a:prstGeom>
          <a:solidFill>
            <a:srgbClr val="F2F5FC"/>
          </a:solidFill>
          <a:ln w="12700">
            <a:solidFill>
              <a:srgbClr val="DDE4F5"/>
            </a:solidFill>
            <a:prstDash val="solid"/>
          </a:ln>
        </p:spPr>
      </p:sp>
      <p:sp>
        <p:nvSpPr>
          <p:cNvPr id="41" name="Shape 39"/>
          <p:cNvSpPr/>
          <p:nvPr/>
        </p:nvSpPr>
        <p:spPr>
          <a:xfrm>
            <a:off x="4535424" y="5047488"/>
            <a:ext cx="310896" cy="310896"/>
          </a:xfrm>
          <a:prstGeom prst="ellipse">
            <a:avLst/>
          </a:prstGeom>
          <a:solidFill>
            <a:srgbClr val="1E2761"/>
          </a:solidFill>
          <a:ln w="12700">
            <a:solidFill>
              <a:srgbClr val="1E2761"/>
            </a:solidFill>
            <a:prstDash val="solid"/>
          </a:ln>
        </p:spPr>
      </p:sp>
      <p:sp>
        <p:nvSpPr>
          <p:cNvPr id="42" name="Text 40"/>
          <p:cNvSpPr/>
          <p:nvPr/>
        </p:nvSpPr>
        <p:spPr>
          <a:xfrm>
            <a:off x="4535424"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8</a:t>
            </a:r>
            <a:endParaRPr lang="en-US" sz="1200" dirty="0"/>
          </a:p>
        </p:txBody>
      </p:sp>
      <p:sp>
        <p:nvSpPr>
          <p:cNvPr id="43" name="Text 41"/>
          <p:cNvSpPr/>
          <p:nvPr/>
        </p:nvSpPr>
        <p:spPr>
          <a:xfrm>
            <a:off x="4956048" y="4992624"/>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Multi-Agent Systems</a:t>
            </a:r>
            <a:endParaRPr lang="en-US" sz="1400" dirty="0"/>
          </a:p>
        </p:txBody>
      </p:sp>
      <p:sp>
        <p:nvSpPr>
          <p:cNvPr id="44" name="Text 42"/>
          <p:cNvSpPr/>
          <p:nvPr/>
        </p:nvSpPr>
        <p:spPr>
          <a:xfrm>
            <a:off x="4956048" y="5321808"/>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Collaborative agent networks</a:t>
            </a:r>
            <a:endParaRPr lang="en-US" sz="1150" dirty="0"/>
          </a:p>
        </p:txBody>
      </p:sp>
      <p:sp>
        <p:nvSpPr>
          <p:cNvPr id="45" name="Shape 43"/>
          <p:cNvSpPr/>
          <p:nvPr/>
        </p:nvSpPr>
        <p:spPr>
          <a:xfrm>
            <a:off x="8083296" y="4809744"/>
            <a:ext cx="3538728" cy="1170432"/>
          </a:xfrm>
          <a:prstGeom prst="roundRect">
            <a:avLst>
              <a:gd name="adj" fmla="val 6250"/>
            </a:avLst>
          </a:prstGeom>
          <a:solidFill>
            <a:srgbClr val="F2F5FC"/>
          </a:solidFill>
          <a:ln w="12700">
            <a:solidFill>
              <a:srgbClr val="DDE4F5"/>
            </a:solidFill>
            <a:prstDash val="solid"/>
          </a:ln>
        </p:spPr>
      </p:sp>
      <p:sp>
        <p:nvSpPr>
          <p:cNvPr id="46" name="Shape 44"/>
          <p:cNvSpPr/>
          <p:nvPr/>
        </p:nvSpPr>
        <p:spPr>
          <a:xfrm>
            <a:off x="8302752" y="5047488"/>
            <a:ext cx="310896" cy="310896"/>
          </a:xfrm>
          <a:prstGeom prst="ellipse">
            <a:avLst/>
          </a:prstGeom>
          <a:solidFill>
            <a:srgbClr val="1E2761"/>
          </a:solidFill>
          <a:ln w="12700">
            <a:solidFill>
              <a:srgbClr val="1E2761"/>
            </a:solidFill>
            <a:prstDash val="solid"/>
          </a:ln>
        </p:spPr>
      </p:sp>
      <p:sp>
        <p:nvSpPr>
          <p:cNvPr id="47" name="Text 45"/>
          <p:cNvSpPr/>
          <p:nvPr/>
        </p:nvSpPr>
        <p:spPr>
          <a:xfrm>
            <a:off x="8302752" y="504748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9</a:t>
            </a:r>
            <a:endParaRPr lang="en-US" sz="1200" dirty="0"/>
          </a:p>
        </p:txBody>
      </p:sp>
      <p:sp>
        <p:nvSpPr>
          <p:cNvPr id="48" name="Text 46"/>
          <p:cNvSpPr/>
          <p:nvPr/>
        </p:nvSpPr>
        <p:spPr>
          <a:xfrm>
            <a:off x="8723376" y="4992624"/>
            <a:ext cx="2697480" cy="292608"/>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Third-Party AI Services</a:t>
            </a:r>
            <a:endParaRPr lang="en-US" sz="1400" dirty="0"/>
          </a:p>
        </p:txBody>
      </p:sp>
      <p:sp>
        <p:nvSpPr>
          <p:cNvPr id="49" name="Text 47"/>
          <p:cNvSpPr/>
          <p:nvPr/>
        </p:nvSpPr>
        <p:spPr>
          <a:xfrm>
            <a:off x="8723376" y="5321808"/>
            <a:ext cx="2697480" cy="5486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External vendor AI and APIs</a:t>
            </a:r>
            <a:endParaRPr lang="en-US" sz="1150" dirty="0"/>
          </a:p>
        </p:txBody>
      </p:sp>
      <p:sp>
        <p:nvSpPr>
          <p:cNvPr id="50" name="Text 48"/>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AssetType definition, frontend/src/types/index.ts</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CAPABILITY OVERVIEW</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Nine domains, nine executive questions</a:t>
            </a:r>
            <a:endParaRPr lang="en-US" sz="3400" dirty="0"/>
          </a:p>
        </p:txBody>
      </p:sp>
      <p:sp>
        <p:nvSpPr>
          <p:cNvPr id="4" name="Shape 2"/>
          <p:cNvSpPr/>
          <p:nvPr/>
        </p:nvSpPr>
        <p:spPr>
          <a:xfrm>
            <a:off x="548640" y="1572768"/>
            <a:ext cx="3538728" cy="1133856"/>
          </a:xfrm>
          <a:prstGeom prst="roundRect">
            <a:avLst>
              <a:gd name="adj" fmla="val 6452"/>
            </a:avLst>
          </a:prstGeom>
          <a:solidFill>
            <a:srgbClr val="F2F5FC"/>
          </a:solidFill>
          <a:ln w="12700">
            <a:solidFill>
              <a:srgbClr val="DDE4F5"/>
            </a:solidFill>
            <a:prstDash val="solid"/>
          </a:ln>
        </p:spPr>
      </p:sp>
      <p:sp>
        <p:nvSpPr>
          <p:cNvPr id="5" name="Text 3"/>
          <p:cNvSpPr/>
          <p:nvPr/>
        </p:nvSpPr>
        <p:spPr>
          <a:xfrm>
            <a:off x="786384" y="1728216"/>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Executive Governance</a:t>
            </a:r>
            <a:endParaRPr lang="en-US" sz="1350" dirty="0"/>
          </a:p>
        </p:txBody>
      </p:sp>
      <p:sp>
        <p:nvSpPr>
          <p:cNvPr id="6" name="Text 4"/>
          <p:cNvSpPr/>
          <p:nvPr/>
        </p:nvSpPr>
        <p:spPr>
          <a:xfrm>
            <a:off x="786384" y="2029968"/>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Is enterprise AI under control?</a:t>
            </a:r>
            <a:endParaRPr lang="en-US" sz="1150" dirty="0"/>
          </a:p>
        </p:txBody>
      </p:sp>
      <p:sp>
        <p:nvSpPr>
          <p:cNvPr id="7" name="Text 5"/>
          <p:cNvSpPr/>
          <p:nvPr/>
        </p:nvSpPr>
        <p:spPr>
          <a:xfrm>
            <a:off x="786384" y="2368296"/>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5 modules</a:t>
            </a:r>
            <a:endParaRPr lang="en-US" sz="1050" dirty="0"/>
          </a:p>
        </p:txBody>
      </p:sp>
      <p:sp>
        <p:nvSpPr>
          <p:cNvPr id="8" name="Shape 6"/>
          <p:cNvSpPr/>
          <p:nvPr/>
        </p:nvSpPr>
        <p:spPr>
          <a:xfrm>
            <a:off x="4315968" y="1572768"/>
            <a:ext cx="3538728" cy="1133856"/>
          </a:xfrm>
          <a:prstGeom prst="roundRect">
            <a:avLst>
              <a:gd name="adj" fmla="val 6452"/>
            </a:avLst>
          </a:prstGeom>
          <a:solidFill>
            <a:srgbClr val="F2F5FC"/>
          </a:solidFill>
          <a:ln w="12700">
            <a:solidFill>
              <a:srgbClr val="DDE4F5"/>
            </a:solidFill>
            <a:prstDash val="solid"/>
          </a:ln>
        </p:spPr>
      </p:sp>
      <p:sp>
        <p:nvSpPr>
          <p:cNvPr id="9" name="Text 7"/>
          <p:cNvSpPr/>
          <p:nvPr/>
        </p:nvSpPr>
        <p:spPr>
          <a:xfrm>
            <a:off x="4553712" y="1728216"/>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Policy Governance</a:t>
            </a:r>
            <a:endParaRPr lang="en-US" sz="1350" dirty="0"/>
          </a:p>
        </p:txBody>
      </p:sp>
      <p:sp>
        <p:nvSpPr>
          <p:cNvPr id="10" name="Text 8"/>
          <p:cNvSpPr/>
          <p:nvPr/>
        </p:nvSpPr>
        <p:spPr>
          <a:xfrm>
            <a:off x="4553712" y="2029968"/>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What rules govern our AI?</a:t>
            </a:r>
            <a:endParaRPr lang="en-US" sz="1150" dirty="0"/>
          </a:p>
        </p:txBody>
      </p:sp>
      <p:sp>
        <p:nvSpPr>
          <p:cNvPr id="11" name="Text 9"/>
          <p:cNvSpPr/>
          <p:nvPr/>
        </p:nvSpPr>
        <p:spPr>
          <a:xfrm>
            <a:off x="4553712" y="2368296"/>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3 modules</a:t>
            </a:r>
            <a:endParaRPr lang="en-US" sz="1050" dirty="0"/>
          </a:p>
        </p:txBody>
      </p:sp>
      <p:sp>
        <p:nvSpPr>
          <p:cNvPr id="12" name="Shape 10"/>
          <p:cNvSpPr/>
          <p:nvPr/>
        </p:nvSpPr>
        <p:spPr>
          <a:xfrm>
            <a:off x="8083296" y="1572768"/>
            <a:ext cx="3538728" cy="1133856"/>
          </a:xfrm>
          <a:prstGeom prst="roundRect">
            <a:avLst>
              <a:gd name="adj" fmla="val 6452"/>
            </a:avLst>
          </a:prstGeom>
          <a:solidFill>
            <a:srgbClr val="F2F5FC"/>
          </a:solidFill>
          <a:ln w="12700">
            <a:solidFill>
              <a:srgbClr val="DDE4F5"/>
            </a:solidFill>
            <a:prstDash val="solid"/>
          </a:ln>
        </p:spPr>
      </p:sp>
      <p:sp>
        <p:nvSpPr>
          <p:cNvPr id="13" name="Text 11"/>
          <p:cNvSpPr/>
          <p:nvPr/>
        </p:nvSpPr>
        <p:spPr>
          <a:xfrm>
            <a:off x="8321040" y="1728216"/>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Change Governance</a:t>
            </a:r>
            <a:endParaRPr lang="en-US" sz="1350" dirty="0"/>
          </a:p>
        </p:txBody>
      </p:sp>
      <p:sp>
        <p:nvSpPr>
          <p:cNvPr id="14" name="Text 12"/>
          <p:cNvSpPr/>
          <p:nvPr/>
        </p:nvSpPr>
        <p:spPr>
          <a:xfrm>
            <a:off x="8321040" y="2029968"/>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What changed, and who approved it?</a:t>
            </a:r>
            <a:endParaRPr lang="en-US" sz="1150" dirty="0"/>
          </a:p>
        </p:txBody>
      </p:sp>
      <p:sp>
        <p:nvSpPr>
          <p:cNvPr id="15" name="Text 13"/>
          <p:cNvSpPr/>
          <p:nvPr/>
        </p:nvSpPr>
        <p:spPr>
          <a:xfrm>
            <a:off x="8321040" y="2368296"/>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5 modules</a:t>
            </a:r>
            <a:endParaRPr lang="en-US" sz="1050" dirty="0"/>
          </a:p>
        </p:txBody>
      </p:sp>
      <p:sp>
        <p:nvSpPr>
          <p:cNvPr id="16" name="Shape 14"/>
          <p:cNvSpPr/>
          <p:nvPr/>
        </p:nvSpPr>
        <p:spPr>
          <a:xfrm>
            <a:off x="548640" y="2926080"/>
            <a:ext cx="3538728" cy="1133856"/>
          </a:xfrm>
          <a:prstGeom prst="roundRect">
            <a:avLst>
              <a:gd name="adj" fmla="val 6452"/>
            </a:avLst>
          </a:prstGeom>
          <a:solidFill>
            <a:srgbClr val="F2F5FC"/>
          </a:solidFill>
          <a:ln w="12700">
            <a:solidFill>
              <a:srgbClr val="DDE4F5"/>
            </a:solidFill>
            <a:prstDash val="solid"/>
          </a:ln>
        </p:spPr>
      </p:sp>
      <p:sp>
        <p:nvSpPr>
          <p:cNvPr id="17" name="Text 15"/>
          <p:cNvSpPr/>
          <p:nvPr/>
        </p:nvSpPr>
        <p:spPr>
          <a:xfrm>
            <a:off x="786384" y="3081528"/>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AI Governance Registry</a:t>
            </a:r>
            <a:endParaRPr lang="en-US" sz="1350" dirty="0"/>
          </a:p>
        </p:txBody>
      </p:sp>
      <p:sp>
        <p:nvSpPr>
          <p:cNvPr id="18" name="Text 16"/>
          <p:cNvSpPr/>
          <p:nvPr/>
        </p:nvSpPr>
        <p:spPr>
          <a:xfrm>
            <a:off x="786384" y="3383280"/>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What AI exists?</a:t>
            </a:r>
            <a:endParaRPr lang="en-US" sz="1150" dirty="0"/>
          </a:p>
        </p:txBody>
      </p:sp>
      <p:sp>
        <p:nvSpPr>
          <p:cNvPr id="19" name="Text 17"/>
          <p:cNvSpPr/>
          <p:nvPr/>
        </p:nvSpPr>
        <p:spPr>
          <a:xfrm>
            <a:off x="786384" y="3721608"/>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4 modules</a:t>
            </a:r>
            <a:endParaRPr lang="en-US" sz="1050" dirty="0"/>
          </a:p>
        </p:txBody>
      </p:sp>
      <p:sp>
        <p:nvSpPr>
          <p:cNvPr id="20" name="Shape 18"/>
          <p:cNvSpPr/>
          <p:nvPr/>
        </p:nvSpPr>
        <p:spPr>
          <a:xfrm>
            <a:off x="4315968" y="2926080"/>
            <a:ext cx="3538728" cy="1133856"/>
          </a:xfrm>
          <a:prstGeom prst="roundRect">
            <a:avLst>
              <a:gd name="adj" fmla="val 6452"/>
            </a:avLst>
          </a:prstGeom>
          <a:solidFill>
            <a:srgbClr val="F2F5FC"/>
          </a:solidFill>
          <a:ln w="12700">
            <a:solidFill>
              <a:srgbClr val="DDE4F5"/>
            </a:solidFill>
            <a:prstDash val="solid"/>
          </a:ln>
        </p:spPr>
      </p:sp>
      <p:sp>
        <p:nvSpPr>
          <p:cNvPr id="21" name="Text 19"/>
          <p:cNvSpPr/>
          <p:nvPr/>
        </p:nvSpPr>
        <p:spPr>
          <a:xfrm>
            <a:off x="4553712" y="3081528"/>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Risk &amp; Compliance</a:t>
            </a:r>
            <a:endParaRPr lang="en-US" sz="1350" dirty="0"/>
          </a:p>
        </p:txBody>
      </p:sp>
      <p:sp>
        <p:nvSpPr>
          <p:cNvPr id="22" name="Text 20"/>
          <p:cNvSpPr/>
          <p:nvPr/>
        </p:nvSpPr>
        <p:spPr>
          <a:xfrm>
            <a:off x="4553712" y="3383280"/>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Can this AI be trusted?</a:t>
            </a:r>
            <a:endParaRPr lang="en-US" sz="1150" dirty="0"/>
          </a:p>
        </p:txBody>
      </p:sp>
      <p:sp>
        <p:nvSpPr>
          <p:cNvPr id="23" name="Text 21"/>
          <p:cNvSpPr/>
          <p:nvPr/>
        </p:nvSpPr>
        <p:spPr>
          <a:xfrm>
            <a:off x="4553712" y="3721608"/>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11 modules</a:t>
            </a:r>
            <a:endParaRPr lang="en-US" sz="1050" dirty="0"/>
          </a:p>
        </p:txBody>
      </p:sp>
      <p:sp>
        <p:nvSpPr>
          <p:cNvPr id="24" name="Shape 22"/>
          <p:cNvSpPr/>
          <p:nvPr/>
        </p:nvSpPr>
        <p:spPr>
          <a:xfrm>
            <a:off x="8083296" y="2926080"/>
            <a:ext cx="3538728" cy="1133856"/>
          </a:xfrm>
          <a:prstGeom prst="roundRect">
            <a:avLst>
              <a:gd name="adj" fmla="val 6452"/>
            </a:avLst>
          </a:prstGeom>
          <a:solidFill>
            <a:srgbClr val="F2F5FC"/>
          </a:solidFill>
          <a:ln w="12700">
            <a:solidFill>
              <a:srgbClr val="DDE4F5"/>
            </a:solidFill>
            <a:prstDash val="solid"/>
          </a:ln>
        </p:spPr>
      </p:sp>
      <p:sp>
        <p:nvSpPr>
          <p:cNvPr id="25" name="Text 23"/>
          <p:cNvSpPr/>
          <p:nvPr/>
        </p:nvSpPr>
        <p:spPr>
          <a:xfrm>
            <a:off x="8321040" y="3081528"/>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Decision Governance</a:t>
            </a:r>
            <a:endParaRPr lang="en-US" sz="1350" dirty="0"/>
          </a:p>
        </p:txBody>
      </p:sp>
      <p:sp>
        <p:nvSpPr>
          <p:cNvPr id="26" name="Text 24"/>
          <p:cNvSpPr/>
          <p:nvPr/>
        </p:nvSpPr>
        <p:spPr>
          <a:xfrm>
            <a:off x="8321040" y="3383280"/>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Can this AI move?</a:t>
            </a:r>
            <a:endParaRPr lang="en-US" sz="1150" dirty="0"/>
          </a:p>
        </p:txBody>
      </p:sp>
      <p:sp>
        <p:nvSpPr>
          <p:cNvPr id="27" name="Text 25"/>
          <p:cNvSpPr/>
          <p:nvPr/>
        </p:nvSpPr>
        <p:spPr>
          <a:xfrm>
            <a:off x="8321040" y="3721608"/>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5 modules</a:t>
            </a:r>
            <a:endParaRPr lang="en-US" sz="1050" dirty="0"/>
          </a:p>
        </p:txBody>
      </p:sp>
      <p:sp>
        <p:nvSpPr>
          <p:cNvPr id="28" name="Shape 26"/>
          <p:cNvSpPr/>
          <p:nvPr/>
        </p:nvSpPr>
        <p:spPr>
          <a:xfrm>
            <a:off x="548640" y="4279392"/>
            <a:ext cx="3538728" cy="1133856"/>
          </a:xfrm>
          <a:prstGeom prst="roundRect">
            <a:avLst>
              <a:gd name="adj" fmla="val 6452"/>
            </a:avLst>
          </a:prstGeom>
          <a:solidFill>
            <a:srgbClr val="F2F5FC"/>
          </a:solidFill>
          <a:ln w="12700">
            <a:solidFill>
              <a:srgbClr val="DDE4F5"/>
            </a:solidFill>
            <a:prstDash val="solid"/>
          </a:ln>
        </p:spPr>
      </p:sp>
      <p:sp>
        <p:nvSpPr>
          <p:cNvPr id="29" name="Text 27"/>
          <p:cNvSpPr/>
          <p:nvPr/>
        </p:nvSpPr>
        <p:spPr>
          <a:xfrm>
            <a:off x="786384" y="4434840"/>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Operations &amp; Monitoring</a:t>
            </a:r>
            <a:endParaRPr lang="en-US" sz="1350" dirty="0"/>
          </a:p>
        </p:txBody>
      </p:sp>
      <p:sp>
        <p:nvSpPr>
          <p:cNvPr id="30" name="Text 28"/>
          <p:cNvSpPr/>
          <p:nvPr/>
        </p:nvSpPr>
        <p:spPr>
          <a:xfrm>
            <a:off x="786384" y="4736592"/>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What is happening now?</a:t>
            </a:r>
            <a:endParaRPr lang="en-US" sz="1150" dirty="0"/>
          </a:p>
        </p:txBody>
      </p:sp>
      <p:sp>
        <p:nvSpPr>
          <p:cNvPr id="31" name="Text 29"/>
          <p:cNvSpPr/>
          <p:nvPr/>
        </p:nvSpPr>
        <p:spPr>
          <a:xfrm>
            <a:off x="786384" y="5074920"/>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8 modules</a:t>
            </a:r>
            <a:endParaRPr lang="en-US" sz="1050" dirty="0"/>
          </a:p>
        </p:txBody>
      </p:sp>
      <p:sp>
        <p:nvSpPr>
          <p:cNvPr id="32" name="Shape 30"/>
          <p:cNvSpPr/>
          <p:nvPr/>
        </p:nvSpPr>
        <p:spPr>
          <a:xfrm>
            <a:off x="4315968" y="4279392"/>
            <a:ext cx="3538728" cy="1133856"/>
          </a:xfrm>
          <a:prstGeom prst="roundRect">
            <a:avLst>
              <a:gd name="adj" fmla="val 6452"/>
            </a:avLst>
          </a:prstGeom>
          <a:solidFill>
            <a:srgbClr val="F2F5FC"/>
          </a:solidFill>
          <a:ln w="12700">
            <a:solidFill>
              <a:srgbClr val="DDE4F5"/>
            </a:solidFill>
            <a:prstDash val="solid"/>
          </a:ln>
        </p:spPr>
      </p:sp>
      <p:sp>
        <p:nvSpPr>
          <p:cNvPr id="33" name="Text 31"/>
          <p:cNvSpPr/>
          <p:nvPr/>
        </p:nvSpPr>
        <p:spPr>
          <a:xfrm>
            <a:off x="4553712" y="4434840"/>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&amp; Oversight</a:t>
            </a:r>
            <a:endParaRPr lang="en-US" sz="1350" dirty="0"/>
          </a:p>
        </p:txBody>
      </p:sp>
      <p:sp>
        <p:nvSpPr>
          <p:cNvPr id="34" name="Text 32"/>
          <p:cNvSpPr/>
          <p:nvPr/>
        </p:nvSpPr>
        <p:spPr>
          <a:xfrm>
            <a:off x="4553712" y="4736592"/>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Prove what happened.</a:t>
            </a:r>
            <a:endParaRPr lang="en-US" sz="1150" dirty="0"/>
          </a:p>
        </p:txBody>
      </p:sp>
      <p:sp>
        <p:nvSpPr>
          <p:cNvPr id="35" name="Text 33"/>
          <p:cNvSpPr/>
          <p:nvPr/>
        </p:nvSpPr>
        <p:spPr>
          <a:xfrm>
            <a:off x="4553712" y="5074920"/>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3 modules</a:t>
            </a:r>
            <a:endParaRPr lang="en-US" sz="1050" dirty="0"/>
          </a:p>
        </p:txBody>
      </p:sp>
      <p:sp>
        <p:nvSpPr>
          <p:cNvPr id="36" name="Shape 34"/>
          <p:cNvSpPr/>
          <p:nvPr/>
        </p:nvSpPr>
        <p:spPr>
          <a:xfrm>
            <a:off x="8083296" y="4279392"/>
            <a:ext cx="3538728" cy="1133856"/>
          </a:xfrm>
          <a:prstGeom prst="roundRect">
            <a:avLst>
              <a:gd name="adj" fmla="val 6452"/>
            </a:avLst>
          </a:prstGeom>
          <a:solidFill>
            <a:srgbClr val="F2F5FC"/>
          </a:solidFill>
          <a:ln w="12700">
            <a:solidFill>
              <a:srgbClr val="DDE4F5"/>
            </a:solidFill>
            <a:prstDash val="solid"/>
          </a:ln>
        </p:spPr>
      </p:sp>
      <p:sp>
        <p:nvSpPr>
          <p:cNvPr id="37" name="Text 35"/>
          <p:cNvSpPr/>
          <p:nvPr/>
        </p:nvSpPr>
        <p:spPr>
          <a:xfrm>
            <a:off x="8321040" y="4434840"/>
            <a:ext cx="3063240" cy="274320"/>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Administration</a:t>
            </a:r>
            <a:endParaRPr lang="en-US" sz="1350" dirty="0"/>
          </a:p>
        </p:txBody>
      </p:sp>
      <p:sp>
        <p:nvSpPr>
          <p:cNvPr id="38" name="Text 36"/>
          <p:cNvSpPr/>
          <p:nvPr/>
        </p:nvSpPr>
        <p:spPr>
          <a:xfrm>
            <a:off x="8321040" y="4736592"/>
            <a:ext cx="3063240" cy="310896"/>
          </a:xfrm>
          <a:prstGeom prst="rect">
            <a:avLst/>
          </a:prstGeom>
          <a:noFill/>
          <a:ln/>
        </p:spPr>
        <p:txBody>
          <a:bodyPr wrap="square" lIns="0" tIns="0" rIns="0" bIns="0" rtlCol="0" anchor="ctr"/>
          <a:lstStyle/>
          <a:p>
            <a:pPr indent="0" marL="0">
              <a:buNone/>
            </a:pPr>
            <a:r>
              <a:rPr lang="en-US" sz="1150" i="1" dirty="0">
                <a:solidFill>
                  <a:srgbClr val="2B3350"/>
                </a:solidFill>
                <a:latin typeface="Calibri" pitchFamily="34" charset="0"/>
                <a:ea typeface="Calibri" pitchFamily="34" charset="-122"/>
                <a:cs typeface="Calibri" pitchFamily="34" charset="-120"/>
              </a:rPr>
              <a:t>Who can do what?</a:t>
            </a:r>
            <a:endParaRPr lang="en-US" sz="1150" dirty="0"/>
          </a:p>
        </p:txBody>
      </p:sp>
      <p:sp>
        <p:nvSpPr>
          <p:cNvPr id="39" name="Text 37"/>
          <p:cNvSpPr/>
          <p:nvPr/>
        </p:nvSpPr>
        <p:spPr>
          <a:xfrm>
            <a:off x="8321040" y="5074920"/>
            <a:ext cx="3063240" cy="237744"/>
          </a:xfrm>
          <a:prstGeom prst="rect">
            <a:avLst/>
          </a:prstGeom>
          <a:noFill/>
          <a:ln/>
        </p:spPr>
        <p:txBody>
          <a:bodyPr wrap="square" lIns="0" tIns="0" rIns="0" bIns="0" rtlCol="0" anchor="ctr"/>
          <a:lstStyle/>
          <a:p>
            <a:pPr indent="0" marL="0">
              <a:buNone/>
            </a:pPr>
            <a:r>
              <a:rPr lang="en-US" sz="1050" b="1" spc="100" kern="0" dirty="0">
                <a:solidFill>
                  <a:srgbClr val="6B7391"/>
                </a:solidFill>
                <a:latin typeface="Calibri" pitchFamily="34" charset="0"/>
                <a:ea typeface="Calibri" pitchFamily="34" charset="-122"/>
                <a:cs typeface="Calibri" pitchFamily="34" charset="-120"/>
              </a:rPr>
              <a:t>3 modules</a:t>
            </a:r>
            <a:endParaRPr lang="en-US" sz="1050" dirty="0"/>
          </a:p>
        </p:txBody>
      </p:sp>
      <p:sp>
        <p:nvSpPr>
          <p:cNvPr id="40" name="Shape 38"/>
          <p:cNvSpPr/>
          <p:nvPr/>
        </p:nvSpPr>
        <p:spPr>
          <a:xfrm>
            <a:off x="548640" y="5596128"/>
            <a:ext cx="11064240" cy="658368"/>
          </a:xfrm>
          <a:prstGeom prst="roundRect">
            <a:avLst>
              <a:gd name="adj" fmla="val 11111"/>
            </a:avLst>
          </a:prstGeom>
          <a:solidFill>
            <a:srgbClr val="1E2761"/>
          </a:solidFill>
          <a:ln w="12700">
            <a:solidFill>
              <a:srgbClr val="1E2761"/>
            </a:solidFill>
            <a:prstDash val="solid"/>
          </a:ln>
        </p:spPr>
      </p:sp>
      <p:sp>
        <p:nvSpPr>
          <p:cNvPr id="41" name="Text 39"/>
          <p:cNvSpPr/>
          <p:nvPr/>
        </p:nvSpPr>
        <p:spPr>
          <a:xfrm>
            <a:off x="914400" y="5687568"/>
            <a:ext cx="731520" cy="45720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9</a:t>
            </a:r>
            <a:endParaRPr lang="en-US" sz="2400" dirty="0"/>
          </a:p>
        </p:txBody>
      </p:sp>
      <p:sp>
        <p:nvSpPr>
          <p:cNvPr id="42" name="Text 40"/>
          <p:cNvSpPr/>
          <p:nvPr/>
        </p:nvSpPr>
        <p:spPr>
          <a:xfrm>
            <a:off x="1691640" y="5797296"/>
            <a:ext cx="1463040" cy="310896"/>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governance domains</a:t>
            </a:r>
            <a:endParaRPr lang="en-US" sz="1200" dirty="0"/>
          </a:p>
        </p:txBody>
      </p:sp>
      <p:sp>
        <p:nvSpPr>
          <p:cNvPr id="43" name="Text 41"/>
          <p:cNvSpPr/>
          <p:nvPr/>
        </p:nvSpPr>
        <p:spPr>
          <a:xfrm>
            <a:off x="3657600" y="5687568"/>
            <a:ext cx="731520" cy="45720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47</a:t>
            </a:r>
            <a:endParaRPr lang="en-US" sz="2400" dirty="0"/>
          </a:p>
        </p:txBody>
      </p:sp>
      <p:sp>
        <p:nvSpPr>
          <p:cNvPr id="44" name="Text 42"/>
          <p:cNvSpPr/>
          <p:nvPr/>
        </p:nvSpPr>
        <p:spPr>
          <a:xfrm>
            <a:off x="4434840" y="5797296"/>
            <a:ext cx="1463040" cy="310896"/>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governance modules</a:t>
            </a:r>
            <a:endParaRPr lang="en-US" sz="1200" dirty="0"/>
          </a:p>
        </p:txBody>
      </p:sp>
      <p:sp>
        <p:nvSpPr>
          <p:cNvPr id="45" name="Text 43"/>
          <p:cNvSpPr/>
          <p:nvPr/>
        </p:nvSpPr>
        <p:spPr>
          <a:xfrm>
            <a:off x="6400800" y="5687568"/>
            <a:ext cx="731520" cy="45720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50</a:t>
            </a:r>
            <a:endParaRPr lang="en-US" sz="2400" dirty="0"/>
          </a:p>
        </p:txBody>
      </p:sp>
      <p:sp>
        <p:nvSpPr>
          <p:cNvPr id="46" name="Text 44"/>
          <p:cNvSpPr/>
          <p:nvPr/>
        </p:nvSpPr>
        <p:spPr>
          <a:xfrm>
            <a:off x="7178040" y="5797296"/>
            <a:ext cx="1463040" cy="310896"/>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governed routes</a:t>
            </a:r>
            <a:endParaRPr lang="en-US" sz="1200" dirty="0"/>
          </a:p>
        </p:txBody>
      </p:sp>
      <p:sp>
        <p:nvSpPr>
          <p:cNvPr id="47" name="Text 45"/>
          <p:cNvSpPr/>
          <p:nvPr/>
        </p:nvSpPr>
        <p:spPr>
          <a:xfrm>
            <a:off x="9144000" y="5687568"/>
            <a:ext cx="731520" cy="457200"/>
          </a:xfrm>
          <a:prstGeom prst="rect">
            <a:avLst/>
          </a:prstGeom>
          <a:noFill/>
          <a:ln/>
        </p:spPr>
        <p:txBody>
          <a:bodyPr wrap="square" lIns="0" tIns="0" rIns="0" bIns="0" rtlCol="0" anchor="ctr"/>
          <a:lstStyle/>
          <a:p>
            <a:pPr indent="0" marL="0">
              <a:buNone/>
            </a:pPr>
            <a:r>
              <a:rPr lang="en-US" sz="2400" b="1" dirty="0">
                <a:solidFill>
                  <a:srgbClr val="CADCFC"/>
                </a:solidFill>
                <a:latin typeface="Cambria" pitchFamily="34" charset="0"/>
                <a:ea typeface="Cambria" pitchFamily="34" charset="-122"/>
                <a:cs typeface="Cambria" pitchFamily="34" charset="-120"/>
              </a:rPr>
              <a:t>7</a:t>
            </a:r>
            <a:endParaRPr lang="en-US" sz="2400" dirty="0"/>
          </a:p>
        </p:txBody>
      </p:sp>
      <p:sp>
        <p:nvSpPr>
          <p:cNvPr id="48" name="Text 46"/>
          <p:cNvSpPr/>
          <p:nvPr/>
        </p:nvSpPr>
        <p:spPr>
          <a:xfrm>
            <a:off x="9921240" y="5797296"/>
            <a:ext cx="1463040" cy="310896"/>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user roles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AI GOVERNANCE LIFECYCLE</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One eight-stage path for every AI asset</a:t>
            </a:r>
            <a:endParaRPr lang="en-US" sz="3400" dirty="0"/>
          </a:p>
        </p:txBody>
      </p:sp>
      <p:sp>
        <p:nvSpPr>
          <p:cNvPr id="4" name="Shape 2"/>
          <p:cNvSpPr/>
          <p:nvPr/>
        </p:nvSpPr>
        <p:spPr>
          <a:xfrm>
            <a:off x="548640" y="1874520"/>
            <a:ext cx="1298448" cy="1371600"/>
          </a:xfrm>
          <a:prstGeom prst="roundRect">
            <a:avLst>
              <a:gd name="adj" fmla="val 6338"/>
            </a:avLst>
          </a:prstGeom>
          <a:solidFill>
            <a:srgbClr val="F2F5FC"/>
          </a:solidFill>
          <a:ln w="12700">
            <a:solidFill>
              <a:srgbClr val="DDE4F5"/>
            </a:solidFill>
            <a:prstDash val="solid"/>
          </a:ln>
        </p:spPr>
      </p:sp>
      <p:sp>
        <p:nvSpPr>
          <p:cNvPr id="5" name="Shape 3"/>
          <p:cNvSpPr/>
          <p:nvPr/>
        </p:nvSpPr>
        <p:spPr>
          <a:xfrm>
            <a:off x="1024128" y="2029968"/>
            <a:ext cx="347472" cy="347472"/>
          </a:xfrm>
          <a:prstGeom prst="ellipse">
            <a:avLst/>
          </a:prstGeom>
          <a:solidFill>
            <a:srgbClr val="1E2761"/>
          </a:solidFill>
          <a:ln w="12700">
            <a:solidFill>
              <a:srgbClr val="1E2761"/>
            </a:solidFill>
            <a:prstDash val="solid"/>
          </a:ln>
        </p:spPr>
      </p:sp>
      <p:sp>
        <p:nvSpPr>
          <p:cNvPr id="6" name="Text 4"/>
          <p:cNvSpPr/>
          <p:nvPr/>
        </p:nvSpPr>
        <p:spPr>
          <a:xfrm>
            <a:off x="1024128"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603504"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AI Asset</a:t>
            </a:r>
            <a:endParaRPr lang="en-US" sz="1150" dirty="0"/>
          </a:p>
        </p:txBody>
      </p:sp>
      <p:sp>
        <p:nvSpPr>
          <p:cNvPr id="8" name="Text 6"/>
          <p:cNvSpPr/>
          <p:nvPr/>
        </p:nvSpPr>
        <p:spPr>
          <a:xfrm>
            <a:off x="1847088"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9" name="Shape 7"/>
          <p:cNvSpPr/>
          <p:nvPr/>
        </p:nvSpPr>
        <p:spPr>
          <a:xfrm>
            <a:off x="1938528" y="1874520"/>
            <a:ext cx="1298448" cy="1371600"/>
          </a:xfrm>
          <a:prstGeom prst="roundRect">
            <a:avLst>
              <a:gd name="adj" fmla="val 6338"/>
            </a:avLst>
          </a:prstGeom>
          <a:solidFill>
            <a:srgbClr val="F2F5FC"/>
          </a:solidFill>
          <a:ln w="12700">
            <a:solidFill>
              <a:srgbClr val="DDE4F5"/>
            </a:solidFill>
            <a:prstDash val="solid"/>
          </a:ln>
        </p:spPr>
      </p:sp>
      <p:sp>
        <p:nvSpPr>
          <p:cNvPr id="10" name="Shape 8"/>
          <p:cNvSpPr/>
          <p:nvPr/>
        </p:nvSpPr>
        <p:spPr>
          <a:xfrm>
            <a:off x="2414016" y="2029968"/>
            <a:ext cx="347472" cy="347472"/>
          </a:xfrm>
          <a:prstGeom prst="ellipse">
            <a:avLst/>
          </a:prstGeom>
          <a:solidFill>
            <a:srgbClr val="1E2761"/>
          </a:solidFill>
          <a:ln w="12700">
            <a:solidFill>
              <a:srgbClr val="1E2761"/>
            </a:solidFill>
            <a:prstDash val="solid"/>
          </a:ln>
        </p:spPr>
      </p:sp>
      <p:sp>
        <p:nvSpPr>
          <p:cNvPr id="11" name="Text 9"/>
          <p:cNvSpPr/>
          <p:nvPr/>
        </p:nvSpPr>
        <p:spPr>
          <a:xfrm>
            <a:off x="2414016"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993392"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Ownership</a:t>
            </a:r>
            <a:endParaRPr lang="en-US" sz="1150" dirty="0"/>
          </a:p>
        </p:txBody>
      </p:sp>
      <p:sp>
        <p:nvSpPr>
          <p:cNvPr id="13" name="Text 11"/>
          <p:cNvSpPr/>
          <p:nvPr/>
        </p:nvSpPr>
        <p:spPr>
          <a:xfrm>
            <a:off x="3236976"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14" name="Shape 12"/>
          <p:cNvSpPr/>
          <p:nvPr/>
        </p:nvSpPr>
        <p:spPr>
          <a:xfrm>
            <a:off x="3328416" y="1874520"/>
            <a:ext cx="1298448" cy="1371600"/>
          </a:xfrm>
          <a:prstGeom prst="roundRect">
            <a:avLst>
              <a:gd name="adj" fmla="val 6338"/>
            </a:avLst>
          </a:prstGeom>
          <a:solidFill>
            <a:srgbClr val="F2F5FC"/>
          </a:solidFill>
          <a:ln w="12700">
            <a:solidFill>
              <a:srgbClr val="DDE4F5"/>
            </a:solidFill>
            <a:prstDash val="solid"/>
          </a:ln>
        </p:spPr>
      </p:sp>
      <p:sp>
        <p:nvSpPr>
          <p:cNvPr id="15" name="Shape 13"/>
          <p:cNvSpPr/>
          <p:nvPr/>
        </p:nvSpPr>
        <p:spPr>
          <a:xfrm>
            <a:off x="3803904" y="2029968"/>
            <a:ext cx="347472" cy="347472"/>
          </a:xfrm>
          <a:prstGeom prst="ellipse">
            <a:avLst/>
          </a:prstGeom>
          <a:solidFill>
            <a:srgbClr val="1E2761"/>
          </a:solidFill>
          <a:ln w="12700">
            <a:solidFill>
              <a:srgbClr val="1E2761"/>
            </a:solidFill>
            <a:prstDash val="solid"/>
          </a:ln>
        </p:spPr>
      </p:sp>
      <p:sp>
        <p:nvSpPr>
          <p:cNvPr id="16" name="Text 14"/>
          <p:cNvSpPr/>
          <p:nvPr/>
        </p:nvSpPr>
        <p:spPr>
          <a:xfrm>
            <a:off x="3803904"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p:nvPr/>
        </p:nvSpPr>
        <p:spPr>
          <a:xfrm>
            <a:off x="3383280"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Risk Review</a:t>
            </a:r>
            <a:endParaRPr lang="en-US" sz="1150" dirty="0"/>
          </a:p>
        </p:txBody>
      </p:sp>
      <p:sp>
        <p:nvSpPr>
          <p:cNvPr id="18" name="Text 16"/>
          <p:cNvSpPr/>
          <p:nvPr/>
        </p:nvSpPr>
        <p:spPr>
          <a:xfrm>
            <a:off x="4626864"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19" name="Shape 17"/>
          <p:cNvSpPr/>
          <p:nvPr/>
        </p:nvSpPr>
        <p:spPr>
          <a:xfrm>
            <a:off x="4718304" y="1874520"/>
            <a:ext cx="1298448" cy="1371600"/>
          </a:xfrm>
          <a:prstGeom prst="roundRect">
            <a:avLst>
              <a:gd name="adj" fmla="val 6338"/>
            </a:avLst>
          </a:prstGeom>
          <a:solidFill>
            <a:srgbClr val="F2F5FC"/>
          </a:solidFill>
          <a:ln w="12700">
            <a:solidFill>
              <a:srgbClr val="DDE4F5"/>
            </a:solidFill>
            <a:prstDash val="solid"/>
          </a:ln>
        </p:spPr>
      </p:sp>
      <p:sp>
        <p:nvSpPr>
          <p:cNvPr id="20" name="Shape 18"/>
          <p:cNvSpPr/>
          <p:nvPr/>
        </p:nvSpPr>
        <p:spPr>
          <a:xfrm>
            <a:off x="5193792" y="2029968"/>
            <a:ext cx="347472" cy="347472"/>
          </a:xfrm>
          <a:prstGeom prst="ellipse">
            <a:avLst/>
          </a:prstGeom>
          <a:solidFill>
            <a:srgbClr val="1E2761"/>
          </a:solidFill>
          <a:ln w="12700">
            <a:solidFill>
              <a:srgbClr val="1E2761"/>
            </a:solidFill>
            <a:prstDash val="solid"/>
          </a:ln>
        </p:spPr>
      </p:sp>
      <p:sp>
        <p:nvSpPr>
          <p:cNvPr id="21" name="Text 19"/>
          <p:cNvSpPr/>
          <p:nvPr/>
        </p:nvSpPr>
        <p:spPr>
          <a:xfrm>
            <a:off x="5193792"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2" name="Text 20"/>
          <p:cNvSpPr/>
          <p:nvPr/>
        </p:nvSpPr>
        <p:spPr>
          <a:xfrm>
            <a:off x="4773168"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Validation</a:t>
            </a:r>
            <a:endParaRPr lang="en-US" sz="1150" dirty="0"/>
          </a:p>
        </p:txBody>
      </p:sp>
      <p:sp>
        <p:nvSpPr>
          <p:cNvPr id="23" name="Text 21"/>
          <p:cNvSpPr/>
          <p:nvPr/>
        </p:nvSpPr>
        <p:spPr>
          <a:xfrm>
            <a:off x="6016752"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24" name="Shape 22"/>
          <p:cNvSpPr/>
          <p:nvPr/>
        </p:nvSpPr>
        <p:spPr>
          <a:xfrm>
            <a:off x="6108192" y="1874520"/>
            <a:ext cx="1298448" cy="1371600"/>
          </a:xfrm>
          <a:prstGeom prst="roundRect">
            <a:avLst>
              <a:gd name="adj" fmla="val 6338"/>
            </a:avLst>
          </a:prstGeom>
          <a:solidFill>
            <a:srgbClr val="F2F5FC"/>
          </a:solidFill>
          <a:ln w="12700">
            <a:solidFill>
              <a:srgbClr val="DDE4F5"/>
            </a:solidFill>
            <a:prstDash val="solid"/>
          </a:ln>
        </p:spPr>
      </p:sp>
      <p:sp>
        <p:nvSpPr>
          <p:cNvPr id="25" name="Shape 23"/>
          <p:cNvSpPr/>
          <p:nvPr/>
        </p:nvSpPr>
        <p:spPr>
          <a:xfrm>
            <a:off x="6583680" y="2029968"/>
            <a:ext cx="347472" cy="347472"/>
          </a:xfrm>
          <a:prstGeom prst="ellipse">
            <a:avLst/>
          </a:prstGeom>
          <a:solidFill>
            <a:srgbClr val="1E2761"/>
          </a:solidFill>
          <a:ln w="12700">
            <a:solidFill>
              <a:srgbClr val="1E2761"/>
            </a:solidFill>
            <a:prstDash val="solid"/>
          </a:ln>
        </p:spPr>
      </p:sp>
      <p:sp>
        <p:nvSpPr>
          <p:cNvPr id="26" name="Text 24"/>
          <p:cNvSpPr/>
          <p:nvPr/>
        </p:nvSpPr>
        <p:spPr>
          <a:xfrm>
            <a:off x="6583680"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7" name="Text 25"/>
          <p:cNvSpPr/>
          <p:nvPr/>
        </p:nvSpPr>
        <p:spPr>
          <a:xfrm>
            <a:off x="6163056"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Evidence</a:t>
            </a:r>
            <a:endParaRPr lang="en-US" sz="1150" dirty="0"/>
          </a:p>
        </p:txBody>
      </p:sp>
      <p:sp>
        <p:nvSpPr>
          <p:cNvPr id="28" name="Text 26"/>
          <p:cNvSpPr/>
          <p:nvPr/>
        </p:nvSpPr>
        <p:spPr>
          <a:xfrm>
            <a:off x="7406640"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29" name="Shape 27"/>
          <p:cNvSpPr/>
          <p:nvPr/>
        </p:nvSpPr>
        <p:spPr>
          <a:xfrm>
            <a:off x="7498080" y="1874520"/>
            <a:ext cx="1298448" cy="1371600"/>
          </a:xfrm>
          <a:prstGeom prst="roundRect">
            <a:avLst>
              <a:gd name="adj" fmla="val 6338"/>
            </a:avLst>
          </a:prstGeom>
          <a:solidFill>
            <a:srgbClr val="F2F5FC"/>
          </a:solidFill>
          <a:ln w="12700">
            <a:solidFill>
              <a:srgbClr val="DDE4F5"/>
            </a:solidFill>
            <a:prstDash val="solid"/>
          </a:ln>
        </p:spPr>
      </p:sp>
      <p:sp>
        <p:nvSpPr>
          <p:cNvPr id="30" name="Shape 28"/>
          <p:cNvSpPr/>
          <p:nvPr/>
        </p:nvSpPr>
        <p:spPr>
          <a:xfrm>
            <a:off x="7973568" y="2029968"/>
            <a:ext cx="347472" cy="347472"/>
          </a:xfrm>
          <a:prstGeom prst="ellipse">
            <a:avLst/>
          </a:prstGeom>
          <a:solidFill>
            <a:srgbClr val="1E2761"/>
          </a:solidFill>
          <a:ln w="12700">
            <a:solidFill>
              <a:srgbClr val="1E2761"/>
            </a:solidFill>
            <a:prstDash val="solid"/>
          </a:ln>
        </p:spPr>
      </p:sp>
      <p:sp>
        <p:nvSpPr>
          <p:cNvPr id="31" name="Text 29"/>
          <p:cNvSpPr/>
          <p:nvPr/>
        </p:nvSpPr>
        <p:spPr>
          <a:xfrm>
            <a:off x="7973568"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32" name="Text 30"/>
          <p:cNvSpPr/>
          <p:nvPr/>
        </p:nvSpPr>
        <p:spPr>
          <a:xfrm>
            <a:off x="7552944"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Decision</a:t>
            </a:r>
            <a:endParaRPr lang="en-US" sz="1150" dirty="0"/>
          </a:p>
        </p:txBody>
      </p:sp>
      <p:sp>
        <p:nvSpPr>
          <p:cNvPr id="33" name="Text 31"/>
          <p:cNvSpPr/>
          <p:nvPr/>
        </p:nvSpPr>
        <p:spPr>
          <a:xfrm>
            <a:off x="8796528"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34" name="Shape 32"/>
          <p:cNvSpPr/>
          <p:nvPr/>
        </p:nvSpPr>
        <p:spPr>
          <a:xfrm>
            <a:off x="8887968" y="1874520"/>
            <a:ext cx="1298448" cy="1371600"/>
          </a:xfrm>
          <a:prstGeom prst="roundRect">
            <a:avLst>
              <a:gd name="adj" fmla="val 6338"/>
            </a:avLst>
          </a:prstGeom>
          <a:solidFill>
            <a:srgbClr val="F2F5FC"/>
          </a:solidFill>
          <a:ln w="12700">
            <a:solidFill>
              <a:srgbClr val="DDE4F5"/>
            </a:solidFill>
            <a:prstDash val="solid"/>
          </a:ln>
        </p:spPr>
      </p:sp>
      <p:sp>
        <p:nvSpPr>
          <p:cNvPr id="35" name="Shape 33"/>
          <p:cNvSpPr/>
          <p:nvPr/>
        </p:nvSpPr>
        <p:spPr>
          <a:xfrm>
            <a:off x="9363456" y="2029968"/>
            <a:ext cx="347472" cy="347472"/>
          </a:xfrm>
          <a:prstGeom prst="ellipse">
            <a:avLst/>
          </a:prstGeom>
          <a:solidFill>
            <a:srgbClr val="1E2761"/>
          </a:solidFill>
          <a:ln w="12700">
            <a:solidFill>
              <a:srgbClr val="1E2761"/>
            </a:solidFill>
            <a:prstDash val="solid"/>
          </a:ln>
        </p:spPr>
      </p:sp>
      <p:sp>
        <p:nvSpPr>
          <p:cNvPr id="36" name="Text 34"/>
          <p:cNvSpPr/>
          <p:nvPr/>
        </p:nvSpPr>
        <p:spPr>
          <a:xfrm>
            <a:off x="9363456" y="2029968"/>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7</a:t>
            </a:r>
            <a:endParaRPr lang="en-US" sz="1200" dirty="0"/>
          </a:p>
        </p:txBody>
      </p:sp>
      <p:sp>
        <p:nvSpPr>
          <p:cNvPr id="37" name="Text 35"/>
          <p:cNvSpPr/>
          <p:nvPr/>
        </p:nvSpPr>
        <p:spPr>
          <a:xfrm>
            <a:off x="8942832" y="2487168"/>
            <a:ext cx="1188720" cy="603504"/>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Production</a:t>
            </a:r>
            <a:endParaRPr lang="en-US" sz="1150" dirty="0"/>
          </a:p>
        </p:txBody>
      </p:sp>
      <p:sp>
        <p:nvSpPr>
          <p:cNvPr id="38" name="Text 36"/>
          <p:cNvSpPr/>
          <p:nvPr/>
        </p:nvSpPr>
        <p:spPr>
          <a:xfrm>
            <a:off x="10186416" y="2331720"/>
            <a:ext cx="91440" cy="411480"/>
          </a:xfrm>
          <a:prstGeom prst="rect">
            <a:avLst/>
          </a:prstGeom>
          <a:noFill/>
          <a:ln/>
        </p:spPr>
        <p:txBody>
          <a:bodyPr wrap="square" lIns="0" tIns="0" rIns="0" bIns="0" rtlCol="0" anchor="ctr"/>
          <a:lstStyle/>
          <a:p>
            <a:pPr algn="ctr" indent="0" marL="0">
              <a:buNone/>
            </a:pPr>
            <a:r>
              <a:rPr lang="en-US" sz="1600" b="1" dirty="0">
                <a:solidFill>
                  <a:srgbClr val="6B7391"/>
                </a:solidFill>
                <a:latin typeface="Calibri" pitchFamily="34" charset="0"/>
                <a:ea typeface="Calibri" pitchFamily="34" charset="-122"/>
                <a:cs typeface="Calibri" pitchFamily="34" charset="-120"/>
              </a:rPr>
              <a:t>›</a:t>
            </a:r>
            <a:endParaRPr lang="en-US" sz="1600" dirty="0"/>
          </a:p>
        </p:txBody>
      </p:sp>
      <p:sp>
        <p:nvSpPr>
          <p:cNvPr id="39" name="Shape 37"/>
          <p:cNvSpPr/>
          <p:nvPr/>
        </p:nvSpPr>
        <p:spPr>
          <a:xfrm>
            <a:off x="10277856" y="1874520"/>
            <a:ext cx="1298448" cy="1371600"/>
          </a:xfrm>
          <a:prstGeom prst="roundRect">
            <a:avLst>
              <a:gd name="adj" fmla="val 6338"/>
            </a:avLst>
          </a:prstGeom>
          <a:solidFill>
            <a:srgbClr val="1E2761"/>
          </a:solidFill>
          <a:ln w="12700">
            <a:solidFill>
              <a:srgbClr val="1E2761"/>
            </a:solidFill>
            <a:prstDash val="solid"/>
          </a:ln>
        </p:spPr>
      </p:sp>
      <p:sp>
        <p:nvSpPr>
          <p:cNvPr id="40" name="Shape 38"/>
          <p:cNvSpPr/>
          <p:nvPr/>
        </p:nvSpPr>
        <p:spPr>
          <a:xfrm>
            <a:off x="10753344" y="2029968"/>
            <a:ext cx="347472" cy="347472"/>
          </a:xfrm>
          <a:prstGeom prst="ellipse">
            <a:avLst/>
          </a:prstGeom>
          <a:solidFill>
            <a:srgbClr val="CADCFC"/>
          </a:solidFill>
          <a:ln w="12700">
            <a:solidFill>
              <a:srgbClr val="CADCFC"/>
            </a:solidFill>
            <a:prstDash val="solid"/>
          </a:ln>
        </p:spPr>
      </p:sp>
      <p:sp>
        <p:nvSpPr>
          <p:cNvPr id="41" name="Text 39"/>
          <p:cNvSpPr/>
          <p:nvPr/>
        </p:nvSpPr>
        <p:spPr>
          <a:xfrm>
            <a:off x="10753344" y="2029968"/>
            <a:ext cx="347472" cy="347472"/>
          </a:xfrm>
          <a:prstGeom prst="rect">
            <a:avLst/>
          </a:prstGeom>
          <a:noFill/>
          <a:ln/>
        </p:spPr>
        <p:txBody>
          <a:bodyPr wrap="square" lIns="0" tIns="0" rIns="0" bIns="0"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8</a:t>
            </a:r>
            <a:endParaRPr lang="en-US" sz="1200" dirty="0"/>
          </a:p>
        </p:txBody>
      </p:sp>
      <p:sp>
        <p:nvSpPr>
          <p:cNvPr id="42" name="Text 40"/>
          <p:cNvSpPr/>
          <p:nvPr/>
        </p:nvSpPr>
        <p:spPr>
          <a:xfrm>
            <a:off x="10332720" y="2487168"/>
            <a:ext cx="1188720" cy="603504"/>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Monitoring</a:t>
            </a:r>
            <a:endParaRPr lang="en-US" sz="1150" dirty="0"/>
          </a:p>
        </p:txBody>
      </p:sp>
      <p:sp>
        <p:nvSpPr>
          <p:cNvPr id="43" name="Text 41"/>
          <p:cNvSpPr/>
          <p:nvPr/>
        </p:nvSpPr>
        <p:spPr>
          <a:xfrm>
            <a:off x="548640" y="3429000"/>
            <a:ext cx="11064240" cy="320040"/>
          </a:xfrm>
          <a:prstGeom prst="rect">
            <a:avLst/>
          </a:prstGeom>
          <a:noFill/>
          <a:ln/>
        </p:spPr>
        <p:txBody>
          <a:bodyPr wrap="square" lIns="0" tIns="0" rIns="0" bIns="0" rtlCol="0" anchor="ctr"/>
          <a:lstStyle/>
          <a:p>
            <a:pPr indent="0" marL="0">
              <a:buNone/>
            </a:pPr>
            <a:r>
              <a:rPr lang="en-US" sz="1300" dirty="0">
                <a:solidFill>
                  <a:srgbClr val="2B3350"/>
                </a:solidFill>
                <a:latin typeface="Calibri" pitchFamily="34" charset="0"/>
                <a:ea typeface="Calibri" pitchFamily="34" charset="-122"/>
                <a:cs typeface="Calibri" pitchFamily="34" charset="-120"/>
              </a:rPr>
              <a:t>At each stage the application records how many assets are cleared, pending, or blocked — so progress is measured, not assumed.</a:t>
            </a:r>
            <a:endParaRPr lang="en-US" sz="1300" dirty="0"/>
          </a:p>
        </p:txBody>
      </p:sp>
      <p:sp>
        <p:nvSpPr>
          <p:cNvPr id="44" name="Text 42"/>
          <p:cNvSpPr/>
          <p:nvPr/>
        </p:nvSpPr>
        <p:spPr>
          <a:xfrm>
            <a:off x="548640" y="3977640"/>
            <a:ext cx="11064240" cy="274320"/>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WHEN SOMETHING CHANGES, THE ASSET RE-ENTERS GOVERNANCE</a:t>
            </a:r>
            <a:endParaRPr lang="en-US" sz="1100" dirty="0"/>
          </a:p>
        </p:txBody>
      </p:sp>
      <p:sp>
        <p:nvSpPr>
          <p:cNvPr id="45" name="Shape 43"/>
          <p:cNvSpPr/>
          <p:nvPr/>
        </p:nvSpPr>
        <p:spPr>
          <a:xfrm>
            <a:off x="548640" y="4343400"/>
            <a:ext cx="2084832" cy="658368"/>
          </a:xfrm>
          <a:prstGeom prst="roundRect">
            <a:avLst>
              <a:gd name="adj" fmla="val 11111"/>
            </a:avLst>
          </a:prstGeom>
          <a:solidFill>
            <a:srgbClr val="E9EFFB"/>
          </a:solidFill>
          <a:ln w="12700">
            <a:solidFill>
              <a:srgbClr val="DDE4F5"/>
            </a:solidFill>
            <a:prstDash val="solid"/>
          </a:ln>
        </p:spPr>
      </p:sp>
      <p:sp>
        <p:nvSpPr>
          <p:cNvPr id="46" name="Text 44"/>
          <p:cNvSpPr/>
          <p:nvPr/>
        </p:nvSpPr>
        <p:spPr>
          <a:xfrm>
            <a:off x="621792" y="4343400"/>
            <a:ext cx="1938528" cy="658368"/>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Change Requested</a:t>
            </a:r>
            <a:endParaRPr lang="en-US" sz="1150" dirty="0"/>
          </a:p>
        </p:txBody>
      </p:sp>
      <p:sp>
        <p:nvSpPr>
          <p:cNvPr id="47" name="Text 45"/>
          <p:cNvSpPr/>
          <p:nvPr/>
        </p:nvSpPr>
        <p:spPr>
          <a:xfrm>
            <a:off x="2633472" y="4343400"/>
            <a:ext cx="128016" cy="658368"/>
          </a:xfrm>
          <a:prstGeom prst="rect">
            <a:avLst/>
          </a:prstGeom>
          <a:noFill/>
          <a:ln/>
        </p:spPr>
        <p:txBody>
          <a:bodyPr wrap="square" lIns="0" tIns="0" rIns="0" bIns="0" rtlCol="0" anchor="ctr"/>
          <a:lstStyle/>
          <a:p>
            <a:pPr algn="ctr" indent="0" marL="0">
              <a:buNone/>
            </a:pPr>
            <a:r>
              <a:rPr lang="en-US" sz="1500" b="1" dirty="0">
                <a:solidFill>
                  <a:srgbClr val="6B7391"/>
                </a:solidFill>
                <a:latin typeface="Calibri" pitchFamily="34" charset="0"/>
                <a:ea typeface="Calibri" pitchFamily="34" charset="-122"/>
                <a:cs typeface="Calibri" pitchFamily="34" charset="-120"/>
              </a:rPr>
              <a:t>›</a:t>
            </a:r>
            <a:endParaRPr lang="en-US" sz="1500" dirty="0"/>
          </a:p>
        </p:txBody>
      </p:sp>
      <p:sp>
        <p:nvSpPr>
          <p:cNvPr id="48" name="Shape 46"/>
          <p:cNvSpPr/>
          <p:nvPr/>
        </p:nvSpPr>
        <p:spPr>
          <a:xfrm>
            <a:off x="2761488" y="4343400"/>
            <a:ext cx="2084832" cy="658368"/>
          </a:xfrm>
          <a:prstGeom prst="roundRect">
            <a:avLst>
              <a:gd name="adj" fmla="val 11111"/>
            </a:avLst>
          </a:prstGeom>
          <a:solidFill>
            <a:srgbClr val="E9EFFB"/>
          </a:solidFill>
          <a:ln w="12700">
            <a:solidFill>
              <a:srgbClr val="DDE4F5"/>
            </a:solidFill>
            <a:prstDash val="solid"/>
          </a:ln>
        </p:spPr>
      </p:sp>
      <p:sp>
        <p:nvSpPr>
          <p:cNvPr id="49" name="Text 47"/>
          <p:cNvSpPr/>
          <p:nvPr/>
        </p:nvSpPr>
        <p:spPr>
          <a:xfrm>
            <a:off x="2834640" y="4343400"/>
            <a:ext cx="1938528" cy="658368"/>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Impact Assessment</a:t>
            </a:r>
            <a:endParaRPr lang="en-US" sz="1150" dirty="0"/>
          </a:p>
        </p:txBody>
      </p:sp>
      <p:sp>
        <p:nvSpPr>
          <p:cNvPr id="50" name="Text 48"/>
          <p:cNvSpPr/>
          <p:nvPr/>
        </p:nvSpPr>
        <p:spPr>
          <a:xfrm>
            <a:off x="4846320" y="4343400"/>
            <a:ext cx="128016" cy="658368"/>
          </a:xfrm>
          <a:prstGeom prst="rect">
            <a:avLst/>
          </a:prstGeom>
          <a:noFill/>
          <a:ln/>
        </p:spPr>
        <p:txBody>
          <a:bodyPr wrap="square" lIns="0" tIns="0" rIns="0" bIns="0" rtlCol="0" anchor="ctr"/>
          <a:lstStyle/>
          <a:p>
            <a:pPr algn="ctr" indent="0" marL="0">
              <a:buNone/>
            </a:pPr>
            <a:r>
              <a:rPr lang="en-US" sz="1500" b="1" dirty="0">
                <a:solidFill>
                  <a:srgbClr val="6B7391"/>
                </a:solidFill>
                <a:latin typeface="Calibri" pitchFamily="34" charset="0"/>
                <a:ea typeface="Calibri" pitchFamily="34" charset="-122"/>
                <a:cs typeface="Calibri" pitchFamily="34" charset="-120"/>
              </a:rPr>
              <a:t>›</a:t>
            </a:r>
            <a:endParaRPr lang="en-US" sz="1500" dirty="0"/>
          </a:p>
        </p:txBody>
      </p:sp>
      <p:sp>
        <p:nvSpPr>
          <p:cNvPr id="51" name="Shape 49"/>
          <p:cNvSpPr/>
          <p:nvPr/>
        </p:nvSpPr>
        <p:spPr>
          <a:xfrm>
            <a:off x="4974336" y="4343400"/>
            <a:ext cx="2084832" cy="658368"/>
          </a:xfrm>
          <a:prstGeom prst="roundRect">
            <a:avLst>
              <a:gd name="adj" fmla="val 11111"/>
            </a:avLst>
          </a:prstGeom>
          <a:solidFill>
            <a:srgbClr val="E9EFFB"/>
          </a:solidFill>
          <a:ln w="12700">
            <a:solidFill>
              <a:srgbClr val="DDE4F5"/>
            </a:solidFill>
            <a:prstDash val="solid"/>
          </a:ln>
        </p:spPr>
      </p:sp>
      <p:sp>
        <p:nvSpPr>
          <p:cNvPr id="52" name="Text 50"/>
          <p:cNvSpPr/>
          <p:nvPr/>
        </p:nvSpPr>
        <p:spPr>
          <a:xfrm>
            <a:off x="5047488" y="4343400"/>
            <a:ext cx="1938528" cy="658368"/>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Reassessment</a:t>
            </a:r>
            <a:endParaRPr lang="en-US" sz="1150" dirty="0"/>
          </a:p>
        </p:txBody>
      </p:sp>
      <p:sp>
        <p:nvSpPr>
          <p:cNvPr id="53" name="Text 51"/>
          <p:cNvSpPr/>
          <p:nvPr/>
        </p:nvSpPr>
        <p:spPr>
          <a:xfrm>
            <a:off x="7059168" y="4343400"/>
            <a:ext cx="128016" cy="658368"/>
          </a:xfrm>
          <a:prstGeom prst="rect">
            <a:avLst/>
          </a:prstGeom>
          <a:noFill/>
          <a:ln/>
        </p:spPr>
        <p:txBody>
          <a:bodyPr wrap="square" lIns="0" tIns="0" rIns="0" bIns="0" rtlCol="0" anchor="ctr"/>
          <a:lstStyle/>
          <a:p>
            <a:pPr algn="ctr" indent="0" marL="0">
              <a:buNone/>
            </a:pPr>
            <a:r>
              <a:rPr lang="en-US" sz="1500" b="1" dirty="0">
                <a:solidFill>
                  <a:srgbClr val="6B7391"/>
                </a:solidFill>
                <a:latin typeface="Calibri" pitchFamily="34" charset="0"/>
                <a:ea typeface="Calibri" pitchFamily="34" charset="-122"/>
                <a:cs typeface="Calibri" pitchFamily="34" charset="-120"/>
              </a:rPr>
              <a:t>›</a:t>
            </a:r>
            <a:endParaRPr lang="en-US" sz="1500" dirty="0"/>
          </a:p>
        </p:txBody>
      </p:sp>
      <p:sp>
        <p:nvSpPr>
          <p:cNvPr id="54" name="Shape 52"/>
          <p:cNvSpPr/>
          <p:nvPr/>
        </p:nvSpPr>
        <p:spPr>
          <a:xfrm>
            <a:off x="7187184" y="4343400"/>
            <a:ext cx="2084832" cy="658368"/>
          </a:xfrm>
          <a:prstGeom prst="roundRect">
            <a:avLst>
              <a:gd name="adj" fmla="val 11111"/>
            </a:avLst>
          </a:prstGeom>
          <a:solidFill>
            <a:srgbClr val="E9EFFB"/>
          </a:solidFill>
          <a:ln w="12700">
            <a:solidFill>
              <a:srgbClr val="DDE4F5"/>
            </a:solidFill>
            <a:prstDash val="solid"/>
          </a:ln>
        </p:spPr>
      </p:sp>
      <p:sp>
        <p:nvSpPr>
          <p:cNvPr id="55" name="Text 53"/>
          <p:cNvSpPr/>
          <p:nvPr/>
        </p:nvSpPr>
        <p:spPr>
          <a:xfrm>
            <a:off x="7260336" y="4343400"/>
            <a:ext cx="1938528" cy="658368"/>
          </a:xfrm>
          <a:prstGeom prst="rect">
            <a:avLst/>
          </a:prstGeom>
          <a:noFill/>
          <a:ln/>
        </p:spPr>
        <p:txBody>
          <a:bodyPr wrap="square" lIns="0" tIns="0" rIns="0" bIns="0" rtlCol="0" anchor="ctr"/>
          <a:lstStyle/>
          <a:p>
            <a:pPr algn="ctr" indent="0" marL="0">
              <a:buNone/>
            </a:pPr>
            <a:r>
              <a:rPr lang="en-US" sz="1150" b="1" dirty="0">
                <a:solidFill>
                  <a:srgbClr val="1E2761"/>
                </a:solidFill>
                <a:latin typeface="Calibri" pitchFamily="34" charset="0"/>
                <a:ea typeface="Calibri" pitchFamily="34" charset="-122"/>
                <a:cs typeface="Calibri" pitchFamily="34" charset="-120"/>
              </a:rPr>
              <a:t>Reapproved</a:t>
            </a:r>
            <a:endParaRPr lang="en-US" sz="1150" dirty="0"/>
          </a:p>
        </p:txBody>
      </p:sp>
      <p:sp>
        <p:nvSpPr>
          <p:cNvPr id="56" name="Text 54"/>
          <p:cNvSpPr/>
          <p:nvPr/>
        </p:nvSpPr>
        <p:spPr>
          <a:xfrm>
            <a:off x="9272016" y="4343400"/>
            <a:ext cx="128016" cy="658368"/>
          </a:xfrm>
          <a:prstGeom prst="rect">
            <a:avLst/>
          </a:prstGeom>
          <a:noFill/>
          <a:ln/>
        </p:spPr>
        <p:txBody>
          <a:bodyPr wrap="square" lIns="0" tIns="0" rIns="0" bIns="0" rtlCol="0" anchor="ctr"/>
          <a:lstStyle/>
          <a:p>
            <a:pPr algn="ctr" indent="0" marL="0">
              <a:buNone/>
            </a:pPr>
            <a:r>
              <a:rPr lang="en-US" sz="1500" b="1" dirty="0">
                <a:solidFill>
                  <a:srgbClr val="6B7391"/>
                </a:solidFill>
                <a:latin typeface="Calibri" pitchFamily="34" charset="0"/>
                <a:ea typeface="Calibri" pitchFamily="34" charset="-122"/>
                <a:cs typeface="Calibri" pitchFamily="34" charset="-120"/>
              </a:rPr>
              <a:t>›</a:t>
            </a:r>
            <a:endParaRPr lang="en-US" sz="1500" dirty="0"/>
          </a:p>
        </p:txBody>
      </p:sp>
      <p:sp>
        <p:nvSpPr>
          <p:cNvPr id="57" name="Shape 55"/>
          <p:cNvSpPr/>
          <p:nvPr/>
        </p:nvSpPr>
        <p:spPr>
          <a:xfrm>
            <a:off x="9400032" y="4343400"/>
            <a:ext cx="2084832" cy="658368"/>
          </a:xfrm>
          <a:prstGeom prst="roundRect">
            <a:avLst>
              <a:gd name="adj" fmla="val 11111"/>
            </a:avLst>
          </a:prstGeom>
          <a:solidFill>
            <a:srgbClr val="2E7D64"/>
          </a:solidFill>
          <a:ln w="12700">
            <a:solidFill>
              <a:srgbClr val="2E7D64"/>
            </a:solidFill>
            <a:prstDash val="solid"/>
          </a:ln>
        </p:spPr>
      </p:sp>
      <p:sp>
        <p:nvSpPr>
          <p:cNvPr id="58" name="Text 56"/>
          <p:cNvSpPr/>
          <p:nvPr/>
        </p:nvSpPr>
        <p:spPr>
          <a:xfrm>
            <a:off x="9473184" y="4343400"/>
            <a:ext cx="1938528" cy="65836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Production</a:t>
            </a:r>
            <a:endParaRPr lang="en-US" sz="1150" dirty="0"/>
          </a:p>
        </p:txBody>
      </p:sp>
      <p:sp>
        <p:nvSpPr>
          <p:cNvPr id="59" name="Shape 57"/>
          <p:cNvSpPr/>
          <p:nvPr/>
        </p:nvSpPr>
        <p:spPr>
          <a:xfrm>
            <a:off x="548640" y="5230368"/>
            <a:ext cx="11064240" cy="841248"/>
          </a:xfrm>
          <a:prstGeom prst="roundRect">
            <a:avLst>
              <a:gd name="adj" fmla="val 8696"/>
            </a:avLst>
          </a:prstGeom>
          <a:solidFill>
            <a:srgbClr val="F2F5FC"/>
          </a:solidFill>
          <a:ln w="12700">
            <a:solidFill>
              <a:srgbClr val="DDE4F5"/>
            </a:solidFill>
            <a:prstDash val="solid"/>
          </a:ln>
        </p:spPr>
      </p:sp>
      <p:sp>
        <p:nvSpPr>
          <p:cNvPr id="60" name="Text 58"/>
          <p:cNvSpPr/>
          <p:nvPr/>
        </p:nvSpPr>
        <p:spPr>
          <a:xfrm>
            <a:off x="822960" y="5349240"/>
            <a:ext cx="2743200"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Approval is not permanent.</a:t>
            </a:r>
            <a:endParaRPr lang="en-US" sz="1300" dirty="0"/>
          </a:p>
        </p:txBody>
      </p:sp>
      <p:sp>
        <p:nvSpPr>
          <p:cNvPr id="61" name="Text 59"/>
          <p:cNvSpPr/>
          <p:nvPr/>
        </p:nvSpPr>
        <p:spPr>
          <a:xfrm>
            <a:off x="822960" y="5632704"/>
            <a:ext cx="10515600" cy="347472"/>
          </a:xfrm>
          <a:prstGeom prst="rect">
            <a:avLst/>
          </a:prstGeom>
          <a:noFill/>
          <a:ln/>
        </p:spPr>
        <p:txBody>
          <a:bodyPr wrap="square" lIns="0" tIns="0" rIns="0" bIns="0" rtlCol="0" anchor="ctr"/>
          <a:lstStyle/>
          <a:p>
            <a:pPr indent="0" marL="0">
              <a:buNone/>
            </a:pPr>
            <a:r>
              <a:rPr lang="en-US" sz="1150" dirty="0">
                <a:solidFill>
                  <a:srgbClr val="2B3350"/>
                </a:solidFill>
                <a:latin typeface="Calibri" pitchFamily="34" charset="0"/>
                <a:ea typeface="Calibri" pitchFamily="34" charset="-122"/>
                <a:cs typeface="Calibri" pitchFamily="34" charset="-120"/>
              </a:rPr>
              <a:t>A model upgrade, vendor switch, new data source, prompt change or policy revision pushes the asset back through impact assessment and reapproval before it may proceed.</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OWNERSHIP &amp; ACCOUNTABILITY</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Five named owners on every AI asset</a:t>
            </a:r>
            <a:endParaRPr lang="en-US" sz="3400" dirty="0"/>
          </a:p>
        </p:txBody>
      </p:sp>
      <p:sp>
        <p:nvSpPr>
          <p:cNvPr id="4" name="Text 2"/>
          <p:cNvSpPr/>
          <p:nvPr/>
        </p:nvSpPr>
        <p:spPr>
          <a:xfrm>
            <a:off x="548640" y="1481328"/>
            <a:ext cx="10241280" cy="475488"/>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An AI asset with no named owner cannot be escalated, reviewed or defended. OMG requires five distinct accountable roles on every asset.</a:t>
            </a:r>
            <a:endParaRPr lang="en-US" sz="1400" dirty="0"/>
          </a:p>
        </p:txBody>
      </p:sp>
      <p:sp>
        <p:nvSpPr>
          <p:cNvPr id="5" name="Shape 3"/>
          <p:cNvSpPr/>
          <p:nvPr/>
        </p:nvSpPr>
        <p:spPr>
          <a:xfrm>
            <a:off x="548640" y="2057400"/>
            <a:ext cx="2121408" cy="2148840"/>
          </a:xfrm>
          <a:prstGeom prst="roundRect">
            <a:avLst>
              <a:gd name="adj" fmla="val 3448"/>
            </a:avLst>
          </a:prstGeom>
          <a:solidFill>
            <a:srgbClr val="F2F5FC"/>
          </a:solidFill>
          <a:ln w="12700">
            <a:solidFill>
              <a:srgbClr val="DDE4F5"/>
            </a:solidFill>
            <a:prstDash val="solid"/>
          </a:ln>
        </p:spPr>
      </p:sp>
      <p:sp>
        <p:nvSpPr>
          <p:cNvPr id="6" name="Shape 4"/>
          <p:cNvSpPr/>
          <p:nvPr/>
        </p:nvSpPr>
        <p:spPr>
          <a:xfrm>
            <a:off x="1408176" y="2267712"/>
            <a:ext cx="402336" cy="402336"/>
          </a:xfrm>
          <a:prstGeom prst="ellipse">
            <a:avLst/>
          </a:prstGeom>
          <a:solidFill>
            <a:srgbClr val="1E2761"/>
          </a:solidFill>
          <a:ln w="12700">
            <a:solidFill>
              <a:srgbClr val="1E2761"/>
            </a:solidFill>
            <a:prstDash val="solid"/>
          </a:ln>
        </p:spPr>
      </p:sp>
      <p:sp>
        <p:nvSpPr>
          <p:cNvPr id="7" name="Text 5"/>
          <p:cNvSpPr/>
          <p:nvPr/>
        </p:nvSpPr>
        <p:spPr>
          <a:xfrm>
            <a:off x="1408176" y="22677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658368" y="2788920"/>
            <a:ext cx="1901952" cy="45720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Business Owner</a:t>
            </a:r>
            <a:endParaRPr lang="en-US" sz="1300" dirty="0"/>
          </a:p>
        </p:txBody>
      </p:sp>
      <p:sp>
        <p:nvSpPr>
          <p:cNvPr id="9" name="Text 7"/>
          <p:cNvSpPr/>
          <p:nvPr/>
        </p:nvSpPr>
        <p:spPr>
          <a:xfrm>
            <a:off x="694944" y="3246120"/>
            <a:ext cx="1828800" cy="868680"/>
          </a:xfrm>
          <a:prstGeom prst="rect">
            <a:avLst/>
          </a:prstGeom>
          <a:noFill/>
          <a:ln/>
        </p:spPr>
        <p:txBody>
          <a:bodyPr wrap="square" lIns="0" tIns="0" rIns="0" bIns="0" rtlCol="0" anchor="ctr"/>
          <a:lstStyle/>
          <a:p>
            <a:pPr algn="ctr" indent="0" marL="0">
              <a:lnSpc>
                <a:spcPts val="1400"/>
              </a:lnSpc>
              <a:buNone/>
            </a:pPr>
            <a:r>
              <a:rPr lang="en-US" sz="1100" dirty="0">
                <a:solidFill>
                  <a:srgbClr val="2B3350"/>
                </a:solidFill>
                <a:latin typeface="Calibri" pitchFamily="34" charset="0"/>
                <a:ea typeface="Calibri" pitchFamily="34" charset="-122"/>
                <a:cs typeface="Calibri" pitchFamily="34" charset="-120"/>
              </a:rPr>
              <a:t>Owns the business outcome and accepts the residual risk of using the asset.</a:t>
            </a:r>
            <a:endParaRPr lang="en-US" sz="1100" dirty="0"/>
          </a:p>
        </p:txBody>
      </p:sp>
      <p:sp>
        <p:nvSpPr>
          <p:cNvPr id="10" name="Shape 8"/>
          <p:cNvSpPr/>
          <p:nvPr/>
        </p:nvSpPr>
        <p:spPr>
          <a:xfrm>
            <a:off x="2788920" y="2057400"/>
            <a:ext cx="2121408" cy="2148840"/>
          </a:xfrm>
          <a:prstGeom prst="roundRect">
            <a:avLst>
              <a:gd name="adj" fmla="val 3448"/>
            </a:avLst>
          </a:prstGeom>
          <a:solidFill>
            <a:srgbClr val="F2F5FC"/>
          </a:solidFill>
          <a:ln w="12700">
            <a:solidFill>
              <a:srgbClr val="DDE4F5"/>
            </a:solidFill>
            <a:prstDash val="solid"/>
          </a:ln>
        </p:spPr>
      </p:sp>
      <p:sp>
        <p:nvSpPr>
          <p:cNvPr id="11" name="Shape 9"/>
          <p:cNvSpPr/>
          <p:nvPr/>
        </p:nvSpPr>
        <p:spPr>
          <a:xfrm>
            <a:off x="3648456" y="2267712"/>
            <a:ext cx="402336" cy="402336"/>
          </a:xfrm>
          <a:prstGeom prst="ellipse">
            <a:avLst/>
          </a:prstGeom>
          <a:solidFill>
            <a:srgbClr val="1E2761"/>
          </a:solidFill>
          <a:ln w="12700">
            <a:solidFill>
              <a:srgbClr val="1E2761"/>
            </a:solidFill>
            <a:prstDash val="solid"/>
          </a:ln>
        </p:spPr>
      </p:sp>
      <p:sp>
        <p:nvSpPr>
          <p:cNvPr id="12" name="Text 10"/>
          <p:cNvSpPr/>
          <p:nvPr/>
        </p:nvSpPr>
        <p:spPr>
          <a:xfrm>
            <a:off x="3648456" y="22677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2898648" y="2788920"/>
            <a:ext cx="1901952" cy="45720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Technical Owner</a:t>
            </a:r>
            <a:endParaRPr lang="en-US" sz="1300" dirty="0"/>
          </a:p>
        </p:txBody>
      </p:sp>
      <p:sp>
        <p:nvSpPr>
          <p:cNvPr id="14" name="Text 12"/>
          <p:cNvSpPr/>
          <p:nvPr/>
        </p:nvSpPr>
        <p:spPr>
          <a:xfrm>
            <a:off x="2935224" y="3246120"/>
            <a:ext cx="1828800" cy="868680"/>
          </a:xfrm>
          <a:prstGeom prst="rect">
            <a:avLst/>
          </a:prstGeom>
          <a:noFill/>
          <a:ln/>
        </p:spPr>
        <p:txBody>
          <a:bodyPr wrap="square" lIns="0" tIns="0" rIns="0" bIns="0" rtlCol="0" anchor="ctr"/>
          <a:lstStyle/>
          <a:p>
            <a:pPr algn="ctr" indent="0" marL="0">
              <a:lnSpc>
                <a:spcPts val="1400"/>
              </a:lnSpc>
              <a:buNone/>
            </a:pPr>
            <a:r>
              <a:rPr lang="en-US" sz="1100" dirty="0">
                <a:solidFill>
                  <a:srgbClr val="2B3350"/>
                </a:solidFill>
                <a:latin typeface="Calibri" pitchFamily="34" charset="0"/>
                <a:ea typeface="Calibri" pitchFamily="34" charset="-122"/>
                <a:cs typeface="Calibri" pitchFamily="34" charset="-120"/>
              </a:rPr>
              <a:t>Owns how the asset is built, deployed and operated.</a:t>
            </a:r>
            <a:endParaRPr lang="en-US" sz="1100" dirty="0"/>
          </a:p>
        </p:txBody>
      </p:sp>
      <p:sp>
        <p:nvSpPr>
          <p:cNvPr id="15" name="Shape 13"/>
          <p:cNvSpPr/>
          <p:nvPr/>
        </p:nvSpPr>
        <p:spPr>
          <a:xfrm>
            <a:off x="5029200" y="2057400"/>
            <a:ext cx="2121408" cy="2148840"/>
          </a:xfrm>
          <a:prstGeom prst="roundRect">
            <a:avLst>
              <a:gd name="adj" fmla="val 3448"/>
            </a:avLst>
          </a:prstGeom>
          <a:solidFill>
            <a:srgbClr val="F2F5FC"/>
          </a:solidFill>
          <a:ln w="12700">
            <a:solidFill>
              <a:srgbClr val="DDE4F5"/>
            </a:solidFill>
            <a:prstDash val="solid"/>
          </a:ln>
        </p:spPr>
      </p:sp>
      <p:sp>
        <p:nvSpPr>
          <p:cNvPr id="16" name="Shape 14"/>
          <p:cNvSpPr/>
          <p:nvPr/>
        </p:nvSpPr>
        <p:spPr>
          <a:xfrm>
            <a:off x="5888736" y="2267712"/>
            <a:ext cx="402336" cy="402336"/>
          </a:xfrm>
          <a:prstGeom prst="ellipse">
            <a:avLst/>
          </a:prstGeom>
          <a:solidFill>
            <a:srgbClr val="1E2761"/>
          </a:solidFill>
          <a:ln w="12700">
            <a:solidFill>
              <a:srgbClr val="1E2761"/>
            </a:solidFill>
            <a:prstDash val="solid"/>
          </a:ln>
        </p:spPr>
      </p:sp>
      <p:sp>
        <p:nvSpPr>
          <p:cNvPr id="17" name="Text 15"/>
          <p:cNvSpPr/>
          <p:nvPr/>
        </p:nvSpPr>
        <p:spPr>
          <a:xfrm>
            <a:off x="5888736" y="22677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8" name="Text 16"/>
          <p:cNvSpPr/>
          <p:nvPr/>
        </p:nvSpPr>
        <p:spPr>
          <a:xfrm>
            <a:off x="5138928" y="2788920"/>
            <a:ext cx="1901952" cy="45720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Risk Owner</a:t>
            </a:r>
            <a:endParaRPr lang="en-US" sz="1300" dirty="0"/>
          </a:p>
        </p:txBody>
      </p:sp>
      <p:sp>
        <p:nvSpPr>
          <p:cNvPr id="19" name="Text 17"/>
          <p:cNvSpPr/>
          <p:nvPr/>
        </p:nvSpPr>
        <p:spPr>
          <a:xfrm>
            <a:off x="5175504" y="3246120"/>
            <a:ext cx="1828800" cy="868680"/>
          </a:xfrm>
          <a:prstGeom prst="rect">
            <a:avLst/>
          </a:prstGeom>
          <a:noFill/>
          <a:ln/>
        </p:spPr>
        <p:txBody>
          <a:bodyPr wrap="square" lIns="0" tIns="0" rIns="0" bIns="0" rtlCol="0" anchor="ctr"/>
          <a:lstStyle/>
          <a:p>
            <a:pPr algn="ctr" indent="0" marL="0">
              <a:lnSpc>
                <a:spcPts val="1400"/>
              </a:lnSpc>
              <a:buNone/>
            </a:pPr>
            <a:r>
              <a:rPr lang="en-US" sz="1100" dirty="0">
                <a:solidFill>
                  <a:srgbClr val="2B3350"/>
                </a:solidFill>
                <a:latin typeface="Calibri" pitchFamily="34" charset="0"/>
                <a:ea typeface="Calibri" pitchFamily="34" charset="-122"/>
                <a:cs typeface="Calibri" pitchFamily="34" charset="-120"/>
              </a:rPr>
              <a:t>Owns the risk classification and the controls that mitigate it.</a:t>
            </a:r>
            <a:endParaRPr lang="en-US" sz="1100" dirty="0"/>
          </a:p>
        </p:txBody>
      </p:sp>
      <p:sp>
        <p:nvSpPr>
          <p:cNvPr id="20" name="Shape 18"/>
          <p:cNvSpPr/>
          <p:nvPr/>
        </p:nvSpPr>
        <p:spPr>
          <a:xfrm>
            <a:off x="7269480" y="2057400"/>
            <a:ext cx="2121408" cy="2148840"/>
          </a:xfrm>
          <a:prstGeom prst="roundRect">
            <a:avLst>
              <a:gd name="adj" fmla="val 3448"/>
            </a:avLst>
          </a:prstGeom>
          <a:solidFill>
            <a:srgbClr val="F2F5FC"/>
          </a:solidFill>
          <a:ln w="12700">
            <a:solidFill>
              <a:srgbClr val="DDE4F5"/>
            </a:solidFill>
            <a:prstDash val="solid"/>
          </a:ln>
        </p:spPr>
      </p:sp>
      <p:sp>
        <p:nvSpPr>
          <p:cNvPr id="21" name="Shape 19"/>
          <p:cNvSpPr/>
          <p:nvPr/>
        </p:nvSpPr>
        <p:spPr>
          <a:xfrm>
            <a:off x="8129016" y="2267712"/>
            <a:ext cx="402336" cy="402336"/>
          </a:xfrm>
          <a:prstGeom prst="ellipse">
            <a:avLst/>
          </a:prstGeom>
          <a:solidFill>
            <a:srgbClr val="1E2761"/>
          </a:solidFill>
          <a:ln w="12700">
            <a:solidFill>
              <a:srgbClr val="1E2761"/>
            </a:solidFill>
            <a:prstDash val="solid"/>
          </a:ln>
        </p:spPr>
      </p:sp>
      <p:sp>
        <p:nvSpPr>
          <p:cNvPr id="22" name="Text 20"/>
          <p:cNvSpPr/>
          <p:nvPr/>
        </p:nvSpPr>
        <p:spPr>
          <a:xfrm>
            <a:off x="8129016" y="22677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3" name="Text 21"/>
          <p:cNvSpPr/>
          <p:nvPr/>
        </p:nvSpPr>
        <p:spPr>
          <a:xfrm>
            <a:off x="7379208" y="2788920"/>
            <a:ext cx="1901952" cy="45720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Compliance Owner</a:t>
            </a:r>
            <a:endParaRPr lang="en-US" sz="1300" dirty="0"/>
          </a:p>
        </p:txBody>
      </p:sp>
      <p:sp>
        <p:nvSpPr>
          <p:cNvPr id="24" name="Text 22"/>
          <p:cNvSpPr/>
          <p:nvPr/>
        </p:nvSpPr>
        <p:spPr>
          <a:xfrm>
            <a:off x="7415784" y="3246120"/>
            <a:ext cx="1828800" cy="868680"/>
          </a:xfrm>
          <a:prstGeom prst="rect">
            <a:avLst/>
          </a:prstGeom>
          <a:noFill/>
          <a:ln/>
        </p:spPr>
        <p:txBody>
          <a:bodyPr wrap="square" lIns="0" tIns="0" rIns="0" bIns="0" rtlCol="0" anchor="ctr"/>
          <a:lstStyle/>
          <a:p>
            <a:pPr algn="ctr" indent="0" marL="0">
              <a:lnSpc>
                <a:spcPts val="1400"/>
              </a:lnSpc>
              <a:buNone/>
            </a:pPr>
            <a:r>
              <a:rPr lang="en-US" sz="1100" dirty="0">
                <a:solidFill>
                  <a:srgbClr val="2B3350"/>
                </a:solidFill>
                <a:latin typeface="Calibri" pitchFamily="34" charset="0"/>
                <a:ea typeface="Calibri" pitchFamily="34" charset="-122"/>
                <a:cs typeface="Calibri" pitchFamily="34" charset="-120"/>
              </a:rPr>
              <a:t>Owns adherence to policy and regulatory obligation.</a:t>
            </a:r>
            <a:endParaRPr lang="en-US" sz="1100" dirty="0"/>
          </a:p>
        </p:txBody>
      </p:sp>
      <p:sp>
        <p:nvSpPr>
          <p:cNvPr id="25" name="Shape 23"/>
          <p:cNvSpPr/>
          <p:nvPr/>
        </p:nvSpPr>
        <p:spPr>
          <a:xfrm>
            <a:off x="9509760" y="2057400"/>
            <a:ext cx="2121408" cy="2148840"/>
          </a:xfrm>
          <a:prstGeom prst="roundRect">
            <a:avLst>
              <a:gd name="adj" fmla="val 3448"/>
            </a:avLst>
          </a:prstGeom>
          <a:solidFill>
            <a:srgbClr val="F2F5FC"/>
          </a:solidFill>
          <a:ln w="12700">
            <a:solidFill>
              <a:srgbClr val="DDE4F5"/>
            </a:solidFill>
            <a:prstDash val="solid"/>
          </a:ln>
        </p:spPr>
      </p:sp>
      <p:sp>
        <p:nvSpPr>
          <p:cNvPr id="26" name="Shape 24"/>
          <p:cNvSpPr/>
          <p:nvPr/>
        </p:nvSpPr>
        <p:spPr>
          <a:xfrm>
            <a:off x="10369296" y="2267712"/>
            <a:ext cx="402336" cy="402336"/>
          </a:xfrm>
          <a:prstGeom prst="ellipse">
            <a:avLst/>
          </a:prstGeom>
          <a:solidFill>
            <a:srgbClr val="1E2761"/>
          </a:solidFill>
          <a:ln w="12700">
            <a:solidFill>
              <a:srgbClr val="1E2761"/>
            </a:solidFill>
            <a:prstDash val="solid"/>
          </a:ln>
        </p:spPr>
      </p:sp>
      <p:sp>
        <p:nvSpPr>
          <p:cNvPr id="27" name="Text 25"/>
          <p:cNvSpPr/>
          <p:nvPr/>
        </p:nvSpPr>
        <p:spPr>
          <a:xfrm>
            <a:off x="10369296" y="2267712"/>
            <a:ext cx="402336" cy="40233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8" name="Text 26"/>
          <p:cNvSpPr/>
          <p:nvPr/>
        </p:nvSpPr>
        <p:spPr>
          <a:xfrm>
            <a:off x="9619488" y="2788920"/>
            <a:ext cx="1901952" cy="457200"/>
          </a:xfrm>
          <a:prstGeom prst="rect">
            <a:avLst/>
          </a:prstGeom>
          <a:noFill/>
          <a:ln/>
        </p:spPr>
        <p:txBody>
          <a:bodyPr wrap="square" lIns="0" tIns="0" rIns="0" bIns="0" rtlCol="0" anchor="ctr"/>
          <a:lstStyle/>
          <a:p>
            <a:pPr algn="ctr" indent="0" marL="0">
              <a:buNone/>
            </a:pPr>
            <a:r>
              <a:rPr lang="en-US" sz="1300" b="1" dirty="0">
                <a:solidFill>
                  <a:srgbClr val="1E2761"/>
                </a:solidFill>
                <a:latin typeface="Calibri" pitchFamily="34" charset="0"/>
                <a:ea typeface="Calibri" pitchFamily="34" charset="-122"/>
                <a:cs typeface="Calibri" pitchFamily="34" charset="-120"/>
              </a:rPr>
              <a:t>Approver</a:t>
            </a:r>
            <a:endParaRPr lang="en-US" sz="1300" dirty="0"/>
          </a:p>
        </p:txBody>
      </p:sp>
      <p:sp>
        <p:nvSpPr>
          <p:cNvPr id="29" name="Text 27"/>
          <p:cNvSpPr/>
          <p:nvPr/>
        </p:nvSpPr>
        <p:spPr>
          <a:xfrm>
            <a:off x="9656064" y="3246120"/>
            <a:ext cx="1828800" cy="868680"/>
          </a:xfrm>
          <a:prstGeom prst="rect">
            <a:avLst/>
          </a:prstGeom>
          <a:noFill/>
          <a:ln/>
        </p:spPr>
        <p:txBody>
          <a:bodyPr wrap="square" lIns="0" tIns="0" rIns="0" bIns="0" rtlCol="0" anchor="ctr"/>
          <a:lstStyle/>
          <a:p>
            <a:pPr algn="ctr" indent="0" marL="0">
              <a:lnSpc>
                <a:spcPts val="1400"/>
              </a:lnSpc>
              <a:buNone/>
            </a:pPr>
            <a:r>
              <a:rPr lang="en-US" sz="1100" dirty="0">
                <a:solidFill>
                  <a:srgbClr val="2B3350"/>
                </a:solidFill>
                <a:latin typeface="Calibri" pitchFamily="34" charset="0"/>
                <a:ea typeface="Calibri" pitchFamily="34" charset="-122"/>
                <a:cs typeface="Calibri" pitchFamily="34" charset="-120"/>
              </a:rPr>
              <a:t>Holds the authority to permit or refuse production use.</a:t>
            </a:r>
            <a:endParaRPr lang="en-US" sz="1100" dirty="0"/>
          </a:p>
        </p:txBody>
      </p:sp>
      <p:sp>
        <p:nvSpPr>
          <p:cNvPr id="30" name="Shape 28"/>
          <p:cNvSpPr/>
          <p:nvPr/>
        </p:nvSpPr>
        <p:spPr>
          <a:xfrm>
            <a:off x="548640" y="4480560"/>
            <a:ext cx="11064240" cy="1481328"/>
          </a:xfrm>
          <a:prstGeom prst="roundRect">
            <a:avLst>
              <a:gd name="adj" fmla="val 4938"/>
            </a:avLst>
          </a:prstGeom>
          <a:solidFill>
            <a:srgbClr val="1E2761"/>
          </a:solidFill>
          <a:ln w="12700">
            <a:solidFill>
              <a:srgbClr val="1E2761"/>
            </a:solidFill>
            <a:prstDash val="solid"/>
          </a:ln>
        </p:spPr>
      </p:sp>
      <p:sp>
        <p:nvSpPr>
          <p:cNvPr id="31" name="Text 29"/>
          <p:cNvSpPr/>
          <p:nvPr/>
        </p:nvSpPr>
        <p:spPr>
          <a:xfrm>
            <a:off x="868680" y="4645152"/>
            <a:ext cx="475488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How the system enforces it</a:t>
            </a:r>
            <a:endParaRPr lang="en-US" sz="1300" dirty="0"/>
          </a:p>
        </p:txBody>
      </p:sp>
      <p:sp>
        <p:nvSpPr>
          <p:cNvPr id="32" name="Text 30"/>
          <p:cNvSpPr/>
          <p:nvPr/>
        </p:nvSpPr>
        <p:spPr>
          <a:xfrm>
            <a:off x="960120" y="4983480"/>
            <a:ext cx="10241280" cy="868680"/>
          </a:xfrm>
          <a:prstGeom prst="rect">
            <a:avLst/>
          </a:prstGeom>
          <a:noFill/>
          <a:ln/>
        </p:spPr>
        <p:txBody>
          <a:bodyPr wrap="square" lIns="0" tIns="0" rIns="0" bIns="0" rtlCol="0" anchor="ctr"/>
          <a:lstStyle/>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Ownership completeness is scored and carries the heaviest weight (25%) in the overall governance health index.</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Assets with missing roles are raised automatically as executive alerts and as policy violations.</a:t>
            </a:r>
            <a:endParaRPr lang="en-US" sz="1200" dirty="0"/>
          </a:p>
          <a:p>
            <a:pPr marL="342900" indent="-342900">
              <a:spcAft>
                <a:spcPts val="400"/>
              </a:spcAft>
              <a:buSzPct val="100000"/>
              <a:buChar char="•"/>
            </a:pPr>
            <a:r>
              <a:rPr lang="en-US" sz="1200" dirty="0">
                <a:solidFill>
                  <a:srgbClr val="FFFFFF"/>
                </a:solidFill>
                <a:latin typeface="Calibri" pitchFamily="34" charset="0"/>
                <a:ea typeface="Calibri" pitchFamily="34" charset="-122"/>
                <a:cs typeface="Calibri" pitchFamily="34" charset="-120"/>
              </a:rPr>
              <a:t>An incomplete ownership matrix blocks the asset from clearing the Ownership stage of the lifecycle.</a:t>
            </a:r>
            <a:endParaRPr lang="en-US" sz="1200" dirty="0"/>
          </a:p>
        </p:txBody>
      </p:sp>
      <p:sp>
        <p:nvSpPr>
          <p:cNvPr id="33" name="Text 31"/>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OwnershipAssignment type; Ownership Matrix module; governance health weighting in executiveGovernance.ts</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RISK &amp; VALIDATION</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Risk classified, validation evidenced</a:t>
            </a:r>
            <a:endParaRPr lang="en-US" sz="3400" dirty="0"/>
          </a:p>
        </p:txBody>
      </p:sp>
      <p:sp>
        <p:nvSpPr>
          <p:cNvPr id="4" name="Text 2"/>
          <p:cNvSpPr/>
          <p:nvPr/>
        </p:nvSpPr>
        <p:spPr>
          <a:xfrm>
            <a:off x="548640" y="1572768"/>
            <a:ext cx="5212080" cy="274320"/>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RISK CLASSIFICATION</a:t>
            </a:r>
            <a:endParaRPr lang="en-US" sz="1100" dirty="0"/>
          </a:p>
        </p:txBody>
      </p:sp>
      <p:sp>
        <p:nvSpPr>
          <p:cNvPr id="5" name="Text 3"/>
          <p:cNvSpPr/>
          <p:nvPr/>
        </p:nvSpPr>
        <p:spPr>
          <a:xfrm>
            <a:off x="548640" y="1874520"/>
            <a:ext cx="5212080" cy="457200"/>
          </a:xfrm>
          <a:prstGeom prst="rect">
            <a:avLst/>
          </a:prstGeom>
          <a:noFill/>
          <a:ln/>
        </p:spPr>
        <p:txBody>
          <a:bodyPr wrap="square" lIns="0" tIns="0" rIns="0" bIns="0" rtlCol="0" anchor="ctr"/>
          <a:lstStyle/>
          <a:p>
            <a:pPr indent="0" marL="0">
              <a:buNone/>
            </a:pPr>
            <a:r>
              <a:rPr lang="en-US" sz="1250" dirty="0">
                <a:solidFill>
                  <a:srgbClr val="2B3350"/>
                </a:solidFill>
                <a:latin typeface="Calibri" pitchFamily="34" charset="0"/>
                <a:ea typeface="Calibri" pitchFamily="34" charset="-122"/>
                <a:cs typeface="Calibri" pitchFamily="34" charset="-120"/>
              </a:rPr>
              <a:t>Every asset is assigned one of four risk tiers, which drives how much governance it must pass.</a:t>
            </a:r>
            <a:endParaRPr lang="en-US" sz="1250" dirty="0"/>
          </a:p>
        </p:txBody>
      </p:sp>
      <p:sp>
        <p:nvSpPr>
          <p:cNvPr id="6" name="Shape 4"/>
          <p:cNvSpPr/>
          <p:nvPr/>
        </p:nvSpPr>
        <p:spPr>
          <a:xfrm>
            <a:off x="548640" y="2450592"/>
            <a:ext cx="5212080" cy="475488"/>
          </a:xfrm>
          <a:prstGeom prst="roundRect">
            <a:avLst>
              <a:gd name="adj" fmla="val 11538"/>
            </a:avLst>
          </a:prstGeom>
          <a:solidFill>
            <a:srgbClr val="F2F5FC"/>
          </a:solidFill>
          <a:ln w="12700">
            <a:solidFill>
              <a:srgbClr val="DDE4F5"/>
            </a:solidFill>
            <a:prstDash val="solid"/>
          </a:ln>
        </p:spPr>
      </p:sp>
      <p:sp>
        <p:nvSpPr>
          <p:cNvPr id="7" name="Shape 5"/>
          <p:cNvSpPr/>
          <p:nvPr/>
        </p:nvSpPr>
        <p:spPr>
          <a:xfrm>
            <a:off x="731520" y="2587752"/>
            <a:ext cx="201168" cy="201168"/>
          </a:xfrm>
          <a:prstGeom prst="ellipse">
            <a:avLst/>
          </a:prstGeom>
          <a:solidFill>
            <a:srgbClr val="2E7D64"/>
          </a:solidFill>
          <a:ln w="12700">
            <a:solidFill>
              <a:srgbClr val="2E7D64"/>
            </a:solidFill>
            <a:prstDash val="solid"/>
          </a:ln>
        </p:spPr>
      </p:sp>
      <p:sp>
        <p:nvSpPr>
          <p:cNvPr id="8" name="Text 6"/>
          <p:cNvSpPr/>
          <p:nvPr/>
        </p:nvSpPr>
        <p:spPr>
          <a:xfrm>
            <a:off x="1051560" y="2450592"/>
            <a:ext cx="1828800" cy="47548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Low Risk</a:t>
            </a:r>
            <a:endParaRPr lang="en-US" sz="1300" dirty="0"/>
          </a:p>
        </p:txBody>
      </p:sp>
      <p:sp>
        <p:nvSpPr>
          <p:cNvPr id="9" name="Shape 7"/>
          <p:cNvSpPr/>
          <p:nvPr/>
        </p:nvSpPr>
        <p:spPr>
          <a:xfrm>
            <a:off x="548640" y="3017520"/>
            <a:ext cx="5212080" cy="475488"/>
          </a:xfrm>
          <a:prstGeom prst="roundRect">
            <a:avLst>
              <a:gd name="adj" fmla="val 11538"/>
            </a:avLst>
          </a:prstGeom>
          <a:solidFill>
            <a:srgbClr val="F2F5FC"/>
          </a:solidFill>
          <a:ln w="12700">
            <a:solidFill>
              <a:srgbClr val="DDE4F5"/>
            </a:solidFill>
            <a:prstDash val="solid"/>
          </a:ln>
        </p:spPr>
      </p:sp>
      <p:sp>
        <p:nvSpPr>
          <p:cNvPr id="10" name="Shape 8"/>
          <p:cNvSpPr/>
          <p:nvPr/>
        </p:nvSpPr>
        <p:spPr>
          <a:xfrm>
            <a:off x="731520" y="3154680"/>
            <a:ext cx="201168" cy="201168"/>
          </a:xfrm>
          <a:prstGeom prst="ellipse">
            <a:avLst/>
          </a:prstGeom>
          <a:solidFill>
            <a:srgbClr val="C8871B"/>
          </a:solidFill>
          <a:ln w="12700">
            <a:solidFill>
              <a:srgbClr val="C8871B"/>
            </a:solidFill>
            <a:prstDash val="solid"/>
          </a:ln>
        </p:spPr>
      </p:sp>
      <p:sp>
        <p:nvSpPr>
          <p:cNvPr id="11" name="Text 9"/>
          <p:cNvSpPr/>
          <p:nvPr/>
        </p:nvSpPr>
        <p:spPr>
          <a:xfrm>
            <a:off x="1051560" y="3017520"/>
            <a:ext cx="1828800" cy="47548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Medium Risk</a:t>
            </a:r>
            <a:endParaRPr lang="en-US" sz="1300" dirty="0"/>
          </a:p>
        </p:txBody>
      </p:sp>
      <p:sp>
        <p:nvSpPr>
          <p:cNvPr id="12" name="Shape 10"/>
          <p:cNvSpPr/>
          <p:nvPr/>
        </p:nvSpPr>
        <p:spPr>
          <a:xfrm>
            <a:off x="548640" y="3584448"/>
            <a:ext cx="5212080" cy="475488"/>
          </a:xfrm>
          <a:prstGeom prst="roundRect">
            <a:avLst>
              <a:gd name="adj" fmla="val 11538"/>
            </a:avLst>
          </a:prstGeom>
          <a:solidFill>
            <a:srgbClr val="F2F5FC"/>
          </a:solidFill>
          <a:ln w="12700">
            <a:solidFill>
              <a:srgbClr val="DDE4F5"/>
            </a:solidFill>
            <a:prstDash val="solid"/>
          </a:ln>
        </p:spPr>
      </p:sp>
      <p:sp>
        <p:nvSpPr>
          <p:cNvPr id="13" name="Shape 11"/>
          <p:cNvSpPr/>
          <p:nvPr/>
        </p:nvSpPr>
        <p:spPr>
          <a:xfrm>
            <a:off x="731520" y="3721608"/>
            <a:ext cx="201168" cy="201168"/>
          </a:xfrm>
          <a:prstGeom prst="ellipse">
            <a:avLst/>
          </a:prstGeom>
          <a:solidFill>
            <a:srgbClr val="D2691E"/>
          </a:solidFill>
          <a:ln w="12700">
            <a:solidFill>
              <a:srgbClr val="D2691E"/>
            </a:solidFill>
            <a:prstDash val="solid"/>
          </a:ln>
        </p:spPr>
      </p:sp>
      <p:sp>
        <p:nvSpPr>
          <p:cNvPr id="14" name="Text 12"/>
          <p:cNvSpPr/>
          <p:nvPr/>
        </p:nvSpPr>
        <p:spPr>
          <a:xfrm>
            <a:off x="1051560" y="3584448"/>
            <a:ext cx="1828800" cy="47548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High Risk</a:t>
            </a:r>
            <a:endParaRPr lang="en-US" sz="1300" dirty="0"/>
          </a:p>
        </p:txBody>
      </p:sp>
      <p:sp>
        <p:nvSpPr>
          <p:cNvPr id="15" name="Shape 13"/>
          <p:cNvSpPr/>
          <p:nvPr/>
        </p:nvSpPr>
        <p:spPr>
          <a:xfrm>
            <a:off x="548640" y="4151376"/>
            <a:ext cx="5212080" cy="475488"/>
          </a:xfrm>
          <a:prstGeom prst="roundRect">
            <a:avLst>
              <a:gd name="adj" fmla="val 11538"/>
            </a:avLst>
          </a:prstGeom>
          <a:solidFill>
            <a:srgbClr val="F2F5FC"/>
          </a:solidFill>
          <a:ln w="12700">
            <a:solidFill>
              <a:srgbClr val="DDE4F5"/>
            </a:solidFill>
            <a:prstDash val="solid"/>
          </a:ln>
        </p:spPr>
      </p:sp>
      <p:sp>
        <p:nvSpPr>
          <p:cNvPr id="16" name="Shape 14"/>
          <p:cNvSpPr/>
          <p:nvPr/>
        </p:nvSpPr>
        <p:spPr>
          <a:xfrm>
            <a:off x="731520" y="4288536"/>
            <a:ext cx="201168" cy="201168"/>
          </a:xfrm>
          <a:prstGeom prst="ellipse">
            <a:avLst/>
          </a:prstGeom>
          <a:solidFill>
            <a:srgbClr val="B23A48"/>
          </a:solidFill>
          <a:ln w="12700">
            <a:solidFill>
              <a:srgbClr val="B23A48"/>
            </a:solidFill>
            <a:prstDash val="solid"/>
          </a:ln>
        </p:spPr>
      </p:sp>
      <p:sp>
        <p:nvSpPr>
          <p:cNvPr id="17" name="Text 15"/>
          <p:cNvSpPr/>
          <p:nvPr/>
        </p:nvSpPr>
        <p:spPr>
          <a:xfrm>
            <a:off x="1051560" y="4151376"/>
            <a:ext cx="1828800" cy="47548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Critical Risk</a:t>
            </a:r>
            <a:endParaRPr lang="en-US" sz="1300" dirty="0"/>
          </a:p>
        </p:txBody>
      </p:sp>
      <p:sp>
        <p:nvSpPr>
          <p:cNvPr id="18" name="Shape 16"/>
          <p:cNvSpPr/>
          <p:nvPr/>
        </p:nvSpPr>
        <p:spPr>
          <a:xfrm>
            <a:off x="548640" y="4828032"/>
            <a:ext cx="5212080" cy="1143000"/>
          </a:xfrm>
          <a:prstGeom prst="roundRect">
            <a:avLst>
              <a:gd name="adj" fmla="val 6400"/>
            </a:avLst>
          </a:prstGeom>
          <a:solidFill>
            <a:srgbClr val="FDF3E3"/>
          </a:solidFill>
          <a:ln w="12700">
            <a:solidFill>
              <a:srgbClr val="E8C88E"/>
            </a:solidFill>
            <a:prstDash val="solid"/>
          </a:ln>
        </p:spPr>
      </p:sp>
      <p:sp>
        <p:nvSpPr>
          <p:cNvPr id="19" name="Text 17"/>
          <p:cNvSpPr/>
          <p:nvPr/>
        </p:nvSpPr>
        <p:spPr>
          <a:xfrm>
            <a:off x="777240" y="4956048"/>
            <a:ext cx="4754880" cy="274320"/>
          </a:xfrm>
          <a:prstGeom prst="rect">
            <a:avLst/>
          </a:prstGeom>
          <a:noFill/>
          <a:ln/>
        </p:spPr>
        <p:txBody>
          <a:bodyPr wrap="square" lIns="0" tIns="0" rIns="0" bIns="0" rtlCol="0" anchor="ctr"/>
          <a:lstStyle/>
          <a:p>
            <a:pPr indent="0" marL="0">
              <a:buNone/>
            </a:pPr>
            <a:r>
              <a:rPr lang="en-US" sz="1250" b="1" dirty="0">
                <a:solidFill>
                  <a:srgbClr val="8A5A12"/>
                </a:solidFill>
                <a:latin typeface="Calibri" pitchFamily="34" charset="0"/>
                <a:ea typeface="Calibri" pitchFamily="34" charset="-122"/>
                <a:cs typeface="Calibri" pitchFamily="34" charset="-120"/>
              </a:rPr>
              <a:t>High and Critical assets are held to a stricter bar</a:t>
            </a:r>
            <a:endParaRPr lang="en-US" sz="1250" dirty="0"/>
          </a:p>
        </p:txBody>
      </p:sp>
      <p:sp>
        <p:nvSpPr>
          <p:cNvPr id="20" name="Text 18"/>
          <p:cNvSpPr/>
          <p:nvPr/>
        </p:nvSpPr>
        <p:spPr>
          <a:xfrm>
            <a:off x="777240" y="5248656"/>
            <a:ext cx="4754880" cy="658368"/>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They require approved independent validation and evidenced human oversight before production, and are placed on a quarterly review cadence. Failing any of these raises a policy violation automatically.</a:t>
            </a:r>
            <a:endParaRPr lang="en-US" sz="1100" dirty="0"/>
          </a:p>
        </p:txBody>
      </p:sp>
      <p:sp>
        <p:nvSpPr>
          <p:cNvPr id="21" name="Text 19"/>
          <p:cNvSpPr/>
          <p:nvPr/>
        </p:nvSpPr>
        <p:spPr>
          <a:xfrm>
            <a:off x="6309360" y="1572768"/>
            <a:ext cx="5303520" cy="274320"/>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INDEPENDENT VALIDATION</a:t>
            </a:r>
            <a:endParaRPr lang="en-US" sz="1100" dirty="0"/>
          </a:p>
        </p:txBody>
      </p:sp>
      <p:sp>
        <p:nvSpPr>
          <p:cNvPr id="22" name="Text 20"/>
          <p:cNvSpPr/>
          <p:nvPr/>
        </p:nvSpPr>
        <p:spPr>
          <a:xfrm>
            <a:off x="6309360" y="1874520"/>
            <a:ext cx="5303520" cy="457200"/>
          </a:xfrm>
          <a:prstGeom prst="rect">
            <a:avLst/>
          </a:prstGeom>
          <a:noFill/>
          <a:ln/>
        </p:spPr>
        <p:txBody>
          <a:bodyPr wrap="square" lIns="0" tIns="0" rIns="0" bIns="0" rtlCol="0" anchor="ctr"/>
          <a:lstStyle/>
          <a:p>
            <a:pPr indent="0" marL="0">
              <a:buNone/>
            </a:pPr>
            <a:r>
              <a:rPr lang="en-US" sz="1250" dirty="0">
                <a:solidFill>
                  <a:srgbClr val="2B3350"/>
                </a:solidFill>
                <a:latin typeface="Calibri" pitchFamily="34" charset="0"/>
                <a:ea typeface="Calibri" pitchFamily="34" charset="-122"/>
                <a:cs typeface="Calibri" pitchFamily="34" charset="-120"/>
              </a:rPr>
              <a:t>Validation is reviewed across six separate disciplines, each scored and recorded by a named reviewer.</a:t>
            </a:r>
            <a:endParaRPr lang="en-US" sz="1250" dirty="0"/>
          </a:p>
        </p:txBody>
      </p:sp>
      <p:sp>
        <p:nvSpPr>
          <p:cNvPr id="23" name="Shape 21"/>
          <p:cNvSpPr/>
          <p:nvPr/>
        </p:nvSpPr>
        <p:spPr>
          <a:xfrm>
            <a:off x="6309360" y="2450592"/>
            <a:ext cx="2578608" cy="658368"/>
          </a:xfrm>
          <a:prstGeom prst="roundRect">
            <a:avLst>
              <a:gd name="adj" fmla="val 8333"/>
            </a:avLst>
          </a:prstGeom>
          <a:solidFill>
            <a:srgbClr val="1E2761"/>
          </a:solidFill>
          <a:ln w="12700">
            <a:solidFill>
              <a:srgbClr val="1E2761"/>
            </a:solidFill>
            <a:prstDash val="solid"/>
          </a:ln>
        </p:spPr>
      </p:sp>
      <p:sp>
        <p:nvSpPr>
          <p:cNvPr id="24" name="Text 22"/>
          <p:cNvSpPr/>
          <p:nvPr/>
        </p:nvSpPr>
        <p:spPr>
          <a:xfrm>
            <a:off x="6309360" y="2450592"/>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Business</a:t>
            </a:r>
            <a:endParaRPr lang="en-US" sz="1300" dirty="0"/>
          </a:p>
        </p:txBody>
      </p:sp>
      <p:sp>
        <p:nvSpPr>
          <p:cNvPr id="25" name="Shape 23"/>
          <p:cNvSpPr/>
          <p:nvPr/>
        </p:nvSpPr>
        <p:spPr>
          <a:xfrm>
            <a:off x="9034272" y="2450592"/>
            <a:ext cx="2578608" cy="658368"/>
          </a:xfrm>
          <a:prstGeom prst="roundRect">
            <a:avLst>
              <a:gd name="adj" fmla="val 8333"/>
            </a:avLst>
          </a:prstGeom>
          <a:solidFill>
            <a:srgbClr val="1E2761"/>
          </a:solidFill>
          <a:ln w="12700">
            <a:solidFill>
              <a:srgbClr val="1E2761"/>
            </a:solidFill>
            <a:prstDash val="solid"/>
          </a:ln>
        </p:spPr>
      </p:sp>
      <p:sp>
        <p:nvSpPr>
          <p:cNvPr id="26" name="Text 24"/>
          <p:cNvSpPr/>
          <p:nvPr/>
        </p:nvSpPr>
        <p:spPr>
          <a:xfrm>
            <a:off x="9034272" y="2450592"/>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Technical</a:t>
            </a:r>
            <a:endParaRPr lang="en-US" sz="1300" dirty="0"/>
          </a:p>
        </p:txBody>
      </p:sp>
      <p:sp>
        <p:nvSpPr>
          <p:cNvPr id="27" name="Shape 25"/>
          <p:cNvSpPr/>
          <p:nvPr/>
        </p:nvSpPr>
        <p:spPr>
          <a:xfrm>
            <a:off x="6309360" y="3255264"/>
            <a:ext cx="2578608" cy="658368"/>
          </a:xfrm>
          <a:prstGeom prst="roundRect">
            <a:avLst>
              <a:gd name="adj" fmla="val 8333"/>
            </a:avLst>
          </a:prstGeom>
          <a:solidFill>
            <a:srgbClr val="1E2761"/>
          </a:solidFill>
          <a:ln w="12700">
            <a:solidFill>
              <a:srgbClr val="1E2761"/>
            </a:solidFill>
            <a:prstDash val="solid"/>
          </a:ln>
        </p:spPr>
      </p:sp>
      <p:sp>
        <p:nvSpPr>
          <p:cNvPr id="28" name="Text 26"/>
          <p:cNvSpPr/>
          <p:nvPr/>
        </p:nvSpPr>
        <p:spPr>
          <a:xfrm>
            <a:off x="6309360" y="3255264"/>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Security</a:t>
            </a:r>
            <a:endParaRPr lang="en-US" sz="1300" dirty="0"/>
          </a:p>
        </p:txBody>
      </p:sp>
      <p:sp>
        <p:nvSpPr>
          <p:cNvPr id="29" name="Shape 27"/>
          <p:cNvSpPr/>
          <p:nvPr/>
        </p:nvSpPr>
        <p:spPr>
          <a:xfrm>
            <a:off x="9034272" y="3255264"/>
            <a:ext cx="2578608" cy="658368"/>
          </a:xfrm>
          <a:prstGeom prst="roundRect">
            <a:avLst>
              <a:gd name="adj" fmla="val 8333"/>
            </a:avLst>
          </a:prstGeom>
          <a:solidFill>
            <a:srgbClr val="1E2761"/>
          </a:solidFill>
          <a:ln w="12700">
            <a:solidFill>
              <a:srgbClr val="1E2761"/>
            </a:solidFill>
            <a:prstDash val="solid"/>
          </a:ln>
        </p:spPr>
      </p:sp>
      <p:sp>
        <p:nvSpPr>
          <p:cNvPr id="30" name="Text 28"/>
          <p:cNvSpPr/>
          <p:nvPr/>
        </p:nvSpPr>
        <p:spPr>
          <a:xfrm>
            <a:off x="9034272" y="3255264"/>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Compliance</a:t>
            </a:r>
            <a:endParaRPr lang="en-US" sz="1300" dirty="0"/>
          </a:p>
        </p:txBody>
      </p:sp>
      <p:sp>
        <p:nvSpPr>
          <p:cNvPr id="31" name="Shape 29"/>
          <p:cNvSpPr/>
          <p:nvPr/>
        </p:nvSpPr>
        <p:spPr>
          <a:xfrm>
            <a:off x="6309360" y="4059936"/>
            <a:ext cx="2578608" cy="658368"/>
          </a:xfrm>
          <a:prstGeom prst="roundRect">
            <a:avLst>
              <a:gd name="adj" fmla="val 8333"/>
            </a:avLst>
          </a:prstGeom>
          <a:solidFill>
            <a:srgbClr val="1E2761"/>
          </a:solidFill>
          <a:ln w="12700">
            <a:solidFill>
              <a:srgbClr val="1E2761"/>
            </a:solidFill>
            <a:prstDash val="solid"/>
          </a:ln>
        </p:spPr>
      </p:sp>
      <p:sp>
        <p:nvSpPr>
          <p:cNvPr id="32" name="Text 30"/>
          <p:cNvSpPr/>
          <p:nvPr/>
        </p:nvSpPr>
        <p:spPr>
          <a:xfrm>
            <a:off x="6309360" y="4059936"/>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Operational</a:t>
            </a:r>
            <a:endParaRPr lang="en-US" sz="1300" dirty="0"/>
          </a:p>
        </p:txBody>
      </p:sp>
      <p:sp>
        <p:nvSpPr>
          <p:cNvPr id="33" name="Shape 31"/>
          <p:cNvSpPr/>
          <p:nvPr/>
        </p:nvSpPr>
        <p:spPr>
          <a:xfrm>
            <a:off x="9034272" y="4059936"/>
            <a:ext cx="2578608" cy="658368"/>
          </a:xfrm>
          <a:prstGeom prst="roundRect">
            <a:avLst>
              <a:gd name="adj" fmla="val 8333"/>
            </a:avLst>
          </a:prstGeom>
          <a:solidFill>
            <a:srgbClr val="1E2761"/>
          </a:solidFill>
          <a:ln w="12700">
            <a:solidFill>
              <a:srgbClr val="1E2761"/>
            </a:solidFill>
            <a:prstDash val="solid"/>
          </a:ln>
        </p:spPr>
      </p:sp>
      <p:sp>
        <p:nvSpPr>
          <p:cNvPr id="34" name="Text 32"/>
          <p:cNvSpPr/>
          <p:nvPr/>
        </p:nvSpPr>
        <p:spPr>
          <a:xfrm>
            <a:off x="9034272" y="4059936"/>
            <a:ext cx="257860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Model</a:t>
            </a:r>
            <a:endParaRPr lang="en-US" sz="1300" dirty="0"/>
          </a:p>
        </p:txBody>
      </p:sp>
      <p:sp>
        <p:nvSpPr>
          <p:cNvPr id="35" name="Shape 33"/>
          <p:cNvSpPr/>
          <p:nvPr/>
        </p:nvSpPr>
        <p:spPr>
          <a:xfrm>
            <a:off x="6309360" y="4828032"/>
            <a:ext cx="5303520" cy="1143000"/>
          </a:xfrm>
          <a:prstGeom prst="roundRect">
            <a:avLst>
              <a:gd name="adj" fmla="val 6400"/>
            </a:avLst>
          </a:prstGeom>
          <a:solidFill>
            <a:srgbClr val="F2F5FC"/>
          </a:solidFill>
          <a:ln w="12700">
            <a:solidFill>
              <a:srgbClr val="DDE4F5"/>
            </a:solidFill>
            <a:prstDash val="solid"/>
          </a:ln>
        </p:spPr>
      </p:sp>
      <p:sp>
        <p:nvSpPr>
          <p:cNvPr id="36" name="Text 34"/>
          <p:cNvSpPr/>
          <p:nvPr/>
        </p:nvSpPr>
        <p:spPr>
          <a:xfrm>
            <a:off x="6537960" y="4956048"/>
            <a:ext cx="4846320" cy="27432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Defects are tracked, not just noted</a:t>
            </a:r>
            <a:endParaRPr lang="en-US" sz="1250" dirty="0"/>
          </a:p>
        </p:txBody>
      </p:sp>
      <p:sp>
        <p:nvSpPr>
          <p:cNvPr id="37" name="Text 35"/>
          <p:cNvSpPr/>
          <p:nvPr/>
        </p:nvSpPr>
        <p:spPr>
          <a:xfrm>
            <a:off x="6537960" y="5248656"/>
            <a:ext cx="4846320" cy="658368"/>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Issues raised during validation become findings with a severity, an assigned owner and a lifecycle running Open → In Progress → Resolved → Verified.</a:t>
            </a:r>
            <a:endParaRPr lang="en-US" sz="1100" dirty="0"/>
          </a:p>
        </p:txBody>
      </p:sp>
      <p:sp>
        <p:nvSpPr>
          <p:cNvPr id="38" name="Text 36"/>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RiskLevel and ValidationCategory types; Risk Center, Validation Center and Findings Tracker modules</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DECISION GOVERNANCE</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No production without a recorded decision</a:t>
            </a:r>
            <a:endParaRPr lang="en-US" sz="3400" dirty="0"/>
          </a:p>
        </p:txBody>
      </p:sp>
      <p:sp>
        <p:nvSpPr>
          <p:cNvPr id="4" name="Shape 2"/>
          <p:cNvSpPr/>
          <p:nvPr/>
        </p:nvSpPr>
        <p:spPr>
          <a:xfrm>
            <a:off x="548640" y="1536192"/>
            <a:ext cx="3538728" cy="1481328"/>
          </a:xfrm>
          <a:prstGeom prst="roundRect">
            <a:avLst>
              <a:gd name="adj" fmla="val 5556"/>
            </a:avLst>
          </a:prstGeom>
          <a:solidFill>
            <a:srgbClr val="2E7D64"/>
          </a:solidFill>
          <a:ln w="12700">
            <a:solidFill>
              <a:srgbClr val="2E7D64"/>
            </a:solidFill>
            <a:prstDash val="solid"/>
          </a:ln>
        </p:spPr>
      </p:sp>
      <p:sp>
        <p:nvSpPr>
          <p:cNvPr id="5" name="Text 3"/>
          <p:cNvSpPr/>
          <p:nvPr/>
        </p:nvSpPr>
        <p:spPr>
          <a:xfrm>
            <a:off x="685800" y="1755648"/>
            <a:ext cx="3264408"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GO</a:t>
            </a:r>
            <a:endParaRPr lang="en-US" sz="2600" dirty="0"/>
          </a:p>
        </p:txBody>
      </p:sp>
      <p:sp>
        <p:nvSpPr>
          <p:cNvPr id="6" name="Text 4"/>
          <p:cNvSpPr/>
          <p:nvPr/>
        </p:nvSpPr>
        <p:spPr>
          <a:xfrm>
            <a:off x="777240" y="2331720"/>
            <a:ext cx="3081528" cy="548640"/>
          </a:xfrm>
          <a:prstGeom prst="rect">
            <a:avLst/>
          </a:prstGeom>
          <a:noFill/>
          <a:ln/>
        </p:spPr>
        <p:txBody>
          <a:bodyPr wrap="square" lIns="0" tIns="0" rIns="0" bIns="0" rtlCol="0" anchor="ctr"/>
          <a:lstStyle/>
          <a:p>
            <a:pPr algn="ctr" indent="0" marL="0">
              <a:lnSpc>
                <a:spcPts val="1500"/>
              </a:lnSpc>
              <a:buNone/>
            </a:pPr>
            <a:r>
              <a:rPr lang="en-US" sz="1200" dirty="0">
                <a:solidFill>
                  <a:srgbClr val="FFFFFF"/>
                </a:solidFill>
                <a:latin typeface="Calibri" pitchFamily="34" charset="0"/>
                <a:ea typeface="Calibri" pitchFamily="34" charset="-122"/>
                <a:cs typeface="Calibri" pitchFamily="34" charset="-120"/>
              </a:rPr>
              <a:t>Approved for production use.</a:t>
            </a:r>
            <a:endParaRPr lang="en-US" sz="1200" dirty="0"/>
          </a:p>
        </p:txBody>
      </p:sp>
      <p:sp>
        <p:nvSpPr>
          <p:cNvPr id="7" name="Shape 5"/>
          <p:cNvSpPr/>
          <p:nvPr/>
        </p:nvSpPr>
        <p:spPr>
          <a:xfrm>
            <a:off x="4315968" y="1536192"/>
            <a:ext cx="3538728" cy="1481328"/>
          </a:xfrm>
          <a:prstGeom prst="roundRect">
            <a:avLst>
              <a:gd name="adj" fmla="val 5556"/>
            </a:avLst>
          </a:prstGeom>
          <a:solidFill>
            <a:srgbClr val="C8871B"/>
          </a:solidFill>
          <a:ln w="12700">
            <a:solidFill>
              <a:srgbClr val="C8871B"/>
            </a:solidFill>
            <a:prstDash val="solid"/>
          </a:ln>
        </p:spPr>
      </p:sp>
      <p:sp>
        <p:nvSpPr>
          <p:cNvPr id="8" name="Text 6"/>
          <p:cNvSpPr/>
          <p:nvPr/>
        </p:nvSpPr>
        <p:spPr>
          <a:xfrm>
            <a:off x="4453128" y="1755648"/>
            <a:ext cx="3264408"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CONDITIONAL GO</a:t>
            </a:r>
            <a:endParaRPr lang="en-US" sz="2600" dirty="0"/>
          </a:p>
        </p:txBody>
      </p:sp>
      <p:sp>
        <p:nvSpPr>
          <p:cNvPr id="9" name="Text 7"/>
          <p:cNvSpPr/>
          <p:nvPr/>
        </p:nvSpPr>
        <p:spPr>
          <a:xfrm>
            <a:off x="4544568" y="2331720"/>
            <a:ext cx="3081528" cy="548640"/>
          </a:xfrm>
          <a:prstGeom prst="rect">
            <a:avLst/>
          </a:prstGeom>
          <a:noFill/>
          <a:ln/>
        </p:spPr>
        <p:txBody>
          <a:bodyPr wrap="square" lIns="0" tIns="0" rIns="0" bIns="0" rtlCol="0" anchor="ctr"/>
          <a:lstStyle/>
          <a:p>
            <a:pPr algn="ctr" indent="0" marL="0">
              <a:lnSpc>
                <a:spcPts val="1500"/>
              </a:lnSpc>
              <a:buNone/>
            </a:pPr>
            <a:r>
              <a:rPr lang="en-US" sz="1200" dirty="0">
                <a:solidFill>
                  <a:srgbClr val="FFFFFF"/>
                </a:solidFill>
                <a:latin typeface="Calibri" pitchFamily="34" charset="0"/>
                <a:ea typeface="Calibri" pitchFamily="34" charset="-122"/>
                <a:cs typeface="Calibri" pitchFamily="34" charset="-120"/>
              </a:rPr>
              <a:t>Approved, subject to stated conditions.</a:t>
            </a:r>
            <a:endParaRPr lang="en-US" sz="1200" dirty="0"/>
          </a:p>
        </p:txBody>
      </p:sp>
      <p:sp>
        <p:nvSpPr>
          <p:cNvPr id="10" name="Shape 8"/>
          <p:cNvSpPr/>
          <p:nvPr/>
        </p:nvSpPr>
        <p:spPr>
          <a:xfrm>
            <a:off x="8083296" y="1536192"/>
            <a:ext cx="3538728" cy="1481328"/>
          </a:xfrm>
          <a:prstGeom prst="roundRect">
            <a:avLst>
              <a:gd name="adj" fmla="val 5556"/>
            </a:avLst>
          </a:prstGeom>
          <a:solidFill>
            <a:srgbClr val="B23A48"/>
          </a:solidFill>
          <a:ln w="12700">
            <a:solidFill>
              <a:srgbClr val="B23A48"/>
            </a:solidFill>
            <a:prstDash val="solid"/>
          </a:ln>
        </p:spPr>
      </p:sp>
      <p:sp>
        <p:nvSpPr>
          <p:cNvPr id="11" name="Text 9"/>
          <p:cNvSpPr/>
          <p:nvPr/>
        </p:nvSpPr>
        <p:spPr>
          <a:xfrm>
            <a:off x="8220456" y="1755648"/>
            <a:ext cx="3264408" cy="5029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NO GO</a:t>
            </a:r>
            <a:endParaRPr lang="en-US" sz="2600" dirty="0"/>
          </a:p>
        </p:txBody>
      </p:sp>
      <p:sp>
        <p:nvSpPr>
          <p:cNvPr id="12" name="Text 10"/>
          <p:cNvSpPr/>
          <p:nvPr/>
        </p:nvSpPr>
        <p:spPr>
          <a:xfrm>
            <a:off x="8311896" y="2331720"/>
            <a:ext cx="3081528" cy="548640"/>
          </a:xfrm>
          <a:prstGeom prst="rect">
            <a:avLst/>
          </a:prstGeom>
          <a:noFill/>
          <a:ln/>
        </p:spPr>
        <p:txBody>
          <a:bodyPr wrap="square" lIns="0" tIns="0" rIns="0" bIns="0" rtlCol="0" anchor="ctr"/>
          <a:lstStyle/>
          <a:p>
            <a:pPr algn="ctr" indent="0" marL="0">
              <a:lnSpc>
                <a:spcPts val="1500"/>
              </a:lnSpc>
              <a:buNone/>
            </a:pPr>
            <a:r>
              <a:rPr lang="en-US" sz="1200" dirty="0">
                <a:solidFill>
                  <a:srgbClr val="FFFFFF"/>
                </a:solidFill>
                <a:latin typeface="Calibri" pitchFamily="34" charset="0"/>
                <a:ea typeface="Calibri" pitchFamily="34" charset="-122"/>
                <a:cs typeface="Calibri" pitchFamily="34" charset="-120"/>
              </a:rPr>
              <a:t>Refused. The asset may not proceed.</a:t>
            </a:r>
            <a:endParaRPr lang="en-US" sz="1200" dirty="0"/>
          </a:p>
        </p:txBody>
      </p:sp>
      <p:sp>
        <p:nvSpPr>
          <p:cNvPr id="13" name="Text 11"/>
          <p:cNvSpPr/>
          <p:nvPr/>
        </p:nvSpPr>
        <p:spPr>
          <a:xfrm>
            <a:off x="548640" y="3127248"/>
            <a:ext cx="11064240" cy="292608"/>
          </a:xfrm>
          <a:prstGeom prst="rect">
            <a:avLst/>
          </a:prstGeom>
          <a:noFill/>
          <a:ln/>
        </p:spPr>
        <p:txBody>
          <a:bodyPr wrap="square" lIns="0" tIns="0" rIns="0" bIns="0" rtlCol="0" anchor="ctr"/>
          <a:lstStyle/>
          <a:p>
            <a:pPr indent="0" marL="0">
              <a:buNone/>
            </a:pPr>
            <a:r>
              <a:rPr lang="en-US" sz="1200" i="1" dirty="0">
                <a:solidFill>
                  <a:srgbClr val="6B7391"/>
                </a:solidFill>
                <a:latin typeface="Calibri" pitchFamily="34" charset="0"/>
                <a:ea typeface="Calibri" pitchFamily="34" charset="-122"/>
                <a:cs typeface="Calibri" pitchFamily="34" charset="-120"/>
              </a:rPr>
              <a:t>A fourth state, PENDING, marks assets still awaiting a decision — these appear on the executive decision queue.</a:t>
            </a:r>
            <a:endParaRPr lang="en-US" sz="1200" dirty="0"/>
          </a:p>
        </p:txBody>
      </p:sp>
      <p:sp>
        <p:nvSpPr>
          <p:cNvPr id="14" name="Text 12"/>
          <p:cNvSpPr/>
          <p:nvPr/>
        </p:nvSpPr>
        <p:spPr>
          <a:xfrm>
            <a:off x="548640" y="3584448"/>
            <a:ext cx="11064240" cy="274320"/>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THE DECISION IS INFORMED, NOT ARBITRARY</a:t>
            </a:r>
            <a:endParaRPr lang="en-US" sz="1100" dirty="0"/>
          </a:p>
        </p:txBody>
      </p:sp>
      <p:sp>
        <p:nvSpPr>
          <p:cNvPr id="15" name="Text 13"/>
          <p:cNvSpPr/>
          <p:nvPr/>
        </p:nvSpPr>
        <p:spPr>
          <a:xfrm>
            <a:off x="548640" y="3886200"/>
            <a:ext cx="11064240" cy="420624"/>
          </a:xfrm>
          <a:prstGeom prst="rect">
            <a:avLst/>
          </a:prstGeom>
          <a:noFill/>
          <a:ln/>
        </p:spPr>
        <p:txBody>
          <a:bodyPr wrap="square" lIns="0" tIns="0" rIns="0" bIns="0" rtlCol="0" anchor="ctr"/>
          <a:lstStyle/>
          <a:p>
            <a:pPr indent="0" marL="0">
              <a:buNone/>
            </a:pPr>
            <a:r>
              <a:rPr lang="en-US" sz="1300" dirty="0">
                <a:solidFill>
                  <a:srgbClr val="2B3350"/>
                </a:solidFill>
                <a:latin typeface="Calibri" pitchFamily="34" charset="0"/>
                <a:ea typeface="Calibri" pitchFamily="34" charset="-122"/>
                <a:cs typeface="Calibri" pitchFamily="34" charset="-120"/>
              </a:rPr>
              <a:t>Before a decision is recorded, OMG scores the asset out of 100 across five governance pillars. Any pillar that fails becomes a governance blocker that must be cleared.</a:t>
            </a:r>
            <a:endParaRPr lang="en-US" sz="1300" dirty="0"/>
          </a:p>
        </p:txBody>
      </p:sp>
      <p:sp>
        <p:nvSpPr>
          <p:cNvPr id="16" name="Shape 14"/>
          <p:cNvSpPr/>
          <p:nvPr/>
        </p:nvSpPr>
        <p:spPr>
          <a:xfrm>
            <a:off x="548640" y="4370832"/>
            <a:ext cx="2121408" cy="932688"/>
          </a:xfrm>
          <a:prstGeom prst="roundRect">
            <a:avLst>
              <a:gd name="adj" fmla="val 7843"/>
            </a:avLst>
          </a:prstGeom>
          <a:solidFill>
            <a:srgbClr val="F2F5FC"/>
          </a:solidFill>
          <a:ln w="12700">
            <a:solidFill>
              <a:srgbClr val="DDE4F5"/>
            </a:solidFill>
            <a:prstDash val="solid"/>
          </a:ln>
        </p:spPr>
      </p:sp>
      <p:sp>
        <p:nvSpPr>
          <p:cNvPr id="17" name="Text 15"/>
          <p:cNvSpPr/>
          <p:nvPr/>
        </p:nvSpPr>
        <p:spPr>
          <a:xfrm>
            <a:off x="640080" y="4462272"/>
            <a:ext cx="1938528" cy="384048"/>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25%</a:t>
            </a:r>
            <a:endParaRPr lang="en-US" sz="2000" dirty="0"/>
          </a:p>
        </p:txBody>
      </p:sp>
      <p:sp>
        <p:nvSpPr>
          <p:cNvPr id="18" name="Text 16"/>
          <p:cNvSpPr/>
          <p:nvPr/>
        </p:nvSpPr>
        <p:spPr>
          <a:xfrm>
            <a:off x="640080" y="4882896"/>
            <a:ext cx="1938528" cy="292608"/>
          </a:xfrm>
          <a:prstGeom prst="rect">
            <a:avLst/>
          </a:prstGeom>
          <a:noFill/>
          <a:ln/>
        </p:spPr>
        <p:txBody>
          <a:bodyPr wrap="square" lIns="0" tIns="0" rIns="0" bIns="0" rtlCol="0" anchor="ctr"/>
          <a:lstStyle/>
          <a:p>
            <a:pPr algn="ctr" indent="0" marL="0">
              <a:buNone/>
            </a:pPr>
            <a:r>
              <a:rPr lang="en-US" sz="1150" dirty="0">
                <a:solidFill>
                  <a:srgbClr val="2B3350"/>
                </a:solidFill>
                <a:latin typeface="Calibri" pitchFamily="34" charset="0"/>
                <a:ea typeface="Calibri" pitchFamily="34" charset="-122"/>
                <a:cs typeface="Calibri" pitchFamily="34" charset="-120"/>
              </a:rPr>
              <a:t>Ownership</a:t>
            </a:r>
            <a:endParaRPr lang="en-US" sz="1150" dirty="0"/>
          </a:p>
        </p:txBody>
      </p:sp>
      <p:sp>
        <p:nvSpPr>
          <p:cNvPr id="19" name="Shape 17"/>
          <p:cNvSpPr/>
          <p:nvPr/>
        </p:nvSpPr>
        <p:spPr>
          <a:xfrm>
            <a:off x="2788920" y="4370832"/>
            <a:ext cx="2121408" cy="932688"/>
          </a:xfrm>
          <a:prstGeom prst="roundRect">
            <a:avLst>
              <a:gd name="adj" fmla="val 7843"/>
            </a:avLst>
          </a:prstGeom>
          <a:solidFill>
            <a:srgbClr val="F2F5FC"/>
          </a:solidFill>
          <a:ln w="12700">
            <a:solidFill>
              <a:srgbClr val="DDE4F5"/>
            </a:solidFill>
            <a:prstDash val="solid"/>
          </a:ln>
        </p:spPr>
      </p:sp>
      <p:sp>
        <p:nvSpPr>
          <p:cNvPr id="20" name="Text 18"/>
          <p:cNvSpPr/>
          <p:nvPr/>
        </p:nvSpPr>
        <p:spPr>
          <a:xfrm>
            <a:off x="2880360" y="4462272"/>
            <a:ext cx="1938528" cy="384048"/>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20%</a:t>
            </a:r>
            <a:endParaRPr lang="en-US" sz="2000" dirty="0"/>
          </a:p>
        </p:txBody>
      </p:sp>
      <p:sp>
        <p:nvSpPr>
          <p:cNvPr id="21" name="Text 19"/>
          <p:cNvSpPr/>
          <p:nvPr/>
        </p:nvSpPr>
        <p:spPr>
          <a:xfrm>
            <a:off x="2880360" y="4882896"/>
            <a:ext cx="1938528" cy="292608"/>
          </a:xfrm>
          <a:prstGeom prst="rect">
            <a:avLst/>
          </a:prstGeom>
          <a:noFill/>
          <a:ln/>
        </p:spPr>
        <p:txBody>
          <a:bodyPr wrap="square" lIns="0" tIns="0" rIns="0" bIns="0" rtlCol="0" anchor="ctr"/>
          <a:lstStyle/>
          <a:p>
            <a:pPr algn="ctr" indent="0" marL="0">
              <a:buNone/>
            </a:pPr>
            <a:r>
              <a:rPr lang="en-US" sz="1150" dirty="0">
                <a:solidFill>
                  <a:srgbClr val="2B3350"/>
                </a:solidFill>
                <a:latin typeface="Calibri" pitchFamily="34" charset="0"/>
                <a:ea typeface="Calibri" pitchFamily="34" charset="-122"/>
                <a:cs typeface="Calibri" pitchFamily="34" charset="-120"/>
              </a:rPr>
              <a:t>Risk</a:t>
            </a:r>
            <a:endParaRPr lang="en-US" sz="1150" dirty="0"/>
          </a:p>
        </p:txBody>
      </p:sp>
      <p:sp>
        <p:nvSpPr>
          <p:cNvPr id="22" name="Shape 20"/>
          <p:cNvSpPr/>
          <p:nvPr/>
        </p:nvSpPr>
        <p:spPr>
          <a:xfrm>
            <a:off x="5029200" y="4370832"/>
            <a:ext cx="2121408" cy="932688"/>
          </a:xfrm>
          <a:prstGeom prst="roundRect">
            <a:avLst>
              <a:gd name="adj" fmla="val 7843"/>
            </a:avLst>
          </a:prstGeom>
          <a:solidFill>
            <a:srgbClr val="F2F5FC"/>
          </a:solidFill>
          <a:ln w="12700">
            <a:solidFill>
              <a:srgbClr val="DDE4F5"/>
            </a:solidFill>
            <a:prstDash val="solid"/>
          </a:ln>
        </p:spPr>
      </p:sp>
      <p:sp>
        <p:nvSpPr>
          <p:cNvPr id="23" name="Text 21"/>
          <p:cNvSpPr/>
          <p:nvPr/>
        </p:nvSpPr>
        <p:spPr>
          <a:xfrm>
            <a:off x="5120640" y="4462272"/>
            <a:ext cx="1938528" cy="384048"/>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20%</a:t>
            </a:r>
            <a:endParaRPr lang="en-US" sz="2000" dirty="0"/>
          </a:p>
        </p:txBody>
      </p:sp>
      <p:sp>
        <p:nvSpPr>
          <p:cNvPr id="24" name="Text 22"/>
          <p:cNvSpPr/>
          <p:nvPr/>
        </p:nvSpPr>
        <p:spPr>
          <a:xfrm>
            <a:off x="5120640" y="4882896"/>
            <a:ext cx="1938528" cy="292608"/>
          </a:xfrm>
          <a:prstGeom prst="rect">
            <a:avLst/>
          </a:prstGeom>
          <a:noFill/>
          <a:ln/>
        </p:spPr>
        <p:txBody>
          <a:bodyPr wrap="square" lIns="0" tIns="0" rIns="0" bIns="0" rtlCol="0" anchor="ctr"/>
          <a:lstStyle/>
          <a:p>
            <a:pPr algn="ctr" indent="0" marL="0">
              <a:buNone/>
            </a:pPr>
            <a:r>
              <a:rPr lang="en-US" sz="1150" dirty="0">
                <a:solidFill>
                  <a:srgbClr val="2B3350"/>
                </a:solidFill>
                <a:latin typeface="Calibri" pitchFamily="34" charset="0"/>
                <a:ea typeface="Calibri" pitchFamily="34" charset="-122"/>
                <a:cs typeface="Calibri" pitchFamily="34" charset="-120"/>
              </a:rPr>
              <a:t>Validation</a:t>
            </a:r>
            <a:endParaRPr lang="en-US" sz="1150" dirty="0"/>
          </a:p>
        </p:txBody>
      </p:sp>
      <p:sp>
        <p:nvSpPr>
          <p:cNvPr id="25" name="Shape 23"/>
          <p:cNvSpPr/>
          <p:nvPr/>
        </p:nvSpPr>
        <p:spPr>
          <a:xfrm>
            <a:off x="7269480" y="4370832"/>
            <a:ext cx="2121408" cy="932688"/>
          </a:xfrm>
          <a:prstGeom prst="roundRect">
            <a:avLst>
              <a:gd name="adj" fmla="val 7843"/>
            </a:avLst>
          </a:prstGeom>
          <a:solidFill>
            <a:srgbClr val="F2F5FC"/>
          </a:solidFill>
          <a:ln w="12700">
            <a:solidFill>
              <a:srgbClr val="DDE4F5"/>
            </a:solidFill>
            <a:prstDash val="solid"/>
          </a:ln>
        </p:spPr>
      </p:sp>
      <p:sp>
        <p:nvSpPr>
          <p:cNvPr id="26" name="Text 24"/>
          <p:cNvSpPr/>
          <p:nvPr/>
        </p:nvSpPr>
        <p:spPr>
          <a:xfrm>
            <a:off x="7360920" y="4462272"/>
            <a:ext cx="1938528" cy="384048"/>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15%</a:t>
            </a:r>
            <a:endParaRPr lang="en-US" sz="2000" dirty="0"/>
          </a:p>
        </p:txBody>
      </p:sp>
      <p:sp>
        <p:nvSpPr>
          <p:cNvPr id="27" name="Text 25"/>
          <p:cNvSpPr/>
          <p:nvPr/>
        </p:nvSpPr>
        <p:spPr>
          <a:xfrm>
            <a:off x="7360920" y="4882896"/>
            <a:ext cx="1938528" cy="292608"/>
          </a:xfrm>
          <a:prstGeom prst="rect">
            <a:avLst/>
          </a:prstGeom>
          <a:noFill/>
          <a:ln/>
        </p:spPr>
        <p:txBody>
          <a:bodyPr wrap="square" lIns="0" tIns="0" rIns="0" bIns="0" rtlCol="0" anchor="ctr"/>
          <a:lstStyle/>
          <a:p>
            <a:pPr algn="ctr" indent="0" marL="0">
              <a:buNone/>
            </a:pPr>
            <a:r>
              <a:rPr lang="en-US" sz="1150" dirty="0">
                <a:solidFill>
                  <a:srgbClr val="2B3350"/>
                </a:solidFill>
                <a:latin typeface="Calibri" pitchFamily="34" charset="0"/>
                <a:ea typeface="Calibri" pitchFamily="34" charset="-122"/>
                <a:cs typeface="Calibri" pitchFamily="34" charset="-120"/>
              </a:rPr>
              <a:t>Evidence</a:t>
            </a:r>
            <a:endParaRPr lang="en-US" sz="1150" dirty="0"/>
          </a:p>
        </p:txBody>
      </p:sp>
      <p:sp>
        <p:nvSpPr>
          <p:cNvPr id="28" name="Shape 26"/>
          <p:cNvSpPr/>
          <p:nvPr/>
        </p:nvSpPr>
        <p:spPr>
          <a:xfrm>
            <a:off x="9509760" y="4370832"/>
            <a:ext cx="2121408" cy="932688"/>
          </a:xfrm>
          <a:prstGeom prst="roundRect">
            <a:avLst>
              <a:gd name="adj" fmla="val 7843"/>
            </a:avLst>
          </a:prstGeom>
          <a:solidFill>
            <a:srgbClr val="F2F5FC"/>
          </a:solidFill>
          <a:ln w="12700">
            <a:solidFill>
              <a:srgbClr val="DDE4F5"/>
            </a:solidFill>
            <a:prstDash val="solid"/>
          </a:ln>
        </p:spPr>
      </p:sp>
      <p:sp>
        <p:nvSpPr>
          <p:cNvPr id="29" name="Text 27"/>
          <p:cNvSpPr/>
          <p:nvPr/>
        </p:nvSpPr>
        <p:spPr>
          <a:xfrm>
            <a:off x="9601200" y="4462272"/>
            <a:ext cx="1938528" cy="384048"/>
          </a:xfrm>
          <a:prstGeom prst="rect">
            <a:avLst/>
          </a:prstGeom>
          <a:noFill/>
          <a:ln/>
        </p:spPr>
        <p:txBody>
          <a:bodyPr wrap="square" lIns="0" tIns="0" rIns="0" bIns="0" rtlCol="0" anchor="ctr"/>
          <a:lstStyle/>
          <a:p>
            <a:pPr algn="ctr" indent="0" marL="0">
              <a:buNone/>
            </a:pPr>
            <a:r>
              <a:rPr lang="en-US" sz="2000" b="1" dirty="0">
                <a:solidFill>
                  <a:srgbClr val="1E2761"/>
                </a:solidFill>
                <a:latin typeface="Cambria" pitchFamily="34" charset="0"/>
                <a:ea typeface="Cambria" pitchFamily="34" charset="-122"/>
                <a:cs typeface="Cambria" pitchFamily="34" charset="-120"/>
              </a:rPr>
              <a:t>20%</a:t>
            </a:r>
            <a:endParaRPr lang="en-US" sz="2000" dirty="0"/>
          </a:p>
        </p:txBody>
      </p:sp>
      <p:sp>
        <p:nvSpPr>
          <p:cNvPr id="30" name="Text 28"/>
          <p:cNvSpPr/>
          <p:nvPr/>
        </p:nvSpPr>
        <p:spPr>
          <a:xfrm>
            <a:off x="9601200" y="4882896"/>
            <a:ext cx="1938528" cy="292608"/>
          </a:xfrm>
          <a:prstGeom prst="rect">
            <a:avLst/>
          </a:prstGeom>
          <a:noFill/>
          <a:ln/>
        </p:spPr>
        <p:txBody>
          <a:bodyPr wrap="square" lIns="0" tIns="0" rIns="0" bIns="0" rtlCol="0" anchor="ctr"/>
          <a:lstStyle/>
          <a:p>
            <a:pPr algn="ctr" indent="0" marL="0">
              <a:buNone/>
            </a:pPr>
            <a:r>
              <a:rPr lang="en-US" sz="1150" dirty="0">
                <a:solidFill>
                  <a:srgbClr val="2B3350"/>
                </a:solidFill>
                <a:latin typeface="Calibri" pitchFamily="34" charset="0"/>
                <a:ea typeface="Calibri" pitchFamily="34" charset="-122"/>
                <a:cs typeface="Calibri" pitchFamily="34" charset="-120"/>
              </a:rPr>
              <a:t>Decision</a:t>
            </a:r>
            <a:endParaRPr lang="en-US" sz="1150" dirty="0"/>
          </a:p>
        </p:txBody>
      </p:sp>
      <p:sp>
        <p:nvSpPr>
          <p:cNvPr id="31" name="Shape 29"/>
          <p:cNvSpPr/>
          <p:nvPr/>
        </p:nvSpPr>
        <p:spPr>
          <a:xfrm>
            <a:off x="548640" y="5413248"/>
            <a:ext cx="11064240" cy="566928"/>
          </a:xfrm>
          <a:prstGeom prst="roundRect">
            <a:avLst>
              <a:gd name="adj" fmla="val 12903"/>
            </a:avLst>
          </a:prstGeom>
          <a:solidFill>
            <a:srgbClr val="1E2761"/>
          </a:solidFill>
          <a:ln w="12700">
            <a:solidFill>
              <a:srgbClr val="1E2761"/>
            </a:solidFill>
            <a:prstDash val="solid"/>
          </a:ln>
        </p:spPr>
      </p:sp>
      <p:sp>
        <p:nvSpPr>
          <p:cNvPr id="32" name="Text 30"/>
          <p:cNvSpPr/>
          <p:nvPr/>
        </p:nvSpPr>
        <p:spPr>
          <a:xfrm>
            <a:off x="868680" y="5413248"/>
            <a:ext cx="10424160" cy="56692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Every recorded decision names the decision owner, states the justification, and is written permanently to the audit log.</a:t>
            </a:r>
            <a:endParaRPr lang="en-US" sz="1250" dirty="0"/>
          </a:p>
        </p:txBody>
      </p:sp>
      <p:sp>
        <p:nvSpPr>
          <p:cNvPr id="33" name="Text 31"/>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DecisionOutcome type; Decision Authority, Decision Intelligence and Governance Blockers modules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MONITORING &amp; OBSERVABILITY</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Approval is the start, not the end</a:t>
            </a:r>
            <a:endParaRPr lang="en-US" sz="3400" dirty="0"/>
          </a:p>
        </p:txBody>
      </p:sp>
      <p:sp>
        <p:nvSpPr>
          <p:cNvPr id="4" name="Text 2"/>
          <p:cNvSpPr/>
          <p:nvPr/>
        </p:nvSpPr>
        <p:spPr>
          <a:xfrm>
            <a:off x="548640" y="1481328"/>
            <a:ext cx="10241280" cy="475488"/>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Once an AI asset is live, OMG tracks its ongoing governance health and gives the organisation a way to intervene.</a:t>
            </a:r>
            <a:endParaRPr lang="en-US" sz="1400" dirty="0"/>
          </a:p>
        </p:txBody>
      </p:sp>
      <p:sp>
        <p:nvSpPr>
          <p:cNvPr id="5" name="Shape 3"/>
          <p:cNvSpPr/>
          <p:nvPr/>
        </p:nvSpPr>
        <p:spPr>
          <a:xfrm>
            <a:off x="548640" y="1920240"/>
            <a:ext cx="5413248" cy="914400"/>
          </a:xfrm>
          <a:prstGeom prst="roundRect">
            <a:avLst>
              <a:gd name="adj" fmla="val 8000"/>
            </a:avLst>
          </a:prstGeom>
          <a:solidFill>
            <a:srgbClr val="F2F5FC"/>
          </a:solidFill>
          <a:ln w="12700">
            <a:solidFill>
              <a:srgbClr val="DDE4F5"/>
            </a:solidFill>
            <a:prstDash val="solid"/>
          </a:ln>
        </p:spPr>
      </p:sp>
      <p:sp>
        <p:nvSpPr>
          <p:cNvPr id="6" name="Text 4"/>
          <p:cNvSpPr/>
          <p:nvPr/>
        </p:nvSpPr>
        <p:spPr>
          <a:xfrm>
            <a:off x="768096" y="2039112"/>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Governance Monitoring</a:t>
            </a:r>
            <a:endParaRPr lang="en-US" sz="1300" dirty="0"/>
          </a:p>
        </p:txBody>
      </p:sp>
      <p:sp>
        <p:nvSpPr>
          <p:cNvPr id="7" name="Text 5"/>
          <p:cNvSpPr/>
          <p:nvPr/>
        </p:nvSpPr>
        <p:spPr>
          <a:xfrm>
            <a:off x="768096" y="2322576"/>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Continuous health scoring across the portfolio, classifying each asset as Healthy, Watchlist or Attention Required.</a:t>
            </a:r>
            <a:endParaRPr lang="en-US" sz="1100" dirty="0"/>
          </a:p>
        </p:txBody>
      </p:sp>
      <p:sp>
        <p:nvSpPr>
          <p:cNvPr id="8" name="Shape 6"/>
          <p:cNvSpPr/>
          <p:nvPr/>
        </p:nvSpPr>
        <p:spPr>
          <a:xfrm>
            <a:off x="6199632" y="1920240"/>
            <a:ext cx="5413248" cy="914400"/>
          </a:xfrm>
          <a:prstGeom prst="roundRect">
            <a:avLst>
              <a:gd name="adj" fmla="val 8000"/>
            </a:avLst>
          </a:prstGeom>
          <a:solidFill>
            <a:srgbClr val="F2F5FC"/>
          </a:solidFill>
          <a:ln w="12700">
            <a:solidFill>
              <a:srgbClr val="DDE4F5"/>
            </a:solidFill>
            <a:prstDash val="solid"/>
          </a:ln>
        </p:spPr>
      </p:sp>
      <p:sp>
        <p:nvSpPr>
          <p:cNvPr id="9" name="Text 7"/>
          <p:cNvSpPr/>
          <p:nvPr/>
        </p:nvSpPr>
        <p:spPr>
          <a:xfrm>
            <a:off x="6419088" y="2039112"/>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Governance Alerts</a:t>
            </a:r>
            <a:endParaRPr lang="en-US" sz="1300" dirty="0"/>
          </a:p>
        </p:txBody>
      </p:sp>
      <p:sp>
        <p:nvSpPr>
          <p:cNvPr id="10" name="Text 8"/>
          <p:cNvSpPr/>
          <p:nvPr/>
        </p:nvSpPr>
        <p:spPr>
          <a:xfrm>
            <a:off x="6419088" y="2322576"/>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Automatic exceptions for expired validation, overdue reviews, unresolved critical findings and kill-switch events.</a:t>
            </a:r>
            <a:endParaRPr lang="en-US" sz="1100" dirty="0"/>
          </a:p>
        </p:txBody>
      </p:sp>
      <p:sp>
        <p:nvSpPr>
          <p:cNvPr id="11" name="Shape 9"/>
          <p:cNvSpPr/>
          <p:nvPr/>
        </p:nvSpPr>
        <p:spPr>
          <a:xfrm>
            <a:off x="548640" y="2953512"/>
            <a:ext cx="5413248" cy="914400"/>
          </a:xfrm>
          <a:prstGeom prst="roundRect">
            <a:avLst>
              <a:gd name="adj" fmla="val 8000"/>
            </a:avLst>
          </a:prstGeom>
          <a:solidFill>
            <a:srgbClr val="F2F5FC"/>
          </a:solidFill>
          <a:ln w="12700">
            <a:solidFill>
              <a:srgbClr val="DDE4F5"/>
            </a:solidFill>
            <a:prstDash val="solid"/>
          </a:ln>
        </p:spPr>
      </p:sp>
      <p:sp>
        <p:nvSpPr>
          <p:cNvPr id="12" name="Text 10"/>
          <p:cNvSpPr/>
          <p:nvPr/>
        </p:nvSpPr>
        <p:spPr>
          <a:xfrm>
            <a:off x="768096" y="3072384"/>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Review Calendar</a:t>
            </a:r>
            <a:endParaRPr lang="en-US" sz="1300" dirty="0"/>
          </a:p>
        </p:txBody>
      </p:sp>
      <p:sp>
        <p:nvSpPr>
          <p:cNvPr id="13" name="Text 11"/>
          <p:cNvSpPr/>
          <p:nvPr/>
        </p:nvSpPr>
        <p:spPr>
          <a:xfrm>
            <a:off x="768096" y="3355848"/>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Scheduled review cadence per asset, with overdue reviews flagged to leadership.</a:t>
            </a:r>
            <a:endParaRPr lang="en-US" sz="1100" dirty="0"/>
          </a:p>
        </p:txBody>
      </p:sp>
      <p:sp>
        <p:nvSpPr>
          <p:cNvPr id="14" name="Shape 12"/>
          <p:cNvSpPr/>
          <p:nvPr/>
        </p:nvSpPr>
        <p:spPr>
          <a:xfrm>
            <a:off x="6199632" y="2953512"/>
            <a:ext cx="5413248" cy="914400"/>
          </a:xfrm>
          <a:prstGeom prst="roundRect">
            <a:avLst>
              <a:gd name="adj" fmla="val 8000"/>
            </a:avLst>
          </a:prstGeom>
          <a:solidFill>
            <a:srgbClr val="F2F5FC"/>
          </a:solidFill>
          <a:ln w="12700">
            <a:solidFill>
              <a:srgbClr val="DDE4F5"/>
            </a:solidFill>
            <a:prstDash val="solid"/>
          </a:ln>
        </p:spPr>
      </p:sp>
      <p:sp>
        <p:nvSpPr>
          <p:cNvPr id="15" name="Text 13"/>
          <p:cNvSpPr/>
          <p:nvPr/>
        </p:nvSpPr>
        <p:spPr>
          <a:xfrm>
            <a:off x="6419088" y="3072384"/>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Corrective Actions</a:t>
            </a:r>
            <a:endParaRPr lang="en-US" sz="1300" dirty="0"/>
          </a:p>
        </p:txBody>
      </p:sp>
      <p:sp>
        <p:nvSpPr>
          <p:cNvPr id="16" name="Text 14"/>
          <p:cNvSpPr/>
          <p:nvPr/>
        </p:nvSpPr>
        <p:spPr>
          <a:xfrm>
            <a:off x="6419088" y="3355848"/>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Assigned remediation tasks tracked through to verified closure.</a:t>
            </a:r>
            <a:endParaRPr lang="en-US" sz="1100" dirty="0"/>
          </a:p>
        </p:txBody>
      </p:sp>
      <p:sp>
        <p:nvSpPr>
          <p:cNvPr id="17" name="Shape 15"/>
          <p:cNvSpPr/>
          <p:nvPr/>
        </p:nvSpPr>
        <p:spPr>
          <a:xfrm>
            <a:off x="548640" y="3986784"/>
            <a:ext cx="5413248" cy="914400"/>
          </a:xfrm>
          <a:prstGeom prst="roundRect">
            <a:avLst>
              <a:gd name="adj" fmla="val 8000"/>
            </a:avLst>
          </a:prstGeom>
          <a:solidFill>
            <a:srgbClr val="F2F5FC"/>
          </a:solidFill>
          <a:ln w="12700">
            <a:solidFill>
              <a:srgbClr val="DDE4F5"/>
            </a:solidFill>
            <a:prstDash val="solid"/>
          </a:ln>
        </p:spPr>
      </p:sp>
      <p:sp>
        <p:nvSpPr>
          <p:cNvPr id="18" name="Text 16"/>
          <p:cNvSpPr/>
          <p:nvPr/>
        </p:nvSpPr>
        <p:spPr>
          <a:xfrm>
            <a:off x="768096" y="4105656"/>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Kill Switch Console</a:t>
            </a:r>
            <a:endParaRPr lang="en-US" sz="1300" dirty="0"/>
          </a:p>
        </p:txBody>
      </p:sp>
      <p:sp>
        <p:nvSpPr>
          <p:cNvPr id="19" name="Text 17"/>
          <p:cNvSpPr/>
          <p:nvPr/>
        </p:nvSpPr>
        <p:spPr>
          <a:xfrm>
            <a:off x="768096" y="4389120"/>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Emergency suspension of an autonomous AI system, with the trigger reason and approver recorded.</a:t>
            </a:r>
            <a:endParaRPr lang="en-US" sz="1100" dirty="0"/>
          </a:p>
        </p:txBody>
      </p:sp>
      <p:sp>
        <p:nvSpPr>
          <p:cNvPr id="20" name="Shape 18"/>
          <p:cNvSpPr/>
          <p:nvPr/>
        </p:nvSpPr>
        <p:spPr>
          <a:xfrm>
            <a:off x="6199632" y="3986784"/>
            <a:ext cx="5413248" cy="914400"/>
          </a:xfrm>
          <a:prstGeom prst="roundRect">
            <a:avLst>
              <a:gd name="adj" fmla="val 8000"/>
            </a:avLst>
          </a:prstGeom>
          <a:solidFill>
            <a:srgbClr val="F2F5FC"/>
          </a:solidFill>
          <a:ln w="12700">
            <a:solidFill>
              <a:srgbClr val="DDE4F5"/>
            </a:solidFill>
            <a:prstDash val="solid"/>
          </a:ln>
        </p:spPr>
      </p:sp>
      <p:sp>
        <p:nvSpPr>
          <p:cNvPr id="21" name="Text 19"/>
          <p:cNvSpPr/>
          <p:nvPr/>
        </p:nvSpPr>
        <p:spPr>
          <a:xfrm>
            <a:off x="6419088" y="4105656"/>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Human Override</a:t>
            </a:r>
            <a:endParaRPr lang="en-US" sz="1300" dirty="0"/>
          </a:p>
        </p:txBody>
      </p:sp>
      <p:sp>
        <p:nvSpPr>
          <p:cNvPr id="22" name="Text 20"/>
          <p:cNvSpPr/>
          <p:nvPr/>
        </p:nvSpPr>
        <p:spPr>
          <a:xfrm>
            <a:off x="6419088" y="4389120"/>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A record of every human intervention on an autonomous AI decision.</a:t>
            </a:r>
            <a:endParaRPr lang="en-US" sz="1100" dirty="0"/>
          </a:p>
        </p:txBody>
      </p:sp>
      <p:sp>
        <p:nvSpPr>
          <p:cNvPr id="23" name="Shape 21"/>
          <p:cNvSpPr/>
          <p:nvPr/>
        </p:nvSpPr>
        <p:spPr>
          <a:xfrm>
            <a:off x="548640" y="5020056"/>
            <a:ext cx="5413248" cy="914400"/>
          </a:xfrm>
          <a:prstGeom prst="roundRect">
            <a:avLst>
              <a:gd name="adj" fmla="val 8000"/>
            </a:avLst>
          </a:prstGeom>
          <a:solidFill>
            <a:srgbClr val="F2F5FC"/>
          </a:solidFill>
          <a:ln w="12700">
            <a:solidFill>
              <a:srgbClr val="DDE4F5"/>
            </a:solidFill>
            <a:prstDash val="solid"/>
          </a:ln>
        </p:spPr>
      </p:sp>
      <p:sp>
        <p:nvSpPr>
          <p:cNvPr id="24" name="Text 22"/>
          <p:cNvSpPr/>
          <p:nvPr/>
        </p:nvSpPr>
        <p:spPr>
          <a:xfrm>
            <a:off x="768096" y="5138928"/>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Incident Management</a:t>
            </a:r>
            <a:endParaRPr lang="en-US" sz="1300" dirty="0"/>
          </a:p>
        </p:txBody>
      </p:sp>
      <p:sp>
        <p:nvSpPr>
          <p:cNvPr id="25" name="Text 23"/>
          <p:cNvSpPr/>
          <p:nvPr/>
        </p:nvSpPr>
        <p:spPr>
          <a:xfrm>
            <a:off x="768096" y="5422392"/>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Triage of model drift, hallucination events, security incidents, compliance breaches and operational failures.</a:t>
            </a:r>
            <a:endParaRPr lang="en-US" sz="1100" dirty="0"/>
          </a:p>
        </p:txBody>
      </p:sp>
      <p:sp>
        <p:nvSpPr>
          <p:cNvPr id="26" name="Shape 24"/>
          <p:cNvSpPr/>
          <p:nvPr/>
        </p:nvSpPr>
        <p:spPr>
          <a:xfrm>
            <a:off x="6199632" y="5020056"/>
            <a:ext cx="5413248" cy="914400"/>
          </a:xfrm>
          <a:prstGeom prst="roundRect">
            <a:avLst>
              <a:gd name="adj" fmla="val 8000"/>
            </a:avLst>
          </a:prstGeom>
          <a:solidFill>
            <a:srgbClr val="F2F5FC"/>
          </a:solidFill>
          <a:ln w="12700">
            <a:solidFill>
              <a:srgbClr val="DDE4F5"/>
            </a:solidFill>
            <a:prstDash val="solid"/>
          </a:ln>
        </p:spPr>
      </p:sp>
      <p:sp>
        <p:nvSpPr>
          <p:cNvPr id="27" name="Text 25"/>
          <p:cNvSpPr/>
          <p:nvPr/>
        </p:nvSpPr>
        <p:spPr>
          <a:xfrm>
            <a:off x="6419088" y="5138928"/>
            <a:ext cx="4974336" cy="27432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Operations Dashboard</a:t>
            </a:r>
            <a:endParaRPr lang="en-US" sz="1300" dirty="0"/>
          </a:p>
        </p:txBody>
      </p:sp>
      <p:sp>
        <p:nvSpPr>
          <p:cNvPr id="28" name="Text 26"/>
          <p:cNvSpPr/>
          <p:nvPr/>
        </p:nvSpPr>
        <p:spPr>
          <a:xfrm>
            <a:off x="6419088" y="5422392"/>
            <a:ext cx="4974336" cy="50292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The live runtime picture: which assets are active, suspended or under review.</a:t>
            </a:r>
            <a:endParaRPr lang="en-US" sz="1100" dirty="0"/>
          </a:p>
        </p:txBody>
      </p:sp>
      <p:sp>
        <p:nvSpPr>
          <p:cNvPr id="29" name="Text 27"/>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Operations &amp; Monitoring domain — 8 modules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AUDIT &amp; TRACEABILITY</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Everything is written down, permanently</a:t>
            </a:r>
            <a:endParaRPr lang="en-US" sz="3400" dirty="0"/>
          </a:p>
        </p:txBody>
      </p:sp>
      <p:sp>
        <p:nvSpPr>
          <p:cNvPr id="4" name="Text 2"/>
          <p:cNvSpPr/>
          <p:nvPr/>
        </p:nvSpPr>
        <p:spPr>
          <a:xfrm>
            <a:off x="548640" y="1481328"/>
            <a:ext cx="10241280" cy="475488"/>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The hardest regulatory question is not "do you govern AI" — it is "prove it". OMG is built so the proof already exists.</a:t>
            </a:r>
            <a:endParaRPr lang="en-US" sz="1400" dirty="0"/>
          </a:p>
        </p:txBody>
      </p:sp>
      <p:sp>
        <p:nvSpPr>
          <p:cNvPr id="5" name="Shape 3"/>
          <p:cNvSpPr/>
          <p:nvPr/>
        </p:nvSpPr>
        <p:spPr>
          <a:xfrm>
            <a:off x="548640" y="2011680"/>
            <a:ext cx="5413248" cy="2148840"/>
          </a:xfrm>
          <a:prstGeom prst="roundRect">
            <a:avLst>
              <a:gd name="adj" fmla="val 3404"/>
            </a:avLst>
          </a:prstGeom>
          <a:solidFill>
            <a:srgbClr val="F2F5FC"/>
          </a:solidFill>
          <a:ln w="12700">
            <a:solidFill>
              <a:srgbClr val="DDE4F5"/>
            </a:solidFill>
            <a:prstDash val="solid"/>
          </a:ln>
        </p:spPr>
      </p:sp>
      <p:sp>
        <p:nvSpPr>
          <p:cNvPr id="6" name="Text 4"/>
          <p:cNvSpPr/>
          <p:nvPr/>
        </p:nvSpPr>
        <p:spPr>
          <a:xfrm>
            <a:off x="804672" y="2157984"/>
            <a:ext cx="4937760" cy="310896"/>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Evidence Center</a:t>
            </a:r>
            <a:endParaRPr lang="en-US" sz="1400" dirty="0"/>
          </a:p>
        </p:txBody>
      </p:sp>
      <p:sp>
        <p:nvSpPr>
          <p:cNvPr id="7" name="Text 5"/>
          <p:cNvSpPr/>
          <p:nvPr/>
        </p:nvSpPr>
        <p:spPr>
          <a:xfrm>
            <a:off x="804672" y="2505456"/>
            <a:ext cx="4937760" cy="146304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Ten mandatory governance deliverable types are captured per asset — including Security Review, Test Strategy &amp; Evidence, Production Readiness Assessment and Project Closure Report. Each is versioned, attributed to an uploader and given an approval status.</a:t>
            </a:r>
            <a:endParaRPr lang="en-US" sz="1150" dirty="0"/>
          </a:p>
        </p:txBody>
      </p:sp>
      <p:sp>
        <p:nvSpPr>
          <p:cNvPr id="8" name="Shape 6"/>
          <p:cNvSpPr/>
          <p:nvPr/>
        </p:nvSpPr>
        <p:spPr>
          <a:xfrm>
            <a:off x="6199632" y="2011680"/>
            <a:ext cx="5413248" cy="2148840"/>
          </a:xfrm>
          <a:prstGeom prst="roundRect">
            <a:avLst>
              <a:gd name="adj" fmla="val 3404"/>
            </a:avLst>
          </a:prstGeom>
          <a:solidFill>
            <a:srgbClr val="1E2761"/>
          </a:solidFill>
          <a:ln w="12700">
            <a:solidFill>
              <a:srgbClr val="1E2761"/>
            </a:solidFill>
            <a:prstDash val="solid"/>
          </a:ln>
        </p:spPr>
      </p:sp>
      <p:sp>
        <p:nvSpPr>
          <p:cNvPr id="9" name="Text 7"/>
          <p:cNvSpPr/>
          <p:nvPr/>
        </p:nvSpPr>
        <p:spPr>
          <a:xfrm>
            <a:off x="6455664" y="2157984"/>
            <a:ext cx="4937760" cy="310896"/>
          </a:xfrm>
          <a:prstGeom prst="rect">
            <a:avLst/>
          </a:prstGeom>
          <a:noFill/>
          <a:ln/>
        </p:spPr>
        <p:txBody>
          <a:bodyPr wrap="square" lIns="0" tIns="0" rIns="0" bIns="0"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Immutable Audit Log</a:t>
            </a:r>
            <a:endParaRPr lang="en-US" sz="1400" dirty="0"/>
          </a:p>
        </p:txBody>
      </p:sp>
      <p:sp>
        <p:nvSpPr>
          <p:cNvPr id="10" name="Text 8"/>
          <p:cNvSpPr/>
          <p:nvPr/>
        </p:nvSpPr>
        <p:spPr>
          <a:xfrm>
            <a:off x="6455664" y="2505456"/>
            <a:ext cx="4937760" cy="1463040"/>
          </a:xfrm>
          <a:prstGeom prst="rect">
            <a:avLst/>
          </a:prstGeom>
          <a:noFill/>
          <a:ln/>
        </p:spPr>
        <p:txBody>
          <a:bodyPr wrap="square" lIns="0" tIns="0" rIns="0" bIns="0" rtlCol="0" anchor="ctr"/>
          <a:lstStyle/>
          <a:p>
            <a:pPr indent="0" marL="0">
              <a:lnSpc>
                <a:spcPts val="1500"/>
              </a:lnSpc>
              <a:buNone/>
            </a:pPr>
            <a:r>
              <a:rPr lang="en-US" sz="1150" dirty="0">
                <a:solidFill>
                  <a:srgbClr val="FFFFFF"/>
                </a:solidFill>
                <a:latin typeface="Calibri" pitchFamily="34" charset="0"/>
                <a:ea typeface="Calibri" pitchFamily="34" charset="-122"/>
                <a:cs typeface="Calibri" pitchFamily="34" charset="-120"/>
              </a:rPr>
              <a:t>Every governance action — registration, ownership change, risk assessment, validation, decision, policy change, override, kill switch, change approval — writes an entry recording who did it, what they did, when, and why. Entries are appended, never edited or deleted.</a:t>
            </a:r>
            <a:endParaRPr lang="en-US" sz="1150" dirty="0"/>
          </a:p>
        </p:txBody>
      </p:sp>
      <p:sp>
        <p:nvSpPr>
          <p:cNvPr id="11" name="Text 9"/>
          <p:cNvSpPr/>
          <p:nvPr/>
        </p:nvSpPr>
        <p:spPr>
          <a:xfrm>
            <a:off x="548640" y="4370832"/>
            <a:ext cx="11064240" cy="274320"/>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FOUR WAYS TO PRODUCE THE PROOF</a:t>
            </a:r>
            <a:endParaRPr lang="en-US" sz="1100" dirty="0"/>
          </a:p>
        </p:txBody>
      </p:sp>
      <p:sp>
        <p:nvSpPr>
          <p:cNvPr id="12" name="Shape 10"/>
          <p:cNvSpPr/>
          <p:nvPr/>
        </p:nvSpPr>
        <p:spPr>
          <a:xfrm>
            <a:off x="548640" y="4709160"/>
            <a:ext cx="2670048" cy="1298448"/>
          </a:xfrm>
          <a:prstGeom prst="roundRect">
            <a:avLst>
              <a:gd name="adj" fmla="val 5634"/>
            </a:avLst>
          </a:prstGeom>
          <a:solidFill>
            <a:srgbClr val="F2F5FC"/>
          </a:solidFill>
          <a:ln w="12700">
            <a:solidFill>
              <a:srgbClr val="DDE4F5"/>
            </a:solidFill>
            <a:prstDash val="solid"/>
          </a:ln>
        </p:spPr>
      </p:sp>
      <p:sp>
        <p:nvSpPr>
          <p:cNvPr id="13" name="Text 11"/>
          <p:cNvSpPr/>
          <p:nvPr/>
        </p:nvSpPr>
        <p:spPr>
          <a:xfrm>
            <a:off x="713232" y="4846320"/>
            <a:ext cx="2340864"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Governance Timeline</a:t>
            </a:r>
            <a:endParaRPr lang="en-US" sz="1250" dirty="0"/>
          </a:p>
        </p:txBody>
      </p:sp>
      <p:sp>
        <p:nvSpPr>
          <p:cNvPr id="14" name="Text 12"/>
          <p:cNvSpPr/>
          <p:nvPr/>
        </p:nvSpPr>
        <p:spPr>
          <a:xfrm>
            <a:off x="713232" y="5285232"/>
            <a:ext cx="2340864" cy="64008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Chronological event history for any single asset.</a:t>
            </a:r>
            <a:endParaRPr lang="en-US" sz="1100" dirty="0"/>
          </a:p>
        </p:txBody>
      </p:sp>
      <p:sp>
        <p:nvSpPr>
          <p:cNvPr id="15" name="Shape 13"/>
          <p:cNvSpPr/>
          <p:nvPr/>
        </p:nvSpPr>
        <p:spPr>
          <a:xfrm>
            <a:off x="3351276" y="4709160"/>
            <a:ext cx="2670048" cy="1298448"/>
          </a:xfrm>
          <a:prstGeom prst="roundRect">
            <a:avLst>
              <a:gd name="adj" fmla="val 5634"/>
            </a:avLst>
          </a:prstGeom>
          <a:solidFill>
            <a:srgbClr val="F2F5FC"/>
          </a:solidFill>
          <a:ln w="12700">
            <a:solidFill>
              <a:srgbClr val="DDE4F5"/>
            </a:solidFill>
            <a:prstDash val="solid"/>
          </a:ln>
        </p:spPr>
      </p:sp>
      <p:sp>
        <p:nvSpPr>
          <p:cNvPr id="16" name="Text 14"/>
          <p:cNvSpPr/>
          <p:nvPr/>
        </p:nvSpPr>
        <p:spPr>
          <a:xfrm>
            <a:off x="3515868" y="4846320"/>
            <a:ext cx="2340864"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Change History</a:t>
            </a:r>
            <a:endParaRPr lang="en-US" sz="1250" dirty="0"/>
          </a:p>
        </p:txBody>
      </p:sp>
      <p:sp>
        <p:nvSpPr>
          <p:cNvPr id="17" name="Text 15"/>
          <p:cNvSpPr/>
          <p:nvPr/>
        </p:nvSpPr>
        <p:spPr>
          <a:xfrm>
            <a:off x="3515868" y="5285232"/>
            <a:ext cx="2340864" cy="64008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What changed, who changed it, when, why, who approved it.</a:t>
            </a:r>
            <a:endParaRPr lang="en-US" sz="1100" dirty="0"/>
          </a:p>
        </p:txBody>
      </p:sp>
      <p:sp>
        <p:nvSpPr>
          <p:cNvPr id="18" name="Shape 16"/>
          <p:cNvSpPr/>
          <p:nvPr/>
        </p:nvSpPr>
        <p:spPr>
          <a:xfrm>
            <a:off x="6153912" y="4709160"/>
            <a:ext cx="2670048" cy="1298448"/>
          </a:xfrm>
          <a:prstGeom prst="roundRect">
            <a:avLst>
              <a:gd name="adj" fmla="val 5634"/>
            </a:avLst>
          </a:prstGeom>
          <a:solidFill>
            <a:srgbClr val="F2F5FC"/>
          </a:solidFill>
          <a:ln w="12700">
            <a:solidFill>
              <a:srgbClr val="DDE4F5"/>
            </a:solidFill>
            <a:prstDash val="solid"/>
          </a:ln>
        </p:spPr>
      </p:sp>
      <p:sp>
        <p:nvSpPr>
          <p:cNvPr id="19" name="Text 17"/>
          <p:cNvSpPr/>
          <p:nvPr/>
        </p:nvSpPr>
        <p:spPr>
          <a:xfrm>
            <a:off x="6318504" y="4846320"/>
            <a:ext cx="2340864"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Board &amp; Regulator Reporting</a:t>
            </a:r>
            <a:endParaRPr lang="en-US" sz="1250" dirty="0"/>
          </a:p>
        </p:txBody>
      </p:sp>
      <p:sp>
        <p:nvSpPr>
          <p:cNvPr id="20" name="Text 18"/>
          <p:cNvSpPr/>
          <p:nvPr/>
        </p:nvSpPr>
        <p:spPr>
          <a:xfrm>
            <a:off x="6318504" y="5285232"/>
            <a:ext cx="2340864" cy="64008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Executive Governance Report and Audit Readiness Report.</a:t>
            </a:r>
            <a:endParaRPr lang="en-US" sz="1100" dirty="0"/>
          </a:p>
        </p:txBody>
      </p:sp>
      <p:sp>
        <p:nvSpPr>
          <p:cNvPr id="21" name="Shape 19"/>
          <p:cNvSpPr/>
          <p:nvPr/>
        </p:nvSpPr>
        <p:spPr>
          <a:xfrm>
            <a:off x="8956548" y="4709160"/>
            <a:ext cx="2670048" cy="1298448"/>
          </a:xfrm>
          <a:prstGeom prst="roundRect">
            <a:avLst>
              <a:gd name="adj" fmla="val 5634"/>
            </a:avLst>
          </a:prstGeom>
          <a:solidFill>
            <a:srgbClr val="F2F5FC"/>
          </a:solidFill>
          <a:ln w="12700">
            <a:solidFill>
              <a:srgbClr val="DDE4F5"/>
            </a:solidFill>
            <a:prstDash val="solid"/>
          </a:ln>
        </p:spPr>
      </p:sp>
      <p:sp>
        <p:nvSpPr>
          <p:cNvPr id="22" name="Text 20"/>
          <p:cNvSpPr/>
          <p:nvPr/>
        </p:nvSpPr>
        <p:spPr>
          <a:xfrm>
            <a:off x="9121140" y="4846320"/>
            <a:ext cx="2340864" cy="457200"/>
          </a:xfrm>
          <a:prstGeom prst="rect">
            <a:avLst/>
          </a:prstGeom>
          <a:noFill/>
          <a:ln/>
        </p:spPr>
        <p:txBody>
          <a:bodyPr wrap="square" lIns="0" tIns="0" rIns="0" bIns="0" rtlCol="0" anchor="ctr"/>
          <a:lstStyle/>
          <a:p>
            <a:pPr indent="0" marL="0">
              <a:buNone/>
            </a:pPr>
            <a:r>
              <a:rPr lang="en-US" sz="1250" b="1" dirty="0">
                <a:solidFill>
                  <a:srgbClr val="1E2761"/>
                </a:solidFill>
                <a:latin typeface="Calibri" pitchFamily="34" charset="0"/>
                <a:ea typeface="Calibri" pitchFamily="34" charset="-122"/>
                <a:cs typeface="Calibri" pitchFamily="34" charset="-120"/>
              </a:rPr>
              <a:t>Audit Logs</a:t>
            </a:r>
            <a:endParaRPr lang="en-US" sz="1250" dirty="0"/>
          </a:p>
        </p:txBody>
      </p:sp>
      <p:sp>
        <p:nvSpPr>
          <p:cNvPr id="23" name="Text 21"/>
          <p:cNvSpPr/>
          <p:nvPr/>
        </p:nvSpPr>
        <p:spPr>
          <a:xfrm>
            <a:off x="9121140" y="5285232"/>
            <a:ext cx="2340864" cy="64008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The full searchable record of every action taken.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ROLE BASED GOVERNANCE</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Seven roles, each scoped to its mandate</a:t>
            </a:r>
            <a:endParaRPr lang="en-US" sz="3400" dirty="0"/>
          </a:p>
        </p:txBody>
      </p:sp>
      <p:sp>
        <p:nvSpPr>
          <p:cNvPr id="4" name="Text 2"/>
          <p:cNvSpPr/>
          <p:nvPr/>
        </p:nvSpPr>
        <p:spPr>
          <a:xfrm>
            <a:off x="548640" y="1481328"/>
            <a:ext cx="10241280" cy="475488"/>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Access is enforced at the route boundary. A role that is not authorised for a module cannot reach it, even by direct link.</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64240" cy="914400"/>
        </p:xfrm>
        <a:graphic>
          <a:graphicData uri="http://schemas.openxmlformats.org/drawingml/2006/table">
            <a:tbl>
              <a:tblPr/>
              <a:tblGrid>
                <a:gridCol w="2286000"/>
                <a:gridCol w="6675120"/>
                <a:gridCol w="2103120"/>
              </a:tblGrid>
              <a:tr h="42062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ROLE</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THIS ROLE DOES</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AUTHORISED ROUTES</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Super Admin</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Platform owner. Full system access including user and tenant administration.</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50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Governance Admin</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Runs the governance programme: assets, policies, reviews, alerts and change.</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48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Risk Officer</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Risk classification, monitoring, corrective actions and policy violations.</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39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Auditor</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Independent read-oriented access across evidence, decisions, trends and audit logs.</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39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Business Owner</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Accountable for owned assets: health, reviews and assigned corrective actions.</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22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Validator</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Validation reviews, findings, evidence and corrective action verification.</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22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2F5FC"/>
                    </a:solidFill>
                  </a:tcPr>
                </a:tc>
              </a:tr>
              <a:tr h="420624">
                <a:tc>
                  <a:txBody>
                    <a:bodyPr/>
                    <a:lstStyle/>
                    <a:p>
                      <a:pPr indent="0" marL="0">
                        <a:buNone/>
                      </a:pPr>
                      <a:r>
                        <a:rPr lang="en-US" sz="1200" b="1" dirty="0">
                          <a:solidFill>
                            <a:srgbClr val="1E2761"/>
                          </a:solidFill>
                          <a:latin typeface="Calibri" pitchFamily="34" charset="0"/>
                          <a:ea typeface="Calibri" pitchFamily="34" charset="-122"/>
                          <a:cs typeface="Calibri" pitchFamily="34" charset="-120"/>
                        </a:rPr>
                        <a:t>Viewer</a:t>
                      </a:r>
                      <a:endParaRPr lang="en-US" sz="120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indent="0" marL="0">
                        <a:buNone/>
                      </a:pPr>
                      <a:r>
                        <a:rPr lang="en-US" sz="1150" dirty="0">
                          <a:solidFill>
                            <a:srgbClr val="2B3350"/>
                          </a:solidFill>
                          <a:latin typeface="Calibri" pitchFamily="34" charset="0"/>
                          <a:ea typeface="Calibri" pitchFamily="34" charset="-122"/>
                          <a:cs typeface="Calibri" pitchFamily="34" charset="-120"/>
                        </a:rPr>
                        <a:t>Executive observer. Dashboards and governance posture only.</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2761"/>
                          </a:solidFill>
                          <a:latin typeface="Calibri" pitchFamily="34" charset="0"/>
                          <a:ea typeface="Calibri" pitchFamily="34" charset="-122"/>
                          <a:cs typeface="Calibri" pitchFamily="34" charset="-120"/>
                        </a:rPr>
                        <a:t>15 of 50</a:t>
                      </a:r>
                      <a:endParaRPr lang="en-US" sz="1150" dirty="0">
                        <a:latin typeface="Calibri" charset="0"/>
                        <a:ea typeface="Calibri" charset="0"/>
                        <a:cs typeface="Calibri" charset="0"/>
                      </a:endParaRPr>
                    </a:p>
                  </a:txBody>
                  <a:tcPr marL="91440" marR="91440" marT="91440" marB="91440" anchor="ctr">
                    <a:lnL w="12700" cap="flat" cmpd="sng" algn="ctr">
                      <a:solidFill>
                        <a:srgbClr val="DDE4F5"/>
                      </a:solidFill>
                      <a:prstDash val="solid"/>
                      <a:round/>
                      <a:headEnd type="none" w="med" len="med"/>
                      <a:tailEnd type="none" w="med" len="med"/>
                    </a:lnL>
                    <a:lnR w="12700" cap="flat" cmpd="sng" algn="ctr">
                      <a:solidFill>
                        <a:srgbClr val="DDE4F5"/>
                      </a:solidFill>
                      <a:prstDash val="solid"/>
                      <a:round/>
                      <a:headEnd type="none" w="med" len="med"/>
                      <a:tailEnd type="none" w="med" len="med"/>
                    </a:lnR>
                    <a:lnT w="12700" cap="flat" cmpd="sng" algn="ctr">
                      <a:solidFill>
                        <a:srgbClr val="DDE4F5"/>
                      </a:solidFill>
                      <a:prstDash val="solid"/>
                      <a:round/>
                      <a:headEnd type="none" w="med" len="med"/>
                      <a:tailEnd type="none" w="med" len="med"/>
                    </a:lnT>
                    <a:lnB w="12700" cap="flat" cmpd="sng" algn="ctr">
                      <a:solidFill>
                        <a:srgbClr val="DDE4F5"/>
                      </a:solidFill>
                      <a:prstDash val="solid"/>
                      <a:round/>
                      <a:headEnd type="none" w="med" len="med"/>
                      <a:tailEnd type="none" w="med" len="med"/>
                    </a:lnB>
                    <a:solidFill>
                      <a:srgbClr val="FFFFFF"/>
                    </a:solidFill>
                  </a:tcPr>
                </a:tc>
              </a:tr>
            </a:tbl>
          </a:graphicData>
        </a:graphic>
      </p:graphicFrame>
      <p:sp>
        <p:nvSpPr>
          <p:cNvPr id="6" name="Shape 3"/>
          <p:cNvSpPr/>
          <p:nvPr/>
        </p:nvSpPr>
        <p:spPr>
          <a:xfrm>
            <a:off x="548640" y="2011680"/>
            <a:ext cx="11064240" cy="420624"/>
          </a:xfrm>
          <a:prstGeom prst="rect">
            <a:avLst/>
          </a:prstGeom>
          <a:solidFill>
            <a:srgbClr val="1E2761"/>
          </a:solidFill>
          <a:ln w="12700">
            <a:solidFill>
              <a:srgbClr val="1E2761"/>
            </a:solidFill>
            <a:prstDash val="solid"/>
          </a:ln>
        </p:spPr>
      </p:sp>
      <p:sp>
        <p:nvSpPr>
          <p:cNvPr id="7" name="Text 4"/>
          <p:cNvSpPr/>
          <p:nvPr/>
        </p:nvSpPr>
        <p:spPr>
          <a:xfrm>
            <a:off x="640080" y="2011680"/>
            <a:ext cx="2194560" cy="42062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ROLE</a:t>
            </a:r>
            <a:endParaRPr lang="en-US" sz="1150" dirty="0"/>
          </a:p>
        </p:txBody>
      </p:sp>
      <p:sp>
        <p:nvSpPr>
          <p:cNvPr id="8" name="Text 5"/>
          <p:cNvSpPr/>
          <p:nvPr/>
        </p:nvSpPr>
        <p:spPr>
          <a:xfrm>
            <a:off x="2926080" y="2011680"/>
            <a:ext cx="6492240" cy="420624"/>
          </a:xfrm>
          <a:prstGeom prst="rect">
            <a:avLst/>
          </a:prstGeom>
          <a:noFill/>
          <a:ln/>
        </p:spPr>
        <p:txBody>
          <a:bodyPr wrap="square" lIns="0" tIns="0" rIns="0" bIns="0" rtlCol="0" anchor="ctr"/>
          <a:lstStyle/>
          <a:p>
            <a:pPr indent="0" marL="0">
              <a:buNone/>
            </a:pPr>
            <a:r>
              <a:rPr lang="en-US" sz="1150" b="1" spc="100" kern="0" dirty="0">
                <a:solidFill>
                  <a:srgbClr val="FFFFFF"/>
                </a:solidFill>
                <a:latin typeface="Calibri" pitchFamily="34" charset="0"/>
                <a:ea typeface="Calibri" pitchFamily="34" charset="-122"/>
                <a:cs typeface="Calibri" pitchFamily="34" charset="-120"/>
              </a:rPr>
              <a:t>WHAT THIS ROLE DOES</a:t>
            </a:r>
            <a:endParaRPr lang="en-US" sz="1150" dirty="0"/>
          </a:p>
        </p:txBody>
      </p:sp>
      <p:sp>
        <p:nvSpPr>
          <p:cNvPr id="9" name="Text 6"/>
          <p:cNvSpPr/>
          <p:nvPr/>
        </p:nvSpPr>
        <p:spPr>
          <a:xfrm>
            <a:off x="9601200" y="2011680"/>
            <a:ext cx="1920240" cy="420624"/>
          </a:xfrm>
          <a:prstGeom prst="rect">
            <a:avLst/>
          </a:prstGeom>
          <a:noFill/>
          <a:ln/>
        </p:spPr>
        <p:txBody>
          <a:bodyPr wrap="square" lIns="0" tIns="0" rIns="0" bIns="0" rtlCol="0" anchor="ctr"/>
          <a:lstStyle/>
          <a:p>
            <a:pPr algn="ctr" indent="0" marL="0">
              <a:buNone/>
            </a:pPr>
            <a:r>
              <a:rPr lang="en-US" sz="1150" b="1" spc="100" kern="0" dirty="0">
                <a:solidFill>
                  <a:srgbClr val="FFFFFF"/>
                </a:solidFill>
                <a:latin typeface="Calibri" pitchFamily="34" charset="0"/>
                <a:ea typeface="Calibri" pitchFamily="34" charset="-122"/>
                <a:cs typeface="Calibri" pitchFamily="34" charset="-120"/>
              </a:rPr>
              <a:t>AUTHORISED ROUTES</a:t>
            </a:r>
            <a:endParaRPr lang="en-US" sz="1150" dirty="0"/>
          </a:p>
        </p:txBody>
      </p:sp>
      <p:sp>
        <p:nvSpPr>
          <p:cNvPr id="10" name="Shape 7"/>
          <p:cNvSpPr/>
          <p:nvPr/>
        </p:nvSpPr>
        <p:spPr>
          <a:xfrm>
            <a:off x="548640" y="5468112"/>
            <a:ext cx="11064240" cy="566928"/>
          </a:xfrm>
          <a:prstGeom prst="roundRect">
            <a:avLst>
              <a:gd name="adj" fmla="val 12903"/>
            </a:avLst>
          </a:prstGeom>
          <a:solidFill>
            <a:srgbClr val="F2F5FC"/>
          </a:solidFill>
          <a:ln w="12700">
            <a:solidFill>
              <a:srgbClr val="DDE4F5"/>
            </a:solidFill>
            <a:prstDash val="solid"/>
          </a:ln>
        </p:spPr>
      </p:sp>
      <p:sp>
        <p:nvSpPr>
          <p:cNvPr id="11" name="Text 8"/>
          <p:cNvSpPr/>
          <p:nvPr/>
        </p:nvSpPr>
        <p:spPr>
          <a:xfrm>
            <a:off x="822960" y="5468112"/>
            <a:ext cx="10515600" cy="566928"/>
          </a:xfrm>
          <a:prstGeom prst="rect">
            <a:avLst/>
          </a:prstGeom>
          <a:noFill/>
          <a:ln/>
        </p:spPr>
        <p:txBody>
          <a:bodyPr wrap="square" lIns="0" tIns="0" rIns="0" bIns="0" rtlCol="0" anchor="ctr"/>
          <a:lstStyle/>
          <a:p>
            <a:pPr indent="0" marL="0">
              <a:buNone/>
            </a:pPr>
            <a:r>
              <a:rPr lang="en-US" sz="1200" dirty="0">
                <a:solidFill>
                  <a:srgbClr val="2B3350"/>
                </a:solidFill>
                <a:latin typeface="Calibri" pitchFamily="34" charset="0"/>
                <a:ea typeface="Calibri" pitchFamily="34" charset="-122"/>
                <a:cs typeface="Calibri" pitchFamily="34" charset="-120"/>
              </a:rPr>
              <a:t>An RBAC Administration screen shows the full role-to-module authorisation matrix, generated from the live navigation configuration — so the matrix and the product can never disagree.</a:t>
            </a:r>
            <a:endParaRPr lang="en-US" sz="1200" dirty="0"/>
          </a:p>
        </p:txBody>
      </p:sp>
      <p:sp>
        <p:nvSpPr>
          <p:cNvPr id="12" name="Text 9"/>
          <p:cNvSpPr/>
          <p:nvPr/>
        </p:nvSpPr>
        <p:spPr>
          <a:xfrm>
            <a:off x="548640" y="6144768"/>
            <a:ext cx="11064240" cy="237744"/>
          </a:xfrm>
          <a:prstGeom prst="rect">
            <a:avLst/>
          </a:prstGeom>
          <a:noFill/>
          <a:ln/>
        </p:spPr>
        <p:txBody>
          <a:bodyPr wrap="square" lIns="0" tIns="0" rIns="0" bIns="0" rtlCol="0" anchor="ctr"/>
          <a:lstStyle/>
          <a:p>
            <a:pPr indent="0" marL="0">
              <a:buNone/>
            </a:pPr>
            <a:r>
              <a:rPr lang="en-US" sz="900" i="1" dirty="0">
                <a:solidFill>
                  <a:srgbClr val="6B7391"/>
                </a:solidFill>
                <a:latin typeface="Calibri" pitchFamily="34" charset="0"/>
                <a:ea typeface="Calibri" pitchFamily="34" charset="-122"/>
                <a:cs typeface="Calibri" pitchFamily="34" charset="-120"/>
              </a:rPr>
              <a:t>Source: UserRole type and DEMO_PERSONAS allowedNav, frontend/src/services/mockData.ts</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CURRENT PLATFORM STRENGTHS</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is genuinely built and working today</a:t>
            </a:r>
            <a:endParaRPr lang="en-US" sz="3400" dirty="0"/>
          </a:p>
        </p:txBody>
      </p:sp>
      <p:sp>
        <p:nvSpPr>
          <p:cNvPr id="4" name="Shape 2"/>
          <p:cNvSpPr/>
          <p:nvPr/>
        </p:nvSpPr>
        <p:spPr>
          <a:xfrm>
            <a:off x="548640" y="1536192"/>
            <a:ext cx="5413248" cy="1188720"/>
          </a:xfrm>
          <a:prstGeom prst="roundRect">
            <a:avLst>
              <a:gd name="adj" fmla="val 6154"/>
            </a:avLst>
          </a:prstGeom>
          <a:solidFill>
            <a:srgbClr val="F2F5FC"/>
          </a:solidFill>
          <a:ln w="12700">
            <a:solidFill>
              <a:srgbClr val="DDE4F5"/>
            </a:solidFill>
            <a:prstDash val="solid"/>
          </a:ln>
        </p:spPr>
      </p:sp>
      <p:sp>
        <p:nvSpPr>
          <p:cNvPr id="5" name="Shape 3"/>
          <p:cNvSpPr/>
          <p:nvPr/>
        </p:nvSpPr>
        <p:spPr>
          <a:xfrm>
            <a:off x="768096" y="1737360"/>
            <a:ext cx="347472" cy="347472"/>
          </a:xfrm>
          <a:prstGeom prst="ellipse">
            <a:avLst/>
          </a:prstGeom>
          <a:solidFill>
            <a:srgbClr val="2E7D64"/>
          </a:solidFill>
          <a:ln w="12700">
            <a:solidFill>
              <a:srgbClr val="2E7D64"/>
            </a:solidFill>
            <a:prstDash val="solid"/>
          </a:ln>
        </p:spPr>
      </p:sp>
      <p:sp>
        <p:nvSpPr>
          <p:cNvPr id="6" name="Text 4"/>
          <p:cNvSpPr/>
          <p:nvPr/>
        </p:nvSpPr>
        <p:spPr>
          <a:xfrm>
            <a:off x="768096"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7" name="Text 5"/>
          <p:cNvSpPr/>
          <p:nvPr/>
        </p:nvSpPr>
        <p:spPr>
          <a:xfrm>
            <a:off x="1243584" y="1700784"/>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A working end-to-end application</a:t>
            </a:r>
            <a:endParaRPr lang="en-US" sz="1300" dirty="0"/>
          </a:p>
        </p:txBody>
      </p:sp>
      <p:sp>
        <p:nvSpPr>
          <p:cNvPr id="8" name="Text 6"/>
          <p:cNvSpPr/>
          <p:nvPr/>
        </p:nvSpPr>
        <p:spPr>
          <a:xfrm>
            <a:off x="1243584" y="2011680"/>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Not a prototype of screens. 47 modules across 9 governance domains, all navigable, all populated with working logic.</a:t>
            </a:r>
            <a:endParaRPr lang="en-US" sz="1100" dirty="0"/>
          </a:p>
        </p:txBody>
      </p:sp>
      <p:sp>
        <p:nvSpPr>
          <p:cNvPr id="9" name="Shape 7"/>
          <p:cNvSpPr/>
          <p:nvPr/>
        </p:nvSpPr>
        <p:spPr>
          <a:xfrm>
            <a:off x="6199632" y="1536192"/>
            <a:ext cx="5413248" cy="1188720"/>
          </a:xfrm>
          <a:prstGeom prst="roundRect">
            <a:avLst>
              <a:gd name="adj" fmla="val 6154"/>
            </a:avLst>
          </a:prstGeom>
          <a:solidFill>
            <a:srgbClr val="F2F5FC"/>
          </a:solidFill>
          <a:ln w="12700">
            <a:solidFill>
              <a:srgbClr val="DDE4F5"/>
            </a:solidFill>
            <a:prstDash val="solid"/>
          </a:ln>
        </p:spPr>
      </p:sp>
      <p:sp>
        <p:nvSpPr>
          <p:cNvPr id="10" name="Shape 8"/>
          <p:cNvSpPr/>
          <p:nvPr/>
        </p:nvSpPr>
        <p:spPr>
          <a:xfrm>
            <a:off x="6419088" y="1737360"/>
            <a:ext cx="347472" cy="347472"/>
          </a:xfrm>
          <a:prstGeom prst="ellipse">
            <a:avLst/>
          </a:prstGeom>
          <a:solidFill>
            <a:srgbClr val="2E7D64"/>
          </a:solidFill>
          <a:ln w="12700">
            <a:solidFill>
              <a:srgbClr val="2E7D64"/>
            </a:solidFill>
            <a:prstDash val="solid"/>
          </a:ln>
        </p:spPr>
      </p:sp>
      <p:sp>
        <p:nvSpPr>
          <p:cNvPr id="11" name="Text 9"/>
          <p:cNvSpPr/>
          <p:nvPr/>
        </p:nvSpPr>
        <p:spPr>
          <a:xfrm>
            <a:off x="6419088"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2" name="Text 10"/>
          <p:cNvSpPr/>
          <p:nvPr/>
        </p:nvSpPr>
        <p:spPr>
          <a:xfrm>
            <a:off x="6894576" y="1700784"/>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Governance is computed, not typed in</a:t>
            </a:r>
            <a:endParaRPr lang="en-US" sz="1300" dirty="0"/>
          </a:p>
        </p:txBody>
      </p:sp>
      <p:sp>
        <p:nvSpPr>
          <p:cNvPr id="13" name="Text 11"/>
          <p:cNvSpPr/>
          <p:nvPr/>
        </p:nvSpPr>
        <p:spPr>
          <a:xfrm>
            <a:off x="6894576" y="2011680"/>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Readiness scores, health indices, blockers and lifecycle position are all derived from the underlying data.</a:t>
            </a:r>
            <a:endParaRPr lang="en-US" sz="1100" dirty="0"/>
          </a:p>
        </p:txBody>
      </p:sp>
      <p:sp>
        <p:nvSpPr>
          <p:cNvPr id="14" name="Shape 12"/>
          <p:cNvSpPr/>
          <p:nvPr/>
        </p:nvSpPr>
        <p:spPr>
          <a:xfrm>
            <a:off x="548640" y="2889504"/>
            <a:ext cx="5413248" cy="1188720"/>
          </a:xfrm>
          <a:prstGeom prst="roundRect">
            <a:avLst>
              <a:gd name="adj" fmla="val 6154"/>
            </a:avLst>
          </a:prstGeom>
          <a:solidFill>
            <a:srgbClr val="F2F5FC"/>
          </a:solidFill>
          <a:ln w="12700">
            <a:solidFill>
              <a:srgbClr val="DDE4F5"/>
            </a:solidFill>
            <a:prstDash val="solid"/>
          </a:ln>
        </p:spPr>
      </p:sp>
      <p:sp>
        <p:nvSpPr>
          <p:cNvPr id="15" name="Shape 13"/>
          <p:cNvSpPr/>
          <p:nvPr/>
        </p:nvSpPr>
        <p:spPr>
          <a:xfrm>
            <a:off x="768096" y="3090672"/>
            <a:ext cx="347472" cy="347472"/>
          </a:xfrm>
          <a:prstGeom prst="ellipse">
            <a:avLst/>
          </a:prstGeom>
          <a:solidFill>
            <a:srgbClr val="2E7D64"/>
          </a:solidFill>
          <a:ln w="12700">
            <a:solidFill>
              <a:srgbClr val="2E7D64"/>
            </a:solidFill>
            <a:prstDash val="solid"/>
          </a:ln>
        </p:spPr>
      </p:sp>
      <p:sp>
        <p:nvSpPr>
          <p:cNvPr id="16" name="Text 14"/>
          <p:cNvSpPr/>
          <p:nvPr/>
        </p:nvSpPr>
        <p:spPr>
          <a:xfrm>
            <a:off x="768096" y="3090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17" name="Text 15"/>
          <p:cNvSpPr/>
          <p:nvPr/>
        </p:nvSpPr>
        <p:spPr>
          <a:xfrm>
            <a:off x="1243584" y="3054096"/>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Policy breaches are detected automatically</a:t>
            </a:r>
            <a:endParaRPr lang="en-US" sz="1300" dirty="0"/>
          </a:p>
        </p:txBody>
      </p:sp>
      <p:sp>
        <p:nvSpPr>
          <p:cNvPr id="18" name="Text 16"/>
          <p:cNvSpPr/>
          <p:nvPr/>
        </p:nvSpPr>
        <p:spPr>
          <a:xfrm>
            <a:off x="1243584" y="3364992"/>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Seven enforcement rules evaluate live governance state continuously. A breach clears only when the underlying gap is fixed.</a:t>
            </a:r>
            <a:endParaRPr lang="en-US" sz="1100" dirty="0"/>
          </a:p>
        </p:txBody>
      </p:sp>
      <p:sp>
        <p:nvSpPr>
          <p:cNvPr id="19" name="Shape 17"/>
          <p:cNvSpPr/>
          <p:nvPr/>
        </p:nvSpPr>
        <p:spPr>
          <a:xfrm>
            <a:off x="6199632" y="2889504"/>
            <a:ext cx="5413248" cy="1188720"/>
          </a:xfrm>
          <a:prstGeom prst="roundRect">
            <a:avLst>
              <a:gd name="adj" fmla="val 6154"/>
            </a:avLst>
          </a:prstGeom>
          <a:solidFill>
            <a:srgbClr val="F2F5FC"/>
          </a:solidFill>
          <a:ln w="12700">
            <a:solidFill>
              <a:srgbClr val="DDE4F5"/>
            </a:solidFill>
            <a:prstDash val="solid"/>
          </a:ln>
        </p:spPr>
      </p:sp>
      <p:sp>
        <p:nvSpPr>
          <p:cNvPr id="20" name="Shape 18"/>
          <p:cNvSpPr/>
          <p:nvPr/>
        </p:nvSpPr>
        <p:spPr>
          <a:xfrm>
            <a:off x="6419088" y="3090672"/>
            <a:ext cx="347472" cy="347472"/>
          </a:xfrm>
          <a:prstGeom prst="ellipse">
            <a:avLst/>
          </a:prstGeom>
          <a:solidFill>
            <a:srgbClr val="2E7D64"/>
          </a:solidFill>
          <a:ln w="12700">
            <a:solidFill>
              <a:srgbClr val="2E7D64"/>
            </a:solidFill>
            <a:prstDash val="solid"/>
          </a:ln>
        </p:spPr>
      </p:sp>
      <p:sp>
        <p:nvSpPr>
          <p:cNvPr id="21" name="Text 19"/>
          <p:cNvSpPr/>
          <p:nvPr/>
        </p:nvSpPr>
        <p:spPr>
          <a:xfrm>
            <a:off x="6419088" y="309067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2" name="Text 20"/>
          <p:cNvSpPr/>
          <p:nvPr/>
        </p:nvSpPr>
        <p:spPr>
          <a:xfrm>
            <a:off x="6894576" y="3054096"/>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Change is governed, not just logged</a:t>
            </a:r>
            <a:endParaRPr lang="en-US" sz="1300" dirty="0"/>
          </a:p>
        </p:txBody>
      </p:sp>
      <p:sp>
        <p:nvSpPr>
          <p:cNvPr id="23" name="Text 21"/>
          <p:cNvSpPr/>
          <p:nvPr/>
        </p:nvSpPr>
        <p:spPr>
          <a:xfrm>
            <a:off x="6894576" y="3364992"/>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Changes are classified, impact-assessed across seven areas, scored, and routed to an approval chain sized to the impact.</a:t>
            </a:r>
            <a:endParaRPr lang="en-US" sz="1100" dirty="0"/>
          </a:p>
        </p:txBody>
      </p:sp>
      <p:sp>
        <p:nvSpPr>
          <p:cNvPr id="24" name="Shape 22"/>
          <p:cNvSpPr/>
          <p:nvPr/>
        </p:nvSpPr>
        <p:spPr>
          <a:xfrm>
            <a:off x="548640" y="4242816"/>
            <a:ext cx="5413248" cy="1188720"/>
          </a:xfrm>
          <a:prstGeom prst="roundRect">
            <a:avLst>
              <a:gd name="adj" fmla="val 6154"/>
            </a:avLst>
          </a:prstGeom>
          <a:solidFill>
            <a:srgbClr val="F2F5FC"/>
          </a:solidFill>
          <a:ln w="12700">
            <a:solidFill>
              <a:srgbClr val="DDE4F5"/>
            </a:solidFill>
            <a:prstDash val="solid"/>
          </a:ln>
        </p:spPr>
      </p:sp>
      <p:sp>
        <p:nvSpPr>
          <p:cNvPr id="25" name="Shape 23"/>
          <p:cNvSpPr/>
          <p:nvPr/>
        </p:nvSpPr>
        <p:spPr>
          <a:xfrm>
            <a:off x="768096" y="4443984"/>
            <a:ext cx="347472" cy="347472"/>
          </a:xfrm>
          <a:prstGeom prst="ellipse">
            <a:avLst/>
          </a:prstGeom>
          <a:solidFill>
            <a:srgbClr val="2E7D64"/>
          </a:solidFill>
          <a:ln w="12700">
            <a:solidFill>
              <a:srgbClr val="2E7D64"/>
            </a:solidFill>
            <a:prstDash val="solid"/>
          </a:ln>
        </p:spPr>
      </p:sp>
      <p:sp>
        <p:nvSpPr>
          <p:cNvPr id="26" name="Text 24"/>
          <p:cNvSpPr/>
          <p:nvPr/>
        </p:nvSpPr>
        <p:spPr>
          <a:xfrm>
            <a:off x="768096" y="4443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27" name="Text 25"/>
          <p:cNvSpPr/>
          <p:nvPr/>
        </p:nvSpPr>
        <p:spPr>
          <a:xfrm>
            <a:off x="1243584" y="4407408"/>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Role-based access throughout</a:t>
            </a:r>
            <a:endParaRPr lang="en-US" sz="1300" dirty="0"/>
          </a:p>
        </p:txBody>
      </p:sp>
      <p:sp>
        <p:nvSpPr>
          <p:cNvPr id="28" name="Text 26"/>
          <p:cNvSpPr/>
          <p:nvPr/>
        </p:nvSpPr>
        <p:spPr>
          <a:xfrm>
            <a:off x="1243584" y="4718304"/>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Seven governance personas with authorisation enforced at the route boundary, plus an Executive and a Governance experience mode.</a:t>
            </a:r>
            <a:endParaRPr lang="en-US" sz="1100" dirty="0"/>
          </a:p>
        </p:txBody>
      </p:sp>
      <p:sp>
        <p:nvSpPr>
          <p:cNvPr id="29" name="Shape 27"/>
          <p:cNvSpPr/>
          <p:nvPr/>
        </p:nvSpPr>
        <p:spPr>
          <a:xfrm>
            <a:off x="6199632" y="4242816"/>
            <a:ext cx="5413248" cy="1188720"/>
          </a:xfrm>
          <a:prstGeom prst="roundRect">
            <a:avLst>
              <a:gd name="adj" fmla="val 6154"/>
            </a:avLst>
          </a:prstGeom>
          <a:solidFill>
            <a:srgbClr val="F2F5FC"/>
          </a:solidFill>
          <a:ln w="12700">
            <a:solidFill>
              <a:srgbClr val="DDE4F5"/>
            </a:solidFill>
            <a:prstDash val="solid"/>
          </a:ln>
        </p:spPr>
      </p:sp>
      <p:sp>
        <p:nvSpPr>
          <p:cNvPr id="30" name="Shape 28"/>
          <p:cNvSpPr/>
          <p:nvPr/>
        </p:nvSpPr>
        <p:spPr>
          <a:xfrm>
            <a:off x="6419088" y="4443984"/>
            <a:ext cx="347472" cy="347472"/>
          </a:xfrm>
          <a:prstGeom prst="ellipse">
            <a:avLst/>
          </a:prstGeom>
          <a:solidFill>
            <a:srgbClr val="2E7D64"/>
          </a:solidFill>
          <a:ln w="12700">
            <a:solidFill>
              <a:srgbClr val="2E7D64"/>
            </a:solidFill>
            <a:prstDash val="solid"/>
          </a:ln>
        </p:spPr>
      </p:sp>
      <p:sp>
        <p:nvSpPr>
          <p:cNvPr id="31" name="Text 29"/>
          <p:cNvSpPr/>
          <p:nvPr/>
        </p:nvSpPr>
        <p:spPr>
          <a:xfrm>
            <a:off x="6419088" y="4443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2" name="Text 30"/>
          <p:cNvSpPr/>
          <p:nvPr/>
        </p:nvSpPr>
        <p:spPr>
          <a:xfrm>
            <a:off x="6894576" y="4407408"/>
            <a:ext cx="4498848"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Built for executive consumption</a:t>
            </a:r>
            <a:endParaRPr lang="en-US" sz="1300" dirty="0"/>
          </a:p>
        </p:txBody>
      </p:sp>
      <p:sp>
        <p:nvSpPr>
          <p:cNvPr id="33" name="Text 31"/>
          <p:cNvSpPr/>
          <p:nvPr/>
        </p:nvSpPr>
        <p:spPr>
          <a:xfrm>
            <a:off x="6894576" y="4718304"/>
            <a:ext cx="4498848" cy="685800"/>
          </a:xfrm>
          <a:prstGeom prst="rect">
            <a:avLst/>
          </a:prstGeom>
          <a:noFill/>
          <a:ln/>
        </p:spPr>
        <p:txBody>
          <a:bodyPr wrap="square" lIns="0" tIns="0" rIns="0" bIns="0" rtlCol="0" anchor="ctr"/>
          <a:lstStyle/>
          <a:p>
            <a:pPr indent="0" marL="0">
              <a:lnSpc>
                <a:spcPts val="1400"/>
              </a:lnSpc>
              <a:buNone/>
            </a:pPr>
            <a:r>
              <a:rPr lang="en-US" sz="1100" dirty="0">
                <a:solidFill>
                  <a:srgbClr val="2B3350"/>
                </a:solidFill>
                <a:latin typeface="Calibri" pitchFamily="34" charset="0"/>
                <a:ea typeface="Calibri" pitchFamily="34" charset="-122"/>
                <a:cs typeface="Calibri" pitchFamily="34" charset="-120"/>
              </a:rPr>
              <a:t>Command Center, Executive Hub with CIO / CRO / Compliance / Board lenses, scorecards, heatmaps and board reporting.</a:t>
            </a:r>
            <a:endParaRPr lang="en-US" sz="1100" dirty="0"/>
          </a:p>
        </p:txBody>
      </p:sp>
      <p:sp>
        <p:nvSpPr>
          <p:cNvPr id="34" name="Shape 32"/>
          <p:cNvSpPr/>
          <p:nvPr/>
        </p:nvSpPr>
        <p:spPr>
          <a:xfrm>
            <a:off x="548640" y="5623560"/>
            <a:ext cx="11064240" cy="658368"/>
          </a:xfrm>
          <a:prstGeom prst="roundRect">
            <a:avLst>
              <a:gd name="adj" fmla="val 11111"/>
            </a:avLst>
          </a:prstGeom>
          <a:solidFill>
            <a:srgbClr val="1E2761"/>
          </a:solidFill>
          <a:ln w="12700">
            <a:solidFill>
              <a:srgbClr val="1E2761"/>
            </a:solidFill>
            <a:prstDash val="solid"/>
          </a:ln>
        </p:spPr>
      </p:sp>
      <p:sp>
        <p:nvSpPr>
          <p:cNvPr id="35" name="Text 33"/>
          <p:cNvSpPr/>
          <p:nvPr/>
        </p:nvSpPr>
        <p:spPr>
          <a:xfrm>
            <a:off x="868680" y="5623560"/>
            <a:ext cx="10424160" cy="65836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The application is deployed and reachable today, and works on desktop and mobile.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64240" cy="237744"/>
          </a:xfrm>
          <a:prstGeom prst="rect">
            <a:avLst/>
          </a:prstGeom>
          <a:noFill/>
          <a:ln/>
        </p:spPr>
        <p:txBody>
          <a:bodyPr wrap="square" lIns="0" tIns="0" rIns="0" bIns="0" rtlCol="0" anchor="ctr"/>
          <a:lstStyle/>
          <a:p>
            <a:pPr indent="0" marL="0">
              <a:buNone/>
            </a:pPr>
            <a:r>
              <a:rPr lang="en-US" sz="1100" b="1" spc="200" kern="0" dirty="0">
                <a:solidFill>
                  <a:srgbClr val="6B7391"/>
                </a:solidFill>
                <a:latin typeface="Calibri" pitchFamily="34" charset="0"/>
                <a:ea typeface="Calibri" pitchFamily="34" charset="-122"/>
                <a:cs typeface="Calibri" pitchFamily="34" charset="-120"/>
              </a:rPr>
              <a:t>FUTURE ROADMAP</a:t>
            </a:r>
            <a:endParaRPr lang="en-US" sz="1100" dirty="0"/>
          </a:p>
        </p:txBody>
      </p:sp>
      <p:sp>
        <p:nvSpPr>
          <p:cNvPr id="3" name="Text 1"/>
          <p:cNvSpPr/>
          <p:nvPr/>
        </p:nvSpPr>
        <p:spPr>
          <a:xfrm>
            <a:off x="548640" y="640080"/>
            <a:ext cx="11064240" cy="676656"/>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What is not built yet — stated plainly</a:t>
            </a:r>
            <a:endParaRPr lang="en-US" sz="3400" dirty="0"/>
          </a:p>
        </p:txBody>
      </p:sp>
      <p:sp>
        <p:nvSpPr>
          <p:cNvPr id="4" name="Text 2"/>
          <p:cNvSpPr/>
          <p:nvPr/>
        </p:nvSpPr>
        <p:spPr>
          <a:xfrm>
            <a:off x="548640" y="1463040"/>
            <a:ext cx="10241280" cy="310896"/>
          </a:xfrm>
          <a:prstGeom prst="rect">
            <a:avLst/>
          </a:prstGeom>
          <a:noFill/>
          <a:ln/>
        </p:spPr>
        <p:txBody>
          <a:bodyPr wrap="square" lIns="0" tIns="0" rIns="0" bIns="0" rtlCol="0" anchor="ctr"/>
          <a:lstStyle/>
          <a:p>
            <a:pPr indent="0" marL="0">
              <a:buNone/>
            </a:pPr>
            <a:r>
              <a:rPr lang="en-US" sz="1400" dirty="0">
                <a:solidFill>
                  <a:srgbClr val="2B3350"/>
                </a:solidFill>
                <a:latin typeface="Calibri" pitchFamily="34" charset="0"/>
                <a:ea typeface="Calibri" pitchFamily="34" charset="-122"/>
                <a:cs typeface="Calibri" pitchFamily="34" charset="-120"/>
              </a:rPr>
              <a:t>Three things matter for an honest read of where the platform stands.</a:t>
            </a:r>
            <a:endParaRPr lang="en-US" sz="1400" dirty="0"/>
          </a:p>
        </p:txBody>
      </p:sp>
      <p:sp>
        <p:nvSpPr>
          <p:cNvPr id="5" name="Shape 3"/>
          <p:cNvSpPr/>
          <p:nvPr/>
        </p:nvSpPr>
        <p:spPr>
          <a:xfrm>
            <a:off x="548640" y="1874520"/>
            <a:ext cx="11064240" cy="1481328"/>
          </a:xfrm>
          <a:prstGeom prst="roundRect">
            <a:avLst>
              <a:gd name="adj" fmla="val 4938"/>
            </a:avLst>
          </a:prstGeom>
          <a:solidFill>
            <a:srgbClr val="FDF3E3"/>
          </a:solidFill>
          <a:ln w="12700">
            <a:solidFill>
              <a:srgbClr val="E8C88E"/>
            </a:solidFill>
            <a:prstDash val="solid"/>
          </a:ln>
        </p:spPr>
      </p:sp>
      <p:sp>
        <p:nvSpPr>
          <p:cNvPr id="6" name="Shape 4"/>
          <p:cNvSpPr/>
          <p:nvPr/>
        </p:nvSpPr>
        <p:spPr>
          <a:xfrm>
            <a:off x="804672" y="2084832"/>
            <a:ext cx="384048" cy="384048"/>
          </a:xfrm>
          <a:prstGeom prst="ellipse">
            <a:avLst/>
          </a:prstGeom>
          <a:solidFill>
            <a:srgbClr val="C8871B"/>
          </a:solidFill>
          <a:ln w="12700">
            <a:solidFill>
              <a:srgbClr val="C8871B"/>
            </a:solidFill>
            <a:prstDash val="solid"/>
          </a:ln>
        </p:spPr>
      </p:sp>
      <p:sp>
        <p:nvSpPr>
          <p:cNvPr id="7" name="Text 5"/>
          <p:cNvSpPr/>
          <p:nvPr/>
        </p:nvSpPr>
        <p:spPr>
          <a:xfrm>
            <a:off x="804672" y="20848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325880" y="2048256"/>
            <a:ext cx="7772400" cy="310896"/>
          </a:xfrm>
          <a:prstGeom prst="rect">
            <a:avLst/>
          </a:prstGeom>
          <a:noFill/>
          <a:ln/>
        </p:spPr>
        <p:txBody>
          <a:bodyPr wrap="square" lIns="0" tIns="0" rIns="0" bIns="0" rtlCol="0" anchor="ctr"/>
          <a:lstStyle/>
          <a:p>
            <a:pPr indent="0" marL="0">
              <a:buNone/>
            </a:pPr>
            <a:r>
              <a:rPr lang="en-US" sz="1400" b="1" dirty="0">
                <a:solidFill>
                  <a:srgbClr val="8A5A12"/>
                </a:solidFill>
                <a:latin typeface="Calibri" pitchFamily="34" charset="0"/>
                <a:ea typeface="Calibri" pitchFamily="34" charset="-122"/>
                <a:cs typeface="Calibri" pitchFamily="34" charset="-120"/>
              </a:rPr>
              <a:t>Enterprise data layer and authentication</a:t>
            </a:r>
            <a:endParaRPr lang="en-US" sz="1400" dirty="0"/>
          </a:p>
        </p:txBody>
      </p:sp>
      <p:sp>
        <p:nvSpPr>
          <p:cNvPr id="9" name="Text 7"/>
          <p:cNvSpPr/>
          <p:nvPr/>
        </p:nvSpPr>
        <p:spPr>
          <a:xfrm>
            <a:off x="1325880" y="2377440"/>
            <a:ext cx="9966960" cy="868680"/>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Today the application stores its data in the browser, so records are per-device and not shared between users. Sign-in selects a role but does not verify a password. A backend service and a cloud database schema have been built and deployed, but the application does not yet read from them. Connecting these — plus real authentication and single sign-on — is the prerequisite for multi-user pilot use.</a:t>
            </a:r>
            <a:endParaRPr lang="en-US" sz="1150" dirty="0"/>
          </a:p>
        </p:txBody>
      </p:sp>
      <p:sp>
        <p:nvSpPr>
          <p:cNvPr id="10" name="Shape 8"/>
          <p:cNvSpPr/>
          <p:nvPr/>
        </p:nvSpPr>
        <p:spPr>
          <a:xfrm>
            <a:off x="548640" y="3493008"/>
            <a:ext cx="11064240" cy="1481328"/>
          </a:xfrm>
          <a:prstGeom prst="roundRect">
            <a:avLst>
              <a:gd name="adj" fmla="val 4938"/>
            </a:avLst>
          </a:prstGeom>
          <a:solidFill>
            <a:srgbClr val="F2F5FC"/>
          </a:solidFill>
          <a:ln w="12700">
            <a:solidFill>
              <a:srgbClr val="DDE4F5"/>
            </a:solidFill>
            <a:prstDash val="solid"/>
          </a:ln>
        </p:spPr>
      </p:sp>
      <p:sp>
        <p:nvSpPr>
          <p:cNvPr id="11" name="Shape 9"/>
          <p:cNvSpPr/>
          <p:nvPr/>
        </p:nvSpPr>
        <p:spPr>
          <a:xfrm>
            <a:off x="804672" y="3703320"/>
            <a:ext cx="384048" cy="384048"/>
          </a:xfrm>
          <a:prstGeom prst="ellipse">
            <a:avLst/>
          </a:prstGeom>
          <a:solidFill>
            <a:srgbClr val="1E2761"/>
          </a:solidFill>
          <a:ln w="12700">
            <a:solidFill>
              <a:srgbClr val="1E2761"/>
            </a:solidFill>
            <a:prstDash val="solid"/>
          </a:ln>
        </p:spPr>
      </p:sp>
      <p:sp>
        <p:nvSpPr>
          <p:cNvPr id="12" name="Text 10"/>
          <p:cNvSpPr/>
          <p:nvPr/>
        </p:nvSpPr>
        <p:spPr>
          <a:xfrm>
            <a:off x="804672" y="370332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p:nvPr/>
        </p:nvSpPr>
        <p:spPr>
          <a:xfrm>
            <a:off x="1325880" y="3666744"/>
            <a:ext cx="7772400" cy="310896"/>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Three modules are designed but not implemented</a:t>
            </a:r>
            <a:endParaRPr lang="en-US" sz="1400" dirty="0"/>
          </a:p>
        </p:txBody>
      </p:sp>
      <p:sp>
        <p:nvSpPr>
          <p:cNvPr id="14" name="Text 12"/>
          <p:cNvSpPr/>
          <p:nvPr/>
        </p:nvSpPr>
        <p:spPr>
          <a:xfrm>
            <a:off x="1325880" y="4023360"/>
            <a:ext cx="329184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Regulatory Compliance Center</a:t>
            </a:r>
            <a:endParaRPr lang="en-US" sz="1200" dirty="0"/>
          </a:p>
        </p:txBody>
      </p:sp>
      <p:sp>
        <p:nvSpPr>
          <p:cNvPr id="15" name="Text 13"/>
          <p:cNvSpPr/>
          <p:nvPr/>
        </p:nvSpPr>
        <p:spPr>
          <a:xfrm>
            <a:off x="1325880" y="4279392"/>
            <a:ext cx="3291840" cy="347472"/>
          </a:xfrm>
          <a:prstGeom prst="rect">
            <a:avLst/>
          </a:prstGeom>
          <a:noFill/>
          <a:ln/>
        </p:spPr>
        <p:txBody>
          <a:bodyPr wrap="square" lIns="0" tIns="0" rIns="0" bIns="0" rtlCol="0" anchor="ctr"/>
          <a:lstStyle/>
          <a:p>
            <a:pPr indent="0" marL="0">
              <a:lnSpc>
                <a:spcPts val="1300"/>
              </a:lnSpc>
              <a:buNone/>
            </a:pPr>
            <a:r>
              <a:rPr lang="en-US" sz="1050" dirty="0">
                <a:solidFill>
                  <a:srgbClr val="2B3350"/>
                </a:solidFill>
                <a:latin typeface="Calibri" pitchFamily="34" charset="0"/>
                <a:ea typeface="Calibri" pitchFamily="34" charset="-122"/>
                <a:cs typeface="Calibri" pitchFamily="34" charset="-120"/>
              </a:rPr>
              <a:t>Multi-jurisdiction obligation mapping</a:t>
            </a:r>
            <a:endParaRPr lang="en-US" sz="1050" dirty="0"/>
          </a:p>
        </p:txBody>
      </p:sp>
      <p:sp>
        <p:nvSpPr>
          <p:cNvPr id="16" name="Text 14"/>
          <p:cNvSpPr/>
          <p:nvPr/>
        </p:nvSpPr>
        <p:spPr>
          <a:xfrm>
            <a:off x="4754880" y="4023360"/>
            <a:ext cx="329184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AI Control Library</a:t>
            </a:r>
            <a:endParaRPr lang="en-US" sz="1200" dirty="0"/>
          </a:p>
        </p:txBody>
      </p:sp>
      <p:sp>
        <p:nvSpPr>
          <p:cNvPr id="17" name="Text 15"/>
          <p:cNvSpPr/>
          <p:nvPr/>
        </p:nvSpPr>
        <p:spPr>
          <a:xfrm>
            <a:off x="4754880" y="4279392"/>
            <a:ext cx="3291840" cy="347472"/>
          </a:xfrm>
          <a:prstGeom prst="rect">
            <a:avLst/>
          </a:prstGeom>
          <a:noFill/>
          <a:ln/>
        </p:spPr>
        <p:txBody>
          <a:bodyPr wrap="square" lIns="0" tIns="0" rIns="0" bIns="0" rtlCol="0" anchor="ctr"/>
          <a:lstStyle/>
          <a:p>
            <a:pPr indent="0" marL="0">
              <a:lnSpc>
                <a:spcPts val="1300"/>
              </a:lnSpc>
              <a:buNone/>
            </a:pPr>
            <a:r>
              <a:rPr lang="en-US" sz="1050" dirty="0">
                <a:solidFill>
                  <a:srgbClr val="2B3350"/>
                </a:solidFill>
                <a:latin typeface="Calibri" pitchFamily="34" charset="0"/>
                <a:ea typeface="Calibri" pitchFamily="34" charset="-122"/>
                <a:cs typeface="Calibri" pitchFamily="34" charset="-120"/>
              </a:rPr>
              <a:t>Reusable controls with automated testing</a:t>
            </a:r>
            <a:endParaRPr lang="en-US" sz="1050" dirty="0"/>
          </a:p>
        </p:txBody>
      </p:sp>
      <p:sp>
        <p:nvSpPr>
          <p:cNvPr id="18" name="Text 16"/>
          <p:cNvSpPr/>
          <p:nvPr/>
        </p:nvSpPr>
        <p:spPr>
          <a:xfrm>
            <a:off x="8183880" y="4023360"/>
            <a:ext cx="329184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Enterprise Reporting Suite</a:t>
            </a:r>
            <a:endParaRPr lang="en-US" sz="1200" dirty="0"/>
          </a:p>
        </p:txBody>
      </p:sp>
      <p:sp>
        <p:nvSpPr>
          <p:cNvPr id="19" name="Text 17"/>
          <p:cNvSpPr/>
          <p:nvPr/>
        </p:nvSpPr>
        <p:spPr>
          <a:xfrm>
            <a:off x="8183880" y="4279392"/>
            <a:ext cx="3291840" cy="347472"/>
          </a:xfrm>
          <a:prstGeom prst="rect">
            <a:avLst/>
          </a:prstGeom>
          <a:noFill/>
          <a:ln/>
        </p:spPr>
        <p:txBody>
          <a:bodyPr wrap="square" lIns="0" tIns="0" rIns="0" bIns="0" rtlCol="0" anchor="ctr"/>
          <a:lstStyle/>
          <a:p>
            <a:pPr indent="0" marL="0">
              <a:lnSpc>
                <a:spcPts val="1300"/>
              </a:lnSpc>
              <a:buNone/>
            </a:pPr>
            <a:r>
              <a:rPr lang="en-US" sz="1050" dirty="0">
                <a:solidFill>
                  <a:srgbClr val="2B3350"/>
                </a:solidFill>
                <a:latin typeface="Calibri" pitchFamily="34" charset="0"/>
                <a:ea typeface="Calibri" pitchFamily="34" charset="-122"/>
                <a:cs typeface="Calibri" pitchFamily="34" charset="-120"/>
              </a:rPr>
              <a:t>Report builder and scheduled distribution</a:t>
            </a:r>
            <a:endParaRPr lang="en-US" sz="1050" dirty="0"/>
          </a:p>
        </p:txBody>
      </p:sp>
      <p:sp>
        <p:nvSpPr>
          <p:cNvPr id="20" name="Text 18"/>
          <p:cNvSpPr/>
          <p:nvPr/>
        </p:nvSpPr>
        <p:spPr>
          <a:xfrm>
            <a:off x="1325880" y="4663440"/>
            <a:ext cx="9966960" cy="256032"/>
          </a:xfrm>
          <a:prstGeom prst="rect">
            <a:avLst/>
          </a:prstGeom>
          <a:noFill/>
          <a:ln/>
        </p:spPr>
        <p:txBody>
          <a:bodyPr wrap="square" lIns="0" tIns="0" rIns="0" bIns="0" rtlCol="0" anchor="ctr"/>
          <a:lstStyle/>
          <a:p>
            <a:pPr indent="0" marL="0">
              <a:buNone/>
            </a:pPr>
            <a:r>
              <a:rPr lang="en-US" sz="1050" i="1" dirty="0">
                <a:solidFill>
                  <a:srgbClr val="6B7391"/>
                </a:solidFill>
                <a:latin typeface="Calibri" pitchFamily="34" charset="0"/>
                <a:ea typeface="Calibri" pitchFamily="34" charset="-122"/>
                <a:cs typeface="Calibri" pitchFamily="34" charset="-120"/>
              </a:rPr>
              <a:t>These appear in the product as clearly labelled roadmap placeholders — they are navigable but carry no functionality.</a:t>
            </a:r>
            <a:endParaRPr lang="en-US" sz="1050" dirty="0"/>
          </a:p>
        </p:txBody>
      </p:sp>
      <p:sp>
        <p:nvSpPr>
          <p:cNvPr id="21" name="Shape 19"/>
          <p:cNvSpPr/>
          <p:nvPr/>
        </p:nvSpPr>
        <p:spPr>
          <a:xfrm>
            <a:off x="548640" y="5120640"/>
            <a:ext cx="11064240" cy="1207008"/>
          </a:xfrm>
          <a:prstGeom prst="roundRect">
            <a:avLst>
              <a:gd name="adj" fmla="val 6061"/>
            </a:avLst>
          </a:prstGeom>
          <a:solidFill>
            <a:srgbClr val="F2F5FC"/>
          </a:solidFill>
          <a:ln w="12700">
            <a:solidFill>
              <a:srgbClr val="DDE4F5"/>
            </a:solidFill>
            <a:prstDash val="solid"/>
          </a:ln>
        </p:spPr>
      </p:sp>
      <p:sp>
        <p:nvSpPr>
          <p:cNvPr id="22" name="Shape 20"/>
          <p:cNvSpPr/>
          <p:nvPr/>
        </p:nvSpPr>
        <p:spPr>
          <a:xfrm>
            <a:off x="804672" y="5321808"/>
            <a:ext cx="384048" cy="384048"/>
          </a:xfrm>
          <a:prstGeom prst="ellipse">
            <a:avLst/>
          </a:prstGeom>
          <a:solidFill>
            <a:srgbClr val="1E2761"/>
          </a:solidFill>
          <a:ln w="12700">
            <a:solidFill>
              <a:srgbClr val="1E2761"/>
            </a:solidFill>
            <a:prstDash val="solid"/>
          </a:ln>
        </p:spPr>
      </p:sp>
      <p:sp>
        <p:nvSpPr>
          <p:cNvPr id="23" name="Text 21"/>
          <p:cNvSpPr/>
          <p:nvPr/>
        </p:nvSpPr>
        <p:spPr>
          <a:xfrm>
            <a:off x="804672" y="532180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4" name="Text 22"/>
          <p:cNvSpPr/>
          <p:nvPr/>
        </p:nvSpPr>
        <p:spPr>
          <a:xfrm>
            <a:off x="1325880" y="5285232"/>
            <a:ext cx="7772400" cy="310896"/>
          </a:xfrm>
          <a:prstGeom prst="rect">
            <a:avLst/>
          </a:prstGeom>
          <a:noFill/>
          <a:ln/>
        </p:spPr>
        <p:txBody>
          <a:bodyPr wrap="square" lIns="0" tIns="0" rIns="0" bIns="0" rtlCol="0" anchor="ctr"/>
          <a:lstStyle/>
          <a:p>
            <a:pPr indent="0" marL="0">
              <a:buNone/>
            </a:pPr>
            <a:r>
              <a:rPr lang="en-US" sz="1400" b="1" dirty="0">
                <a:solidFill>
                  <a:srgbClr val="1E2761"/>
                </a:solidFill>
                <a:latin typeface="Calibri" pitchFamily="34" charset="0"/>
                <a:ea typeface="Calibri" pitchFamily="34" charset="-122"/>
                <a:cs typeface="Calibri" pitchFamily="34" charset="-120"/>
              </a:rPr>
              <a:t>Regulatory coverage is narrower than it may appear</a:t>
            </a:r>
            <a:endParaRPr lang="en-US" sz="1400" dirty="0"/>
          </a:p>
        </p:txBody>
      </p:sp>
      <p:sp>
        <p:nvSpPr>
          <p:cNvPr id="25" name="Text 23"/>
          <p:cNvSpPr/>
          <p:nvPr/>
        </p:nvSpPr>
        <p:spPr>
          <a:xfrm>
            <a:off x="1325880" y="5614416"/>
            <a:ext cx="9966960" cy="621792"/>
          </a:xfrm>
          <a:prstGeom prst="rect">
            <a:avLst/>
          </a:prstGeom>
          <a:noFill/>
          <a:ln/>
        </p:spPr>
        <p:txBody>
          <a:bodyPr wrap="square" lIns="0" tIns="0" rIns="0" bIns="0" rtlCol="0" anchor="ctr"/>
          <a:lstStyle/>
          <a:p>
            <a:pPr indent="0" marL="0">
              <a:lnSpc>
                <a:spcPts val="1500"/>
              </a:lnSpc>
              <a:buNone/>
            </a:pPr>
            <a:r>
              <a:rPr lang="en-US" sz="1150" dirty="0">
                <a:solidFill>
                  <a:srgbClr val="2B3350"/>
                </a:solidFill>
                <a:latin typeface="Calibri" pitchFamily="34" charset="0"/>
                <a:ea typeface="Calibri" pitchFamily="34" charset="-122"/>
                <a:cs typeface="Calibri" pitchFamily="34" charset="-120"/>
              </a:rPr>
              <a:t>The compliance module ships a seeded catalogue of ten controls — eight labelled RBI plus two internal policy controls — and scores assets against them. That is a starting library, not certified regulatory coverage. ISO 42001, the EU AI Act, NIST AI RMF and Basel model-risk requirements are not implemented in any form.</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640080"/>
            <a:ext cx="11064240" cy="274320"/>
          </a:xfrm>
          <a:prstGeom prst="rect">
            <a:avLst/>
          </a:prstGeom>
          <a:noFill/>
          <a:ln/>
        </p:spPr>
        <p:txBody>
          <a:bodyPr wrap="square" lIns="0" tIns="0" rIns="0" bIns="0" rtlCol="0" anchor="ctr"/>
          <a:lstStyle/>
          <a:p>
            <a:pPr indent="0" marL="0">
              <a:buNone/>
            </a:pPr>
            <a:r>
              <a:rPr lang="en-US" sz="1200" b="1" spc="300" kern="0" dirty="0">
                <a:solidFill>
                  <a:srgbClr val="CADCFC"/>
                </a:solidFill>
                <a:latin typeface="Calibri" pitchFamily="34" charset="0"/>
                <a:ea typeface="Calibri" pitchFamily="34" charset="-122"/>
                <a:cs typeface="Calibri" pitchFamily="34" charset="-120"/>
              </a:rPr>
              <a:t>EXECUTIVE SUMMARY</a:t>
            </a:r>
            <a:endParaRPr lang="en-US" sz="1200" dirty="0"/>
          </a:p>
        </p:txBody>
      </p:sp>
      <p:sp>
        <p:nvSpPr>
          <p:cNvPr id="3" name="Text 1"/>
          <p:cNvSpPr/>
          <p:nvPr/>
        </p:nvSpPr>
        <p:spPr>
          <a:xfrm>
            <a:off x="548640" y="960120"/>
            <a:ext cx="8686800" cy="603504"/>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Why an organisation would use OMG</a:t>
            </a:r>
            <a:endParaRPr lang="en-US" sz="3300" dirty="0"/>
          </a:p>
        </p:txBody>
      </p:sp>
      <p:sp>
        <p:nvSpPr>
          <p:cNvPr id="4" name="Shape 2"/>
          <p:cNvSpPr/>
          <p:nvPr/>
        </p:nvSpPr>
        <p:spPr>
          <a:xfrm>
            <a:off x="548640" y="1828800"/>
            <a:ext cx="5413248" cy="914400"/>
          </a:xfrm>
          <a:prstGeom prst="roundRect">
            <a:avLst>
              <a:gd name="adj" fmla="val 8000"/>
            </a:avLst>
          </a:prstGeom>
          <a:solidFill>
            <a:srgbClr val="141B45"/>
          </a:solidFill>
          <a:ln w="12700">
            <a:solidFill>
              <a:srgbClr val="35406E"/>
            </a:solidFill>
            <a:prstDash val="solid"/>
          </a:ln>
        </p:spPr>
      </p:sp>
      <p:sp>
        <p:nvSpPr>
          <p:cNvPr id="5" name="Text 3"/>
          <p:cNvSpPr/>
          <p:nvPr/>
        </p:nvSpPr>
        <p:spPr>
          <a:xfrm>
            <a:off x="804672" y="1938528"/>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One inventory</a:t>
            </a:r>
            <a:endParaRPr lang="en-US" sz="1350" dirty="0"/>
          </a:p>
        </p:txBody>
      </p:sp>
      <p:sp>
        <p:nvSpPr>
          <p:cNvPr id="6" name="Text 4"/>
          <p:cNvSpPr/>
          <p:nvPr/>
        </p:nvSpPr>
        <p:spPr>
          <a:xfrm>
            <a:off x="804672" y="2231136"/>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Every AI system the organisation runs — built or bought — in a single register.</a:t>
            </a:r>
            <a:endParaRPr lang="en-US" sz="1150" dirty="0"/>
          </a:p>
        </p:txBody>
      </p:sp>
      <p:sp>
        <p:nvSpPr>
          <p:cNvPr id="7" name="Shape 5"/>
          <p:cNvSpPr/>
          <p:nvPr/>
        </p:nvSpPr>
        <p:spPr>
          <a:xfrm>
            <a:off x="6199632" y="1828800"/>
            <a:ext cx="5413248" cy="914400"/>
          </a:xfrm>
          <a:prstGeom prst="roundRect">
            <a:avLst>
              <a:gd name="adj" fmla="val 8000"/>
            </a:avLst>
          </a:prstGeom>
          <a:solidFill>
            <a:srgbClr val="141B45"/>
          </a:solidFill>
          <a:ln w="12700">
            <a:solidFill>
              <a:srgbClr val="35406E"/>
            </a:solidFill>
            <a:prstDash val="solid"/>
          </a:ln>
        </p:spPr>
      </p:sp>
      <p:sp>
        <p:nvSpPr>
          <p:cNvPr id="8" name="Text 6"/>
          <p:cNvSpPr/>
          <p:nvPr/>
        </p:nvSpPr>
        <p:spPr>
          <a:xfrm>
            <a:off x="6455664" y="1938528"/>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Clear accountability</a:t>
            </a:r>
            <a:endParaRPr lang="en-US" sz="1350" dirty="0"/>
          </a:p>
        </p:txBody>
      </p:sp>
      <p:sp>
        <p:nvSpPr>
          <p:cNvPr id="9" name="Text 7"/>
          <p:cNvSpPr/>
          <p:nvPr/>
        </p:nvSpPr>
        <p:spPr>
          <a:xfrm>
            <a:off x="6455664" y="2231136"/>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Five named owners on every asset. No orphaned AI.</a:t>
            </a:r>
            <a:endParaRPr lang="en-US" sz="1150" dirty="0"/>
          </a:p>
        </p:txBody>
      </p:sp>
      <p:sp>
        <p:nvSpPr>
          <p:cNvPr id="10" name="Shape 8"/>
          <p:cNvSpPr/>
          <p:nvPr/>
        </p:nvSpPr>
        <p:spPr>
          <a:xfrm>
            <a:off x="548640" y="2889504"/>
            <a:ext cx="5413248" cy="914400"/>
          </a:xfrm>
          <a:prstGeom prst="roundRect">
            <a:avLst>
              <a:gd name="adj" fmla="val 8000"/>
            </a:avLst>
          </a:prstGeom>
          <a:solidFill>
            <a:srgbClr val="141B45"/>
          </a:solidFill>
          <a:ln w="12700">
            <a:solidFill>
              <a:srgbClr val="35406E"/>
            </a:solidFill>
            <a:prstDash val="solid"/>
          </a:ln>
        </p:spPr>
      </p:sp>
      <p:sp>
        <p:nvSpPr>
          <p:cNvPr id="11" name="Text 9"/>
          <p:cNvSpPr/>
          <p:nvPr/>
        </p:nvSpPr>
        <p:spPr>
          <a:xfrm>
            <a:off x="804672" y="2999232"/>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Governed approval</a:t>
            </a:r>
            <a:endParaRPr lang="en-US" sz="1350" dirty="0"/>
          </a:p>
        </p:txBody>
      </p:sp>
      <p:sp>
        <p:nvSpPr>
          <p:cNvPr id="12" name="Text 10"/>
          <p:cNvSpPr/>
          <p:nvPr/>
        </p:nvSpPr>
        <p:spPr>
          <a:xfrm>
            <a:off x="804672" y="3291840"/>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Nothing reaches production without a scored, justified, recorded decision.</a:t>
            </a:r>
            <a:endParaRPr lang="en-US" sz="1150" dirty="0"/>
          </a:p>
        </p:txBody>
      </p:sp>
      <p:sp>
        <p:nvSpPr>
          <p:cNvPr id="13" name="Shape 11"/>
          <p:cNvSpPr/>
          <p:nvPr/>
        </p:nvSpPr>
        <p:spPr>
          <a:xfrm>
            <a:off x="6199632" y="2889504"/>
            <a:ext cx="5413248" cy="914400"/>
          </a:xfrm>
          <a:prstGeom prst="roundRect">
            <a:avLst>
              <a:gd name="adj" fmla="val 8000"/>
            </a:avLst>
          </a:prstGeom>
          <a:solidFill>
            <a:srgbClr val="141B45"/>
          </a:solidFill>
          <a:ln w="12700">
            <a:solidFill>
              <a:srgbClr val="35406E"/>
            </a:solidFill>
            <a:prstDash val="solid"/>
          </a:ln>
        </p:spPr>
      </p:sp>
      <p:sp>
        <p:nvSpPr>
          <p:cNvPr id="14" name="Text 12"/>
          <p:cNvSpPr/>
          <p:nvPr/>
        </p:nvSpPr>
        <p:spPr>
          <a:xfrm>
            <a:off x="6455664" y="2999232"/>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Continuous control</a:t>
            </a:r>
            <a:endParaRPr lang="en-US" sz="1350" dirty="0"/>
          </a:p>
        </p:txBody>
      </p:sp>
      <p:sp>
        <p:nvSpPr>
          <p:cNvPr id="15" name="Text 13"/>
          <p:cNvSpPr/>
          <p:nvPr/>
        </p:nvSpPr>
        <p:spPr>
          <a:xfrm>
            <a:off x="6455664" y="3291840"/>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Health monitoring, alerts, corrective actions, human override and kill switch.</a:t>
            </a:r>
            <a:endParaRPr lang="en-US" sz="1150" dirty="0"/>
          </a:p>
        </p:txBody>
      </p:sp>
      <p:sp>
        <p:nvSpPr>
          <p:cNvPr id="16" name="Shape 14"/>
          <p:cNvSpPr/>
          <p:nvPr/>
        </p:nvSpPr>
        <p:spPr>
          <a:xfrm>
            <a:off x="548640" y="3950208"/>
            <a:ext cx="5413248" cy="914400"/>
          </a:xfrm>
          <a:prstGeom prst="roundRect">
            <a:avLst>
              <a:gd name="adj" fmla="val 8000"/>
            </a:avLst>
          </a:prstGeom>
          <a:solidFill>
            <a:srgbClr val="141B45"/>
          </a:solidFill>
          <a:ln w="12700">
            <a:solidFill>
              <a:srgbClr val="35406E"/>
            </a:solidFill>
            <a:prstDash val="solid"/>
          </a:ln>
        </p:spPr>
      </p:sp>
      <p:sp>
        <p:nvSpPr>
          <p:cNvPr id="17" name="Text 15"/>
          <p:cNvSpPr/>
          <p:nvPr/>
        </p:nvSpPr>
        <p:spPr>
          <a:xfrm>
            <a:off x="804672" y="4059936"/>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Governed change</a:t>
            </a:r>
            <a:endParaRPr lang="en-US" sz="1350" dirty="0"/>
          </a:p>
        </p:txBody>
      </p:sp>
      <p:sp>
        <p:nvSpPr>
          <p:cNvPr id="18" name="Text 16"/>
          <p:cNvSpPr/>
          <p:nvPr/>
        </p:nvSpPr>
        <p:spPr>
          <a:xfrm>
            <a:off x="804672" y="4352544"/>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Approval is not permanent — material change forces reassessment and reapproval.</a:t>
            </a:r>
            <a:endParaRPr lang="en-US" sz="1150" dirty="0"/>
          </a:p>
        </p:txBody>
      </p:sp>
      <p:sp>
        <p:nvSpPr>
          <p:cNvPr id="19" name="Shape 17"/>
          <p:cNvSpPr/>
          <p:nvPr/>
        </p:nvSpPr>
        <p:spPr>
          <a:xfrm>
            <a:off x="6199632" y="3950208"/>
            <a:ext cx="5413248" cy="914400"/>
          </a:xfrm>
          <a:prstGeom prst="roundRect">
            <a:avLst>
              <a:gd name="adj" fmla="val 8000"/>
            </a:avLst>
          </a:prstGeom>
          <a:solidFill>
            <a:srgbClr val="141B45"/>
          </a:solidFill>
          <a:ln w="12700">
            <a:solidFill>
              <a:srgbClr val="35406E"/>
            </a:solidFill>
            <a:prstDash val="solid"/>
          </a:ln>
        </p:spPr>
      </p:sp>
      <p:sp>
        <p:nvSpPr>
          <p:cNvPr id="20" name="Text 18"/>
          <p:cNvSpPr/>
          <p:nvPr/>
        </p:nvSpPr>
        <p:spPr>
          <a:xfrm>
            <a:off x="6455664" y="4059936"/>
            <a:ext cx="4901184" cy="274320"/>
          </a:xfrm>
          <a:prstGeom prst="rect">
            <a:avLst/>
          </a:prstGeom>
          <a:noFill/>
          <a:ln/>
        </p:spPr>
        <p:txBody>
          <a:bodyPr wrap="square" lIns="0" tIns="0" rIns="0" bIns="0" rtlCol="0" anchor="ctr"/>
          <a:lstStyle/>
          <a:p>
            <a:pPr indent="0" marL="0">
              <a:buNone/>
            </a:pPr>
            <a:r>
              <a:rPr lang="en-US" sz="1350" b="1" dirty="0">
                <a:solidFill>
                  <a:srgbClr val="CADCFC"/>
                </a:solidFill>
                <a:latin typeface="Calibri" pitchFamily="34" charset="0"/>
                <a:ea typeface="Calibri" pitchFamily="34" charset="-122"/>
                <a:cs typeface="Calibri" pitchFamily="34" charset="-120"/>
              </a:rPr>
              <a:t>Provable governance</a:t>
            </a:r>
            <a:endParaRPr lang="en-US" sz="1350" dirty="0"/>
          </a:p>
        </p:txBody>
      </p:sp>
      <p:sp>
        <p:nvSpPr>
          <p:cNvPr id="21" name="Text 19"/>
          <p:cNvSpPr/>
          <p:nvPr/>
        </p:nvSpPr>
        <p:spPr>
          <a:xfrm>
            <a:off x="6455664" y="4352544"/>
            <a:ext cx="4901184" cy="420624"/>
          </a:xfrm>
          <a:prstGeom prst="rect">
            <a:avLst/>
          </a:prstGeom>
          <a:noFill/>
          <a:ln/>
        </p:spPr>
        <p:txBody>
          <a:bodyPr wrap="square" lIns="0" tIns="0" rIns="0" bIns="0" rtlCol="0" anchor="ctr"/>
          <a:lstStyle/>
          <a:p>
            <a:pPr indent="0" marL="0">
              <a:lnSpc>
                <a:spcPts val="1400"/>
              </a:lnSpc>
              <a:buNone/>
            </a:pPr>
            <a:r>
              <a:rPr lang="en-US" sz="1150" dirty="0">
                <a:solidFill>
                  <a:srgbClr val="FFFFFF"/>
                </a:solidFill>
                <a:latin typeface="Calibri" pitchFamily="34" charset="0"/>
                <a:ea typeface="Calibri" pitchFamily="34" charset="-122"/>
                <a:cs typeface="Calibri" pitchFamily="34" charset="-120"/>
              </a:rPr>
              <a:t>An append-only audit trail and board-ready reporting generated from live data.</a:t>
            </a:r>
            <a:endParaRPr lang="en-US" sz="1150" dirty="0"/>
          </a:p>
        </p:txBody>
      </p:sp>
      <p:sp>
        <p:nvSpPr>
          <p:cNvPr id="22" name="Shape 20"/>
          <p:cNvSpPr/>
          <p:nvPr/>
        </p:nvSpPr>
        <p:spPr>
          <a:xfrm>
            <a:off x="548640" y="5074920"/>
            <a:ext cx="11064240" cy="960120"/>
          </a:xfrm>
          <a:prstGeom prst="roundRect">
            <a:avLst>
              <a:gd name="adj" fmla="val 7619"/>
            </a:avLst>
          </a:prstGeom>
          <a:solidFill>
            <a:srgbClr val="CADCFC"/>
          </a:solidFill>
          <a:ln w="12700">
            <a:solidFill>
              <a:srgbClr val="CADCFC"/>
            </a:solidFill>
            <a:prstDash val="solid"/>
          </a:ln>
        </p:spPr>
      </p:sp>
      <p:sp>
        <p:nvSpPr>
          <p:cNvPr id="23" name="Text 21"/>
          <p:cNvSpPr/>
          <p:nvPr/>
        </p:nvSpPr>
        <p:spPr>
          <a:xfrm>
            <a:off x="914400" y="5193792"/>
            <a:ext cx="10332720" cy="274320"/>
          </a:xfrm>
          <a:prstGeom prst="rect">
            <a:avLst/>
          </a:prstGeom>
          <a:noFill/>
          <a:ln/>
        </p:spPr>
        <p:txBody>
          <a:bodyPr wrap="square" lIns="0" tIns="0" rIns="0" bIns="0" rtlCol="0" anchor="ctr"/>
          <a:lstStyle/>
          <a:p>
            <a:pPr indent="0" marL="0">
              <a:buNone/>
            </a:pPr>
            <a:r>
              <a:rPr lang="en-US" sz="1150" b="1" spc="100" kern="0" dirty="0">
                <a:solidFill>
                  <a:srgbClr val="1E2761"/>
                </a:solidFill>
                <a:latin typeface="Calibri" pitchFamily="34" charset="0"/>
                <a:ea typeface="Calibri" pitchFamily="34" charset="-122"/>
                <a:cs typeface="Calibri" pitchFamily="34" charset="-120"/>
              </a:rPr>
              <a:t>The question OMG answers for a board</a:t>
            </a:r>
            <a:endParaRPr lang="en-US" sz="1150" dirty="0"/>
          </a:p>
        </p:txBody>
      </p:sp>
      <p:sp>
        <p:nvSpPr>
          <p:cNvPr id="24" name="Text 22"/>
          <p:cNvSpPr/>
          <p:nvPr/>
        </p:nvSpPr>
        <p:spPr>
          <a:xfrm>
            <a:off x="914400" y="5486400"/>
            <a:ext cx="10332720" cy="411480"/>
          </a:xfrm>
          <a:prstGeom prst="rect">
            <a:avLst/>
          </a:prstGeom>
          <a:noFill/>
          <a:ln/>
        </p:spPr>
        <p:txBody>
          <a:bodyPr wrap="square" lIns="0" tIns="0" rIns="0" bIns="0" rtlCol="0" anchor="ctr"/>
          <a:lstStyle/>
          <a:p>
            <a:pPr indent="0" marL="0">
              <a:buNone/>
            </a:pPr>
            <a:r>
              <a:rPr lang="en-US" sz="1800" b="1" i="1" dirty="0">
                <a:solidFill>
                  <a:srgbClr val="1E2761"/>
                </a:solidFill>
                <a:latin typeface="Cambria" pitchFamily="34" charset="0"/>
                <a:ea typeface="Cambria" pitchFamily="34" charset="-122"/>
                <a:cs typeface="Cambria" pitchFamily="34" charset="-120"/>
              </a:rPr>
              <a:t>"We use AI across the business. Show me that it is under control — and prove it."</a:t>
            </a:r>
            <a:endParaRPr lang="en-US" sz="1800" dirty="0"/>
          </a:p>
        </p:txBody>
      </p:sp>
      <p:sp>
        <p:nvSpPr>
          <p:cNvPr id="25" name="Text 23"/>
          <p:cNvSpPr/>
          <p:nvPr/>
        </p:nvSpPr>
        <p:spPr>
          <a:xfrm>
            <a:off x="548640" y="6144768"/>
            <a:ext cx="11064240" cy="256032"/>
          </a:xfrm>
          <a:prstGeom prst="rect">
            <a:avLst/>
          </a:prstGeom>
          <a:noFill/>
          <a:ln/>
        </p:spPr>
        <p:txBody>
          <a:bodyPr wrap="square" lIns="0" tIns="0" rIns="0" bIns="0" rtlCol="0" anchor="ctr"/>
          <a:lstStyle/>
          <a:p>
            <a:pPr algn="ctr" indent="0" marL="0">
              <a:buNone/>
            </a:pPr>
            <a:r>
              <a:rPr lang="en-US" sz="1150" dirty="0">
                <a:solidFill>
                  <a:srgbClr val="A8BDE8"/>
                </a:solidFill>
                <a:latin typeface="Calibri" pitchFamily="34" charset="0"/>
                <a:ea typeface="Calibri" pitchFamily="34" charset="-122"/>
                <a:cs typeface="Calibri" pitchFamily="34" charset="-120"/>
              </a:rPr>
              <a:t>Govern Every AI.   ·   Control Every Decision.   ·   Prove Every Outcome.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OrchestrAI OMG — Enterprise AI Governance Operating System</dc:title>
  <dc:subject>PptxGenJS Presentation</dc:subject>
  <dc:creator>OrchestrAI</dc:creator>
  <cp:lastModifiedBy>OrchestrAI</cp:lastModifiedBy>
  <cp:revision>1</cp:revision>
  <dcterms:created xsi:type="dcterms:W3CDTF">2026-08-10T06:31:17Z</dcterms:created>
  <dcterms:modified xsi:type="dcterms:W3CDTF">2026-08-10T06:31:17Z</dcterms:modified>
</cp:coreProperties>
</file>